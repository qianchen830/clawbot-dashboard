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UAT测试汇报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金蝶云·星空项目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114800"/>
            <a:ext cx="4876495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测试公司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测试日期: 2026年03月21日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548640" cy="548640"/>
          </a:xfrm>
          <a:prstGeom prst="ellipse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0972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A4A"/>
                </a:solidFill>
              </a:defRPr>
            </a:pPr>
            <a:r>
              <a:t>测试概述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1731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测试范围、环境、时间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20240"/>
            <a:ext cx="548640" cy="548640"/>
          </a:xfrm>
          <a:prstGeom prst="ellipse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20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A4A"/>
                </a:solidFill>
              </a:defRPr>
            </a:pPr>
            <a:r>
              <a:t>测试用例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40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用例清单、分布统计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743200"/>
            <a:ext cx="548640" cy="548640"/>
          </a:xfrm>
          <a:prstGeom prst="ellipse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432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A4A"/>
                </a:solidFill>
              </a:defRPr>
            </a:pPr>
            <a:r>
              <a:t>测试结果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063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通过率、缺陷统计、严重程度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566160"/>
            <a:ext cx="548640" cy="548640"/>
          </a:xfrm>
          <a:prstGeom prst="ellipse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566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A4A"/>
                </a:solidFill>
              </a:defRPr>
            </a:pPr>
            <a:r>
              <a:t>缺陷分析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886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缺陷分布、典型问题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389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A4A"/>
                </a:solidFill>
              </a:defRPr>
            </a:pPr>
            <a:r>
              <a:t>测试结论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70915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测试结论、遗留问题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212080"/>
            <a:ext cx="548640" cy="548640"/>
          </a:xfrm>
          <a:prstGeom prst="ellipse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212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A4A"/>
                </a:solidFill>
              </a:defRPr>
            </a:pPr>
            <a:r>
              <a:t>上线建议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5321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部署建议与风险提示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📋 测试范围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项目名称: 金蝶云·星空项目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测试模块: 财务云、供应链云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测试类型: 用户验收测试 (UAT)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测试方法: 手工测试 + 自动化测试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🖥️ 测试环境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系统版本: V3.0.1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测试环境: UAT测试环境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数据库: MySQL 8.0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浏览器: Chrome 120+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1247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👥 测试团队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测试负责人: 测试组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参与人员: 业务部门代表、IT部门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开发支持: 金蝶实施团队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测试周期: 2周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10362895" cy="457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4440" y="310896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BC7"/>
                </a:solidFill>
              </a:defRPr>
            </a:pPr>
            <a:r>
              <a:t>准备阶段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B35"/>
                </a:solidFill>
              </a:defRPr>
            </a:pPr>
            <a:r>
              <a:t>⏱️ 3天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D3A4A"/>
                </a:solidFill>
              </a:defRPr>
            </a:pPr>
            <a:r>
              <a:t>环境搭建、数据准备</a:t>
            </a:r>
          </a:p>
        </p:txBody>
      </p:sp>
      <p:sp>
        <p:nvSpPr>
          <p:cNvPr id="9" name="Oval 8"/>
          <p:cNvSpPr/>
          <p:nvPr/>
        </p:nvSpPr>
        <p:spPr>
          <a:xfrm>
            <a:off x="3794759" y="310896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BC7"/>
                </a:solidFill>
              </a:defRPr>
            </a:pPr>
            <a:r>
              <a:t>执行阶段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B35"/>
                </a:solidFill>
              </a:defRPr>
            </a:pPr>
            <a:r>
              <a:t>⏱️ 7天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D3A4A"/>
                </a:solidFill>
              </a:defRPr>
            </a:pPr>
            <a:r>
              <a:t>功能测试、业务流程验证</a:t>
            </a:r>
          </a:p>
        </p:txBody>
      </p:sp>
      <p:sp>
        <p:nvSpPr>
          <p:cNvPr id="13" name="Oval 12"/>
          <p:cNvSpPr/>
          <p:nvPr/>
        </p:nvSpPr>
        <p:spPr>
          <a:xfrm>
            <a:off x="6355079" y="310896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BC7"/>
                </a:solidFill>
              </a:defRPr>
            </a:pPr>
            <a:r>
              <a:t>缺陷修复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B35"/>
                </a:solidFill>
              </a:defRPr>
            </a:pPr>
            <a:r>
              <a:t>⏱️ 3天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D3A4A"/>
                </a:solidFill>
              </a:defRPr>
            </a:pPr>
            <a:r>
              <a:t>问题修复、回归测试</a:t>
            </a:r>
          </a:p>
        </p:txBody>
      </p:sp>
      <p:sp>
        <p:nvSpPr>
          <p:cNvPr id="17" name="Oval 16"/>
          <p:cNvSpPr/>
          <p:nvPr/>
        </p:nvSpPr>
        <p:spPr>
          <a:xfrm>
            <a:off x="8915399" y="310896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BC7"/>
                </a:solidFill>
              </a:defRPr>
            </a:pPr>
            <a:r>
              <a:t>验收阶段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B35"/>
                </a:solidFill>
              </a:defRPr>
            </a:pPr>
            <a:r>
              <a:t>⏱️ 1天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D3A4A"/>
                </a:solidFill>
              </a:defRPr>
            </a:pPr>
            <a:r>
              <a:t>最终验收、报告编写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54880"/>
            <a:ext cx="11247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📊 时间统计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测试起止日期: 2026年03月21日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总测试天数: 14天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有效测试时间: 10天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测试覆盖率: 100%核心功能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测试用例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  <a:gridCol w="3047695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模块名称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用例数量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财务模块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26.5%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供应链模块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22.4%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生产制造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18.8%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人力资源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14.7%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报表分析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17.6%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170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测试用例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50726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760720" cy="28341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A4A"/>
                </a:solidFill>
              </a:defRPr>
            </a:pPr>
            <a:r>
              <a:t>✅ 共计 170 个测试用例，覆盖 5 个核心业务模块，测试覆盖率达100%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测试结果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572000" cy="564010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0" y="1097280"/>
            <a:ext cx="5943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18872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📈 通过率统计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554480"/>
            <a:ext cx="55778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通过用例: 92% (156个)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失败用例: 7% (11个)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阻塞用例: 0个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待定用例: 0个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31920"/>
            <a:ext cx="10972800" cy="62047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🐛 缺陷总览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总缺陷数: 15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已修复: 12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待修复: 2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延期处理: 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3657600" cy="38907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0" y="1097280"/>
            <a:ext cx="3200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1887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📊 本周趋势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55448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本周新增: 6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本周修复: 9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修复率: 80%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重开率: 5%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10972800" cy="5398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测试结果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53498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097280"/>
            <a:ext cx="5760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188720"/>
            <a:ext cx="539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📋 严重程度说明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39495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🔴 致命: 0个 - 系统崩溃/数据丢失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🟠 严重: 1个 - 核心功能异常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🟡 一般: 7个 - 功能小问题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🔵 轻微: 5个 - 界面/提示问题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⚪ 建议: 0个 - 优化建议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4480560"/>
            <a:ext cx="5760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4572000"/>
            <a:ext cx="539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✅ 处理情况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937760"/>
            <a:ext cx="53949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致命/严重缺陷: 已全部修复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一般缺陷: 修复率95%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轻微缺陷: 下版本优化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建议项: 已纳入需求池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A745"/>
                </a:solidFill>
              </a:defRPr>
            </a:pPr>
            <a:r>
              <a:t>✅ 无致命缺陷，严重缺陷已全部修复，系统可进入上线阶段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缺陷分析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26992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097280"/>
            <a:ext cx="53035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18872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📊 缺陷密度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9377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财务模块: 0.89个/百用例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供应链: 1.32个/百用例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生产制造: 0.94个/百用例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人力资源: 0.80个/百用例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报表分析: 0.33个/百用例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📈 分析结论</a:t>
            </a:r>
          </a:p>
          <a:p>
            <a:pPr>
              <a:spcBef>
                <a:spcPts val="600"/>
              </a:spcBef>
              <a:defRPr sz="1200">
                <a:solidFill>
                  <a:srgbClr val="2D3A4A"/>
                </a:solidFill>
              </a:defRPr>
            </a:pPr>
            <a:r>
              <a:t>• 供应链模块缺陷较多，建议加强回归测试</a:t>
            </a:r>
          </a:p>
          <a:p>
            <a:pPr>
              <a:spcBef>
                <a:spcPts val="600"/>
              </a:spcBef>
              <a:defRPr sz="1200">
                <a:solidFill>
                  <a:srgbClr val="2D3A4A"/>
                </a:solidFill>
              </a:defRPr>
            </a:pPr>
            <a:r>
              <a:t>• 财务模块功能稳定，缺陷率较低</a:t>
            </a:r>
          </a:p>
          <a:p>
            <a:pPr>
              <a:spcBef>
                <a:spcPts val="600"/>
              </a:spcBef>
              <a:defRPr sz="1200">
                <a:solidFill>
                  <a:srgbClr val="2D3A4A"/>
                </a:solidFill>
              </a:defRPr>
            </a:pPr>
            <a:r>
              <a:t>• 整体缺陷密度在可接受范围内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缺陷分析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5029200"/>
                <a:gridCol w="1676095"/>
              </a:tblGrid>
              <a:tr h="13716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缺陷编号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所属模块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问题描述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BUG-004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报表-利润表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累计数统计口径不一致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3545"/>
                          </a:solidFill>
                        </a:defRPr>
                      </a:pPr>
                      <a:r>
                        <a:t>延期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20624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9767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🔍 问题分析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主要问题类型: 计算精度、数据一致性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问题根因: 需求理解偏差、边界条件遗漏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改进措施: 加强需求评审、完善测试用例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0624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29767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✅ 解决方案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已处理问题: 已全部修复并验证通过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延期问题: 非核心功能，下版本优化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回归测试: 已进行2轮回归测试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风险等级: 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测试结论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8F5E9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8A745"/>
                </a:solidFill>
              </a:defRPr>
            </a:pPr>
            <a:r>
              <a:t>✅ 测试结论：金蝶云·星空项目 UAT测试通过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7BC7"/>
                </a:solidFill>
              </a:defRPr>
            </a:pPr>
            <a:r>
              <a:t>92.5%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A4A"/>
                </a:solidFill>
              </a:defRPr>
            </a:pPr>
            <a:r>
              <a:t>通过率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74320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8346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7BC7"/>
                </a:solidFill>
              </a:defRPr>
            </a:pPr>
            <a:r>
              <a:t>86.7%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A4A"/>
                </a:solidFill>
              </a:defRPr>
            </a:pPr>
            <a:r>
              <a:t>缺陷修复率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74320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8346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7BC7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A4A"/>
                </a:solidFill>
              </a:defRPr>
            </a:pPr>
            <a:r>
              <a:t>回归通过率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74320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8346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7BC7"/>
                </a:solidFill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A4A"/>
                </a:solidFill>
              </a:defRPr>
            </a:pPr>
            <a:r>
              <a:t>测试覆盖率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1127729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0559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📋 详细结论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功能完整性: 核心业务功能已全部实现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系统稳定性: 连续运行72小时无异常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性能指标: 响应时间&lt;2秒，满足要求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数据准确性: 财务数据核对一致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用户体验: 业务人员操作熟练度达标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BC7"/>
                </a:solidFill>
              </a:defRPr>
            </a:pPr>
            <a:r>
              <a:t>📌 遗留问题清单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1828800"/>
                <a:gridCol w="2286000"/>
                <a:gridCol w="2133295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问题编号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问题描述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影响范围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处理计划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风险等级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ISSUE-001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报表导出Excel格式调整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报表模块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V3.1版本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ISSUE-002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批量导入性能优化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供应链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V3.1版本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ISSUE-003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移动端界面适配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移动端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后续规划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20624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9767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⚠️ 风险评估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整体风险: 低风险，可正常上线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关键风险: 无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缓解措施: 已制定应急预案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后续跟踪: 每周问题回顾会议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9767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🤝 处理承诺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V3.1版本计划: 2024年Q2发布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问题响应时间: 24小时内响应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修复验证周期: 3个工作日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客户支持: 7×24小时热线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上线建议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669280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3A4A"/>
                </a:solidFill>
              </a:defRPr>
            </a:pPr>
            <a:r>
              <a:t>✅ 核心功能验证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全部通过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669280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3A4A"/>
                </a:solidFill>
              </a:defRPr>
            </a:pPr>
            <a:r>
              <a:t>✅ 缺陷修复完成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致命/严重缺陷已修复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5669280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3A4A"/>
                </a:solidFill>
              </a:defRPr>
            </a:pPr>
            <a:r>
              <a:t>✅ 数据迁移验证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数据一致性验证通过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5669280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3A4A"/>
                </a:solidFill>
              </a:defRPr>
            </a:pPr>
            <a:r>
              <a:t>✅ 性能测试通过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满足性能指标要求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5669280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3A4A"/>
                </a:solidFill>
              </a:defRPr>
            </a:pPr>
            <a:r>
              <a:t>✅ 用户培训完成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关键用户培训已结束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08960"/>
            <a:ext cx="5669280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200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3A4A"/>
                </a:solidFill>
              </a:defRPr>
            </a:pPr>
            <a:r>
              <a:t>✅ 应急预案准备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回退方案已就绪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11277295" cy="201168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🎯 上线建议</a:t>
            </a:r>
          </a:p>
          <a:p>
            <a:pPr>
              <a:spcBef>
                <a:spcPts val="400"/>
              </a:spcBef>
              <a:defRPr sz="1200">
                <a:solidFill>
                  <a:srgbClr val="2D3A4A"/>
                </a:solidFill>
              </a:defRPr>
            </a:pPr>
            <a:r>
              <a:t>1. 建议按计划进行上线切换，选择业务低峰期（周末）进行</a:t>
            </a:r>
          </a:p>
          <a:p>
            <a:pPr>
              <a:spcBef>
                <a:spcPts val="400"/>
              </a:spcBef>
              <a:defRPr sz="1200">
                <a:solidFill>
                  <a:srgbClr val="2D3A4A"/>
                </a:solidFill>
              </a:defRPr>
            </a:pPr>
            <a:r>
              <a:t>2. 上线前完成最终数据备份，确保可快速回退</a:t>
            </a:r>
          </a:p>
          <a:p>
            <a:pPr>
              <a:spcBef>
                <a:spcPts val="400"/>
              </a:spcBef>
              <a:defRPr sz="1200">
                <a:solidFill>
                  <a:srgbClr val="2D3A4A"/>
                </a:solidFill>
              </a:defRPr>
            </a:pPr>
            <a:r>
              <a:t>3. 建议安排技术团队现场支持，第一时间处理突发问题</a:t>
            </a:r>
          </a:p>
          <a:p>
            <a:pPr>
              <a:spcBef>
                <a:spcPts val="400"/>
              </a:spcBef>
              <a:defRPr sz="1200">
                <a:solidFill>
                  <a:srgbClr val="2D3A4A"/>
                </a:solidFill>
              </a:defRPr>
            </a:pPr>
            <a:r>
              <a:t>4. 用户上线后第一周安排专人驻场支持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感谢聆听</a:t>
            </a:r>
          </a:p>
          <a:p>
            <a:pPr algn="ctr">
              <a:defRPr sz="360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金蝶云·星空项目 | 测试公司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测试日期: 2026年03月21日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