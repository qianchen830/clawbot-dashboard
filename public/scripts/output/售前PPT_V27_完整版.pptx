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44.svg" ContentType="image/svg+xml"/>
  <Override PartName="/ppt/media/image46.svg" ContentType="image/svg+xml"/>
  <Override PartName="/ppt/media/image48.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848" r:id="rId2"/>
    <p:sldMasterId id="2147483859" r:id="rId3"/>
  </p:sldMasterIdLst>
  <p:notesMasterIdLst>
    <p:notesMasterId r:id="rId17"/>
  </p:notesMasterIdLst>
  <p:sldIdLst>
    <p:sldId id="256" r:id="rId4"/>
    <p:sldId id="2147481992" r:id="rId5"/>
    <p:sldId id="2147481987" r:id="rId6"/>
    <p:sldId id="16671577" r:id="rId7"/>
    <p:sldId id="2147481993" r:id="rId8"/>
    <p:sldId id="2147481989" r:id="rId9"/>
    <p:sldId id="259" r:id="rId10"/>
    <p:sldId id="330" r:id="rId11"/>
    <p:sldId id="16777188" r:id="rId12"/>
    <p:sldId id="329" r:id="rId13"/>
    <p:sldId id="2147481980" r:id="rId14"/>
    <p:sldId id="257" r:id="rId15"/>
    <p:sldId id="536" r:id="rId16"/>
    <p:sldId id="2147481994" r:id="rId23"/>
    <p:sldId id="2147481995" r:id="rId24"/>
    <p:sldId id="2147481996" r:id="rId25"/>
    <p:sldId id="2147481997" r:id="rId26"/>
    <p:sldId id="2147481998" r:id="rId27"/>
    <p:sldId id="2147481999" r:id="rId28"/>
    <p:sldId id="2147482000" r:id="rId29"/>
    <p:sldId id="2147482001" r:id="rId30"/>
    <p:sldId id="2147482002" r:id="rId31"/>
    <p:sldId id="2147482003" r:id="rId32"/>
    <p:sldId id="2147482004" r:id="rId33"/>
    <p:sldId id="2147482005" r:id="rId34"/>
    <p:sldId id="2147482006" r:id="rId35"/>
    <p:sldId id="2147482007" r:id="rId36"/>
    <p:sldId id="2147482008" r:id="rId37"/>
    <p:sldId id="2147482009" r:id="rId38"/>
    <p:sldId id="2147482010" r:id="rId39"/>
    <p:sldId id="2147482011" r:id="rId40"/>
    <p:sldId id="2147482012" r:id="rId41"/>
    <p:sldId id="2147482013" r:id="rId42"/>
    <p:sldId id="2147482014" r:id="rId43"/>
    <p:sldId id="2147482015" r:id="rId44"/>
    <p:sldId id="2147482016" r:id="rId45"/>
    <p:sldId id="2147482017" r:id="rId46"/>
    <p:sldId id="2147482018" r:id="rId47"/>
    <p:sldId id="2147482019" r:id="rId48"/>
    <p:sldId id="2147482020" r:id="rId49"/>
    <p:sldId id="2147482021" r:id="rId50"/>
    <p:sldId id="2147482022" r:id="rId51"/>
    <p:sldId id="2147482023" r:id="rId52"/>
    <p:sldId id="2147482024" r:id="rId53"/>
    <p:sldId id="2147482025" r:id="rId54"/>
    <p:sldId id="2147482026" r:id="rId55"/>
    <p:sldId id="2147482027" r:id="rId56"/>
    <p:sldId id="2147482028" r:id="rId57"/>
    <p:sldId id="2147482029" r:id="rId58"/>
    <p:sldId id="2147482030" r:id="rId59"/>
    <p:sldId id="2147482031" r:id="rId60"/>
    <p:sldId id="2147482032" r:id="rId61"/>
    <p:sldId id="2147482033" r:id="rId62"/>
    <p:sldId id="2147482034" r:id="rId63"/>
    <p:sldId id="2147482035" r:id="rId64"/>
    <p:sldId id="2147482036" r:id="rId65"/>
    <p:sldId id="2147482037" r:id="rId66"/>
    <p:sldId id="2147482038" r:id="rId67"/>
    <p:sldId id="2147482039" r:id="rId68"/>
    <p:sldId id="2147482040" r:id="rId69"/>
    <p:sldId id="2147482041" r:id="rId70"/>
    <p:sldId id="2147482042" r:id="rId71"/>
    <p:sldId id="2147482043" r:id="rId72"/>
    <p:sldId id="2147482044" r:id="rId73"/>
    <p:sldId id="2147482045" r:id="rId74"/>
    <p:sldId id="2147482046" r:id="rId75"/>
    <p:sldId id="2147482047" r:id="rId76"/>
    <p:sldId id="2147482048" r:id="rId77"/>
    <p:sldId id="2147482049" r:id="rId78"/>
    <p:sldId id="2147482050" r:id="rId79"/>
    <p:sldId id="2147482051" r:id="rId80"/>
    <p:sldId id="2147482052" r:id="rId81"/>
    <p:sldId id="2147482053" r:id="rId82"/>
    <p:sldId id="2147482054" r:id="rId83"/>
    <p:sldId id="2147482055" r:id="rId84"/>
    <p:sldId id="2147482056" r:id="rId85"/>
    <p:sldId id="2147482057" r:id="rId86"/>
    <p:sldId id="2147482058" r:id="rId87"/>
    <p:sldId id="2147482059" r:id="rId88"/>
    <p:sldId id="2147482060" r:id="rId8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0D3A4A-7C84-4AAD-9A33-13706DC34725}">
          <p14:sldIdLst>
            <p14:sldId id="256"/>
          </p14:sldIdLst>
        </p14:section>
        <p14:section name="解决方案" id="{9AE2354C-5E84-4066-A42A-E61863B3ACDD}">
          <p14:sldIdLst>
            <p14:sldId id="2147481992"/>
            <p14:sldId id="2147481987"/>
            <p14:sldId id="16671577"/>
            <p14:sldId id="2147481993"/>
            <p14:sldId id="2147481989"/>
            <p14:sldId id="259"/>
            <p14:sldId id="330"/>
            <p14:sldId id="16777188"/>
            <p14:sldId id="329"/>
            <p14:sldId id="2147481980"/>
            <p14:sldId id="257"/>
            <p14:sldId id="53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2" name="作者" initials="A" lastIdx="0" clrIdx="14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372EF"/>
    <a:srgbClr val="FD3D3D"/>
    <a:srgbClr val="08C8C8"/>
    <a:srgbClr val="A06EFF"/>
    <a:srgbClr val="00CCFF"/>
    <a:srgbClr val="A16EFF"/>
    <a:srgbClr val="0098BF"/>
    <a:srgbClr val="A2C6F7"/>
    <a:srgbClr val="FFFFFF"/>
    <a:srgbClr val="2971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2" autoAdjust="0"/>
    <p:restoredTop sz="78632" autoAdjust="0"/>
  </p:normalViewPr>
  <p:slideViewPr>
    <p:cSldViewPr snapToGrid="0">
      <p:cViewPr varScale="1">
        <p:scale>
          <a:sx n="60" d="100"/>
          <a:sy n="60" d="100"/>
        </p:scale>
        <p:origin x="867"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s>
</file>

<file path=ppt/diagrams/colors1.xml><?xml version="1.0" encoding="utf-8"?>
<dgm:colorsDef xmlns:dgm="http://schemas.openxmlformats.org/drawingml/2006/diagram" xmlns:a="http://schemas.openxmlformats.org/drawingml/2006/main" uniqueId="urn:microsoft.com/office/officeart/2005/8/colors/accent1_3#4">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5">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6">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4" qsCatId="simple" csTypeId="urn:microsoft.com/office/officeart/2005/8/colors/accent1_3#4"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5" qsCatId="simple" csTypeId="urn:microsoft.com/office/officeart/2005/8/colors/accent1_3#5"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事前业务管控</a:t>
          </a:r>
        </a:p>
      </dgm:t>
    </dgm:pt>
    <dgm:pt modelId="{3D1AB2CA-88A4-4E4C-9A8A-508DF0E06639}" type="parTrans" cxnId="{50A8BE3D-334E-4481-B425-1A3C3E3698A9}">
      <dgm:prSet/>
      <dgm:spPr/>
    </dgm:pt>
    <dgm:pt modelId="{856E2728-BF00-49C7-82BA-8F4DCB00940B}" type="sibTrans" cxnId="{50A8BE3D-334E-4481-B425-1A3C3E3698A9}">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业务财务对账</a:t>
          </a:r>
        </a:p>
      </dgm:t>
    </dgm:pt>
    <dgm:pt modelId="{1B565CE3-CFBF-4898-BC1F-9D3078043EA2}" type="parTrans" cxnId="{020D6355-6226-4536-997F-03D7EFCEDF44}">
      <dgm:prSet/>
      <dgm:spPr/>
    </dgm:pt>
    <dgm:pt modelId="{52FB25FC-2990-4323-9A4B-CAFC00DAD326}" type="sibTrans" cxnId="{020D6355-6226-4536-997F-03D7EFCEDF44}">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应收应付管理</a:t>
          </a:r>
        </a:p>
      </dgm:t>
    </dgm:pt>
    <dgm:pt modelId="{8C430596-32F3-4CF9-9176-11E514A1AB42}" type="parTrans" cxnId="{4B0EB46F-A85E-4171-A386-C981E2EC1594}">
      <dgm:prSet/>
      <dgm:spPr/>
    </dgm:pt>
    <dgm:pt modelId="{9D4B24A6-9E83-4781-A61C-B92D8212DC57}" type="sibTrans" cxnId="{4B0EB46F-A85E-4171-A386-C981E2EC1594}">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资金税务处理</a:t>
          </a:r>
        </a:p>
      </dgm:t>
    </dgm:pt>
    <dgm:pt modelId="{7CE2F9BC-EC9B-4619-916C-17F4A482A5F1}" type="parTrans" cxnId="{72121729-9144-4983-9B31-2D7E8EE356C0}">
      <dgm:prSet/>
      <dgm:spPr/>
    </dgm:pt>
    <dgm:pt modelId="{A099E77C-FEAD-4134-988B-0AB4F476738C}" type="sibTrans" cxnId="{72121729-9144-4983-9B31-2D7E8EE356C0}">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结账检查</a:t>
          </a:r>
        </a:p>
      </dgm:t>
    </dgm:pt>
    <dgm:pt modelId="{D8A59A7F-E947-4557-94F5-B8F054675A7B}" type="parTrans" cxnId="{AC669B97-1F48-4050-AD72-0F8ED2E50DDB}">
      <dgm:prSet/>
      <dgm:spPr/>
    </dgm:pt>
    <dgm:pt modelId="{80F770CE-0DFF-4EC1-9D82-894C5FE9234F}" type="sibTrans" cxnId="{AC669B97-1F48-4050-AD72-0F8ED2E50DDB}">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事后监控和分析</a:t>
          </a:r>
        </a:p>
      </dgm:t>
    </dgm:pt>
    <dgm:pt modelId="{845A32C3-0E8A-4EED-972E-FC6F9A8364F8}" type="parTrans" cxnId="{0C2D2787-5951-4087-8E8F-23786038FA93}">
      <dgm:prSet/>
      <dgm:spPr/>
    </dgm:pt>
    <dgm:pt modelId="{C0D86BAE-7711-4781-A574-7BE0EA273229}" type="sibTrans" cxnId="{0C2D2787-5951-4087-8E8F-23786038FA93}">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6">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6">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6">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6">
        <dgm:presLayoutVars>
          <dgm:bulletEnabled val="1"/>
        </dgm:presLayoutVars>
      </dgm:prSet>
      <dgm:spPr/>
    </dgm:pt>
    <dgm:pt modelId="{0EC8A004-B58B-4771-8323-666A6813D93D}" type="pres">
      <dgm:prSet presAssocID="{A099E77C-FEAD-4134-988B-0AB4F476738C}" presName="parSpace" presStyleCnt="0"/>
      <dgm:spPr/>
    </dgm:pt>
    <dgm:pt modelId="{04E8A274-B06E-4652-AEFB-43F73A50C66B}" type="pres">
      <dgm:prSet presAssocID="{54D5A605-440A-43B7-999E-EA5DC97D1CF9}" presName="parTxOnly" presStyleLbl="node1" presStyleIdx="4" presStyleCnt="6">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5" presStyleCnt="6">
        <dgm:presLayoutVars>
          <dgm:bulletEnabled val="1"/>
        </dgm:presLayoutVars>
      </dgm:prSet>
      <dgm:spPr/>
    </dgm:pt>
  </dgm:ptLst>
  <dgm:cxnLst>
    <dgm:cxn modelId="{F81EB60E-CE73-4531-AA1C-06E8EFA2CD82}" type="presOf" srcId="{9D527559-FDD8-4274-B634-C7FBCF5BC573}" destId="{DD8D61C9-838D-4E36-8B79-D7FE15A75602}" srcOrd="0" destOrd="0" presId="urn:microsoft.com/office/officeart/2005/8/layout/hChevron3"/>
    <dgm:cxn modelId="{72121729-9144-4983-9B31-2D7E8EE356C0}" srcId="{9D527559-FDD8-4274-B634-C7FBCF5BC573}" destId="{F74EBF1F-499A-422F-937A-A05495E46476}" srcOrd="3" destOrd="0" parTransId="{7CE2F9BC-EC9B-4619-916C-17F4A482A5F1}" sibTransId="{A099E77C-FEAD-4134-988B-0AB4F476738C}"/>
    <dgm:cxn modelId="{EB185134-90FD-4E58-8108-319F7698A64F}" type="presOf" srcId="{870E4F47-8CC4-4F59-B4C1-42B5AAA5CEFE}" destId="{BC9ACFCB-089E-4CBB-A4FC-D58FE8C55942}" srcOrd="0" destOrd="0" presId="urn:microsoft.com/office/officeart/2005/8/layout/hChevron3"/>
    <dgm:cxn modelId="{50A8BE3D-334E-4481-B425-1A3C3E3698A9}" srcId="{9D527559-FDD8-4274-B634-C7FBCF5BC573}" destId="{870E4F47-8CC4-4F59-B4C1-42B5AAA5CEFE}" srcOrd="0" destOrd="0" parTransId="{3D1AB2CA-88A4-4E4C-9A8A-508DF0E06639}" sibTransId="{856E2728-BF00-49C7-82BA-8F4DCB00940B}"/>
    <dgm:cxn modelId="{DD1A7642-C15B-4DCA-8972-B87E481CC211}" type="presOf" srcId="{6F95AD19-5F38-4B54-9159-986C51CE9084}" destId="{F41FA5FA-0F34-4BF7-A1A1-4A6BFAFBDD6C}" srcOrd="0" destOrd="0" presId="urn:microsoft.com/office/officeart/2005/8/layout/hChevron3"/>
    <dgm:cxn modelId="{4B0EB46F-A85E-4171-A386-C981E2EC1594}" srcId="{9D527559-FDD8-4274-B634-C7FBCF5BC573}" destId="{654FA620-B94B-45DE-A700-F351986F4348}" srcOrd="2" destOrd="0" parTransId="{8C430596-32F3-4CF9-9176-11E514A1AB42}" sibTransId="{9D4B24A6-9E83-4781-A61C-B92D8212DC57}"/>
    <dgm:cxn modelId="{020D6355-6226-4536-997F-03D7EFCEDF44}" srcId="{9D527559-FDD8-4274-B634-C7FBCF5BC573}" destId="{6F95AD19-5F38-4B54-9159-986C51CE9084}" srcOrd="1" destOrd="0" parTransId="{1B565CE3-CFBF-4898-BC1F-9D3078043EA2}" sibTransId="{52FB25FC-2990-4323-9A4B-CAFC00DAD326}"/>
    <dgm:cxn modelId="{0C2D2787-5951-4087-8E8F-23786038FA93}" srcId="{9D527559-FDD8-4274-B634-C7FBCF5BC573}" destId="{1AA64000-5F0F-47A8-A435-2AF8D82F28B1}" srcOrd="5" destOrd="0" parTransId="{845A32C3-0E8A-4EED-972E-FC6F9A8364F8}" sibTransId="{C0D86BAE-7711-4781-A574-7BE0EA273229}"/>
    <dgm:cxn modelId="{AC669B97-1F48-4050-AD72-0F8ED2E50DDB}" srcId="{9D527559-FDD8-4274-B634-C7FBCF5BC573}" destId="{54D5A605-440A-43B7-999E-EA5DC97D1CF9}" srcOrd="4" destOrd="0" parTransId="{D8A59A7F-E947-4557-94F5-B8F054675A7B}" sibTransId="{80F770CE-0DFF-4EC1-9D82-894C5FE9234F}"/>
    <dgm:cxn modelId="{D78A21AE-DCBA-41E6-B5A5-DCF4A81C4913}" type="presOf" srcId="{54D5A605-440A-43B7-999E-EA5DC97D1CF9}" destId="{04E8A274-B06E-4652-AEFB-43F73A50C66B}" srcOrd="0" destOrd="0" presId="urn:microsoft.com/office/officeart/2005/8/layout/hChevron3"/>
    <dgm:cxn modelId="{A7E8FBB8-84BA-427B-B3D4-F861109348E6}" type="presOf" srcId="{F74EBF1F-499A-422F-937A-A05495E46476}" destId="{3FB26E2D-3570-49B6-89EA-01582F84FD4C}" srcOrd="0" destOrd="0" presId="urn:microsoft.com/office/officeart/2005/8/layout/hChevron3"/>
    <dgm:cxn modelId="{1B1FE1BB-05A2-4248-9F06-1F8BFFFD97BD}" type="presOf" srcId="{1AA64000-5F0F-47A8-A435-2AF8D82F28B1}" destId="{F2389BAE-32B5-4FD0-A33C-D133129DAD41}" srcOrd="0" destOrd="0" presId="urn:microsoft.com/office/officeart/2005/8/layout/hChevron3"/>
    <dgm:cxn modelId="{45EB41F9-4155-4E81-A1C4-D6A21251BFB7}" type="presOf" srcId="{654FA620-B94B-45DE-A700-F351986F4348}" destId="{D8A1B2F9-95F9-460A-B5DB-F32EE235B1DC}" srcOrd="0" destOrd="0" presId="urn:microsoft.com/office/officeart/2005/8/layout/hChevron3"/>
    <dgm:cxn modelId="{99765624-3613-4875-BD08-E70419617B22}" type="presParOf" srcId="{DD8D61C9-838D-4E36-8B79-D7FE15A75602}" destId="{BC9ACFCB-089E-4CBB-A4FC-D58FE8C55942}" srcOrd="0" destOrd="0" presId="urn:microsoft.com/office/officeart/2005/8/layout/hChevron3"/>
    <dgm:cxn modelId="{BF99A60D-EC73-4897-BD1E-DB4949ADD5F5}" type="presParOf" srcId="{DD8D61C9-838D-4E36-8B79-D7FE15A75602}" destId="{CE99D2D1-1F6E-4790-9F0B-E98B9F5EDDBA}" srcOrd="1" destOrd="0" presId="urn:microsoft.com/office/officeart/2005/8/layout/hChevron3"/>
    <dgm:cxn modelId="{276AA5DA-F3F5-44A1-814F-677B5C3A1616}" type="presParOf" srcId="{DD8D61C9-838D-4E36-8B79-D7FE15A75602}" destId="{F41FA5FA-0F34-4BF7-A1A1-4A6BFAFBDD6C}" srcOrd="2" destOrd="0" presId="urn:microsoft.com/office/officeart/2005/8/layout/hChevron3"/>
    <dgm:cxn modelId="{AE962EA7-78A5-4371-B2C7-2B5118839C7F}" type="presParOf" srcId="{DD8D61C9-838D-4E36-8B79-D7FE15A75602}" destId="{D8F01244-E943-4DA9-B41C-5FB1323884E9}" srcOrd="3" destOrd="0" presId="urn:microsoft.com/office/officeart/2005/8/layout/hChevron3"/>
    <dgm:cxn modelId="{62E6A7BD-42B9-492A-A728-0BD3A3639808}" type="presParOf" srcId="{DD8D61C9-838D-4E36-8B79-D7FE15A75602}" destId="{D8A1B2F9-95F9-460A-B5DB-F32EE235B1DC}" srcOrd="4" destOrd="0" presId="urn:microsoft.com/office/officeart/2005/8/layout/hChevron3"/>
    <dgm:cxn modelId="{FA7D9498-DC0C-4BD4-A4E2-8D3F00613E36}" type="presParOf" srcId="{DD8D61C9-838D-4E36-8B79-D7FE15A75602}" destId="{FB04A669-45F7-4BFA-B80D-886141B3CC48}" srcOrd="5" destOrd="0" presId="urn:microsoft.com/office/officeart/2005/8/layout/hChevron3"/>
    <dgm:cxn modelId="{8AA12381-D351-45FB-988F-01DF6447B75B}" type="presParOf" srcId="{DD8D61C9-838D-4E36-8B79-D7FE15A75602}" destId="{3FB26E2D-3570-49B6-89EA-01582F84FD4C}" srcOrd="6" destOrd="0" presId="urn:microsoft.com/office/officeart/2005/8/layout/hChevron3"/>
    <dgm:cxn modelId="{D49F69AD-B8B2-419F-957E-80969344BBAA}" type="presParOf" srcId="{DD8D61C9-838D-4E36-8B79-D7FE15A75602}" destId="{0EC8A004-B58B-4771-8323-666A6813D93D}" srcOrd="7" destOrd="0" presId="urn:microsoft.com/office/officeart/2005/8/layout/hChevron3"/>
    <dgm:cxn modelId="{432FDB37-33E6-405B-B9D3-667C06F356A7}" type="presParOf" srcId="{DD8D61C9-838D-4E36-8B79-D7FE15A75602}" destId="{04E8A274-B06E-4652-AEFB-43F73A50C66B}" srcOrd="8" destOrd="0" presId="urn:microsoft.com/office/officeart/2005/8/layout/hChevron3"/>
    <dgm:cxn modelId="{3ED07DAF-C4CB-4A8A-9823-53CA79C30D92}" type="presParOf" srcId="{DD8D61C9-838D-4E36-8B79-D7FE15A75602}" destId="{2D0FF3F9-7E48-4580-BE34-76EB9A1A508F}" srcOrd="9" destOrd="0" presId="urn:microsoft.com/office/officeart/2005/8/layout/hChevron3"/>
    <dgm:cxn modelId="{2C918C5A-0933-47DD-BA85-190C730182C6}" type="presParOf" srcId="{DD8D61C9-838D-4E36-8B79-D7FE15A75602}" destId="{F2389BAE-32B5-4FD0-A33C-D133129DAD41}"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6" qsCatId="simple" csTypeId="urn:microsoft.com/office/officeart/2005/8/colors/accent1_3#6"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1168" y="0"/>
          <a:ext cx="1914732"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事前业务管控</a:t>
          </a:r>
        </a:p>
      </dsp:txBody>
      <dsp:txXfrm>
        <a:off x="1168" y="0"/>
        <a:ext cx="1851708" cy="252095"/>
      </dsp:txXfrm>
    </dsp:sp>
    <dsp:sp modelId="{F41FA5FA-0F34-4BF7-A1A1-4A6BFAFBDD6C}">
      <dsp:nvSpPr>
        <dsp:cNvPr id="0" name=""/>
        <dsp:cNvSpPr/>
      </dsp:nvSpPr>
      <dsp:spPr bwMode="white">
        <a:xfrm>
          <a:off x="1532954" y="0"/>
          <a:ext cx="1914732" cy="252095"/>
        </a:xfrm>
        <a:prstGeom prst="chevron">
          <a:avLst/>
        </a:prstGeom>
        <a:gradFill rotWithShape="0">
          <a:gsLst>
            <a:gs pos="0">
              <a:schemeClr val="accent1">
                <a:shade val="80000"/>
                <a:hueOff val="128802"/>
                <a:satOff val="-1441"/>
                <a:lumOff val="6238"/>
                <a:alphaOff val="0"/>
                <a:satMod val="103000"/>
                <a:lumMod val="102000"/>
                <a:tint val="94000"/>
              </a:schemeClr>
            </a:gs>
            <a:gs pos="50000">
              <a:schemeClr val="accent1">
                <a:shade val="80000"/>
                <a:hueOff val="128802"/>
                <a:satOff val="-1441"/>
                <a:lumOff val="6238"/>
                <a:alphaOff val="0"/>
                <a:satMod val="110000"/>
                <a:lumMod val="100000"/>
                <a:shade val="100000"/>
              </a:schemeClr>
            </a:gs>
            <a:gs pos="100000">
              <a:schemeClr val="accent1">
                <a:shade val="80000"/>
                <a:hueOff val="128802"/>
                <a:satOff val="-1441"/>
                <a:lumOff val="62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业务财务对账</a:t>
          </a:r>
        </a:p>
      </dsp:txBody>
      <dsp:txXfrm>
        <a:off x="1659002" y="0"/>
        <a:ext cx="1662637" cy="252095"/>
      </dsp:txXfrm>
    </dsp:sp>
    <dsp:sp modelId="{D8A1B2F9-95F9-460A-B5DB-F32EE235B1DC}">
      <dsp:nvSpPr>
        <dsp:cNvPr id="0" name=""/>
        <dsp:cNvSpPr/>
      </dsp:nvSpPr>
      <dsp:spPr bwMode="white">
        <a:xfrm>
          <a:off x="3064740" y="0"/>
          <a:ext cx="1914732" cy="252095"/>
        </a:xfrm>
        <a:prstGeom prst="chevron">
          <a:avLst/>
        </a:prstGeom>
        <a:gradFill rotWithShape="0">
          <a:gsLst>
            <a:gs pos="0">
              <a:schemeClr val="accent1">
                <a:shade val="80000"/>
                <a:hueOff val="257605"/>
                <a:satOff val="-2883"/>
                <a:lumOff val="12477"/>
                <a:alphaOff val="0"/>
                <a:satMod val="103000"/>
                <a:lumMod val="102000"/>
                <a:tint val="94000"/>
              </a:schemeClr>
            </a:gs>
            <a:gs pos="50000">
              <a:schemeClr val="accent1">
                <a:shade val="80000"/>
                <a:hueOff val="257605"/>
                <a:satOff val="-2883"/>
                <a:lumOff val="12477"/>
                <a:alphaOff val="0"/>
                <a:satMod val="110000"/>
                <a:lumMod val="100000"/>
                <a:shade val="100000"/>
              </a:schemeClr>
            </a:gs>
            <a:gs pos="100000">
              <a:schemeClr val="accent1">
                <a:shade val="80000"/>
                <a:hueOff val="257605"/>
                <a:satOff val="-2883"/>
                <a:lumOff val="124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应收应付管理</a:t>
          </a:r>
        </a:p>
      </dsp:txBody>
      <dsp:txXfrm>
        <a:off x="3190788" y="0"/>
        <a:ext cx="1662637" cy="252095"/>
      </dsp:txXfrm>
    </dsp:sp>
    <dsp:sp modelId="{3FB26E2D-3570-49B6-89EA-01582F84FD4C}">
      <dsp:nvSpPr>
        <dsp:cNvPr id="0" name=""/>
        <dsp:cNvSpPr/>
      </dsp:nvSpPr>
      <dsp:spPr bwMode="white">
        <a:xfrm>
          <a:off x="4596526" y="0"/>
          <a:ext cx="1914732" cy="252095"/>
        </a:xfrm>
        <a:prstGeom prst="chevron">
          <a:avLst/>
        </a:prstGeom>
        <a:gradFill rotWithShape="0">
          <a:gsLst>
            <a:gs pos="0">
              <a:schemeClr val="accent1">
                <a:shade val="80000"/>
                <a:hueOff val="386407"/>
                <a:satOff val="-4324"/>
                <a:lumOff val="18715"/>
                <a:alphaOff val="0"/>
                <a:satMod val="103000"/>
                <a:lumMod val="102000"/>
                <a:tint val="94000"/>
              </a:schemeClr>
            </a:gs>
            <a:gs pos="50000">
              <a:schemeClr val="accent1">
                <a:shade val="80000"/>
                <a:hueOff val="386407"/>
                <a:satOff val="-4324"/>
                <a:lumOff val="18715"/>
                <a:alphaOff val="0"/>
                <a:satMod val="110000"/>
                <a:lumMod val="100000"/>
                <a:shade val="100000"/>
              </a:schemeClr>
            </a:gs>
            <a:gs pos="100000">
              <a:schemeClr val="accent1">
                <a:shade val="80000"/>
                <a:hueOff val="386407"/>
                <a:satOff val="-4324"/>
                <a:lumOff val="187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资金税务处理</a:t>
          </a:r>
        </a:p>
      </dsp:txBody>
      <dsp:txXfrm>
        <a:off x="4722574" y="0"/>
        <a:ext cx="1662637" cy="252095"/>
      </dsp:txXfrm>
    </dsp:sp>
    <dsp:sp modelId="{04E8A274-B06E-4652-AEFB-43F73A50C66B}">
      <dsp:nvSpPr>
        <dsp:cNvPr id="0" name=""/>
        <dsp:cNvSpPr/>
      </dsp:nvSpPr>
      <dsp:spPr bwMode="white">
        <a:xfrm>
          <a:off x="6128312" y="0"/>
          <a:ext cx="1914732" cy="252095"/>
        </a:xfrm>
        <a:prstGeom prst="chevron">
          <a:avLst/>
        </a:prstGeom>
        <a:gradFill rotWithShape="0">
          <a:gsLst>
            <a:gs pos="0">
              <a:schemeClr val="accent1">
                <a:shade val="80000"/>
                <a:hueOff val="515209"/>
                <a:satOff val="-5766"/>
                <a:lumOff val="24954"/>
                <a:alphaOff val="0"/>
                <a:satMod val="103000"/>
                <a:lumMod val="102000"/>
                <a:tint val="94000"/>
              </a:schemeClr>
            </a:gs>
            <a:gs pos="50000">
              <a:schemeClr val="accent1">
                <a:shade val="80000"/>
                <a:hueOff val="515209"/>
                <a:satOff val="-5766"/>
                <a:lumOff val="24954"/>
                <a:alphaOff val="0"/>
                <a:satMod val="110000"/>
                <a:lumMod val="100000"/>
                <a:shade val="100000"/>
              </a:schemeClr>
            </a:gs>
            <a:gs pos="100000">
              <a:schemeClr val="accent1">
                <a:shade val="80000"/>
                <a:hueOff val="515209"/>
                <a:satOff val="-5766"/>
                <a:lumOff val="249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结账检查</a:t>
          </a:r>
        </a:p>
      </dsp:txBody>
      <dsp:txXfrm>
        <a:off x="6254360" y="0"/>
        <a:ext cx="1662637" cy="252095"/>
      </dsp:txXfrm>
    </dsp:sp>
    <dsp:sp modelId="{F2389BAE-32B5-4FD0-A33C-D133129DAD41}">
      <dsp:nvSpPr>
        <dsp:cNvPr id="0" name=""/>
        <dsp:cNvSpPr/>
      </dsp:nvSpPr>
      <dsp:spPr bwMode="white">
        <a:xfrm>
          <a:off x="7660098" y="0"/>
          <a:ext cx="1914732"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事后监控和分析</a:t>
          </a:r>
        </a:p>
      </dsp:txBody>
      <dsp:txXfrm>
        <a:off x="7786146" y="0"/>
        <a:ext cx="1662637" cy="2520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6">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D4E06-FAFC-4C59-B109-8F4B8746390D}" type="datetimeFigureOut">
              <a:rPr lang="zh-CN" altLang="en-US" smtClean="0"/>
              <a:t>2026/3/5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39CAE-762F-45B3-B32D-38597EC2FB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a:t>
            </a:fld>
            <a:endParaRPr lang="zh-CN" altLang="en-US"/>
          </a:p>
        </p:txBody>
      </p:sp>
    </p:spTree>
    <p:extLst>
      <p:ext uri="{BB962C8B-B14F-4D97-AF65-F5344CB8AC3E}">
        <p14:creationId xmlns:p14="http://schemas.microsoft.com/office/powerpoint/2010/main" val="1540431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C749-58BC-51AC-25B5-0D4E41954A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783785-EFEB-2C5B-0AE9-1AE942C1055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85B5C-7A0E-8411-BB2F-F587FF3B09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B290233-AF65-E549-0D9B-45E20DB1B9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73813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3</a:t>
            </a:fld>
            <a:endParaRPr lang="zh-CN" altLang="en-US"/>
          </a:p>
        </p:txBody>
      </p:sp>
    </p:spTree>
    <p:extLst>
      <p:ext uri="{BB962C8B-B14F-4D97-AF65-F5344CB8AC3E}">
        <p14:creationId xmlns:p14="http://schemas.microsoft.com/office/powerpoint/2010/main" val="1166164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4</a:t>
            </a:fld>
            <a:endParaRPr lang="zh-CN" altLang="en-US"/>
          </a:p>
        </p:txBody>
      </p:sp>
    </p:spTree>
    <p:extLst>
      <p:ext uri="{BB962C8B-B14F-4D97-AF65-F5344CB8AC3E}">
        <p14:creationId xmlns:p14="http://schemas.microsoft.com/office/powerpoint/2010/main" val="133505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7D8E-ADFD-5C34-A07E-F079DB2688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0F625-EAF2-FE4C-94A9-DA9D8986227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0C8ADF0-D991-5FB2-5462-4A28B33C6E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3812C6-5EA4-9AB6-0213-B6CA29137A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9413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6</a:t>
            </a:fld>
            <a:endParaRPr lang="zh-CN" altLang="en-US"/>
          </a:p>
        </p:txBody>
      </p:sp>
    </p:spTree>
    <p:extLst>
      <p:ext uri="{BB962C8B-B14F-4D97-AF65-F5344CB8AC3E}">
        <p14:creationId xmlns:p14="http://schemas.microsoft.com/office/powerpoint/2010/main" val="1759864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10</a:t>
            </a:fld>
            <a:endParaRPr lang="zh-CN" altLang="en-US"/>
          </a:p>
        </p:txBody>
      </p:sp>
    </p:spTree>
    <p:extLst>
      <p:ext uri="{BB962C8B-B14F-4D97-AF65-F5344CB8AC3E}">
        <p14:creationId xmlns:p14="http://schemas.microsoft.com/office/powerpoint/2010/main" val="214758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7241-413F-F6AE-9686-D6C0725DFE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A65600-8743-EF9F-E19D-0A2145B248A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9CA5B0D-4902-3A59-121F-2FCCA34EDF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C3C2D0-B8C8-C2B5-098F-E6098AC116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26578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extLst>
      <p:ext uri="{BB962C8B-B14F-4D97-AF65-F5344CB8AC3E}">
        <p14:creationId xmlns:p14="http://schemas.microsoft.com/office/powerpoint/2010/main" val="1935308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9.png"/><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677407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16" name="图片 15" descr="背景图案&#10;&#10;AI 生成的内容可能不正确。">
            <a:extLst>
              <a:ext uri="{FF2B5EF4-FFF2-40B4-BE49-F238E27FC236}">
                <a16:creationId xmlns:a16="http://schemas.microsoft.com/office/drawing/2014/main" id="{05636E91-381C-DC0C-8869-3FCAEDD9F0FF}"/>
              </a:ext>
            </a:extLst>
          </p:cNvPr>
          <p:cNvPicPr>
            <a:picLocks noChangeAspect="1"/>
          </p:cNvPicPr>
          <p:nvPr userDrawn="1"/>
        </p:nvPicPr>
        <p:blipFill>
          <a:blip r:embed="rId2"/>
          <a:stretch>
            <a:fillRect/>
          </a:stretch>
        </p:blipFill>
        <p:spPr>
          <a:xfrm>
            <a:off x="-69918" y="-39329"/>
            <a:ext cx="12331836" cy="6936658"/>
          </a:xfrm>
          <a:prstGeom prst="rect">
            <a:avLst/>
          </a:prstGeom>
        </p:spPr>
      </p:pic>
      <p:pic>
        <p:nvPicPr>
          <p:cNvPr id="12" name="图片 11" descr="徽标&#10;&#10;AI 生成的内容可能不正确。">
            <a:extLst>
              <a:ext uri="{FF2B5EF4-FFF2-40B4-BE49-F238E27FC236}">
                <a16:creationId xmlns:a16="http://schemas.microsoft.com/office/drawing/2014/main" id="{E4F366D5-5466-E5EB-3C64-02F176C69B1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14465" y="587729"/>
            <a:ext cx="2038236" cy="788756"/>
          </a:xfrm>
          <a:prstGeom prst="rect">
            <a:avLst/>
          </a:prstGeom>
        </p:spPr>
      </p:pic>
      <p:sp>
        <p:nvSpPr>
          <p:cNvPr id="5" name="标题占位符 1"/>
          <p:cNvSpPr>
            <a:spLocks noGrp="1"/>
          </p:cNvSpPr>
          <p:nvPr userDrawn="1">
            <p:ph type="title" hasCustomPrompt="1"/>
          </p:nvPr>
        </p:nvSpPr>
        <p:spPr>
          <a:xfrm>
            <a:off x="838200" y="2071830"/>
            <a:ext cx="10515600" cy="788756"/>
          </a:xfrm>
          <a:prstGeom prst="rect">
            <a:avLst/>
          </a:prstGeom>
        </p:spPr>
        <p:txBody>
          <a:bodyPr vert="horz" lIns="0" tIns="0" rIns="0" bIns="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userDrawn="1">
            <p:ph sz="quarter" idx="12" hasCustomPrompt="1"/>
          </p:nvPr>
        </p:nvSpPr>
        <p:spPr>
          <a:xfrm>
            <a:off x="838200" y="4804913"/>
            <a:ext cx="2750820" cy="405442"/>
          </a:xfrm>
          <a:prstGeom prst="rect">
            <a:avLst/>
          </a:prstGeom>
        </p:spPr>
        <p:txBody>
          <a:bodyPr lIns="0" tIns="0" rIns="0" bIns="0">
            <a:noAutofit/>
          </a:bodyPr>
          <a:lstStyle>
            <a:lvl1pPr marL="0" indent="0">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7"/>
            <a:ext cx="2745334" cy="301924"/>
          </a:xfrm>
          <a:prstGeom prst="rect">
            <a:avLst/>
          </a:prstGeom>
        </p:spPr>
        <p:txBody>
          <a:bodyPr lIns="0" tIns="0" rIns="0" bIns="0">
            <a:noAutofit/>
          </a:bodyPr>
          <a:lstStyle>
            <a:lvl1pPr marL="0" indent="0" algn="l">
              <a:lnSpc>
                <a:spcPct val="130000"/>
              </a:lnSpc>
              <a:spcBef>
                <a:spcPts val="0"/>
              </a:spcBef>
              <a:buNone/>
              <a:defRPr sz="1600" b="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r>
              <a:rPr lang="zh-CN" altLang="en-US" dirty="0"/>
              <a:t>职属公司 部门 岗位</a:t>
            </a:r>
          </a:p>
        </p:txBody>
      </p:sp>
      <p:sp>
        <p:nvSpPr>
          <p:cNvPr id="11" name="Content Placeholder 5"/>
          <p:cNvSpPr>
            <a:spLocks noGrp="1"/>
          </p:cNvSpPr>
          <p:nvPr userDrawn="1">
            <p:ph sz="quarter" idx="14" hasCustomPrompt="1"/>
          </p:nvPr>
        </p:nvSpPr>
        <p:spPr>
          <a:xfrm>
            <a:off x="832714" y="5589497"/>
            <a:ext cx="2750820" cy="301924"/>
          </a:xfrm>
          <a:prstGeom prst="rect">
            <a:avLst/>
          </a:prstGeom>
        </p:spPr>
        <p:txBody>
          <a:bodyPr lIns="0" tIns="0" rIns="0" bIns="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2025.02.27</a:t>
            </a:r>
            <a:endParaRPr lang="zh-CN" altLang="en-US" dirty="0"/>
          </a:p>
        </p:txBody>
      </p:sp>
      <p:sp>
        <p:nvSpPr>
          <p:cNvPr id="22" name="文本占位符 21">
            <a:extLst>
              <a:ext uri="{FF2B5EF4-FFF2-40B4-BE49-F238E27FC236}">
                <a16:creationId xmlns:a16="http://schemas.microsoft.com/office/drawing/2014/main" id="{3159BF06-A660-1C7C-B849-B0CACAF4646F}"/>
              </a:ext>
            </a:extLst>
          </p:cNvPr>
          <p:cNvSpPr>
            <a:spLocks noGrp="1"/>
          </p:cNvSpPr>
          <p:nvPr>
            <p:ph type="body" sz="quarter" idx="15" hasCustomPrompt="1"/>
          </p:nvPr>
        </p:nvSpPr>
        <p:spPr>
          <a:xfrm>
            <a:off x="832714" y="2977195"/>
            <a:ext cx="10521086" cy="579824"/>
          </a:xfrm>
          <a:prstGeom prst="rect">
            <a:avLst/>
          </a:prstGeom>
        </p:spPr>
        <p:txBody>
          <a:bodyPr/>
          <a:lstStyle>
            <a:lvl1pPr marL="0" indent="0">
              <a:buNone/>
              <a:defRPr sz="4000" b="1" i="0">
                <a:solidFill>
                  <a:schemeClr val="bg1"/>
                </a:solidFill>
                <a:latin typeface="Microsoft YaHei" panose="020B0503020204020204" pitchFamily="34" charset="-122"/>
                <a:ea typeface="Microsoft YaHei" panose="020B0503020204020204" pitchFamily="34" charset="-122"/>
              </a:defRPr>
            </a:lvl1pPr>
            <a:lvl2pPr marL="457200" indent="0">
              <a:buNone/>
              <a:defRPr/>
            </a:lvl2pPr>
          </a:lstStyle>
          <a:p>
            <a:pPr lvl="0"/>
            <a:r>
              <a:rPr kumimoji="1" lang="zh-CN" altLang="en-US" dirty="0"/>
              <a:t>单击此处编辑副标题（</a:t>
            </a:r>
            <a:r>
              <a:rPr kumimoji="1" lang="en-US" altLang="zh-CN" dirty="0"/>
              <a:t>40</a:t>
            </a:r>
            <a:r>
              <a:rPr kumimoji="1" lang="zh-CN" altLang="en-US" dirty="0"/>
              <a:t>磅）</a:t>
            </a:r>
          </a:p>
        </p:txBody>
      </p:sp>
    </p:spTree>
    <p:extLst>
      <p:ext uri="{BB962C8B-B14F-4D97-AF65-F5344CB8AC3E}">
        <p14:creationId xmlns:p14="http://schemas.microsoft.com/office/powerpoint/2010/main" val="201634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799141"/>
            <a:ext cx="1052336" cy="695277"/>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68402"/>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7783244" cy="285116"/>
          </a:xfrm>
          <a:prstGeom prst="rect">
            <a:avLst/>
          </a:prstGeom>
        </p:spPr>
        <p:txBody>
          <a:bodyPr lIns="0" tIns="0" rIns="0" bIns="0" anchor="ctr" anchorCtr="0">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35120"/>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7783244" cy="285116"/>
          </a:xfrm>
          <a:prstGeom prst="rect">
            <a:avLst/>
          </a:prstGeom>
        </p:spPr>
        <p:txBody>
          <a:bodyPr lIns="0" tIns="0" rIns="0" bIns="0" anchor="ctr" anchorCtr="0">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3" y="696480"/>
            <a:ext cx="10671687" cy="28511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r>
              <a:rPr lang="zh-CN" altLang="en-US" dirty="0"/>
              <a:t>副标题，微软雅黑常规</a:t>
            </a:r>
            <a:r>
              <a:rPr lang="en-US" altLang="zh-CN" dirty="0"/>
              <a:t>16</a:t>
            </a:r>
            <a:r>
              <a:rPr lang="zh-CN" altLang="en-US" dirty="0"/>
              <a:t>磅，标题无须标点符号结尾（无内容此行可删除）</a:t>
            </a:r>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10671688"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88798"/>
            <a:ext cx="1052336" cy="736359"/>
          </a:xfrm>
          <a:prstGeom prst="rect">
            <a:avLst/>
          </a:prstGeom>
        </p:spPr>
        <p:txBody>
          <a:bodyPr anchor="ctr" anchorCtr="0">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a:extLst>
              <a:ext uri="{FF2B5EF4-FFF2-40B4-BE49-F238E27FC236}">
                <a16:creationId xmlns:a16="http://schemas.microsoft.com/office/drawing/2014/main" id="{2A61CCE4-FB7F-558D-DBC9-67712B720351}"/>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08488945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78600"/>
            <a:ext cx="333690"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6727"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96480"/>
            <a:ext cx="10803306" cy="273339"/>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10803307"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26DD7D54-E600-788A-4CAF-5EDBDEC2ABD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30818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a:extLst>
              <a:ext uri="{FF2B5EF4-FFF2-40B4-BE49-F238E27FC236}">
                <a16:creationId xmlns:a16="http://schemas.microsoft.com/office/drawing/2014/main" id="{24AA33A4-6B20-CB15-C038-537E5C3ABC48}"/>
              </a:ext>
            </a:extLst>
          </p:cNvPr>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710335"/>
            <a:ext cx="10699396" cy="314902"/>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3" y="210672"/>
            <a:ext cx="10699397"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3" name="图片 2">
            <a:extLst>
              <a:ext uri="{FF2B5EF4-FFF2-40B4-BE49-F238E27FC236}">
                <a16:creationId xmlns:a16="http://schemas.microsoft.com/office/drawing/2014/main" id="{843599CB-9386-2861-BE21-CF82735AC7BD}"/>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55931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8B7CFE-0A14-2D74-5619-1E787035A586}"/>
              </a:ext>
            </a:extLst>
          </p:cNvPr>
          <p:cNvPicPr>
            <a:picLocks noChangeAspect="1"/>
          </p:cNvPicPr>
          <p:nvPr userDrawn="1"/>
        </p:nvPicPr>
        <p:blipFill>
          <a:blip r:embed="rId2"/>
          <a:stretch>
            <a:fillRect/>
          </a:stretch>
        </p:blipFill>
        <p:spPr>
          <a:xfrm>
            <a:off x="-48491" y="-23436"/>
            <a:ext cx="12288983" cy="690487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pic>
        <p:nvPicPr>
          <p:cNvPr id="5" name="图片 4">
            <a:extLst>
              <a:ext uri="{FF2B5EF4-FFF2-40B4-BE49-F238E27FC236}">
                <a16:creationId xmlns:a16="http://schemas.microsoft.com/office/drawing/2014/main" id="{49FD17D8-E13E-9F75-C4EC-A6AC3C93074C}"/>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7" name="图片 6" descr="徽标&#10;&#10;AI 生成的内容可能不正确。">
            <a:extLst>
              <a:ext uri="{FF2B5EF4-FFF2-40B4-BE49-F238E27FC236}">
                <a16:creationId xmlns:a16="http://schemas.microsoft.com/office/drawing/2014/main" id="{10E83A7F-146B-4099-47EC-75273A2C49D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514465" y="587729"/>
            <a:ext cx="2038236" cy="788756"/>
          </a:xfrm>
          <a:prstGeom prst="rect">
            <a:avLst/>
          </a:prstGeom>
        </p:spPr>
      </p:pic>
      <p:pic>
        <p:nvPicPr>
          <p:cNvPr id="10" name="图片 9">
            <a:extLst>
              <a:ext uri="{FF2B5EF4-FFF2-40B4-BE49-F238E27FC236}">
                <a16:creationId xmlns:a16="http://schemas.microsoft.com/office/drawing/2014/main" id="{EF484F78-8292-292E-FC0B-68945FA64E43}"/>
              </a:ext>
            </a:extLst>
          </p:cNvPr>
          <p:cNvPicPr>
            <a:picLocks noChangeAspect="1"/>
          </p:cNvPicPr>
          <p:nvPr userDrawn="1"/>
        </p:nvPicPr>
        <p:blipFill>
          <a:blip r:embed="rId6"/>
          <a:stretch>
            <a:fillRect/>
          </a:stretch>
        </p:blipFill>
        <p:spPr>
          <a:xfrm>
            <a:off x="8727925" y="4072255"/>
            <a:ext cx="714525" cy="700915"/>
          </a:xfrm>
          <a:prstGeom prst="rect">
            <a:avLst/>
          </a:prstGeom>
        </p:spPr>
      </p:pic>
    </p:spTree>
    <p:extLst>
      <p:ext uri="{BB962C8B-B14F-4D97-AF65-F5344CB8AC3E}">
        <p14:creationId xmlns:p14="http://schemas.microsoft.com/office/powerpoint/2010/main" val="187691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7F3C9530-8861-41EE-99A4-AAA13E3D7CAC}"/>
              </a:ext>
            </a:extLst>
          </p:cNvPr>
          <p:cNvPicPr>
            <a:picLocks noChangeAspect="1"/>
          </p:cNvPicPr>
          <p:nvPr userDrawn="1"/>
        </p:nvPicPr>
        <p:blipFill rotWithShape="1">
          <a:blip r:embed="rId2"/>
          <a:srcRect t="20321" b="21995"/>
          <a:stretch/>
        </p:blipFill>
        <p:spPr>
          <a:xfrm>
            <a:off x="10514743" y="76455"/>
            <a:ext cx="1261448" cy="727645"/>
          </a:xfrm>
          <a:prstGeom prst="rect">
            <a:avLst/>
          </a:prstGeom>
        </p:spPr>
      </p:pic>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0" name="Title 1"/>
          <p:cNvSpPr>
            <a:spLocks noGrp="1"/>
          </p:cNvSpPr>
          <p:nvPr>
            <p:ph type="title"/>
          </p:nvPr>
        </p:nvSpPr>
        <p:spPr>
          <a:xfrm>
            <a:off x="591826" y="296787"/>
            <a:ext cx="11204359" cy="700704"/>
          </a:xfrm>
        </p:spPr>
        <p:txBody>
          <a:bodyPr/>
          <a:lstStyle>
            <a:lvl1pPr>
              <a:defRPr sz="3200" baseline="0">
                <a:solidFill>
                  <a:srgbClr val="1771EA"/>
                </a:solidFill>
                <a:latin typeface="Microsoft YaHei" charset="-122"/>
                <a:ea typeface="Microsoft YaHei" charset="-122"/>
                <a:cs typeface="Microsoft YaHei" charset="-122"/>
              </a:defRPr>
            </a:lvl1pPr>
          </a:lstStyle>
          <a:p>
            <a:r>
              <a:rPr lang="zh-CN" altLang="en-US" dirty="0"/>
              <a:t>单击此处编辑母版标题样式</a:t>
            </a:r>
            <a:endParaRPr lang="en-US" dirty="0"/>
          </a:p>
        </p:txBody>
      </p:sp>
      <p:sp>
        <p:nvSpPr>
          <p:cNvPr id="22"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393586" y="6520116"/>
            <a:ext cx="798414"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tx1"/>
                </a:solidFill>
                <a:latin typeface="Microsoft YaHei" charset="-122"/>
                <a:ea typeface="Microsoft YaHei" charset="-122"/>
                <a:cs typeface="Microsoft YaHei" charset="-122"/>
                <a:sym typeface="Helvetica Neue"/>
              </a:rPr>
              <a:pPr defTabSz="411426" fontAlgn="base">
                <a:spcBef>
                  <a:spcPct val="50000"/>
                </a:spcBef>
                <a:spcAft>
                  <a:spcPct val="0"/>
                </a:spcAft>
                <a:defRPr/>
              </a:pPr>
              <a:t>‹#›</a:t>
            </a:fld>
            <a:endParaRPr kumimoji="0" lang="en-US" altLang="zh-CN" sz="1100" b="0" kern="0" dirty="0">
              <a:solidFill>
                <a:schemeClr val="tx1"/>
              </a:solidFill>
              <a:latin typeface="Microsoft YaHei" charset="-122"/>
              <a:ea typeface="Microsoft YaHei" charset="-122"/>
              <a:cs typeface="Microsoft YaHei" charset="-122"/>
              <a:sym typeface="Helvetica Neue"/>
            </a:endParaRPr>
          </a:p>
        </p:txBody>
      </p:sp>
    </p:spTree>
    <p:extLst>
      <p:ext uri="{BB962C8B-B14F-4D97-AF65-F5344CB8AC3E}">
        <p14:creationId xmlns:p14="http://schemas.microsoft.com/office/powerpoint/2010/main" val="1367256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443374" y="6498377"/>
            <a:ext cx="613759"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ct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 name="文本占位符 5"/>
          <p:cNvSpPr>
            <a:spLocks noGrp="1"/>
          </p:cNvSpPr>
          <p:nvPr>
            <p:ph type="body" sz="quarter" idx="28" hasCustomPrompt="1"/>
          </p:nvPr>
        </p:nvSpPr>
        <p:spPr>
          <a:xfrm>
            <a:off x="398094" y="682625"/>
            <a:ext cx="10420534"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extLst>
      <p:ext uri="{BB962C8B-B14F-4D97-AF65-F5344CB8AC3E}">
        <p14:creationId xmlns:p14="http://schemas.microsoft.com/office/powerpoint/2010/main" val="1632958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图文-单图2">
    <p:spTree>
      <p:nvGrpSpPr>
        <p:cNvPr id="1" name=""/>
        <p:cNvGrpSpPr/>
        <p:nvPr/>
      </p:nvGrpSpPr>
      <p:grpSpPr>
        <a:xfrm>
          <a:off x="0" y="0"/>
          <a:ext cx="0" cy="0"/>
          <a:chOff x="0" y="0"/>
          <a:chExt cx="0" cy="0"/>
        </a:xfrm>
      </p:grpSpPr>
      <p:sp>
        <p:nvSpPr>
          <p:cNvPr id="207" name="图片占位符 6"/>
          <p:cNvSpPr>
            <a:spLocks noGrp="1"/>
          </p:cNvSpPr>
          <p:nvPr>
            <p:ph type="pic" sz="quarter" idx="11" hasCustomPrompt="1"/>
          </p:nvPr>
        </p:nvSpPr>
        <p:spPr>
          <a:xfrm>
            <a:off x="504846" y="1185038"/>
            <a:ext cx="11158547" cy="372620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08" name="文本占位符 3"/>
          <p:cNvSpPr>
            <a:spLocks noGrp="1"/>
          </p:cNvSpPr>
          <p:nvPr>
            <p:ph type="body" sz="quarter" idx="23" hasCustomPrompt="1"/>
          </p:nvPr>
        </p:nvSpPr>
        <p:spPr>
          <a:xfrm>
            <a:off x="416646" y="5173428"/>
            <a:ext cx="2525485"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09" name="文本占位符 3"/>
          <p:cNvSpPr>
            <a:spLocks noGrp="1"/>
          </p:cNvSpPr>
          <p:nvPr>
            <p:ph type="body" sz="quarter" idx="24" hasCustomPrompt="1"/>
          </p:nvPr>
        </p:nvSpPr>
        <p:spPr>
          <a:xfrm>
            <a:off x="416645"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0" name="文本占位符 3"/>
          <p:cNvSpPr>
            <a:spLocks noGrp="1"/>
          </p:cNvSpPr>
          <p:nvPr>
            <p:ph type="body" sz="quarter" idx="25" hasCustomPrompt="1"/>
          </p:nvPr>
        </p:nvSpPr>
        <p:spPr>
          <a:xfrm>
            <a:off x="4788828"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1" name="文本占位符 3"/>
          <p:cNvSpPr>
            <a:spLocks noGrp="1"/>
          </p:cNvSpPr>
          <p:nvPr>
            <p:ph type="body" sz="quarter" idx="26" hasCustomPrompt="1"/>
          </p:nvPr>
        </p:nvSpPr>
        <p:spPr>
          <a:xfrm>
            <a:off x="4788828"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2" name="文本占位符 3"/>
          <p:cNvSpPr>
            <a:spLocks noGrp="1"/>
          </p:cNvSpPr>
          <p:nvPr>
            <p:ph type="body" sz="quarter" idx="28" hasCustomPrompt="1"/>
          </p:nvPr>
        </p:nvSpPr>
        <p:spPr>
          <a:xfrm>
            <a:off x="9159097"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3" name="文本占位符 3"/>
          <p:cNvSpPr>
            <a:spLocks noGrp="1"/>
          </p:cNvSpPr>
          <p:nvPr>
            <p:ph type="body" sz="quarter" idx="29" hasCustomPrompt="1"/>
          </p:nvPr>
        </p:nvSpPr>
        <p:spPr>
          <a:xfrm>
            <a:off x="9159097"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215" name="Text Box 5"/>
          <p:cNvSpPr txBox="1">
            <a:spLocks noChangeArrowheads="1"/>
          </p:cNvSpPr>
          <p:nvPr userDrawn="1"/>
        </p:nvSpPr>
        <p:spPr bwMode="auto">
          <a:xfrm>
            <a:off x="11585878" y="6508994"/>
            <a:ext cx="285138"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endParaRPr>
          </a:p>
        </p:txBody>
      </p:sp>
      <p:pic>
        <p:nvPicPr>
          <p:cNvPr id="216" name="图片 15"/>
          <p:cNvPicPr>
            <a:picLocks noChangeAspect="1"/>
          </p:cNvPicPr>
          <p:nvPr userDrawn="1"/>
        </p:nvPicPr>
        <p:blipFill>
          <a:blip r:embed="rId2" cstate="print"/>
          <a:stretch>
            <a:fillRect/>
          </a:stretch>
        </p:blipFill>
        <p:spPr>
          <a:xfrm>
            <a:off x="10912813" y="267725"/>
            <a:ext cx="896585" cy="416026"/>
          </a:xfrm>
          <a:prstGeom prst="rect">
            <a:avLst/>
          </a:prstGeom>
        </p:spPr>
      </p:pic>
      <p:sp>
        <p:nvSpPr>
          <p:cNvPr id="217"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18"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103429694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7" y="6498377"/>
            <a:ext cx="455071"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669947"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401845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白色内页">
    <p:spTree>
      <p:nvGrpSpPr>
        <p:cNvPr id="1" name=""/>
        <p:cNvGrpSpPr/>
        <p:nvPr/>
      </p:nvGrpSpPr>
      <p:grpSpPr>
        <a:xfrm>
          <a:off x="0" y="0"/>
          <a:ext cx="0" cy="0"/>
          <a:chOff x="0" y="0"/>
          <a:chExt cx="0" cy="0"/>
        </a:xfrm>
      </p:grpSpPr>
      <p:sp>
        <p:nvSpPr>
          <p:cNvPr id="5" name="Text Box 2"/>
          <p:cNvSpPr txBox="1"/>
          <p:nvPr userDrawn="1"/>
        </p:nvSpPr>
        <p:spPr>
          <a:xfrm>
            <a:off x="9909245" y="6409222"/>
            <a:ext cx="1462116" cy="188595"/>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tabLst/>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6" name="Text Box 5"/>
          <p:cNvSpPr txBox="1">
            <a:spLocks noChangeArrowheads="1"/>
          </p:cNvSpPr>
          <p:nvPr userDrawn="1"/>
        </p:nvSpPr>
        <p:spPr bwMode="auto">
          <a:xfrm>
            <a:off x="11585879" y="6459810"/>
            <a:ext cx="398425"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tabLst/>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rPr>
              <a:pPr marL="0" marR="0" lvl="0" indent="0" algn="l" defTabSz="308610" rtl="0" eaLnBrk="0" fontAlgn="base" latinLnBrk="0" hangingPunct="0">
                <a:lnSpc>
                  <a:spcPct val="100000"/>
                </a:lnSpc>
                <a:spcBef>
                  <a:spcPct val="50000"/>
                </a:spcBef>
                <a:spcAft>
                  <a:spcPct val="0"/>
                </a:spcAft>
                <a:buClrTx/>
                <a:buSzTx/>
                <a:buFontTx/>
                <a:buNone/>
                <a:tabLst/>
                <a:defRPr/>
              </a:p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8" name="文本占位符 5"/>
          <p:cNvSpPr>
            <a:spLocks noGrp="1"/>
          </p:cNvSpPr>
          <p:nvPr>
            <p:ph type="body" sz="quarter" idx="28" hasCustomPrompt="1"/>
          </p:nvPr>
        </p:nvSpPr>
        <p:spPr>
          <a:xfrm>
            <a:off x="398095" y="682625"/>
            <a:ext cx="7793672" cy="285047"/>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7"/>
          </a:xfrm>
          <a:prstGeom prst="rect">
            <a:avLst/>
          </a:prstGeom>
        </p:spPr>
      </p:pic>
    </p:spTree>
    <p:extLst>
      <p:ext uri="{BB962C8B-B14F-4D97-AF65-F5344CB8AC3E}">
        <p14:creationId xmlns:p14="http://schemas.microsoft.com/office/powerpoint/2010/main" val="2697088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6621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2083556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30290442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6486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extLst>
      <p:ext uri="{BB962C8B-B14F-4D97-AF65-F5344CB8AC3E}">
        <p14:creationId xmlns:p14="http://schemas.microsoft.com/office/powerpoint/2010/main" val="363734202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388139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69" r:id="rId5"/>
    <p:sldLayoutId id="2147483847"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847722"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148541504"/>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extLst>
      <p:ext uri="{BB962C8B-B14F-4D97-AF65-F5344CB8AC3E}">
        <p14:creationId xmlns:p14="http://schemas.microsoft.com/office/powerpoint/2010/main" val="3984306486"/>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25.png"/><Relationship Id="rId12" Type="http://schemas.openxmlformats.org/officeDocument/2006/relationships/image" Target="../media/image26.svg"/><Relationship Id="rId13" Type="http://schemas.openxmlformats.org/officeDocument/2006/relationships/image" Target="../media/image27.png"/><Relationship Id="rId14" Type="http://schemas.openxmlformats.org/officeDocument/2006/relationships/image" Target="../media/image28.svg"/><Relationship Id="rId15" Type="http://schemas.openxmlformats.org/officeDocument/2006/relationships/image" Target="../media/image29.png"/><Relationship Id="rId16" Type="http://schemas.openxmlformats.org/officeDocument/2006/relationships/image" Target="../media/image30.png"/><Relationship Id="rId17"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 Target="slide13.xml"/><Relationship Id="rId10" Type="http://schemas.openxmlformats.org/officeDocument/2006/relationships/image" Target="../media/image37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1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3.xml"/><Relationship Id="rId3" Type="http://schemas.openxmlformats.org/officeDocument/2006/relationships/notesSlide" Target="../notesSlides/notesSlide7.xml"/><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60.svg"/><Relationship Id="rId11" Type="http://schemas.openxmlformats.org/officeDocument/2006/relationships/image" Target="../media/image61.png"/><Relationship Id="rId12" Type="http://schemas.openxmlformats.org/officeDocument/2006/relationships/image" Target="../media/image62.svg"/><Relationship Id="rId13"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tags" Target="../tags/tag33.xml"/><Relationship Id="rId30" Type="http://schemas.openxmlformats.org/officeDocument/2006/relationships/tags" Target="../tags/tag34.xml"/><Relationship Id="rId31" Type="http://schemas.openxmlformats.org/officeDocument/2006/relationships/tags" Target="../tags/tag35.xml"/><Relationship Id="rId32" Type="http://schemas.openxmlformats.org/officeDocument/2006/relationships/tags" Target="../tags/tag36.xml"/><Relationship Id="rId33" Type="http://schemas.openxmlformats.org/officeDocument/2006/relationships/tags" Target="../tags/tag37.xml"/><Relationship Id="rId34" Type="http://schemas.openxmlformats.org/officeDocument/2006/relationships/tags" Target="../tags/tag38.xml"/><Relationship Id="rId35" Type="http://schemas.openxmlformats.org/officeDocument/2006/relationships/tags" Target="../tags/tag39.xml"/><Relationship Id="rId36" Type="http://schemas.openxmlformats.org/officeDocument/2006/relationships/tags" Target="../tags/tag40.xml"/><Relationship Id="rId37" Type="http://schemas.openxmlformats.org/officeDocument/2006/relationships/tags" Target="../tags/tag41.xml"/><Relationship Id="rId38" Type="http://schemas.openxmlformats.org/officeDocument/2006/relationships/tags" Target="../tags/tag42.xml"/><Relationship Id="rId39" Type="http://schemas.openxmlformats.org/officeDocument/2006/relationships/tags" Target="../tags/tag43.xml"/><Relationship Id="rId40" Type="http://schemas.openxmlformats.org/officeDocument/2006/relationships/tags" Target="../tags/tag44.xml"/><Relationship Id="rId41" Type="http://schemas.openxmlformats.org/officeDocument/2006/relationships/tags" Target="../tags/tag45.xml"/><Relationship Id="rId42" Type="http://schemas.openxmlformats.org/officeDocument/2006/relationships/tags" Target="../tags/tag46.xml"/><Relationship Id="rId43" Type="http://schemas.openxmlformats.org/officeDocument/2006/relationships/tags" Target="../tags/tag47.xml"/><Relationship Id="rId44" Type="http://schemas.openxmlformats.org/officeDocument/2006/relationships/tags" Target="../tags/tag48.xml"/><Relationship Id="rId45" Type="http://schemas.openxmlformats.org/officeDocument/2006/relationships/tags" Target="../tags/tag49.xml"/><Relationship Id="rId46" Type="http://schemas.openxmlformats.org/officeDocument/2006/relationships/tags" Target="../tags/tag50.xml"/><Relationship Id="rId47" Type="http://schemas.openxmlformats.org/officeDocument/2006/relationships/tags" Target="../tags/tag51.xml"/><Relationship Id="rId48" Type="http://schemas.openxmlformats.org/officeDocument/2006/relationships/tags" Target="../tags/tag52.xml"/><Relationship Id="rId49" Type="http://schemas.openxmlformats.org/officeDocument/2006/relationships/tags" Target="../tags/tag53.xml"/><Relationship Id="rId50" Type="http://schemas.openxmlformats.org/officeDocument/2006/relationships/tags" Target="../tags/tag54.xml"/><Relationship Id="rId51" Type="http://schemas.openxmlformats.org/officeDocument/2006/relationships/tags" Target="../tags/tag55.xml"/><Relationship Id="rId52" Type="http://schemas.openxmlformats.org/officeDocument/2006/relationships/tags" Target="../tags/tag56.xml"/><Relationship Id="rId53" Type="http://schemas.openxmlformats.org/officeDocument/2006/relationships/tags" Target="../tags/tag57.xml"/><Relationship Id="rId54" Type="http://schemas.openxmlformats.org/officeDocument/2006/relationships/tags" Target="../tags/tag58.xml"/><Relationship Id="rId55" Type="http://schemas.openxmlformats.org/officeDocument/2006/relationships/tags" Target="../tags/tag59.xml"/><Relationship Id="rId56" Type="http://schemas.openxmlformats.org/officeDocument/2006/relationships/tags" Target="../tags/tag60.xml"/><Relationship Id="rId57" Type="http://schemas.openxmlformats.org/officeDocument/2006/relationships/tags" Target="../tags/tag61.xml"/><Relationship Id="rId58" Type="http://schemas.openxmlformats.org/officeDocument/2006/relationships/tags" Target="../tags/tag62.xml"/><Relationship Id="rId59" Type="http://schemas.openxmlformats.org/officeDocument/2006/relationships/tags" Target="../tags/tag63.xml"/><Relationship Id="rId60" Type="http://schemas.openxmlformats.org/officeDocument/2006/relationships/tags" Target="../tags/tag64.xml"/><Relationship Id="rId61" Type="http://schemas.openxmlformats.org/officeDocument/2006/relationships/tags" Target="../tags/tag65.xml"/><Relationship Id="rId62" Type="http://schemas.openxmlformats.org/officeDocument/2006/relationships/tags" Target="../tags/tag66.xml"/><Relationship Id="rId63" Type="http://schemas.openxmlformats.org/officeDocument/2006/relationships/tags" Target="../tags/tag67.xml"/><Relationship Id="rId64" Type="http://schemas.openxmlformats.org/officeDocument/2006/relationships/tags" Target="../tags/tag68.xml"/><Relationship Id="rId65" Type="http://schemas.openxmlformats.org/officeDocument/2006/relationships/tags" Target="../tags/tag69.xml"/><Relationship Id="rId66" Type="http://schemas.openxmlformats.org/officeDocument/2006/relationships/tags" Target="../tags/tag70.xml"/><Relationship Id="rId67" Type="http://schemas.openxmlformats.org/officeDocument/2006/relationships/tags" Target="../tags/tag71.xml"/><Relationship Id="rId68" Type="http://schemas.openxmlformats.org/officeDocument/2006/relationships/tags" Target="../tags/tag72.xml"/><Relationship Id="rId69" Type="http://schemas.openxmlformats.org/officeDocument/2006/relationships/tags" Target="../tags/tag73.xml"/><Relationship Id="rId70" Type="http://schemas.openxmlformats.org/officeDocument/2006/relationships/tags" Target="../tags/tag74.xml"/><Relationship Id="rId71" Type="http://schemas.openxmlformats.org/officeDocument/2006/relationships/tags" Target="../tags/tag75.xml"/><Relationship Id="rId72" Type="http://schemas.openxmlformats.org/officeDocument/2006/relationships/tags" Target="../tags/tag76.xml"/><Relationship Id="rId73" Type="http://schemas.openxmlformats.org/officeDocument/2006/relationships/tags" Target="../tags/tag77.xml"/><Relationship Id="rId74" Type="http://schemas.openxmlformats.org/officeDocument/2006/relationships/tags" Target="../tags/tag78.xml"/><Relationship Id="rId75" Type="http://schemas.openxmlformats.org/officeDocument/2006/relationships/tags" Target="../tags/tag79.xml"/><Relationship Id="rId76" Type="http://schemas.openxmlformats.org/officeDocument/2006/relationships/tags" Target="../tags/tag80.xml"/><Relationship Id="rId77" Type="http://schemas.openxmlformats.org/officeDocument/2006/relationships/tags" Target="../tags/tag81.xml"/><Relationship Id="rId78" Type="http://schemas.openxmlformats.org/officeDocument/2006/relationships/tags" Target="../tags/tag82.xml"/><Relationship Id="rId79" Type="http://schemas.openxmlformats.org/officeDocument/2006/relationships/tags" Target="../tags/tag83.xml"/><Relationship Id="rId80" Type="http://schemas.openxmlformats.org/officeDocument/2006/relationships/tags" Target="../tags/tag84.xml"/><Relationship Id="rId81" Type="http://schemas.openxmlformats.org/officeDocument/2006/relationships/tags" Target="../tags/tag85.xml"/><Relationship Id="rId82" Type="http://schemas.openxmlformats.org/officeDocument/2006/relationships/tags" Target="../tags/tag86.xml"/><Relationship Id="rId83" Type="http://schemas.openxmlformats.org/officeDocument/2006/relationships/tags" Target="../tags/tag87.xml"/><Relationship Id="rId84" Type="http://schemas.openxmlformats.org/officeDocument/2006/relationships/tags" Target="../tags/tag88.xml"/><Relationship Id="rId85" Type="http://schemas.openxmlformats.org/officeDocument/2006/relationships/tags" Target="../tags/tag89.xml"/><Relationship Id="rId86" Type="http://schemas.openxmlformats.org/officeDocument/2006/relationships/tags" Target="../tags/tag90.xml"/><Relationship Id="rId87" Type="http://schemas.openxmlformats.org/officeDocument/2006/relationships/tags" Target="../tags/tag91.xml"/><Relationship Id="rId88" Type="http://schemas.openxmlformats.org/officeDocument/2006/relationships/tags" Target="../tags/tag92.xml"/><Relationship Id="rId89" Type="http://schemas.openxmlformats.org/officeDocument/2006/relationships/tags" Target="../tags/tag93.xml"/><Relationship Id="rId90" Type="http://schemas.openxmlformats.org/officeDocument/2006/relationships/slideLayout" Target="../slideLayouts/slideLayout15.xml"/><Relationship Id="rId91"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背景图案&#10;&#10;AI 生成的内容可能不正确。">
            <a:extLst>
              <a:ext uri="{FF2B5EF4-FFF2-40B4-BE49-F238E27FC236}">
                <a16:creationId xmlns:a16="http://schemas.microsoft.com/office/drawing/2014/main" id="{AE5A28E3-F194-2D4D-4C14-79B5571C84F0}"/>
              </a:ext>
            </a:extLst>
          </p:cNvPr>
          <p:cNvPicPr>
            <a:picLocks noChangeAspect="1"/>
          </p:cNvPicPr>
          <p:nvPr/>
        </p:nvPicPr>
        <p:blipFill>
          <a:blip r:embed="rId3"/>
          <a:srcRect t="4363"/>
          <a:stretch>
            <a:fillRect/>
          </a:stretch>
        </p:blipFill>
        <p:spPr>
          <a:xfrm>
            <a:off x="4432643" y="447"/>
            <a:ext cx="7771388" cy="6181324"/>
          </a:xfrm>
          <a:prstGeom prst="rect">
            <a:avLst/>
          </a:prstGeom>
        </p:spPr>
      </p:pic>
      <p:sp>
        <p:nvSpPr>
          <p:cNvPr id="12" name="文本框 11"/>
          <p:cNvSpPr txBox="1"/>
          <p:nvPr/>
        </p:nvSpPr>
        <p:spPr>
          <a:xfrm>
            <a:off x="628691" y="4678190"/>
            <a:ext cx="4185761" cy="582980"/>
          </a:xfrm>
          <a:prstGeom prst="rect">
            <a:avLst/>
          </a:prstGeom>
          <a:noFill/>
        </p:spPr>
        <p:txBody>
          <a:bodyPr wrap="none" rtlCol="0">
            <a:spAutoFit/>
          </a:bodyPr>
          <a:lstStyle/>
          <a:p>
            <a:pPr>
              <a:lnSpc>
                <a:spcPct val="150000"/>
              </a:lnSpc>
            </a:pPr>
            <a:r>
              <a:rPr lang="zh-CN" altLang="en-US" sz="2400" b="1" dirty="0">
                <a:solidFill>
                  <a:srgbClr val="2386EE"/>
                </a:solidFill>
                <a:cs typeface="+mn-ea"/>
                <a:sym typeface="+mn-lt"/>
              </a:rPr>
              <a:t>经营中心价值工程部：李向华</a:t>
            </a:r>
            <a:endParaRPr lang="en-US" altLang="zh-CN" dirty="0">
              <a:solidFill>
                <a:srgbClr val="2386EE"/>
              </a:solidFill>
              <a:cs typeface="+mn-ea"/>
              <a:sym typeface="+mn-lt"/>
            </a:endParaRPr>
          </a:p>
        </p:txBody>
      </p:sp>
      <p:sp>
        <p:nvSpPr>
          <p:cNvPr id="11" name="文本框 10"/>
          <p:cNvSpPr txBox="1"/>
          <p:nvPr/>
        </p:nvSpPr>
        <p:spPr>
          <a:xfrm>
            <a:off x="893478" y="1885086"/>
            <a:ext cx="11539411" cy="1815625"/>
          </a:xfrm>
          <a:prstGeom prst="rect">
            <a:avLst/>
          </a:prstGeom>
          <a:noFill/>
        </p:spPr>
        <p:txBody>
          <a:bodyPr wrap="square" rtlCol="0">
            <a:spAutoFit/>
          </a:bodyPr>
          <a:lstStyle/>
          <a:p>
            <a:r>
              <a:rPr lang="en-US" altLang="zh-CN" sz="5599" b="1" dirty="0">
                <a:solidFill>
                  <a:srgbClr val="4170FF"/>
                </a:solidFill>
                <a:cs typeface="+mn-ea"/>
                <a:sym typeface="+mn-lt"/>
              </a:rPr>
              <a:t>211</a:t>
            </a:r>
            <a:r>
              <a:rPr lang="zh-CN" altLang="en-US" sz="5599" b="1" dirty="0">
                <a:solidFill>
                  <a:srgbClr val="4170FF"/>
                </a:solidFill>
                <a:cs typeface="+mn-ea"/>
                <a:sym typeface="+mn-lt"/>
              </a:rPr>
              <a:t>赋能工程</a:t>
            </a:r>
            <a:endParaRPr lang="en-US" altLang="zh-CN" sz="5599" b="1" dirty="0">
              <a:solidFill>
                <a:srgbClr val="4170FF"/>
              </a:solidFill>
              <a:cs typeface="+mn-ea"/>
              <a:sym typeface="+mn-lt"/>
            </a:endParaRPr>
          </a:p>
          <a:p>
            <a:r>
              <a:rPr kumimoji="1" lang="en-US" altLang="zh-CN" sz="5599" b="1" dirty="0">
                <a:solidFill>
                  <a:srgbClr val="4170FF"/>
                </a:solidFill>
                <a:cs typeface="+mn-ea"/>
                <a:sym typeface="+mn-lt"/>
              </a:rPr>
              <a:t>       —</a:t>
            </a:r>
            <a:r>
              <a:rPr kumimoji="1" lang="zh-CN" altLang="en-US" sz="3200" b="1" dirty="0">
                <a:solidFill>
                  <a:srgbClr val="4170FF"/>
                </a:solidFill>
                <a:cs typeface="+mn-ea"/>
                <a:sym typeface="+mn-lt"/>
              </a:rPr>
              <a:t>价值型财务共享指标体系研讨</a:t>
            </a:r>
          </a:p>
        </p:txBody>
      </p:sp>
      <p:pic>
        <p:nvPicPr>
          <p:cNvPr id="3" name="图片 2" descr="图片包含 徽标&#10;&#10;AI 生成的内容可能不正确。">
            <a:extLst>
              <a:ext uri="{FF2B5EF4-FFF2-40B4-BE49-F238E27FC236}">
                <a16:creationId xmlns:a16="http://schemas.microsoft.com/office/drawing/2014/main" id="{D7C40085-D64A-3A42-1A5F-64F46D237539}"/>
              </a:ext>
            </a:extLst>
          </p:cNvPr>
          <p:cNvPicPr>
            <a:picLocks noChangeAspect="1"/>
          </p:cNvPicPr>
          <p:nvPr/>
        </p:nvPicPr>
        <p:blipFill>
          <a:blip r:embed="rId4"/>
          <a:stretch>
            <a:fillRect/>
          </a:stretch>
        </p:blipFill>
        <p:spPr>
          <a:xfrm>
            <a:off x="386653" y="372898"/>
            <a:ext cx="1757783" cy="791002"/>
          </a:xfrm>
          <a:prstGeom prst="rect">
            <a:avLst/>
          </a:prstGeom>
        </p:spPr>
      </p:pic>
      <p:sp>
        <p:nvSpPr>
          <p:cNvPr id="4" name="文本框 3">
            <a:extLst>
              <a:ext uri="{FF2B5EF4-FFF2-40B4-BE49-F238E27FC236}">
                <a16:creationId xmlns:a16="http://schemas.microsoft.com/office/drawing/2014/main" id="{620C60CD-28E9-0841-89AE-7897FE910A22}"/>
              </a:ext>
            </a:extLst>
          </p:cNvPr>
          <p:cNvSpPr txBox="1"/>
          <p:nvPr/>
        </p:nvSpPr>
        <p:spPr>
          <a:xfrm>
            <a:off x="628692" y="5273539"/>
            <a:ext cx="1646605" cy="458459"/>
          </a:xfrm>
          <a:prstGeom prst="rect">
            <a:avLst/>
          </a:prstGeom>
          <a:noFill/>
        </p:spPr>
        <p:txBody>
          <a:bodyPr wrap="none" rtlCol="0">
            <a:spAutoFit/>
          </a:bodyPr>
          <a:lstStyle/>
          <a:p>
            <a:pPr>
              <a:lnSpc>
                <a:spcPct val="150000"/>
              </a:lnSpc>
            </a:pPr>
            <a:r>
              <a:rPr lang="en-US" altLang="zh-CN" b="1" dirty="0">
                <a:solidFill>
                  <a:srgbClr val="2386EE"/>
                </a:solidFill>
                <a:cs typeface="+mn-ea"/>
                <a:sym typeface="+mn-lt"/>
              </a:rPr>
              <a:t>2026</a:t>
            </a:r>
            <a:r>
              <a:rPr lang="zh-CN" altLang="en-US" b="1" dirty="0">
                <a:solidFill>
                  <a:srgbClr val="2386EE"/>
                </a:solidFill>
                <a:cs typeface="+mn-ea"/>
                <a:sym typeface="+mn-lt"/>
              </a:rPr>
              <a:t>年</a:t>
            </a:r>
            <a:r>
              <a:rPr lang="en-US" altLang="zh-CN" b="1" dirty="0">
                <a:solidFill>
                  <a:srgbClr val="2386EE"/>
                </a:solidFill>
                <a:cs typeface="+mn-ea"/>
                <a:sym typeface="+mn-lt"/>
              </a:rPr>
              <a:t>3</a:t>
            </a:r>
            <a:r>
              <a:rPr lang="zh-CN" altLang="en-US" b="1" dirty="0">
                <a:solidFill>
                  <a:srgbClr val="2386EE"/>
                </a:solidFill>
                <a:cs typeface="+mn-ea"/>
                <a:sym typeface="+mn-lt"/>
              </a:rPr>
              <a:t>月</a:t>
            </a:r>
            <a:r>
              <a:rPr lang="en-US" altLang="zh-CN" b="1" dirty="0">
                <a:solidFill>
                  <a:srgbClr val="2386EE"/>
                </a:solidFill>
                <a:cs typeface="+mn-ea"/>
                <a:sym typeface="+mn-lt"/>
              </a:rPr>
              <a:t>5</a:t>
            </a:r>
            <a:r>
              <a:rPr lang="zh-CN" altLang="en-US" b="1" dirty="0">
                <a:solidFill>
                  <a:srgbClr val="2386EE"/>
                </a:solidFill>
                <a:cs typeface="+mn-ea"/>
                <a:sym typeface="+mn-lt"/>
              </a:rPr>
              <a:t>日</a:t>
            </a:r>
            <a:endParaRPr lang="en-US" altLang="zh-CN" b="1" dirty="0">
              <a:solidFill>
                <a:srgbClr val="2386EE"/>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A0FC-4BF0-E9AA-B97B-E8D3A59800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845309-D7B3-2467-BA0F-DCCE2B456E3E}"/>
              </a:ext>
            </a:extLst>
          </p:cNvPr>
          <p:cNvSpPr>
            <a:spLocks noGrp="1"/>
          </p:cNvSpPr>
          <p:nvPr>
            <p:ph type="title"/>
          </p:nvPr>
        </p:nvSpPr>
        <p:spPr>
          <a:xfrm>
            <a:off x="398094" y="210672"/>
            <a:ext cx="10574706" cy="469413"/>
          </a:xfrm>
        </p:spPr>
        <p:txBody>
          <a:bodyPr/>
          <a:lstStyle/>
          <a:p>
            <a:r>
              <a:rPr lang="zh-CN" altLang="en-US" dirty="0">
                <a:latin typeface="+mn-lt"/>
                <a:ea typeface="+mn-ea"/>
                <a:cs typeface="+mn-ea"/>
                <a:sym typeface="+mn-lt"/>
              </a:rPr>
              <a:t>洞察一：政策引领下的财务共享风控升级</a:t>
            </a:r>
          </a:p>
        </p:txBody>
      </p:sp>
      <p:sp>
        <p:nvSpPr>
          <p:cNvPr id="3" name="AutoShape 3"/>
          <p:cNvSpPr/>
          <p:nvPr/>
        </p:nvSpPr>
        <p:spPr>
          <a:xfrm>
            <a:off x="508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 name="AutoShape 4"/>
          <p:cNvSpPr/>
          <p:nvPr/>
        </p:nvSpPr>
        <p:spPr>
          <a:xfrm>
            <a:off x="508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6" name="AutoShape 5"/>
          <p:cNvSpPr/>
          <p:nvPr/>
        </p:nvSpPr>
        <p:spPr>
          <a:xfrm>
            <a:off x="635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政策驱动：财政部指引</a:t>
            </a:r>
            <a:r>
              <a:rPr kumimoji="0" lang="en-US" sz="1600" b="1" i="0" u="none" strike="noStrike" kern="1200" cap="none" spc="0" normalizeH="0" baseline="0" noProof="0" dirty="0">
                <a:ln>
                  <a:noFill/>
                </a:ln>
                <a:solidFill>
                  <a:srgbClr val="FFFFFF"/>
                </a:solidFill>
                <a:effectLst/>
                <a:uLnTx/>
                <a:uFillTx/>
                <a:cs typeface="+mn-ea"/>
                <a:sym typeface="+mn-lt"/>
              </a:rPr>
              <a:t> (2026)</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 name="AutoShape 6"/>
          <p:cNvSpPr/>
          <p:nvPr/>
        </p:nvSpPr>
        <p:spPr>
          <a:xfrm>
            <a:off x="635000" y="1498600"/>
            <a:ext cx="3556000" cy="1645285"/>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en-US" sz="1300" b="1" i="0" u="none" strike="noStrike" kern="1200" cap="none" spc="0" normalizeH="0" baseline="0" noProof="0" dirty="0">
                <a:ln>
                  <a:noFill/>
                </a:ln>
                <a:solidFill>
                  <a:srgbClr val="4A4A4A"/>
                </a:solidFill>
                <a:effectLst/>
                <a:uLnTx/>
                <a:uFillTx/>
                <a:cs typeface="+mn-ea"/>
                <a:sym typeface="+mn-lt"/>
              </a:rPr>
              <a:t>《管理会计应用指引第804号</a:t>
            </a:r>
            <a:r>
              <a:rPr lang="en-US" sz="1300" b="1" dirty="0">
                <a:solidFill>
                  <a:srgbClr val="4A4A4A"/>
                </a:solidFill>
                <a:cs typeface="+mn-ea"/>
                <a:sym typeface="+mn-lt"/>
              </a:rPr>
              <a:t>-</a:t>
            </a:r>
            <a:r>
              <a:rPr lang="zh-CN" altLang="en-US" sz="1300" b="1" dirty="0">
                <a:solidFill>
                  <a:srgbClr val="4A4A4A"/>
                </a:solidFill>
                <a:cs typeface="+mn-ea"/>
              </a:rPr>
              <a:t>财务共享服务征求意见稿</a:t>
            </a:r>
            <a:r>
              <a:rPr lang="en-US" sz="1300" b="1" dirty="0">
                <a:solidFill>
                  <a:srgbClr val="4A4A4A"/>
                </a:solidFill>
                <a:cs typeface="+mn-ea"/>
                <a:sym typeface="+mn-lt"/>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第三十条明确要求建立</a:t>
            </a:r>
            <a:r>
              <a:rPr kumimoji="0" lang="en-US" sz="1200" b="1" i="0" u="none" strike="noStrike" kern="1200" cap="none" spc="0" normalizeH="0" baseline="0" noProof="0" dirty="0" err="1">
                <a:ln>
                  <a:noFill/>
                </a:ln>
                <a:solidFill>
                  <a:srgbClr val="2372EF"/>
                </a:solidFill>
                <a:effectLst/>
                <a:uLnTx/>
                <a:uFillTx/>
                <a:cs typeface="+mn-ea"/>
                <a:sym typeface="+mn-lt"/>
              </a:rPr>
              <a:t>全流程智能化监控与风险预警体系，</a:t>
            </a:r>
            <a:r>
              <a:rPr kumimoji="0" lang="en-US" sz="1200" b="0" i="0" u="none" strike="noStrike" kern="1200" cap="none" spc="0" normalizeH="0" baseline="0" noProof="0" dirty="0" err="1">
                <a:ln>
                  <a:noFill/>
                </a:ln>
                <a:solidFill>
                  <a:srgbClr val="646464"/>
                </a:solidFill>
                <a:effectLst/>
                <a:uLnTx/>
                <a:uFillTx/>
                <a:cs typeface="+mn-ea"/>
                <a:sym typeface="+mn-lt"/>
              </a:rPr>
              <a:t>实现</a:t>
            </a:r>
            <a:r>
              <a:rPr kumimoji="0" lang="en-US" sz="1200" b="0" i="0" u="none" strike="noStrike" kern="1200" cap="none" spc="0" normalizeH="0" baseline="0" noProof="0" dirty="0">
                <a:ln>
                  <a:noFill/>
                </a:ln>
                <a:solidFill>
                  <a:srgbClr val="646464"/>
                </a:solidFill>
                <a:effectLst/>
                <a:uLnTx/>
                <a:uFillTx/>
                <a:cs typeface="+mn-ea"/>
                <a:sym typeface="+mn-lt"/>
              </a:rPr>
              <a:t>：</a:t>
            </a: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服务效能与合规执行动态监测</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异常情况自动预警与原因分析</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提升风险主动防控与干预能力</a:t>
            </a:r>
            <a:endParaRPr kumimoji="0" lang="en-US" sz="1200" b="0" i="0" u="none" strike="noStrike" kern="1200" cap="none" spc="0" normalizeH="0" baseline="0" noProof="0" dirty="0">
              <a:ln>
                <a:noFill/>
              </a:ln>
              <a:solidFill>
                <a:srgbClr val="4A4A4A"/>
              </a:solidFill>
              <a:effectLst/>
              <a:uLnTx/>
              <a:uFillTx/>
              <a:cs typeface="+mn-ea"/>
              <a:sym typeface="+mn-lt"/>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1397000" cy="1397000"/>
          </a:xfrm>
          <a:prstGeom prst="rect">
            <a:avLst/>
          </a:prstGeom>
        </p:spPr>
      </p:pic>
      <p:sp>
        <p:nvSpPr>
          <p:cNvPr id="17" name="AutoShape 8"/>
          <p:cNvSpPr/>
          <p:nvPr/>
        </p:nvSpPr>
        <p:spPr>
          <a:xfrm>
            <a:off x="6223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9" name="AutoShape 9"/>
          <p:cNvSpPr/>
          <p:nvPr/>
        </p:nvSpPr>
        <p:spPr>
          <a:xfrm>
            <a:off x="6223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4" name="AutoShape 10"/>
          <p:cNvSpPr/>
          <p:nvPr/>
        </p:nvSpPr>
        <p:spPr>
          <a:xfrm>
            <a:off x="6350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cs typeface="+mn-ea"/>
                <a:sym typeface="+mn-lt"/>
              </a:rPr>
              <a:t>国内同行：用友解决方案 (2025)</a:t>
            </a:r>
            <a:endParaRPr kumimoji="0" lang="en-US" sz="1100" b="0" i="0" u="none" strike="noStrike" kern="1200" cap="none" spc="0" normalizeH="0" baseline="0" noProof="0">
              <a:ln>
                <a:noFill/>
              </a:ln>
              <a:solidFill>
                <a:srgbClr val="000000"/>
              </a:solidFill>
              <a:effectLst/>
              <a:uLnTx/>
              <a:uFillTx/>
              <a:cs typeface="+mn-ea"/>
              <a:sym typeface="+mn-lt"/>
            </a:endParaRPr>
          </a:p>
        </p:txBody>
      </p:sp>
      <p:sp>
        <p:nvSpPr>
          <p:cNvPr id="25" name="AutoShape 11"/>
          <p:cNvSpPr/>
          <p:nvPr/>
        </p:nvSpPr>
        <p:spPr>
          <a:xfrm>
            <a:off x="6350000" y="1473198"/>
            <a:ext cx="2812134" cy="1645285"/>
          </a:xfrm>
          <a:prstGeom prst="rect">
            <a:avLst/>
          </a:prstGeom>
          <a:noFill/>
          <a:ln w="12700" cap="flat" cmpd="sng">
            <a:noFill/>
            <a:prstDash val="solid"/>
            <a:round/>
          </a:ln>
        </p:spPr>
        <p:txBody>
          <a:bodyPr vert="horz" wrap="square" lIns="0" tIns="0" rIns="0" bIns="0" rtlCol="0" anchor="ctr" anchorCtr="0"/>
          <a:lstStyle/>
          <a:p>
            <a:pPr lvl="0">
              <a:lnSpc>
                <a:spcPct val="150000"/>
              </a:lnSpc>
              <a:defRPr/>
            </a:pPr>
            <a:r>
              <a:rPr lang="zh-CN" altLang="en-US" sz="1300" b="1" dirty="0">
                <a:solidFill>
                  <a:srgbClr val="4A4A4A"/>
                </a:solidFill>
                <a:cs typeface="+mn-ea"/>
              </a:rPr>
              <a:t>全级次总分一体化财务共享解决方案</a:t>
            </a:r>
            <a:r>
              <a:rPr kumimoji="0" lang="en-US" sz="13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4A4A4A"/>
                </a:solidFill>
                <a:effectLst/>
                <a:uLnTx/>
                <a:uFillTx/>
                <a:cs typeface="+mn-ea"/>
                <a:sym typeface="+mn-lt"/>
              </a:rPr>
              <a:t>全域洞察，穿透管控</a:t>
            </a:r>
            <a:endParaRPr kumimoji="0" lang="en-US"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核心关键词</a:t>
            </a:r>
            <a:r>
              <a:rPr kumimoji="0" lang="en-US" sz="1200" b="0" i="0" u="none" strike="noStrike" kern="1200" cap="none" spc="0" normalizeH="0" baseline="0" noProof="0" dirty="0">
                <a:ln>
                  <a:noFill/>
                </a:ln>
                <a:solidFill>
                  <a:srgbClr val="646464"/>
                </a:solidFill>
                <a:effectLst/>
                <a:uLnTx/>
                <a:uFillTx/>
                <a:cs typeface="+mn-ea"/>
                <a:sym typeface="+mn-lt"/>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规模</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智能</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协同</a:t>
            </a:r>
            <a:endParaRPr kumimoji="0" lang="en-US" sz="1200" b="0" i="0" u="none" strike="noStrike" kern="1200" cap="none" spc="0" normalizeH="0" baseline="0" noProof="0" dirty="0">
              <a:ln>
                <a:noFill/>
              </a:ln>
              <a:solidFill>
                <a:srgbClr val="646464"/>
              </a:solidFill>
              <a:effectLst/>
              <a:uLnTx/>
              <a:uFillTx/>
              <a:cs typeface="+mn-ea"/>
              <a:sym typeface="+mn-lt"/>
            </a:endParaRPr>
          </a:p>
        </p:txBody>
      </p:sp>
      <p:sp>
        <p:nvSpPr>
          <p:cNvPr id="27" name="AutoShape 13"/>
          <p:cNvSpPr/>
          <p:nvPr/>
        </p:nvSpPr>
        <p:spPr>
          <a:xfrm>
            <a:off x="508000" y="3433237"/>
            <a:ext cx="11176000" cy="2950630"/>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8" name="AutoShape 14"/>
          <p:cNvSpPr/>
          <p:nvPr/>
        </p:nvSpPr>
        <p:spPr>
          <a:xfrm>
            <a:off x="508000" y="3433237"/>
            <a:ext cx="11176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9" name="AutoShape 15"/>
          <p:cNvSpPr/>
          <p:nvPr/>
        </p:nvSpPr>
        <p:spPr>
          <a:xfrm>
            <a:off x="635000" y="3471337"/>
            <a:ext cx="10922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国外同行：EXL</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财务控制塔</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可视化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智能化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一体化</a:t>
            </a:r>
            <a:r>
              <a:rPr kumimoji="0" lang="en-US" sz="1600" b="1" i="0" u="none" strike="noStrike" kern="1200" cap="none" spc="0" normalizeH="0" baseline="0" noProof="0" dirty="0">
                <a:ln>
                  <a:noFill/>
                </a:ln>
                <a:solidFill>
                  <a:srgbClr val="FFFFFF"/>
                </a:solidFill>
                <a:effectLst/>
                <a:uLnTx/>
                <a:uFillTx/>
                <a:cs typeface="+mn-ea"/>
                <a:sym typeface="+mn-lt"/>
              </a:rPr>
              <a:t>)</a:t>
            </a:r>
            <a:endParaRPr kumimoji="0" lang="en-US" sz="1100" b="0" i="0" u="none" strike="noStrike" kern="1200" cap="none" spc="0" normalizeH="0" baseline="0" noProof="0" dirty="0">
              <a:ln>
                <a:noFill/>
              </a:ln>
              <a:solidFill>
                <a:srgbClr val="000000"/>
              </a:solidFill>
              <a:effectLst/>
              <a:uLnTx/>
              <a:uFillTx/>
              <a:cs typeface="+mn-ea"/>
              <a:sym typeface="+mn-lt"/>
            </a:endParaRPr>
          </a:p>
        </p:txBody>
      </p:sp>
      <p:grpSp>
        <p:nvGrpSpPr>
          <p:cNvPr id="45" name="组合 44">
            <a:extLst>
              <a:ext uri="{FF2B5EF4-FFF2-40B4-BE49-F238E27FC236}">
                <a16:creationId xmlns:a16="http://schemas.microsoft.com/office/drawing/2014/main" id="{9BACF9F4-0893-C6FD-FC74-D2D88EFEA01C}"/>
              </a:ext>
            </a:extLst>
          </p:cNvPr>
          <p:cNvGrpSpPr/>
          <p:nvPr/>
        </p:nvGrpSpPr>
        <p:grpSpPr>
          <a:xfrm>
            <a:off x="753533" y="4547779"/>
            <a:ext cx="2626360" cy="1727200"/>
            <a:chOff x="635000" y="4793311"/>
            <a:chExt cx="2626360" cy="1727200"/>
          </a:xfrm>
        </p:grpSpPr>
        <p:pic>
          <p:nvPicPr>
            <p:cNvPr id="30"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4818711"/>
              <a:ext cx="254000" cy="254000"/>
            </a:xfrm>
            <a:prstGeom prst="rect">
              <a:avLst/>
            </a:prstGeom>
          </p:spPr>
        </p:pic>
        <p:sp>
          <p:nvSpPr>
            <p:cNvPr id="31" name="AutoShape 17"/>
            <p:cNvSpPr/>
            <p:nvPr/>
          </p:nvSpPr>
          <p:spPr>
            <a:xfrm>
              <a:off x="952500" y="47933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端到端流程可视化与全景监控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2"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 y="5174311"/>
              <a:ext cx="254000" cy="254000"/>
            </a:xfrm>
            <a:prstGeom prst="rect">
              <a:avLst/>
            </a:prstGeom>
          </p:spPr>
        </p:pic>
        <p:sp>
          <p:nvSpPr>
            <p:cNvPr id="33" name="AutoShape 19"/>
            <p:cNvSpPr/>
            <p:nvPr/>
          </p:nvSpPr>
          <p:spPr>
            <a:xfrm>
              <a:off x="952500" y="51489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智能化异常预警与风险管控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4"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 y="5529911"/>
              <a:ext cx="254000" cy="254000"/>
            </a:xfrm>
            <a:prstGeom prst="rect">
              <a:avLst/>
            </a:prstGeom>
          </p:spPr>
        </p:pic>
        <p:sp>
          <p:nvSpPr>
            <p:cNvPr id="35" name="AutoShape 21"/>
            <p:cNvSpPr/>
            <p:nvPr/>
          </p:nvSpPr>
          <p:spPr>
            <a:xfrm>
              <a:off x="952500" y="55045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流程自动化协同与效率提升</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6"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 y="5885511"/>
              <a:ext cx="254000" cy="254000"/>
            </a:xfrm>
            <a:prstGeom prst="rect">
              <a:avLst/>
            </a:prstGeom>
          </p:spPr>
        </p:pic>
        <p:sp>
          <p:nvSpPr>
            <p:cNvPr id="37" name="AutoShape 23"/>
            <p:cNvSpPr/>
            <p:nvPr/>
          </p:nvSpPr>
          <p:spPr>
            <a:xfrm>
              <a:off x="952500" y="58601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数据洞察与绩效优化</a:t>
              </a:r>
              <a:endParaRPr kumimoji="0" lang="en-US" sz="1100" b="0" i="0" u="none" strike="noStrike" kern="1200" cap="none" spc="0" normalizeH="0" baseline="0" noProof="0">
                <a:ln>
                  <a:noFill/>
                </a:ln>
                <a:solidFill>
                  <a:srgbClr val="000000"/>
                </a:solidFill>
                <a:effectLst/>
                <a:uLnTx/>
                <a:uFillTx/>
                <a:cs typeface="+mn-ea"/>
                <a:sym typeface="+mn-lt"/>
              </a:endParaRPr>
            </a:p>
          </p:txBody>
        </p:sp>
        <p:pic>
          <p:nvPicPr>
            <p:cNvPr id="38"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 y="6241111"/>
              <a:ext cx="254000" cy="254000"/>
            </a:xfrm>
            <a:prstGeom prst="rect">
              <a:avLst/>
            </a:prstGeom>
          </p:spPr>
        </p:pic>
        <p:sp>
          <p:nvSpPr>
            <p:cNvPr id="39" name="AutoShape 25"/>
            <p:cNvSpPr/>
            <p:nvPr/>
          </p:nvSpPr>
          <p:spPr>
            <a:xfrm>
              <a:off x="952500" y="62157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合规追溯与审计支持</a:t>
              </a:r>
              <a:endParaRPr kumimoji="0" lang="en-US" sz="1100" b="0" i="0" u="none" strike="noStrike" kern="1200" cap="none" spc="0" normalizeH="0" baseline="0" noProof="0">
                <a:ln>
                  <a:noFill/>
                </a:ln>
                <a:solidFill>
                  <a:srgbClr val="000000"/>
                </a:solidFill>
                <a:effectLst/>
                <a:uLnTx/>
                <a:uFillTx/>
                <a:cs typeface="+mn-ea"/>
                <a:sym typeface="+mn-lt"/>
              </a:endParaRPr>
            </a:p>
          </p:txBody>
        </p:sp>
      </p:grpSp>
      <p:pic>
        <p:nvPicPr>
          <p:cNvPr id="43" name="Picture 40">
            <a:extLst>
              <a:ext uri="{FF2B5EF4-FFF2-40B4-BE49-F238E27FC236}">
                <a16:creationId xmlns:a16="http://schemas.microsoft.com/office/drawing/2014/main" id="{7393990C-43EF-E682-7257-ADC714A76895}"/>
              </a:ext>
            </a:extLst>
          </p:cNvPr>
          <p:cNvPicPr>
            <a:picLocks noChangeAspect="1"/>
          </p:cNvPicPr>
          <p:nvPr/>
        </p:nvPicPr>
        <p:blipFill>
          <a:blip r:embed="rId15"/>
          <a:stretch>
            <a:fillRect/>
          </a:stretch>
        </p:blipFill>
        <p:spPr>
          <a:xfrm>
            <a:off x="9162134" y="1517864"/>
            <a:ext cx="2267866" cy="1591305"/>
          </a:xfrm>
          <a:prstGeom prst="rect">
            <a:avLst/>
          </a:prstGeom>
        </p:spPr>
      </p:pic>
      <p:sp>
        <p:nvSpPr>
          <p:cNvPr id="44" name="AutoShape 11">
            <a:extLst>
              <a:ext uri="{FF2B5EF4-FFF2-40B4-BE49-F238E27FC236}">
                <a16:creationId xmlns:a16="http://schemas.microsoft.com/office/drawing/2014/main" id="{CB27C0FB-424A-3196-5B1D-33E7A9CCEE9D}"/>
              </a:ext>
            </a:extLst>
          </p:cNvPr>
          <p:cNvSpPr/>
          <p:nvPr/>
        </p:nvSpPr>
        <p:spPr>
          <a:xfrm>
            <a:off x="753533" y="3890437"/>
            <a:ext cx="3725334" cy="657338"/>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zh-CN" altLang="en-US" sz="1300" b="1" i="0" u="none" strike="noStrike" kern="1200" cap="none" spc="0" normalizeH="0" baseline="0" noProof="0" dirty="0">
                <a:ln>
                  <a:noFill/>
                </a:ln>
                <a:solidFill>
                  <a:srgbClr val="4A4A4A"/>
                </a:solidFill>
                <a:effectLst/>
                <a:uLnTx/>
                <a:uFillTx/>
                <a:cs typeface="+mn-ea"/>
                <a:sym typeface="+mn-lt"/>
              </a:rPr>
              <a:t>领导者厂商</a:t>
            </a:r>
            <a:r>
              <a:rPr kumimoji="0" lang="en-US" altLang="zh-CN" sz="1300" b="1" i="0" u="none" strike="noStrike" kern="1200" cap="none" spc="0" normalizeH="0" baseline="0" noProof="0" dirty="0">
                <a:ln>
                  <a:noFill/>
                </a:ln>
                <a:solidFill>
                  <a:srgbClr val="4A4A4A"/>
                </a:solidFill>
                <a:effectLst/>
                <a:uLnTx/>
                <a:uFillTx/>
                <a:cs typeface="+mn-ea"/>
                <a:sym typeface="+mn-lt"/>
              </a:rPr>
              <a:t>EXL</a:t>
            </a:r>
            <a:r>
              <a:rPr kumimoji="0" lang="zh-CN" altLang="en-US" sz="1300" b="1" i="0" u="none" strike="noStrike" kern="1200" cap="none" spc="0" normalizeH="0" baseline="0" noProof="0" dirty="0">
                <a:ln>
                  <a:noFill/>
                </a:ln>
                <a:solidFill>
                  <a:srgbClr val="4A4A4A"/>
                </a:solidFill>
                <a:effectLst/>
                <a:uLnTx/>
                <a:uFillTx/>
                <a:cs typeface="+mn-ea"/>
                <a:sym typeface="+mn-lt"/>
              </a:rPr>
              <a:t>（</a:t>
            </a:r>
            <a:r>
              <a:rPr lang="zh-CN" altLang="en-US" sz="1300" b="1" dirty="0">
                <a:solidFill>
                  <a:srgbClr val="4A4A4A"/>
                </a:solidFill>
                <a:cs typeface="+mn-ea"/>
                <a:sym typeface="+mn-lt"/>
              </a:rPr>
              <a:t>伊克赛尔）</a:t>
            </a:r>
            <a:r>
              <a:rPr kumimoji="0" lang="zh-CN" altLang="en-US" sz="1300" b="1" i="0" u="none" strike="noStrike" kern="1200" cap="none" spc="0" normalizeH="0" baseline="0" noProof="0" dirty="0">
                <a:ln>
                  <a:noFill/>
                </a:ln>
                <a:solidFill>
                  <a:srgbClr val="4A4A4A"/>
                </a:solidFill>
                <a:effectLst/>
                <a:uLnTx/>
                <a:uFillTx/>
                <a:cs typeface="+mn-ea"/>
                <a:sym typeface="+mn-lt"/>
              </a:rPr>
              <a:t>财务控制塔以 “可视化、智能化、一体化” 为核心，具备五大核心能力：</a:t>
            </a:r>
            <a:endParaRPr kumimoji="0" lang="en-US" sz="1200" b="0" i="0" u="none" strike="noStrike" kern="1200" cap="none" spc="0" normalizeH="0" baseline="0" noProof="0" dirty="0">
              <a:ln>
                <a:noFill/>
              </a:ln>
              <a:solidFill>
                <a:srgbClr val="646464"/>
              </a:solidFill>
              <a:effectLst/>
              <a:uLnTx/>
              <a:uFillTx/>
              <a:cs typeface="+mn-ea"/>
              <a:sym typeface="+mn-lt"/>
            </a:endParaRPr>
          </a:p>
        </p:txBody>
      </p:sp>
      <p:pic>
        <p:nvPicPr>
          <p:cNvPr id="46" name="图片 45">
            <a:extLst>
              <a:ext uri="{FF2B5EF4-FFF2-40B4-BE49-F238E27FC236}">
                <a16:creationId xmlns:a16="http://schemas.microsoft.com/office/drawing/2014/main" id="{784705AF-81CC-571B-DF96-56134E442408}"/>
              </a:ext>
            </a:extLst>
          </p:cNvPr>
          <p:cNvPicPr>
            <a:picLocks noChangeAspect="1"/>
          </p:cNvPicPr>
          <p:nvPr/>
        </p:nvPicPr>
        <p:blipFill>
          <a:blip r:embed="rId16"/>
          <a:stretch>
            <a:fillRect/>
          </a:stretch>
        </p:blipFill>
        <p:spPr>
          <a:xfrm>
            <a:off x="3757200" y="4461572"/>
            <a:ext cx="3330332" cy="1771794"/>
          </a:xfrm>
          <a:prstGeom prst="rect">
            <a:avLst/>
          </a:prstGeom>
        </p:spPr>
      </p:pic>
      <p:pic>
        <p:nvPicPr>
          <p:cNvPr id="47" name="图片 46">
            <a:extLst>
              <a:ext uri="{FF2B5EF4-FFF2-40B4-BE49-F238E27FC236}">
                <a16:creationId xmlns:a16="http://schemas.microsoft.com/office/drawing/2014/main" id="{E8FB256D-CBF4-F248-2407-CA9A1C820743}"/>
              </a:ext>
            </a:extLst>
          </p:cNvPr>
          <p:cNvPicPr>
            <a:picLocks noChangeAspect="1"/>
          </p:cNvPicPr>
          <p:nvPr/>
        </p:nvPicPr>
        <p:blipFill>
          <a:blip r:embed="rId17"/>
          <a:stretch>
            <a:fillRect/>
          </a:stretch>
        </p:blipFill>
        <p:spPr>
          <a:xfrm>
            <a:off x="7293240" y="4081071"/>
            <a:ext cx="4185052" cy="2042590"/>
          </a:xfrm>
          <a:prstGeom prst="rect">
            <a:avLst/>
          </a:prstGeom>
        </p:spPr>
      </p:pic>
      <p:sp>
        <p:nvSpPr>
          <p:cNvPr id="48" name="Shape 26">
            <a:extLst>
              <a:ext uri="{FF2B5EF4-FFF2-40B4-BE49-F238E27FC236}">
                <a16:creationId xmlns:a16="http://schemas.microsoft.com/office/drawing/2014/main" id="{96AA8C28-8F06-3123-8477-4503F44416B7}"/>
              </a:ext>
            </a:extLst>
          </p:cNvPr>
          <p:cNvSpPr/>
          <p:nvPr/>
        </p:nvSpPr>
        <p:spPr>
          <a:xfrm>
            <a:off x="651318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26">
            <a:extLst>
              <a:ext uri="{FF2B5EF4-FFF2-40B4-BE49-F238E27FC236}">
                <a16:creationId xmlns:a16="http://schemas.microsoft.com/office/drawing/2014/main" id="{8276F99C-6026-EFFC-3707-C3C0341F4A4C}"/>
              </a:ext>
            </a:extLst>
          </p:cNvPr>
          <p:cNvSpPr/>
          <p:nvPr/>
        </p:nvSpPr>
        <p:spPr>
          <a:xfrm>
            <a:off x="7276424"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5" name="Shape 26">
            <a:extLst>
              <a:ext uri="{FF2B5EF4-FFF2-40B4-BE49-F238E27FC236}">
                <a16:creationId xmlns:a16="http://schemas.microsoft.com/office/drawing/2014/main" id="{B8081464-98E2-90D3-60B4-EBF8C3B503B7}"/>
              </a:ext>
            </a:extLst>
          </p:cNvPr>
          <p:cNvSpPr/>
          <p:nvPr/>
        </p:nvSpPr>
        <p:spPr>
          <a:xfrm>
            <a:off x="803965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 name="文本框 4">
            <a:extLst>
              <a:ext uri="{FF2B5EF4-FFF2-40B4-BE49-F238E27FC236}">
                <a16:creationId xmlns:a16="http://schemas.microsoft.com/office/drawing/2014/main" id="{992FB6D8-2388-ADEE-A4B6-702991C9B430}"/>
              </a:ext>
            </a:extLst>
          </p:cNvPr>
          <p:cNvSpPr txBox="1"/>
          <p:nvPr/>
        </p:nvSpPr>
        <p:spPr>
          <a:xfrm>
            <a:off x="880533" y="638952"/>
            <a:ext cx="11438467" cy="307777"/>
          </a:xfrm>
          <a:prstGeom prst="rect">
            <a:avLst/>
          </a:prstGeom>
          <a:noFill/>
        </p:spPr>
        <p:txBody>
          <a:bodyPr wrap="square" rtlCol="0">
            <a:spAutoFit/>
          </a:bodyPr>
          <a:lstStyle/>
          <a:p>
            <a:r>
              <a:rPr lang="zh-CN" altLang="en-US" sz="1400" dirty="0"/>
              <a:t>从单一的流程自动化，升级为</a:t>
            </a:r>
            <a:r>
              <a:rPr lang="zh-CN" altLang="en-US" sz="1400" b="1" dirty="0"/>
              <a:t>全链路的风控 </a:t>
            </a:r>
            <a:r>
              <a:rPr lang="en-US" altLang="zh-CN" sz="1400" b="1" dirty="0"/>
              <a:t>+ </a:t>
            </a:r>
            <a:r>
              <a:rPr lang="zh-CN" altLang="en-US" sz="1400" b="1" dirty="0"/>
              <a:t>效率 </a:t>
            </a:r>
            <a:r>
              <a:rPr lang="en-US" altLang="zh-CN" sz="1400" b="1" dirty="0"/>
              <a:t>+ </a:t>
            </a:r>
            <a:r>
              <a:rPr lang="zh-CN" altLang="en-US" sz="1400" b="1" dirty="0"/>
              <a:t>数据价值</a:t>
            </a:r>
            <a:r>
              <a:rPr lang="zh-CN" altLang="en-US" sz="1400" dirty="0"/>
              <a:t>，这也是我们指标体系设计的底层逻辑。</a:t>
            </a:r>
          </a:p>
        </p:txBody>
      </p:sp>
    </p:spTree>
    <p:extLst>
      <p:ext uri="{BB962C8B-B14F-4D97-AF65-F5344CB8AC3E}">
        <p14:creationId xmlns:p14="http://schemas.microsoft.com/office/powerpoint/2010/main" val="35601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2397E3-0AD7-91F2-5BAE-6AC49F0284F7}"/>
              </a:ext>
            </a:extLst>
          </p:cNvPr>
          <p:cNvSpPr>
            <a:spLocks noGrp="1"/>
          </p:cNvSpPr>
          <p:nvPr>
            <p:ph type="title"/>
          </p:nvPr>
        </p:nvSpPr>
        <p:spPr/>
        <p:txBody>
          <a:bodyPr/>
          <a:lstStyle/>
          <a:p>
            <a:r>
              <a:rPr lang="zh-CN" altLang="en-US" dirty="0">
                <a:latin typeface="+mn-lt"/>
                <a:ea typeface="+mn-ea"/>
                <a:cs typeface="+mn-ea"/>
                <a:sym typeface="+mn-lt"/>
              </a:rPr>
              <a:t>金蝶提出的“深化业财数智体系，落地穿透式监管能力”方案，已覆盖</a:t>
            </a:r>
            <a:r>
              <a:rPr lang="en-US" altLang="zh-CN" dirty="0">
                <a:latin typeface="+mn-lt"/>
                <a:ea typeface="+mn-ea"/>
                <a:cs typeface="+mn-ea"/>
                <a:sym typeface="+mn-lt"/>
              </a:rPr>
              <a:t>5</a:t>
            </a:r>
            <a:r>
              <a:rPr lang="zh-CN" altLang="en-US" dirty="0">
                <a:latin typeface="+mn-lt"/>
                <a:ea typeface="+mn-ea"/>
                <a:cs typeface="+mn-ea"/>
                <a:sym typeface="+mn-lt"/>
              </a:rPr>
              <a:t>条主要流程的业财风险</a:t>
            </a:r>
          </a:p>
        </p:txBody>
      </p:sp>
      <p:pic>
        <p:nvPicPr>
          <p:cNvPr id="7" name="图片 6">
            <a:extLst>
              <a:ext uri="{FF2B5EF4-FFF2-40B4-BE49-F238E27FC236}">
                <a16:creationId xmlns:a16="http://schemas.microsoft.com/office/drawing/2014/main" id="{209F0FF2-8AEB-5BA0-0FB6-55A88F6308FC}"/>
              </a:ext>
            </a:extLst>
          </p:cNvPr>
          <p:cNvPicPr>
            <a:picLocks/>
          </p:cNvPicPr>
          <p:nvPr/>
        </p:nvPicPr>
        <p:blipFill>
          <a:blip r:embed="rId3"/>
          <a:stretch>
            <a:fillRect/>
          </a:stretch>
        </p:blipFill>
        <p:spPr>
          <a:xfrm>
            <a:off x="5214420" y="1595774"/>
            <a:ext cx="3083760" cy="1677200"/>
          </a:xfrm>
          <a:prstGeom prst="rect">
            <a:avLst/>
          </a:prstGeom>
        </p:spPr>
      </p:pic>
      <p:pic>
        <p:nvPicPr>
          <p:cNvPr id="9" name="图片 8">
            <a:extLst>
              <a:ext uri="{FF2B5EF4-FFF2-40B4-BE49-F238E27FC236}">
                <a16:creationId xmlns:a16="http://schemas.microsoft.com/office/drawing/2014/main" id="{DEAB588C-38A2-35B0-1DCD-7EA1418E202F}"/>
              </a:ext>
            </a:extLst>
          </p:cNvPr>
          <p:cNvPicPr>
            <a:picLocks/>
          </p:cNvPicPr>
          <p:nvPr/>
        </p:nvPicPr>
        <p:blipFill>
          <a:blip r:embed="rId4"/>
          <a:stretch>
            <a:fillRect/>
          </a:stretch>
        </p:blipFill>
        <p:spPr>
          <a:xfrm>
            <a:off x="8356649" y="1595774"/>
            <a:ext cx="3083760" cy="1677200"/>
          </a:xfrm>
          <a:prstGeom prst="rect">
            <a:avLst/>
          </a:prstGeom>
        </p:spPr>
      </p:pic>
      <p:pic>
        <p:nvPicPr>
          <p:cNvPr id="11" name="图片 10">
            <a:extLst>
              <a:ext uri="{FF2B5EF4-FFF2-40B4-BE49-F238E27FC236}">
                <a16:creationId xmlns:a16="http://schemas.microsoft.com/office/drawing/2014/main" id="{47F2B7F5-ACE1-CFF9-0D07-AD2307491457}"/>
              </a:ext>
            </a:extLst>
          </p:cNvPr>
          <p:cNvPicPr>
            <a:picLocks/>
          </p:cNvPicPr>
          <p:nvPr/>
        </p:nvPicPr>
        <p:blipFill>
          <a:blip r:embed="rId5"/>
          <a:stretch>
            <a:fillRect/>
          </a:stretch>
        </p:blipFill>
        <p:spPr>
          <a:xfrm>
            <a:off x="5214420" y="3407016"/>
            <a:ext cx="3083760" cy="1677200"/>
          </a:xfrm>
          <a:prstGeom prst="rect">
            <a:avLst/>
          </a:prstGeom>
        </p:spPr>
      </p:pic>
      <p:pic>
        <p:nvPicPr>
          <p:cNvPr id="13" name="图片 12">
            <a:extLst>
              <a:ext uri="{FF2B5EF4-FFF2-40B4-BE49-F238E27FC236}">
                <a16:creationId xmlns:a16="http://schemas.microsoft.com/office/drawing/2014/main" id="{DF3387CF-E69A-5341-A679-EC2D0B236AB7}"/>
              </a:ext>
            </a:extLst>
          </p:cNvPr>
          <p:cNvPicPr>
            <a:picLocks/>
          </p:cNvPicPr>
          <p:nvPr/>
        </p:nvPicPr>
        <p:blipFill>
          <a:blip r:embed="rId6"/>
          <a:stretch>
            <a:fillRect/>
          </a:stretch>
        </p:blipFill>
        <p:spPr>
          <a:xfrm>
            <a:off x="8356649" y="3407016"/>
            <a:ext cx="3083760" cy="1677200"/>
          </a:xfrm>
          <a:prstGeom prst="rect">
            <a:avLst/>
          </a:prstGeom>
        </p:spPr>
      </p:pic>
      <p:pic>
        <p:nvPicPr>
          <p:cNvPr id="15" name="图片 14">
            <a:extLst>
              <a:ext uri="{FF2B5EF4-FFF2-40B4-BE49-F238E27FC236}">
                <a16:creationId xmlns:a16="http://schemas.microsoft.com/office/drawing/2014/main" id="{3E5FE6FF-9F37-1307-E730-5D5B16714191}"/>
              </a:ext>
            </a:extLst>
          </p:cNvPr>
          <p:cNvPicPr>
            <a:picLocks noChangeAspect="1"/>
          </p:cNvPicPr>
          <p:nvPr/>
        </p:nvPicPr>
        <p:blipFill>
          <a:blip r:embed="rId7"/>
          <a:stretch>
            <a:fillRect/>
          </a:stretch>
        </p:blipFill>
        <p:spPr>
          <a:xfrm>
            <a:off x="655369" y="2167032"/>
            <a:ext cx="4330525" cy="22118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pslz="http://schemas.microsoft.com/office/powerpoint/2016/slidezoom">
        <mc:Choice Requires="pslz">
          <p:graphicFrame>
            <p:nvGraphicFramePr>
              <p:cNvPr id="4" name="幻灯片缩放定位 3">
                <a:extLst>
                  <a:ext uri="{FF2B5EF4-FFF2-40B4-BE49-F238E27FC236}">
                    <a16:creationId xmlns:a16="http://schemas.microsoft.com/office/drawing/2014/main" id="{DC63C011-A4A8-2505-7421-999F43BCC87C}"/>
                  </a:ext>
                </a:extLst>
              </p:cNvPr>
              <p:cNvGraphicFramePr>
                <a:graphicFrameLocks noChangeAspect="1"/>
              </p:cNvGraphicFramePr>
              <p:nvPr>
                <p:extLst>
                  <p:ext uri="{D42A27DB-BD31-4B8C-83A1-F6EECF244321}">
                    <p14:modId xmlns:p14="http://schemas.microsoft.com/office/powerpoint/2010/main" val="2022619564"/>
                  </p:ext>
                </p:extLst>
              </p:nvPr>
            </p:nvGraphicFramePr>
            <p:xfrm>
              <a:off x="6820786" y="2604320"/>
              <a:ext cx="3154835" cy="1774595"/>
            </p:xfrm>
            <a:graphic>
              <a:graphicData uri="http://schemas.microsoft.com/office/powerpoint/2016/slidezoom">
                <pslz:sldZm>
                  <pslz:sldZmObj sldId="536" cId="2748741029">
                    <pslz:zmPr id="{E879C153-2177-4DCD-A86D-42F3CFACEC37}" transitionDur="1000">
                      <p166:blipFill xmlns:p166="http://schemas.microsoft.com/office/powerpoint/2016/6/main">
                        <a:blip r:embed="rId8"/>
                        <a:stretch>
                          <a:fillRect/>
                        </a:stretch>
                      </p166:blipFill>
                      <p166:spPr xmlns:p166="http://schemas.microsoft.com/office/powerpoint/2016/6/main">
                        <a:xfrm>
                          <a:off x="0" y="0"/>
                          <a:ext cx="3154835" cy="1774595"/>
                        </a:xfrm>
                        <a:prstGeom prst="rect">
                          <a:avLst/>
                        </a:prstGeom>
                        <a:ln w="3175">
                          <a:solidFill>
                            <a:prstClr val="ltGray"/>
                          </a:solidFill>
                        </a:ln>
                      </p166:spPr>
                    </pslz:zmPr>
                  </pslz:sldZmObj>
                </pslz:sldZm>
              </a:graphicData>
            </a:graphic>
          </p:graphicFrame>
        </mc:Choice>
        <mc:Fallback xmlns="">
          <p:pic>
            <p:nvPicPr>
              <p:cNvPr id="4" name="幻灯片缩放定位 3">
                <a:hlinkClick r:id="rId9" action="ppaction://hlinksldjump"/>
                <a:extLst>
                  <a:ext uri="{FF2B5EF4-FFF2-40B4-BE49-F238E27FC236}">
                    <a16:creationId xmlns:a16="http://schemas.microsoft.com/office/drawing/2014/main" id="{DC63C011-A4A8-2505-7421-999F43BCC87C}"/>
                  </a:ext>
                </a:extLst>
              </p:cNvPr>
              <p:cNvPicPr>
                <a:picLocks noGrp="1" noRot="1" noChangeAspect="1" noMove="1" noResize="1" noEditPoints="1" noAdjustHandles="1" noChangeArrowheads="1" noChangeShapeType="1"/>
              </p:cNvPicPr>
              <p:nvPr/>
            </p:nvPicPr>
            <p:blipFill>
              <a:blip r:embed="rId10"/>
              <a:stretch>
                <a:fillRect/>
              </a:stretch>
            </p:blipFill>
            <p:spPr>
              <a:xfrm>
                <a:off x="6820786" y="2604320"/>
                <a:ext cx="3154835" cy="1774595"/>
              </a:xfrm>
              <a:prstGeom prst="rect">
                <a:avLst/>
              </a:prstGeom>
              <a:ln w="3175">
                <a:solidFill>
                  <a:prstClr val="ltGray"/>
                </a:solidFill>
              </a:ln>
            </p:spPr>
          </p:pic>
        </mc:Fallback>
      </mc:AlternateContent>
      <p:sp>
        <p:nvSpPr>
          <p:cNvPr id="6" name="文本框 5">
            <a:extLst>
              <a:ext uri="{FF2B5EF4-FFF2-40B4-BE49-F238E27FC236}">
                <a16:creationId xmlns:a16="http://schemas.microsoft.com/office/drawing/2014/main" id="{C5634BD1-F261-3B99-6CAA-4EA1BEE5415D}"/>
              </a:ext>
            </a:extLst>
          </p:cNvPr>
          <p:cNvSpPr txBox="1"/>
          <p:nvPr/>
        </p:nvSpPr>
        <p:spPr>
          <a:xfrm>
            <a:off x="571413" y="5444565"/>
            <a:ext cx="10468380" cy="307777"/>
          </a:xfrm>
          <a:prstGeom prst="rect">
            <a:avLst/>
          </a:prstGeom>
          <a:noFill/>
        </p:spPr>
        <p:txBody>
          <a:bodyPr wrap="square" rtlCol="0">
            <a:spAutoFit/>
          </a:bodyPr>
          <a:lstStyle/>
          <a:p>
            <a:r>
              <a:rPr lang="zh-CN" altLang="en-US" sz="1400" dirty="0"/>
              <a:t>每条流程的管控点都对应了客户的合规需求和风险痛点，而这些管控点，就是我们后续设计价值指标的</a:t>
            </a:r>
            <a:r>
              <a:rPr lang="zh-CN" altLang="en-US" sz="1400" b="1" dirty="0"/>
              <a:t>业务基础。</a:t>
            </a:r>
            <a:endParaRPr lang="zh-CN" altLang="en-US" sz="1400" dirty="0"/>
          </a:p>
        </p:txBody>
      </p:sp>
    </p:spTree>
    <p:extLst>
      <p:ext uri="{BB962C8B-B14F-4D97-AF65-F5344CB8AC3E}">
        <p14:creationId xmlns:p14="http://schemas.microsoft.com/office/powerpoint/2010/main" val="194092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000" dirty="0">
                <a:solidFill>
                  <a:schemeClr val="tx1"/>
                </a:solidFill>
                <a:latin typeface="+mn-lt"/>
                <a:ea typeface="+mn-ea"/>
                <a:cs typeface="+mn-ea"/>
                <a:sym typeface="+mn-lt"/>
              </a:rPr>
              <a:t>金蝶监管实践：</a:t>
            </a:r>
            <a:r>
              <a:rPr lang="zh-CN" altLang="en-US" dirty="0">
                <a:solidFill>
                  <a:schemeClr val="tx1"/>
                </a:solidFill>
                <a:latin typeface="+mn-lt"/>
                <a:ea typeface="+mn-ea"/>
                <a:cs typeface="+mn-ea"/>
                <a:sym typeface="+mn-lt"/>
              </a:rPr>
              <a:t>湖南矿业</a:t>
            </a:r>
            <a:r>
              <a:rPr lang="zh-CN" altLang="en-US" dirty="0">
                <a:solidFill>
                  <a:srgbClr val="2971EB"/>
                </a:solidFill>
                <a:latin typeface="+mn-lt"/>
                <a:ea typeface="+mn-ea"/>
                <a:cs typeface="+mn-ea"/>
                <a:sym typeface="+mn-lt"/>
              </a:rPr>
              <a:t>内控风险合规“三位一体” 融入业务过程</a:t>
            </a:r>
          </a:p>
        </p:txBody>
      </p:sp>
      <p:grpSp>
        <p:nvGrpSpPr>
          <p:cNvPr id="6" name="组合 5"/>
          <p:cNvGrpSpPr/>
          <p:nvPr/>
        </p:nvGrpSpPr>
        <p:grpSpPr>
          <a:xfrm>
            <a:off x="438539" y="895748"/>
            <a:ext cx="11314922" cy="640702"/>
            <a:chOff x="819533" y="1268350"/>
            <a:chExt cx="8389791" cy="429515"/>
          </a:xfrm>
        </p:grpSpPr>
        <p:sp>
          <p:nvSpPr>
            <p:cNvPr id="2" name="圆角矩形 55"/>
            <p:cNvSpPr/>
            <p:nvPr/>
          </p:nvSpPr>
          <p:spPr>
            <a:xfrm>
              <a:off x="819533" y="1268350"/>
              <a:ext cx="2694997" cy="429515"/>
            </a:xfrm>
            <a:prstGeom prst="roundRect">
              <a:avLst>
                <a:gd name="adj" fmla="val 0"/>
              </a:avLst>
            </a:prstGeom>
            <a:solidFill>
              <a:srgbClr val="08C8C8"/>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改善前</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3" name="圆角矩形 55"/>
            <p:cNvSpPr/>
            <p:nvPr/>
          </p:nvSpPr>
          <p:spPr>
            <a:xfrm>
              <a:off x="3666930" y="1268350"/>
              <a:ext cx="2694997" cy="429515"/>
            </a:xfrm>
            <a:prstGeom prst="roundRect">
              <a:avLst>
                <a:gd name="adj" fmla="val 0"/>
              </a:avLst>
            </a:prstGeom>
            <a:solidFill>
              <a:srgbClr val="2971EB"/>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改善方案</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5" name="圆角矩形 55"/>
            <p:cNvSpPr/>
            <p:nvPr/>
          </p:nvSpPr>
          <p:spPr>
            <a:xfrm>
              <a:off x="6514327" y="1268350"/>
              <a:ext cx="2694997" cy="429515"/>
            </a:xfrm>
            <a:prstGeom prst="roundRect">
              <a:avLst>
                <a:gd name="adj" fmla="val 0"/>
              </a:avLst>
            </a:prstGeom>
            <a:solidFill>
              <a:srgbClr val="A06E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改善后</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grpSp>
      <p:sp>
        <p:nvSpPr>
          <p:cNvPr id="8" name="圆角矩形 55"/>
          <p:cNvSpPr/>
          <p:nvPr/>
        </p:nvSpPr>
        <p:spPr>
          <a:xfrm>
            <a:off x="438538" y="1536451"/>
            <a:ext cx="3634617" cy="2345087"/>
          </a:xfrm>
          <a:prstGeom prst="roundRect">
            <a:avLst>
              <a:gd name="adj" fmla="val 0"/>
            </a:avLst>
          </a:prstGeom>
          <a:solidFill>
            <a:srgbClr val="08C8C8">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、合规管理流程独立于业务之外，大部分控制通过线下人工组织协同，属于</a:t>
            </a:r>
            <a:r>
              <a:rPr kumimoji="1" lang="zh-CN" altLang="en-US" sz="1200" b="1" i="0" u="none" strike="noStrike" kern="1200" cap="none" spc="0" normalizeH="0" baseline="0" noProof="0" dirty="0">
                <a:ln>
                  <a:noFill/>
                </a:ln>
                <a:solidFill>
                  <a:prstClr val="black"/>
                </a:solidFill>
                <a:effectLst/>
                <a:uLnTx/>
                <a:uFillTx/>
                <a:cs typeface="+mn-ea"/>
                <a:sym typeface="+mn-lt"/>
              </a:rPr>
              <a:t>事后线下统计分析</a:t>
            </a:r>
            <a:r>
              <a:rPr kumimoji="1" lang="zh-CN" altLang="en-US" sz="1200" b="0" i="0" u="none" strike="noStrike" kern="1200" cap="none" spc="0" normalizeH="0" baseline="0" noProof="0" dirty="0">
                <a:ln>
                  <a:noFill/>
                </a:ln>
                <a:solidFill>
                  <a:prstClr val="black"/>
                </a:solidFill>
                <a:effectLst/>
                <a:uLnTx/>
                <a:uFillTx/>
                <a:cs typeface="+mn-ea"/>
                <a:sym typeface="+mn-lt"/>
              </a:rPr>
              <a:t>，缺乏事前预测和事中管控的能力。</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、集团和各子公司都制定了“三位一体”管理手册、标准手册、四张清单、管理指引及相关制度约</a:t>
            </a:r>
            <a:r>
              <a:rPr kumimoji="1" lang="en-US" altLang="zh-CN" sz="1200" b="1" i="0" u="none" strike="noStrike" kern="1200" cap="none" spc="0" normalizeH="0" baseline="0" noProof="0" dirty="0">
                <a:ln>
                  <a:noFill/>
                </a:ln>
                <a:solidFill>
                  <a:prstClr val="black"/>
                </a:solidFill>
                <a:effectLst/>
                <a:uLnTx/>
                <a:uFillTx/>
                <a:cs typeface="+mn-ea"/>
                <a:sym typeface="+mn-lt"/>
              </a:rPr>
              <a:t>2000</a:t>
            </a:r>
            <a:r>
              <a:rPr kumimoji="1" lang="zh-CN" altLang="en-US" sz="1200" b="1" i="0" u="none" strike="noStrike" kern="1200" cap="none" spc="0" normalizeH="0" baseline="0" noProof="0" dirty="0">
                <a:ln>
                  <a:noFill/>
                </a:ln>
                <a:solidFill>
                  <a:prstClr val="black"/>
                </a:solidFill>
                <a:effectLst/>
                <a:uLnTx/>
                <a:uFillTx/>
                <a:cs typeface="+mn-ea"/>
                <a:sym typeface="+mn-lt"/>
              </a:rPr>
              <a:t>余页</a:t>
            </a:r>
            <a:r>
              <a:rPr kumimoji="1" lang="en-US" altLang="zh-CN" sz="1200" b="1" i="0" u="none" strike="noStrike" kern="1200" cap="none" spc="0" normalizeH="0" baseline="0" noProof="0" dirty="0">
                <a:ln>
                  <a:noFill/>
                </a:ln>
                <a:solidFill>
                  <a:prstClr val="black"/>
                </a:solidFill>
                <a:effectLst/>
                <a:uLnTx/>
                <a:uFillTx/>
                <a:cs typeface="+mn-ea"/>
                <a:sym typeface="+mn-lt"/>
              </a:rPr>
              <a:t>50</a:t>
            </a:r>
            <a:r>
              <a:rPr kumimoji="1" lang="zh-CN" altLang="en-US" sz="1200" b="1" i="0" u="none" strike="noStrike" kern="1200" cap="none" spc="0" normalizeH="0" baseline="0" noProof="0" dirty="0">
                <a:ln>
                  <a:noFill/>
                </a:ln>
                <a:solidFill>
                  <a:prstClr val="black"/>
                </a:solidFill>
                <a:effectLst/>
                <a:uLnTx/>
                <a:uFillTx/>
                <a:cs typeface="+mn-ea"/>
                <a:sym typeface="+mn-lt"/>
              </a:rPr>
              <a:t>余万字</a:t>
            </a:r>
            <a:r>
              <a:rPr kumimoji="1" lang="zh-CN" altLang="en-US" sz="1200" b="0" i="0" u="none" strike="noStrike" kern="1200" cap="none" spc="0" normalizeH="0" baseline="0" noProof="0" dirty="0">
                <a:ln>
                  <a:noFill/>
                </a:ln>
                <a:solidFill>
                  <a:prstClr val="black"/>
                </a:solidFill>
                <a:effectLst/>
                <a:uLnTx/>
                <a:uFillTx/>
                <a:cs typeface="+mn-ea"/>
                <a:sym typeface="+mn-lt"/>
              </a:rPr>
              <a:t>，对内控风险合规组织、职责和流程都做了要求，但</a:t>
            </a:r>
            <a:r>
              <a:rPr kumimoji="1" lang="zh-CN" altLang="en-US" sz="1200" b="1" i="0" u="none" strike="noStrike" kern="1200" cap="none" spc="0" normalizeH="0" baseline="0" noProof="0" dirty="0">
                <a:ln>
                  <a:noFill/>
                </a:ln>
                <a:solidFill>
                  <a:prstClr val="black"/>
                </a:solidFill>
                <a:effectLst/>
                <a:uLnTx/>
                <a:uFillTx/>
                <a:cs typeface="+mn-ea"/>
                <a:sym typeface="+mn-lt"/>
              </a:rPr>
              <a:t>缺乏信息化工具和平台</a:t>
            </a:r>
            <a:r>
              <a:rPr kumimoji="1" lang="zh-CN" altLang="en-US" sz="1200" b="0" i="0" u="none" strike="noStrike" kern="1200" cap="none" spc="0" normalizeH="0" baseline="0" noProof="0" dirty="0">
                <a:ln>
                  <a:noFill/>
                </a:ln>
                <a:solidFill>
                  <a:prstClr val="black"/>
                </a:solidFill>
                <a:effectLst/>
                <a:uLnTx/>
                <a:uFillTx/>
                <a:cs typeface="+mn-ea"/>
                <a:sym typeface="+mn-lt"/>
              </a:rPr>
              <a:t>进行落地。</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“三位一体”流程中合规要件检查基本上</a:t>
            </a:r>
            <a:r>
              <a:rPr kumimoji="1" lang="zh-CN" altLang="en-US" sz="1200" b="1" i="0" u="none" strike="noStrike" kern="1200" cap="none" spc="0" normalizeH="0" baseline="0" noProof="0" dirty="0">
                <a:ln>
                  <a:noFill/>
                </a:ln>
                <a:solidFill>
                  <a:prstClr val="black"/>
                </a:solidFill>
                <a:effectLst/>
                <a:uLnTx/>
                <a:uFillTx/>
                <a:cs typeface="+mn-ea"/>
                <a:sym typeface="+mn-lt"/>
              </a:rPr>
              <a:t>依赖人工</a:t>
            </a:r>
            <a:r>
              <a:rPr kumimoji="1" lang="zh-CN" altLang="en-US" sz="1200" b="0" i="0" u="none" strike="noStrike" kern="1200" cap="none" spc="0" normalizeH="0" baseline="0" noProof="0" dirty="0">
                <a:ln>
                  <a:noFill/>
                </a:ln>
                <a:solidFill>
                  <a:prstClr val="black"/>
                </a:solidFill>
                <a:effectLst/>
                <a:uLnTx/>
                <a:uFillTx/>
                <a:cs typeface="+mn-ea"/>
                <a:sym typeface="+mn-lt"/>
              </a:rPr>
              <a:t>，耗时、费力还时常会遗漏。</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、合规管理部门缺乏风险监控、风险预警和风险提示的分析和控制图表，往往总</a:t>
            </a:r>
            <a:r>
              <a:rPr kumimoji="1" lang="zh-CN" altLang="en-US" sz="1200" b="1" i="0" u="none" strike="noStrike" kern="1200" cap="none" spc="0" normalizeH="0" baseline="0" noProof="0" dirty="0">
                <a:ln>
                  <a:noFill/>
                </a:ln>
                <a:solidFill>
                  <a:prstClr val="black"/>
                </a:solidFill>
                <a:effectLst/>
                <a:uLnTx/>
                <a:uFillTx/>
                <a:cs typeface="+mn-ea"/>
                <a:sym typeface="+mn-lt"/>
              </a:rPr>
              <a:t>比业务慢半拍</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9" name="圆角矩形 55"/>
          <p:cNvSpPr/>
          <p:nvPr/>
        </p:nvSpPr>
        <p:spPr>
          <a:xfrm>
            <a:off x="4278690" y="1536451"/>
            <a:ext cx="3634617" cy="2345087"/>
          </a:xfrm>
          <a:prstGeom prst="roundRect">
            <a:avLst>
              <a:gd name="adj" fmla="val 0"/>
            </a:avLst>
          </a:prstGeom>
          <a:solidFill>
            <a:srgbClr val="2971EB">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、业务全覆盖：将集团“三位一体” 体系的要求最大化（应上尽上）融入</a:t>
            </a:r>
            <a:r>
              <a:rPr kumimoji="1" lang="zh-CN" altLang="en-US" sz="1200" b="1" i="0" u="none" strike="noStrike" kern="1200" cap="none" spc="0" normalizeH="0" baseline="0" noProof="0" dirty="0">
                <a:ln>
                  <a:noFill/>
                </a:ln>
                <a:solidFill>
                  <a:prstClr val="black"/>
                </a:solidFill>
                <a:effectLst/>
                <a:uLnTx/>
                <a:uFillTx/>
                <a:cs typeface="+mn-ea"/>
                <a:sym typeface="+mn-lt"/>
              </a:rPr>
              <a:t>六大业务系统</a:t>
            </a:r>
            <a:r>
              <a:rPr kumimoji="1" lang="zh-CN" altLang="en-US" sz="1200" b="0" i="0" u="none" strike="noStrike" kern="1200" cap="none" spc="0" normalizeH="0" baseline="0" noProof="0" dirty="0">
                <a:ln>
                  <a:noFill/>
                </a:ln>
                <a:solidFill>
                  <a:prstClr val="black"/>
                </a:solidFill>
                <a:effectLst/>
                <a:uLnTx/>
                <a:uFillTx/>
                <a:cs typeface="+mn-ea"/>
                <a:sym typeface="+mn-lt"/>
              </a:rPr>
              <a:t>的操作流程中。</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、管控到流程：设置</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合规预警和风险提示</a:t>
            </a:r>
            <a:r>
              <a:rPr kumimoji="1" lang="zh-CN" altLang="en-US" sz="1200" b="0" i="0" u="none" strike="noStrike" kern="1200" cap="none" spc="0" normalizeH="0" baseline="0" noProof="0" dirty="0">
                <a:ln>
                  <a:noFill/>
                </a:ln>
                <a:solidFill>
                  <a:prstClr val="black"/>
                </a:solidFill>
                <a:effectLst/>
                <a:uLnTx/>
                <a:uFillTx/>
                <a:cs typeface="+mn-ea"/>
                <a:sym typeface="+mn-lt"/>
              </a:rPr>
              <a:t>等方式，对各人力、财务、物控和合同等业务系统中的关键业务流程节点，通过配置相应的规则实现合规控制。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、合规可视化：</a:t>
            </a:r>
            <a:r>
              <a:rPr kumimoji="1" lang="zh-CN" altLang="en-US" sz="1200" b="1" i="0" u="none" strike="noStrike" kern="1200" cap="none" spc="0" normalizeH="0" baseline="0" noProof="0" dirty="0">
                <a:ln>
                  <a:noFill/>
                </a:ln>
                <a:solidFill>
                  <a:prstClr val="black"/>
                </a:solidFill>
                <a:effectLst/>
                <a:uLnTx/>
                <a:uFillTx/>
                <a:cs typeface="+mn-ea"/>
                <a:sym typeface="+mn-lt"/>
              </a:rPr>
              <a:t>建立图表化的数据统计分析报表，直观、清晰的掌握集团风险情况</a:t>
            </a:r>
            <a:r>
              <a:rPr kumimoji="1" lang="zh-CN" altLang="en-US" sz="1200" b="0" i="0" u="none" strike="noStrike" kern="1200" cap="none" spc="0" normalizeH="0" baseline="0" noProof="0" dirty="0">
                <a:ln>
                  <a:noFill/>
                </a:ln>
                <a:solidFill>
                  <a:prstClr val="black"/>
                </a:solidFill>
                <a:effectLst/>
                <a:uLnTx/>
                <a:uFillTx/>
                <a:cs typeface="+mn-ea"/>
                <a:sym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、构建集团法务案件管理和普法宣传应用，加强案件处理申请、案件档案管理和重大案件报告，建立健全普法培训、典型案例、普法知识库。</a:t>
            </a:r>
          </a:p>
        </p:txBody>
      </p:sp>
      <p:sp>
        <p:nvSpPr>
          <p:cNvPr id="10" name="圆角矩形 55"/>
          <p:cNvSpPr/>
          <p:nvPr/>
        </p:nvSpPr>
        <p:spPr>
          <a:xfrm>
            <a:off x="8118843" y="1536451"/>
            <a:ext cx="3634617" cy="2345087"/>
          </a:xfrm>
          <a:prstGeom prst="roundRect">
            <a:avLst>
              <a:gd name="adj" fmla="val 0"/>
            </a:avLst>
          </a:prstGeom>
          <a:solidFill>
            <a:srgbClr val="A06EFF">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、共有</a:t>
            </a:r>
            <a:r>
              <a:rPr kumimoji="1" lang="en-US" altLang="zh-CN" sz="1200" b="1" i="0" u="none" strike="noStrike" kern="1200" cap="none" spc="0" normalizeH="0" baseline="0" noProof="0" dirty="0">
                <a:ln>
                  <a:noFill/>
                </a:ln>
                <a:solidFill>
                  <a:prstClr val="black"/>
                </a:solidFill>
                <a:effectLst/>
                <a:uLnTx/>
                <a:uFillTx/>
                <a:cs typeface="+mn-ea"/>
                <a:sym typeface="+mn-lt"/>
              </a:rPr>
              <a:t>135</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“三位一体”流程融入六大业务系统的线上流程，</a:t>
            </a:r>
            <a:r>
              <a:rPr kumimoji="1" lang="zh-CN" altLang="en-US" sz="1200" b="1" i="0" u="none" strike="noStrike" kern="1200" cap="none" spc="0" normalizeH="0" baseline="0" noProof="0" dirty="0">
                <a:ln>
                  <a:noFill/>
                </a:ln>
                <a:solidFill>
                  <a:schemeClr val="tx1"/>
                </a:solidFill>
                <a:effectLst/>
                <a:uLnTx/>
                <a:uFillTx/>
                <a:cs typeface="+mn-ea"/>
                <a:sym typeface="+mn-lt"/>
              </a:rPr>
              <a:t>六大业务域</a:t>
            </a:r>
            <a:r>
              <a:rPr kumimoji="1" lang="zh-CN" altLang="en-US" sz="1200" b="0" i="0" u="none" strike="noStrike" kern="1200" cap="none" spc="0" normalizeH="0" baseline="0" noProof="0" dirty="0">
                <a:ln>
                  <a:noFill/>
                </a:ln>
                <a:solidFill>
                  <a:prstClr val="black"/>
                </a:solidFill>
                <a:effectLst/>
                <a:uLnTx/>
                <a:uFillTx/>
                <a:cs typeface="+mn-ea"/>
                <a:sym typeface="+mn-lt"/>
              </a:rPr>
              <a:t>的合规流程</a:t>
            </a:r>
            <a:r>
              <a:rPr kumimoji="1" lang="en-US" altLang="zh-CN" sz="1200" b="1" i="0" u="none" strike="noStrike" kern="1200" cap="none" spc="0" normalizeH="0" baseline="0" noProof="0" dirty="0">
                <a:ln>
                  <a:noFill/>
                </a:ln>
                <a:solidFill>
                  <a:prstClr val="black"/>
                </a:solidFill>
                <a:effectLst/>
                <a:uLnTx/>
                <a:uFillTx/>
                <a:cs typeface="+mn-ea"/>
                <a:sym typeface="+mn-lt"/>
              </a:rPr>
              <a:t>100%</a:t>
            </a:r>
            <a:r>
              <a:rPr kumimoji="1" lang="zh-CN" altLang="en-US" sz="1200" b="1" i="0" u="none" strike="noStrike" kern="1200" cap="none" spc="0" normalizeH="0" baseline="0" noProof="0" dirty="0">
                <a:ln>
                  <a:noFill/>
                </a:ln>
                <a:solidFill>
                  <a:prstClr val="black"/>
                </a:solidFill>
                <a:effectLst/>
                <a:uLnTx/>
                <a:uFillTx/>
                <a:cs typeface="+mn-ea"/>
                <a:sym typeface="+mn-lt"/>
              </a:rPr>
              <a:t>线上化</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、合规管控在</a:t>
            </a:r>
            <a:r>
              <a:rPr kumimoji="1" lang="zh-CN" altLang="en-US" sz="1200" b="1" i="0" u="none" strike="noStrike" kern="1200" cap="none" spc="0" normalizeH="0" baseline="0" noProof="0" dirty="0">
                <a:ln>
                  <a:noFill/>
                </a:ln>
                <a:solidFill>
                  <a:prstClr val="black"/>
                </a:solidFill>
                <a:effectLst/>
                <a:uLnTx/>
                <a:uFillTx/>
                <a:cs typeface="+mn-ea"/>
                <a:sym typeface="+mn-lt"/>
              </a:rPr>
              <a:t>系统落地共计</a:t>
            </a:r>
            <a:r>
              <a:rPr kumimoji="1" lang="en-US" altLang="zh-CN" sz="1200" b="1" i="0" u="none" strike="noStrike" kern="1200" cap="none" spc="0" normalizeH="0" baseline="0" noProof="0" dirty="0">
                <a:ln>
                  <a:noFill/>
                </a:ln>
                <a:solidFill>
                  <a:prstClr val="black"/>
                </a:solidFill>
                <a:effectLst/>
                <a:uLnTx/>
                <a:uFillTx/>
                <a:cs typeface="+mn-ea"/>
                <a:sym typeface="+mn-lt"/>
              </a:rPr>
              <a:t>102</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en-US" altLang="zh-CN" sz="1200" b="1" i="0" u="none" strike="noStrike" kern="1200" cap="none" spc="0" normalizeH="0" baseline="0" noProof="0" dirty="0">
                <a:ln>
                  <a:noFill/>
                </a:ln>
                <a:solidFill>
                  <a:prstClr val="black"/>
                </a:solidFill>
                <a:effectLst/>
                <a:uLnTx/>
                <a:uFillTx/>
                <a:cs typeface="+mn-ea"/>
                <a:sym typeface="+mn-lt"/>
              </a:rPr>
              <a:t>4</a:t>
            </a:r>
            <a:r>
              <a:rPr kumimoji="1" lang="zh-CN" altLang="en-US" sz="1200" b="1" i="0" u="none" strike="noStrike" kern="1200" cap="none" spc="0" normalizeH="0" baseline="0" noProof="0" dirty="0">
                <a:ln>
                  <a:noFill/>
                </a:ln>
                <a:solidFill>
                  <a:prstClr val="black"/>
                </a:solidFill>
                <a:effectLst/>
                <a:uLnTx/>
                <a:uFillTx/>
                <a:cs typeface="+mn-ea"/>
                <a:sym typeface="+mn-lt"/>
              </a:rPr>
              <a:t>处，合规检查点</a:t>
            </a:r>
            <a:r>
              <a:rPr kumimoji="1" lang="en-US" altLang="zh-CN" sz="1200" b="1" i="0" u="none" strike="noStrike" kern="1200" cap="none" spc="0" normalizeH="0" baseline="0" noProof="0" dirty="0">
                <a:ln>
                  <a:noFill/>
                </a:ln>
                <a:solidFill>
                  <a:prstClr val="black"/>
                </a:solidFill>
                <a:effectLst/>
                <a:uLnTx/>
                <a:uFillTx/>
                <a:cs typeface="+mn-ea"/>
                <a:sym typeface="+mn-lt"/>
              </a:rPr>
              <a:t>74</a:t>
            </a:r>
            <a:r>
              <a:rPr kumimoji="1" lang="zh-CN" altLang="en-US" sz="1200" b="1" i="0" u="none" strike="noStrike" kern="1200" cap="none" spc="0" normalizeH="0" baseline="0" noProof="0" dirty="0">
                <a:ln>
                  <a:noFill/>
                </a:ln>
                <a:solidFill>
                  <a:prstClr val="black"/>
                </a:solidFill>
                <a:effectLst/>
                <a:uLnTx/>
                <a:uFillTx/>
                <a:cs typeface="+mn-ea"/>
                <a:sym typeface="+mn-lt"/>
              </a:rPr>
              <a:t>处，合规预警</a:t>
            </a:r>
            <a:r>
              <a:rPr kumimoji="1" lang="en-US" altLang="zh-CN" sz="1200" b="1" i="0" u="none" strike="noStrike" kern="1200" cap="none" spc="0" normalizeH="0" baseline="0" noProof="0" dirty="0">
                <a:ln>
                  <a:noFill/>
                </a:ln>
                <a:solidFill>
                  <a:prstClr val="black"/>
                </a:solidFill>
                <a:effectLst/>
                <a:uLnTx/>
                <a:uFillTx/>
                <a:cs typeface="+mn-ea"/>
                <a:sym typeface="+mn-lt"/>
              </a:rPr>
              <a:t>7</a:t>
            </a:r>
            <a:r>
              <a:rPr kumimoji="1" lang="zh-CN" altLang="en-US" sz="1200" b="1" i="0" u="none" strike="noStrike" kern="1200" cap="none" spc="0" normalizeH="0" baseline="0" noProof="0" dirty="0">
                <a:ln>
                  <a:noFill/>
                </a:ln>
                <a:solidFill>
                  <a:prstClr val="black"/>
                </a:solidFill>
                <a:effectLst/>
                <a:uLnTx/>
                <a:uFillTx/>
                <a:cs typeface="+mn-ea"/>
                <a:sym typeface="+mn-lt"/>
              </a:rPr>
              <a:t>处，风险提示</a:t>
            </a:r>
            <a:r>
              <a:rPr kumimoji="1" lang="en-US" altLang="zh-CN" sz="1200" b="1" i="0" u="none" strike="noStrike" kern="1200" cap="none" spc="0" normalizeH="0" baseline="0" noProof="0" dirty="0">
                <a:ln>
                  <a:noFill/>
                </a:ln>
                <a:solidFill>
                  <a:prstClr val="black"/>
                </a:solidFill>
                <a:effectLst/>
                <a:uLnTx/>
                <a:uFillTx/>
                <a:cs typeface="+mn-ea"/>
                <a:sym typeface="+mn-lt"/>
              </a:rPr>
              <a:t>17</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搭建</a:t>
            </a:r>
            <a:r>
              <a:rPr kumimoji="1" lang="zh-CN" altLang="en-US" sz="1200" b="1" i="0" u="none" strike="noStrike" kern="1200" cap="none" spc="0" normalizeH="0" baseline="0" noProof="0" dirty="0">
                <a:ln>
                  <a:noFill/>
                </a:ln>
                <a:solidFill>
                  <a:prstClr val="black"/>
                </a:solidFill>
                <a:effectLst/>
                <a:uLnTx/>
                <a:uFillTx/>
                <a:cs typeface="+mn-ea"/>
                <a:sym typeface="+mn-lt"/>
              </a:rPr>
              <a:t>合规监测大屏</a:t>
            </a:r>
            <a:r>
              <a:rPr kumimoji="1" lang="en-US" altLang="zh-CN" sz="1200" b="1" i="0" u="none" strike="noStrike" kern="1200" cap="none" spc="0" normalizeH="0" baseline="0" noProof="0" dirty="0">
                <a:ln>
                  <a:noFill/>
                </a:ln>
                <a:solidFill>
                  <a:prstClr val="black"/>
                </a:solidFill>
                <a:effectLst/>
                <a:uLnTx/>
                <a:uFillTx/>
                <a:cs typeface="+mn-ea"/>
                <a:sym typeface="+mn-lt"/>
              </a:rPr>
              <a:t>3</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，风险预警及提示监测台账、风险预警情况监测表、风险提示情况监测表。</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、实现</a:t>
            </a:r>
            <a:r>
              <a:rPr kumimoji="1" lang="zh-CN" altLang="en-US" sz="1200" b="1" i="0" u="none" strike="noStrike" kern="1200" cap="none" spc="0" normalizeH="0" baseline="0" noProof="0" dirty="0">
                <a:ln>
                  <a:noFill/>
                </a:ln>
                <a:solidFill>
                  <a:prstClr val="black"/>
                </a:solidFill>
                <a:effectLst/>
                <a:uLnTx/>
                <a:uFillTx/>
                <a:cs typeface="+mn-ea"/>
                <a:sym typeface="+mn-lt"/>
              </a:rPr>
              <a:t>案件管理和普法宣传线上化</a:t>
            </a:r>
            <a:r>
              <a:rPr kumimoji="1" lang="zh-CN" altLang="en-US" sz="1200" b="0" i="0" u="none" strike="noStrike" kern="1200" cap="none" spc="0" normalizeH="0" baseline="0" noProof="0" dirty="0">
                <a:ln>
                  <a:noFill/>
                </a:ln>
                <a:solidFill>
                  <a:prstClr val="black"/>
                </a:solidFill>
                <a:effectLst/>
                <a:uLnTx/>
                <a:uFillTx/>
                <a:cs typeface="+mn-ea"/>
                <a:sym typeface="+mn-lt"/>
              </a:rPr>
              <a:t>，极大地提升了集团和子公司的法务工作效率。</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1" name="等腰三角形 10"/>
          <p:cNvSpPr/>
          <p:nvPr/>
        </p:nvSpPr>
        <p:spPr>
          <a:xfrm rot="5400000">
            <a:off x="3858553" y="1110350"/>
            <a:ext cx="640702" cy="211499"/>
          </a:xfrm>
          <a:prstGeom prst="triangle">
            <a:avLst/>
          </a:prstGeom>
          <a:solidFill>
            <a:srgbClr val="08C8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2" name="等腰三角形 11"/>
          <p:cNvSpPr/>
          <p:nvPr/>
        </p:nvSpPr>
        <p:spPr>
          <a:xfrm rot="5400000">
            <a:off x="7692741" y="1110349"/>
            <a:ext cx="640702" cy="211499"/>
          </a:xfrm>
          <a:prstGeom prst="triangle">
            <a:avLst/>
          </a:prstGeom>
          <a:solidFill>
            <a:srgbClr val="2971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3" name="圆角矩形 55"/>
          <p:cNvSpPr/>
          <p:nvPr/>
        </p:nvSpPr>
        <p:spPr>
          <a:xfrm>
            <a:off x="438539" y="4037049"/>
            <a:ext cx="3634617" cy="2270449"/>
          </a:xfrm>
          <a:prstGeom prst="roundRect">
            <a:avLst>
              <a:gd name="adj" fmla="val 0"/>
            </a:avLst>
          </a:prstGeom>
          <a:noFill/>
          <a:ln w="0">
            <a:solidFill>
              <a:srgbClr val="05C8C8"/>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4" name="圆角矩形 55"/>
          <p:cNvSpPr/>
          <p:nvPr/>
        </p:nvSpPr>
        <p:spPr>
          <a:xfrm>
            <a:off x="4278691" y="4037049"/>
            <a:ext cx="3634617" cy="2270449"/>
          </a:xfrm>
          <a:prstGeom prst="roundRect">
            <a:avLst>
              <a:gd name="adj" fmla="val 0"/>
            </a:avLst>
          </a:prstGeom>
          <a:noFill/>
          <a:ln w="0">
            <a:solidFill>
              <a:srgbClr val="2971E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5" name="圆角矩形 55"/>
          <p:cNvSpPr/>
          <p:nvPr/>
        </p:nvSpPr>
        <p:spPr>
          <a:xfrm>
            <a:off x="8118844" y="4037049"/>
            <a:ext cx="3634617" cy="2270449"/>
          </a:xfrm>
          <a:prstGeom prst="roundRect">
            <a:avLst>
              <a:gd name="adj" fmla="val 0"/>
            </a:avLst>
          </a:prstGeom>
          <a:noFill/>
          <a:ln w="0">
            <a:solidFill>
              <a:srgbClr val="A06E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pic>
        <p:nvPicPr>
          <p:cNvPr id="16" name="图片 15"/>
          <p:cNvPicPr>
            <a:picLocks noChangeAspect="1"/>
          </p:cNvPicPr>
          <p:nvPr/>
        </p:nvPicPr>
        <p:blipFill>
          <a:blip r:embed="rId3"/>
          <a:stretch>
            <a:fillRect/>
          </a:stretch>
        </p:blipFill>
        <p:spPr>
          <a:xfrm>
            <a:off x="500743" y="4089795"/>
            <a:ext cx="1296691" cy="2164956"/>
          </a:xfrm>
          <a:prstGeom prst="rect">
            <a:avLst/>
          </a:prstGeom>
        </p:spPr>
      </p:pic>
      <p:pic>
        <p:nvPicPr>
          <p:cNvPr id="18" name="图片 17"/>
          <p:cNvPicPr>
            <a:picLocks noChangeAspect="1"/>
          </p:cNvPicPr>
          <p:nvPr/>
        </p:nvPicPr>
        <p:blipFill>
          <a:blip r:embed="rId4"/>
          <a:stretch>
            <a:fillRect/>
          </a:stretch>
        </p:blipFill>
        <p:spPr>
          <a:xfrm>
            <a:off x="2936031" y="4089795"/>
            <a:ext cx="1102390" cy="2164956"/>
          </a:xfrm>
          <a:prstGeom prst="rect">
            <a:avLst/>
          </a:prstGeom>
        </p:spPr>
      </p:pic>
      <p:pic>
        <p:nvPicPr>
          <p:cNvPr id="23" name="图片 22"/>
          <p:cNvPicPr>
            <a:picLocks noChangeAspect="1"/>
          </p:cNvPicPr>
          <p:nvPr/>
        </p:nvPicPr>
        <p:blipFill>
          <a:blip r:embed="rId5"/>
          <a:stretch>
            <a:fillRect/>
          </a:stretch>
        </p:blipFill>
        <p:spPr>
          <a:xfrm>
            <a:off x="1732250" y="4089795"/>
            <a:ext cx="1268965" cy="2164956"/>
          </a:xfrm>
          <a:prstGeom prst="rect">
            <a:avLst/>
          </a:prstGeom>
        </p:spPr>
      </p:pic>
      <p:pic>
        <p:nvPicPr>
          <p:cNvPr id="27" name="图片 26"/>
          <p:cNvPicPr>
            <a:picLocks noChangeAspect="1"/>
          </p:cNvPicPr>
          <p:nvPr/>
        </p:nvPicPr>
        <p:blipFill>
          <a:blip r:embed="rId6"/>
          <a:stretch>
            <a:fillRect/>
          </a:stretch>
        </p:blipFill>
        <p:spPr>
          <a:xfrm>
            <a:off x="8152450" y="4067080"/>
            <a:ext cx="3567405" cy="2210386"/>
          </a:xfrm>
          <a:prstGeom prst="rect">
            <a:avLst/>
          </a:prstGeom>
        </p:spPr>
      </p:pic>
      <p:sp>
        <p:nvSpPr>
          <p:cNvPr id="28" name="圆角矩形 55"/>
          <p:cNvSpPr/>
          <p:nvPr/>
        </p:nvSpPr>
        <p:spPr>
          <a:xfrm>
            <a:off x="500744" y="4988766"/>
            <a:ext cx="3537678" cy="503857"/>
          </a:xfrm>
          <a:prstGeom prst="roundRect">
            <a:avLst>
              <a:gd name="adj" fmla="val 0"/>
            </a:avLst>
          </a:prstGeom>
          <a:solidFill>
            <a:schemeClr val="bg1">
              <a:lumMod val="75000"/>
              <a:alpha val="6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BEBC"/>
                </a:solidFill>
                <a:effectLst/>
                <a:uLnTx/>
                <a:uFillTx/>
                <a:cs typeface="+mn-ea"/>
                <a:sym typeface="+mn-lt"/>
              </a:rPr>
              <a:t>2000</a:t>
            </a:r>
            <a:r>
              <a:rPr kumimoji="0" lang="zh-CN" altLang="en-US" sz="1800" b="0" i="0" u="none" strike="noStrike" kern="1200" cap="none" spc="0" normalizeH="0" baseline="0" noProof="0" dirty="0">
                <a:ln>
                  <a:noFill/>
                </a:ln>
                <a:solidFill>
                  <a:prstClr val="black"/>
                </a:solidFill>
                <a:effectLst/>
                <a:uLnTx/>
                <a:uFillTx/>
                <a:cs typeface="+mn-ea"/>
                <a:sym typeface="+mn-lt"/>
              </a:rPr>
              <a:t>余页，</a:t>
            </a:r>
            <a:r>
              <a:rPr kumimoji="0" lang="en-US" altLang="zh-CN" sz="2800" b="1" i="0" u="none" strike="noStrike" kern="1200" cap="none" spc="0" normalizeH="0" baseline="0" noProof="0" dirty="0">
                <a:ln>
                  <a:noFill/>
                </a:ln>
                <a:solidFill>
                  <a:srgbClr val="24BEBC"/>
                </a:solidFill>
                <a:effectLst/>
                <a:uLnTx/>
                <a:uFillTx/>
                <a:cs typeface="+mn-ea"/>
                <a:sym typeface="+mn-lt"/>
              </a:rPr>
              <a:t>50</a:t>
            </a:r>
            <a:r>
              <a:rPr kumimoji="0" lang="zh-CN" altLang="en-US" sz="2800" b="1" i="0" u="none" strike="noStrike" kern="1200" cap="none" spc="0" normalizeH="0" baseline="0" noProof="0" dirty="0">
                <a:ln>
                  <a:noFill/>
                </a:ln>
                <a:solidFill>
                  <a:srgbClr val="24BEBC"/>
                </a:solidFill>
                <a:effectLst/>
                <a:uLnTx/>
                <a:uFillTx/>
                <a:cs typeface="+mn-ea"/>
                <a:sym typeface="+mn-lt"/>
              </a:rPr>
              <a:t>万</a:t>
            </a:r>
            <a:r>
              <a:rPr kumimoji="0" lang="zh-CN" altLang="en-US" sz="1800" b="0" i="0" u="none" strike="noStrike" kern="1200" cap="none" spc="0" normalizeH="0" baseline="0" noProof="0" dirty="0">
                <a:ln>
                  <a:noFill/>
                </a:ln>
                <a:solidFill>
                  <a:prstClr val="black"/>
                </a:solidFill>
                <a:effectLst/>
                <a:uLnTx/>
                <a:uFillTx/>
                <a:cs typeface="+mn-ea"/>
                <a:sym typeface="+mn-lt"/>
              </a:rPr>
              <a:t>余字</a:t>
            </a:r>
            <a:endParaRPr kumimoji="1" lang="zh-CN" altLang="en-US" sz="1800" b="0" i="0" u="none" strike="noStrike" kern="1200" cap="none" spc="0" normalizeH="0" baseline="0" noProof="0" dirty="0">
              <a:ln>
                <a:noFill/>
              </a:ln>
              <a:solidFill>
                <a:prstClr val="black"/>
              </a:solidFill>
              <a:effectLst/>
              <a:uLnTx/>
              <a:uFillTx/>
              <a:cs typeface="+mn-ea"/>
              <a:sym typeface="+mn-lt"/>
            </a:endParaRPr>
          </a:p>
        </p:txBody>
      </p:sp>
      <p:pic>
        <p:nvPicPr>
          <p:cNvPr id="24" name="图片 23"/>
          <p:cNvPicPr>
            <a:picLocks noChangeAspect="1"/>
          </p:cNvPicPr>
          <p:nvPr/>
        </p:nvPicPr>
        <p:blipFill>
          <a:blip r:embed="rId7"/>
          <a:stretch>
            <a:fillRect/>
          </a:stretch>
        </p:blipFill>
        <p:spPr>
          <a:xfrm>
            <a:off x="4327546" y="4075944"/>
            <a:ext cx="3536906" cy="2192659"/>
          </a:xfrm>
          <a:prstGeom prst="rect">
            <a:avLst/>
          </a:prstGeom>
        </p:spPr>
      </p:pic>
      <p:sp>
        <p:nvSpPr>
          <p:cNvPr id="7" name="文本框 6"/>
          <p:cNvSpPr txBox="1"/>
          <p:nvPr/>
        </p:nvSpPr>
        <p:spPr>
          <a:xfrm>
            <a:off x="6991189" y="5112019"/>
            <a:ext cx="186693" cy="246221"/>
          </a:xfrm>
          <a:prstGeom prst="rect">
            <a:avLst/>
          </a:prstGeom>
          <a:noFill/>
        </p:spPr>
        <p:txBody>
          <a:bodyPr wrap="square" lIns="0" tIns="0" rIns="0" bIns="0" rtlCol="0" anchor="ctr" anchorCtr="0">
            <a:spAutoFit/>
          </a:bodyPr>
          <a:lstStyle/>
          <a:p>
            <a:pPr marL="0" marR="0" lvl="0" indent="0" algn="ctr" defTabSz="6096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white">
                    <a:lumMod val="85000"/>
                  </a:prstClr>
                </a:solidFill>
                <a:effectLst/>
                <a:uLnTx/>
                <a:uFillTx/>
                <a:cs typeface="+mn-ea"/>
                <a:sym typeface="+mn-lt"/>
              </a:rPr>
              <a:t>XJY</a:t>
            </a:r>
            <a:endParaRPr kumimoji="0" lang="zh-CN" altLang="en-US" sz="800" b="0" i="0" u="none" strike="noStrike" kern="1200" cap="none" spc="0" normalizeH="0" baseline="0" noProof="0" dirty="0">
              <a:ln>
                <a:noFill/>
              </a:ln>
              <a:solidFill>
                <a:prstClr val="white">
                  <a:lumMod val="85000"/>
                </a:prstClr>
              </a:solidFill>
              <a:effectLst/>
              <a:uLnTx/>
              <a:uFillTx/>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7727-054D-56D1-9A9C-4AE9E6A217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B6C101-B22E-3939-4D3D-714EEC69E7EF}"/>
              </a:ext>
            </a:extLst>
          </p:cNvPr>
          <p:cNvSpPr>
            <a:spLocks noGrp="1"/>
          </p:cNvSpPr>
          <p:nvPr>
            <p:ph type="title"/>
          </p:nvPr>
        </p:nvSpPr>
        <p:spPr>
          <a:xfrm>
            <a:off x="398093" y="210672"/>
            <a:ext cx="10399777" cy="469413"/>
          </a:xfrm>
        </p:spPr>
        <p:txBody>
          <a:bodyPr/>
          <a:lstStyle/>
          <a:p>
            <a:r>
              <a:rPr lang="zh-CN" altLang="en-US" dirty="0">
                <a:latin typeface="+mn-lt"/>
                <a:ea typeface="+mn-ea"/>
                <a:cs typeface="+mn-ea"/>
                <a:sym typeface="+mn-lt"/>
              </a:rPr>
              <a:t>洞察二：企业</a:t>
            </a:r>
            <a:r>
              <a:rPr lang="en-US" altLang="zh-CN" dirty="0">
                <a:latin typeface="+mn-lt"/>
                <a:ea typeface="+mn-ea"/>
                <a:cs typeface="+mn-ea"/>
                <a:sym typeface="+mn-lt"/>
              </a:rPr>
              <a:t>AI+</a:t>
            </a:r>
            <a:r>
              <a:rPr lang="zh-CN" altLang="en-US" dirty="0">
                <a:latin typeface="+mn-lt"/>
                <a:ea typeface="+mn-ea"/>
                <a:cs typeface="+mn-ea"/>
                <a:sym typeface="+mn-lt"/>
              </a:rPr>
              <a:t>行业内卷双重驱动下，对财务共享建设给予更高的期望</a:t>
            </a:r>
          </a:p>
        </p:txBody>
      </p:sp>
      <p:sp>
        <p:nvSpPr>
          <p:cNvPr id="3" name="AutoShape 3">
            <a:extLst>
              <a:ext uri="{FF2B5EF4-FFF2-40B4-BE49-F238E27FC236}">
                <a16:creationId xmlns:a16="http://schemas.microsoft.com/office/drawing/2014/main" id="{01CBA290-BFC9-3014-CFA3-EA7F095ABD60}"/>
              </a:ext>
            </a:extLst>
          </p:cNvPr>
          <p:cNvSpPr/>
          <p:nvPr/>
        </p:nvSpPr>
        <p:spPr>
          <a:xfrm>
            <a:off x="508000" y="992038"/>
            <a:ext cx="5461000" cy="5397500"/>
          </a:xfrm>
          <a:prstGeom prst="roundRect">
            <a:avLst>
              <a:gd name="adj" fmla="val 2352"/>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4" name="Picture 4">
            <a:extLst>
              <a:ext uri="{FF2B5EF4-FFF2-40B4-BE49-F238E27FC236}">
                <a16:creationId xmlns:a16="http://schemas.microsoft.com/office/drawing/2014/main" id="{6B92CDD7-4AC9-15A5-6BE3-0C3A31806D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182538"/>
            <a:ext cx="304800" cy="304800"/>
          </a:xfrm>
          <a:prstGeom prst="rect">
            <a:avLst/>
          </a:prstGeom>
        </p:spPr>
      </p:pic>
      <p:sp>
        <p:nvSpPr>
          <p:cNvPr id="6" name="AutoShape 5">
            <a:extLst>
              <a:ext uri="{FF2B5EF4-FFF2-40B4-BE49-F238E27FC236}">
                <a16:creationId xmlns:a16="http://schemas.microsoft.com/office/drawing/2014/main" id="{71D83999-A583-FF1E-59B6-4E16E4C6472A}"/>
              </a:ext>
            </a:extLst>
          </p:cNvPr>
          <p:cNvSpPr/>
          <p:nvPr/>
        </p:nvSpPr>
        <p:spPr>
          <a:xfrm>
            <a:off x="1079500" y="1157138"/>
            <a:ext cx="406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70EA"/>
                </a:solidFill>
                <a:effectLst/>
                <a:uLnTx/>
                <a:uFillTx/>
                <a:cs typeface="+mn-ea"/>
                <a:sym typeface="+mn-lt"/>
              </a:rPr>
              <a:t>政策引领：GBT46704-2025 </a:t>
            </a:r>
            <a:r>
              <a:rPr kumimoji="0" lang="en-US" sz="1600" b="1" i="0" u="none" strike="noStrike" kern="1200" cap="none" spc="0" normalizeH="0" baseline="0" noProof="0" dirty="0" err="1">
                <a:ln>
                  <a:noFill/>
                </a:ln>
                <a:solidFill>
                  <a:srgbClr val="1770EA"/>
                </a:solidFill>
                <a:effectLst/>
                <a:uLnTx/>
                <a:uFillTx/>
                <a:cs typeface="+mn-ea"/>
                <a:sym typeface="+mn-lt"/>
              </a:rPr>
              <a:t>新国标要求</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7" name="Connector 6">
            <a:extLst>
              <a:ext uri="{FF2B5EF4-FFF2-40B4-BE49-F238E27FC236}">
                <a16:creationId xmlns:a16="http://schemas.microsoft.com/office/drawing/2014/main" id="{115AEC0E-8E83-50D9-5B1C-D0ED870AB9BE}"/>
              </a:ext>
            </a:extLst>
          </p:cNvPr>
          <p:cNvCxnSpPr/>
          <p:nvPr/>
        </p:nvCxnSpPr>
        <p:spPr>
          <a:xfrm rot="21591406">
            <a:off x="698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8" name="AutoShape 7">
            <a:extLst>
              <a:ext uri="{FF2B5EF4-FFF2-40B4-BE49-F238E27FC236}">
                <a16:creationId xmlns:a16="http://schemas.microsoft.com/office/drawing/2014/main" id="{BC0E3336-DE71-093D-FD3B-F954243271E2}"/>
              </a:ext>
            </a:extLst>
          </p:cNvPr>
          <p:cNvSpPr/>
          <p:nvPr/>
        </p:nvSpPr>
        <p:spPr>
          <a:xfrm>
            <a:off x="1123348" y="4258639"/>
            <a:ext cx="4474633" cy="1854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1" i="0" u="none" strike="noStrike" kern="1200" cap="none" spc="0" normalizeH="0" baseline="0" noProof="0" dirty="0">
                <a:ln>
                  <a:noFill/>
                </a:ln>
                <a:solidFill>
                  <a:srgbClr val="2372EF"/>
                </a:solidFill>
                <a:effectLst/>
                <a:uLnTx/>
                <a:uFillTx/>
                <a:cs typeface="+mn-ea"/>
                <a:sym typeface="+mn-lt"/>
              </a:rPr>
              <a:t>改进财务共享服务平台和服务，满足要求和资源使用者未来的期望</a:t>
            </a:r>
            <a:endParaRPr kumimoji="0" lang="en-US" sz="1100" b="1" i="0" u="none" strike="noStrike" kern="1200" cap="none" spc="0" normalizeH="0" baseline="0" noProof="0" dirty="0">
              <a:ln>
                <a:noFill/>
              </a:ln>
              <a:solidFill>
                <a:srgbClr val="2372EF"/>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跟踪新技术、新应用</a:t>
            </a:r>
            <a:r>
              <a:rPr kumimoji="0" lang="en-US" altLang="zh-CN" sz="1100" b="0" i="0" u="none" strike="noStrike" kern="1200" cap="none" spc="0" normalizeH="0" baseline="0" noProof="0" dirty="0">
                <a:ln>
                  <a:noFill/>
                </a:ln>
                <a:solidFill>
                  <a:srgbClr val="666666"/>
                </a:solidFill>
                <a:effectLst/>
                <a:uLnTx/>
                <a:uFillTx/>
                <a:cs typeface="+mn-ea"/>
                <a:sym typeface="+mn-lt"/>
              </a:rPr>
              <a:t>,</a:t>
            </a:r>
            <a:r>
              <a:rPr kumimoji="0" lang="zh-CN" altLang="en-US" sz="1100" b="0" i="0" u="none" strike="noStrike" kern="1200" cap="none" spc="0" normalizeH="0" baseline="0" noProof="0" dirty="0">
                <a:ln>
                  <a:noFill/>
                </a:ln>
                <a:solidFill>
                  <a:srgbClr val="666666"/>
                </a:solidFill>
                <a:effectLst/>
                <a:uLnTx/>
                <a:uFillTx/>
                <a:cs typeface="+mn-ea"/>
                <a:sym typeface="+mn-lt"/>
              </a:rPr>
              <a:t>可适时进行实践探索</a:t>
            </a:r>
            <a:endParaRPr kumimoji="0" lang="en-US"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提升服务质量和效率</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提升服务使用者满意度</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纠正、预防或减少不利影响</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适宜时考虑环境、社会与公司治理</a:t>
            </a:r>
            <a:r>
              <a:rPr kumimoji="0" lang="en-US" altLang="zh-CN" sz="1100" b="0" i="0" u="none" strike="noStrike" kern="1200" cap="none" spc="0" normalizeH="0" baseline="0" noProof="0" dirty="0">
                <a:ln>
                  <a:noFill/>
                </a:ln>
                <a:solidFill>
                  <a:srgbClr val="666666"/>
                </a:solidFill>
                <a:effectLst/>
                <a:uLnTx/>
                <a:uFillTx/>
                <a:cs typeface="+mn-ea"/>
                <a:sym typeface="+mn-lt"/>
              </a:rPr>
              <a:t>(ESG)</a:t>
            </a:r>
            <a:r>
              <a:rPr kumimoji="0" lang="zh-CN" altLang="en-US" sz="1100" b="0" i="0" u="none" strike="noStrike" kern="1200" cap="none" spc="0" normalizeH="0" baseline="0" noProof="0" dirty="0">
                <a:ln>
                  <a:noFill/>
                </a:ln>
                <a:solidFill>
                  <a:srgbClr val="666666"/>
                </a:solidFill>
                <a:effectLst/>
                <a:uLnTx/>
                <a:uFillTx/>
                <a:cs typeface="+mn-ea"/>
                <a:sym typeface="+mn-lt"/>
              </a:rPr>
              <a:t>和碳排放管理等相关责任要求</a:t>
            </a:r>
            <a:endParaRPr kumimoji="0" lang="en-US" sz="1100" b="0" i="0" u="none" strike="noStrike" kern="1200" cap="none" spc="0" normalizeH="0" baseline="0" noProof="0" dirty="0">
              <a:ln>
                <a:noFill/>
              </a:ln>
              <a:solidFill>
                <a:srgbClr val="666666"/>
              </a:solidFill>
              <a:effectLst/>
              <a:uLnTx/>
              <a:uFillTx/>
              <a:cs typeface="+mn-ea"/>
              <a:sym typeface="+mn-lt"/>
            </a:endParaRPr>
          </a:p>
        </p:txBody>
      </p:sp>
      <p:sp>
        <p:nvSpPr>
          <p:cNvPr id="17" name="AutoShape 8">
            <a:extLst>
              <a:ext uri="{FF2B5EF4-FFF2-40B4-BE49-F238E27FC236}">
                <a16:creationId xmlns:a16="http://schemas.microsoft.com/office/drawing/2014/main" id="{BC3B43EC-CB73-AE3A-FFC5-21EAC5204D07}"/>
              </a:ext>
            </a:extLst>
          </p:cNvPr>
          <p:cNvSpPr/>
          <p:nvPr/>
        </p:nvSpPr>
        <p:spPr>
          <a:xfrm>
            <a:off x="6223000" y="992038"/>
            <a:ext cx="5461000" cy="2667000"/>
          </a:xfrm>
          <a:prstGeom prst="roundRect">
            <a:avLst>
              <a:gd name="adj" fmla="val 4761"/>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19" name="Picture 9">
            <a:extLst>
              <a:ext uri="{FF2B5EF4-FFF2-40B4-BE49-F238E27FC236}">
                <a16:creationId xmlns:a16="http://schemas.microsoft.com/office/drawing/2014/main" id="{475E96D7-BABA-05DE-DEE9-C6CD9F3336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1182538"/>
            <a:ext cx="304800" cy="304800"/>
          </a:xfrm>
          <a:prstGeom prst="rect">
            <a:avLst/>
          </a:prstGeom>
        </p:spPr>
      </p:pic>
      <p:sp>
        <p:nvSpPr>
          <p:cNvPr id="24" name="AutoShape 10">
            <a:extLst>
              <a:ext uri="{FF2B5EF4-FFF2-40B4-BE49-F238E27FC236}">
                <a16:creationId xmlns:a16="http://schemas.microsoft.com/office/drawing/2014/main" id="{AD34F317-EDC1-5B93-4DBE-ACE4F38DA2EA}"/>
              </a:ext>
            </a:extLst>
          </p:cNvPr>
          <p:cNvSpPr/>
          <p:nvPr/>
        </p:nvSpPr>
        <p:spPr>
          <a:xfrm>
            <a:off x="6794500" y="1157138"/>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现状</a:t>
            </a:r>
            <a:r>
              <a:rPr kumimoji="0" lang="en-US" sz="1600" b="1" i="0" u="none" strike="noStrike" kern="1200" cap="none" spc="0" normalizeH="0" baseline="0" noProof="0" dirty="0">
                <a:ln>
                  <a:noFill/>
                </a:ln>
                <a:solidFill>
                  <a:srgbClr val="1770EA"/>
                </a:solidFill>
                <a:effectLst/>
                <a:uLnTx/>
                <a:uFillTx/>
                <a:cs typeface="+mn-ea"/>
                <a:sym typeface="+mn-lt"/>
              </a:rPr>
              <a:t>：</a:t>
            </a:r>
            <a:r>
              <a:rPr kumimoji="0" lang="zh-CN" altLang="en-US" sz="1600" b="1" i="0" u="none" strike="noStrike" kern="1200" cap="none" spc="0" normalizeH="0" baseline="0" noProof="0" dirty="0">
                <a:ln>
                  <a:noFill/>
                </a:ln>
                <a:solidFill>
                  <a:srgbClr val="1770EA"/>
                </a:solidFill>
                <a:effectLst/>
                <a:uLnTx/>
                <a:uFillTx/>
                <a:cs typeface="+mn-ea"/>
                <a:sym typeface="+mn-lt"/>
              </a:rPr>
              <a:t>认同</a:t>
            </a:r>
            <a:r>
              <a:rPr kumimoji="0" lang="en-US" sz="1600" b="1" i="0" u="none" strike="noStrike" kern="1200" cap="none" spc="0" normalizeH="0" baseline="0" noProof="0" dirty="0" err="1">
                <a:ln>
                  <a:noFill/>
                </a:ln>
                <a:solidFill>
                  <a:srgbClr val="1770EA"/>
                </a:solidFill>
                <a:effectLst/>
                <a:uLnTx/>
                <a:uFillTx/>
                <a:cs typeface="+mn-ea"/>
                <a:sym typeface="+mn-lt"/>
              </a:rPr>
              <a:t>智能财务</a:t>
            </a:r>
            <a:r>
              <a:rPr kumimoji="0" lang="zh-CN" altLang="en-US" sz="1600" b="1" i="0" u="none" strike="noStrike" kern="1200" cap="none" spc="0" normalizeH="0" baseline="0" noProof="0" dirty="0">
                <a:ln>
                  <a:noFill/>
                </a:ln>
                <a:solidFill>
                  <a:srgbClr val="1770EA"/>
                </a:solidFill>
                <a:effectLst/>
                <a:uLnTx/>
                <a:uFillTx/>
                <a:cs typeface="+mn-ea"/>
                <a:sym typeface="+mn-lt"/>
              </a:rPr>
              <a:t>价值领域</a:t>
            </a:r>
            <a:r>
              <a:rPr kumimoji="0" lang="en-US" sz="1600" b="1" i="0" u="none" strike="noStrike" kern="1200" cap="none" spc="0" normalizeH="0" baseline="0" noProof="0" dirty="0">
                <a:ln>
                  <a:noFill/>
                </a:ln>
                <a:solidFill>
                  <a:srgbClr val="1770EA"/>
                </a:solidFill>
                <a:effectLst/>
                <a:uLnTx/>
                <a:uFillTx/>
                <a:cs typeface="+mn-ea"/>
                <a:sym typeface="+mn-lt"/>
              </a:rPr>
              <a:t> (2025调查)</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25" name="Connector 11">
            <a:extLst>
              <a:ext uri="{FF2B5EF4-FFF2-40B4-BE49-F238E27FC236}">
                <a16:creationId xmlns:a16="http://schemas.microsoft.com/office/drawing/2014/main" id="{D21A0DFA-2B9C-BEA2-1C72-D7D6A95C7ED2}"/>
              </a:ext>
            </a:extLst>
          </p:cNvPr>
          <p:cNvCxnSpPr/>
          <p:nvPr/>
        </p:nvCxnSpPr>
        <p:spPr>
          <a:xfrm rot="21591406">
            <a:off x="6413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27" name="AutoShape 13">
            <a:extLst>
              <a:ext uri="{FF2B5EF4-FFF2-40B4-BE49-F238E27FC236}">
                <a16:creationId xmlns:a16="http://schemas.microsoft.com/office/drawing/2014/main" id="{DB55B64D-54AC-7A3B-FB04-AAE1D6FBA5C8}"/>
              </a:ext>
            </a:extLst>
          </p:cNvPr>
          <p:cNvSpPr/>
          <p:nvPr/>
        </p:nvSpPr>
        <p:spPr>
          <a:xfrm>
            <a:off x="6223000" y="3849538"/>
            <a:ext cx="5461000" cy="2540000"/>
          </a:xfrm>
          <a:prstGeom prst="roundRect">
            <a:avLst>
              <a:gd name="adj" fmla="val 5000"/>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28" name="Picture 14">
            <a:extLst>
              <a:ext uri="{FF2B5EF4-FFF2-40B4-BE49-F238E27FC236}">
                <a16:creationId xmlns:a16="http://schemas.microsoft.com/office/drawing/2014/main" id="{22D287E9-6278-737F-3887-648D5F95530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040038"/>
            <a:ext cx="304800" cy="304800"/>
          </a:xfrm>
          <a:prstGeom prst="rect">
            <a:avLst/>
          </a:prstGeom>
        </p:spPr>
      </p:pic>
      <p:sp>
        <p:nvSpPr>
          <p:cNvPr id="29" name="AutoShape 15">
            <a:extLst>
              <a:ext uri="{FF2B5EF4-FFF2-40B4-BE49-F238E27FC236}">
                <a16:creationId xmlns:a16="http://schemas.microsoft.com/office/drawing/2014/main" id="{3B13B7A0-07EA-BEA2-3D30-48F80EEEDCA1}"/>
              </a:ext>
            </a:extLst>
          </p:cNvPr>
          <p:cNvSpPr/>
          <p:nvPr/>
        </p:nvSpPr>
        <p:spPr>
          <a:xfrm>
            <a:off x="6794500" y="4014638"/>
            <a:ext cx="4699016" cy="317864"/>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期望</a:t>
            </a:r>
            <a:r>
              <a:rPr kumimoji="0" lang="en-US" sz="1600" b="1" i="0" u="none" strike="noStrike" kern="1200" cap="none" spc="0" normalizeH="0" baseline="0" noProof="0" dirty="0">
                <a:ln>
                  <a:noFill/>
                </a:ln>
                <a:solidFill>
                  <a:srgbClr val="1770EA"/>
                </a:solidFill>
                <a:effectLst/>
                <a:uLnTx/>
                <a:uFillTx/>
                <a:cs typeface="+mn-ea"/>
                <a:sym typeface="+mn-lt"/>
              </a:rPr>
              <a:t>：</a:t>
            </a:r>
            <a:r>
              <a:rPr lang="zh-CN" altLang="en-US" sz="1600" b="1" dirty="0">
                <a:solidFill>
                  <a:srgbClr val="1770EA"/>
                </a:solidFill>
                <a:cs typeface="+mn-ea"/>
                <a:sym typeface="+mn-lt"/>
              </a:rPr>
              <a:t>客户招标</a:t>
            </a:r>
            <a:r>
              <a:rPr kumimoji="0" lang="en-US" sz="1600" b="1" i="0" u="none" strike="noStrike" kern="1200" cap="none" spc="0" normalizeH="0" baseline="0" noProof="0" dirty="0" err="1">
                <a:ln>
                  <a:noFill/>
                </a:ln>
                <a:solidFill>
                  <a:srgbClr val="1770EA"/>
                </a:solidFill>
                <a:effectLst/>
                <a:uLnTx/>
                <a:uFillTx/>
                <a:cs typeface="+mn-ea"/>
                <a:sym typeface="+mn-lt"/>
              </a:rPr>
              <a:t>目标量化</a:t>
            </a:r>
            <a:r>
              <a:rPr kumimoji="0" lang="zh-CN" altLang="en-US" sz="1600" b="1" i="0" u="none" strike="noStrike" kern="1200" cap="none" spc="0" normalizeH="0" baseline="0" noProof="0" dirty="0">
                <a:ln>
                  <a:noFill/>
                </a:ln>
                <a:solidFill>
                  <a:srgbClr val="1770EA"/>
                </a:solidFill>
                <a:effectLst/>
                <a:uLnTx/>
                <a:uFillTx/>
                <a:cs typeface="+mn-ea"/>
                <a:sym typeface="+mn-lt"/>
              </a:rPr>
              <a:t>需求</a:t>
            </a:r>
            <a:r>
              <a:rPr kumimoji="0" lang="en-US" sz="16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err="1">
                <a:ln>
                  <a:noFill/>
                </a:ln>
                <a:solidFill>
                  <a:srgbClr val="1770EA"/>
                </a:solidFill>
                <a:effectLst/>
                <a:uLnTx/>
                <a:uFillTx/>
                <a:cs typeface="+mn-ea"/>
                <a:sym typeface="+mn-lt"/>
              </a:rPr>
              <a:t>XX旅游集团</a:t>
            </a:r>
            <a:r>
              <a:rPr kumimoji="0" lang="en-US" altLang="zh-CN" sz="1100" b="1" i="0" u="none" strike="noStrike" kern="1200" cap="none" spc="0" normalizeH="0" baseline="0" noProof="0" dirty="0">
                <a:ln>
                  <a:noFill/>
                </a:ln>
                <a:solidFill>
                  <a:srgbClr val="1770EA"/>
                </a:solidFill>
                <a:effectLst/>
                <a:uLnTx/>
                <a:uFillTx/>
                <a:cs typeface="+mn-ea"/>
                <a:sym typeface="+mn-lt"/>
              </a:rPr>
              <a:t>-</a:t>
            </a:r>
            <a:r>
              <a:rPr kumimoji="0" lang="zh-CN" altLang="en-US" sz="1100" b="1" i="0" u="none" strike="noStrike" kern="1200" cap="none" spc="0" normalizeH="0" baseline="0" noProof="0" dirty="0">
                <a:ln>
                  <a:noFill/>
                </a:ln>
                <a:solidFill>
                  <a:srgbClr val="1770EA"/>
                </a:solidFill>
                <a:effectLst/>
                <a:uLnTx/>
                <a:uFillTx/>
                <a:cs typeface="+mn-ea"/>
                <a:sym typeface="+mn-lt"/>
              </a:rPr>
              <a:t>财务共享</a:t>
            </a:r>
            <a:r>
              <a:rPr kumimoji="0" lang="en-US" altLang="zh-CN" sz="1100" b="1" i="0" u="none" strike="noStrike" kern="1200" cap="none" spc="0" normalizeH="0" baseline="0" noProof="0" dirty="0">
                <a:ln>
                  <a:noFill/>
                </a:ln>
                <a:solidFill>
                  <a:srgbClr val="1770EA"/>
                </a:solidFill>
                <a:effectLst/>
                <a:uLnTx/>
                <a:uFillTx/>
                <a:cs typeface="+mn-ea"/>
                <a:sym typeface="+mn-lt"/>
              </a:rPr>
              <a:t>&amp;</a:t>
            </a:r>
            <a:r>
              <a:rPr kumimoji="0" lang="zh-CN" altLang="en-US" sz="1100" b="1" i="0" u="none" strike="noStrike" kern="1200" cap="none" spc="0" normalizeH="0" baseline="0" noProof="0" dirty="0">
                <a:ln>
                  <a:noFill/>
                </a:ln>
                <a:solidFill>
                  <a:srgbClr val="1770EA"/>
                </a:solidFill>
                <a:effectLst/>
                <a:uLnTx/>
                <a:uFillTx/>
                <a:cs typeface="+mn-ea"/>
                <a:sym typeface="+mn-lt"/>
              </a:rPr>
              <a:t>预算</a:t>
            </a:r>
            <a:r>
              <a:rPr kumimoji="0" lang="en-US" altLang="zh-CN" sz="1100" b="1" i="0" u="none" strike="noStrike" kern="1200" cap="none" spc="0" normalizeH="0" baseline="0" noProof="0" dirty="0">
                <a:ln>
                  <a:noFill/>
                </a:ln>
                <a:solidFill>
                  <a:srgbClr val="1770EA"/>
                </a:solidFill>
                <a:effectLst/>
                <a:uLnTx/>
                <a:uFillTx/>
                <a:cs typeface="+mn-ea"/>
                <a:sym typeface="+mn-lt"/>
              </a:rPr>
              <a:t>)</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30" name="Connector 16">
            <a:extLst>
              <a:ext uri="{FF2B5EF4-FFF2-40B4-BE49-F238E27FC236}">
                <a16:creationId xmlns:a16="http://schemas.microsoft.com/office/drawing/2014/main" id="{670D0C8F-C47B-ECBB-1C7C-8240DB914DEA}"/>
              </a:ext>
            </a:extLst>
          </p:cNvPr>
          <p:cNvCxnSpPr/>
          <p:nvPr/>
        </p:nvCxnSpPr>
        <p:spPr>
          <a:xfrm rot="21591406">
            <a:off x="6413508" y="44146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33" name="文本框 32">
            <a:extLst>
              <a:ext uri="{FF2B5EF4-FFF2-40B4-BE49-F238E27FC236}">
                <a16:creationId xmlns:a16="http://schemas.microsoft.com/office/drawing/2014/main" id="{23C24CD4-9A8B-0C8B-FA61-CC1AA50FC5A9}"/>
              </a:ext>
            </a:extLst>
          </p:cNvPr>
          <p:cNvSpPr txBox="1"/>
          <p:nvPr/>
        </p:nvSpPr>
        <p:spPr>
          <a:xfrm>
            <a:off x="566530" y="1799291"/>
            <a:ext cx="681029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《GBT46704-2025共享经济企业财务共享服务指南》</a:t>
            </a:r>
          </a:p>
        </p:txBody>
      </p:sp>
      <p:sp>
        <p:nvSpPr>
          <p:cNvPr id="35" name="AutoShape 7">
            <a:extLst>
              <a:ext uri="{FF2B5EF4-FFF2-40B4-BE49-F238E27FC236}">
                <a16:creationId xmlns:a16="http://schemas.microsoft.com/office/drawing/2014/main" id="{9C1D1D64-4109-700F-FEFC-82DF4D67C446}"/>
              </a:ext>
            </a:extLst>
          </p:cNvPr>
          <p:cNvSpPr/>
          <p:nvPr/>
        </p:nvSpPr>
        <p:spPr>
          <a:xfrm>
            <a:off x="755374" y="2127885"/>
            <a:ext cx="4691269" cy="567559"/>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A4A4A"/>
                </a:solidFill>
                <a:effectLst/>
                <a:uLnTx/>
                <a:uFillTx/>
                <a:cs typeface="+mn-ea"/>
                <a:sym typeface="+mn-lt"/>
              </a:rPr>
              <a:t>发布背景：</a:t>
            </a:r>
            <a:r>
              <a:rPr kumimoji="0" lang="en-US" sz="1300" b="0" i="0" u="none" strike="noStrike" kern="1200" cap="none" spc="0" normalizeH="0" baseline="0" noProof="0" dirty="0">
                <a:ln>
                  <a:noFill/>
                </a:ln>
                <a:solidFill>
                  <a:srgbClr val="666666"/>
                </a:solidFill>
                <a:effectLst/>
                <a:uLnTx/>
                <a:uFillTx/>
                <a:cs typeface="+mn-ea"/>
                <a:sym typeface="+mn-lt"/>
              </a:rPr>
              <a:t>2025年10月，国家市场监督管理总局、国家标准化管理委员会联合发布。</a:t>
            </a:r>
          </a:p>
        </p:txBody>
      </p:sp>
      <p:sp>
        <p:nvSpPr>
          <p:cNvPr id="42" name="Shape 28">
            <a:extLst>
              <a:ext uri="{FF2B5EF4-FFF2-40B4-BE49-F238E27FC236}">
                <a16:creationId xmlns:a16="http://schemas.microsoft.com/office/drawing/2014/main" id="{BE3D2A2B-A6FE-5398-1DFF-E53127B65BA4}"/>
              </a:ext>
            </a:extLst>
          </p:cNvPr>
          <p:cNvSpPr/>
          <p:nvPr/>
        </p:nvSpPr>
        <p:spPr>
          <a:xfrm>
            <a:off x="755374" y="2873468"/>
            <a:ext cx="4691268" cy="1351399"/>
          </a:xfrm>
          <a:custGeom>
            <a:avLst/>
            <a:gdLst/>
            <a:ahLst/>
            <a:cxnLst/>
            <a:rect l="l" t="t" r="r" b="b"/>
            <a:pathLst>
              <a:path w="4255380" h="607911">
                <a:moveTo>
                  <a:pt x="67545" y="0"/>
                </a:moveTo>
                <a:lnTo>
                  <a:pt x="4187834" y="0"/>
                </a:lnTo>
                <a:cubicBezTo>
                  <a:pt x="4225139" y="0"/>
                  <a:pt x="4255380" y="30241"/>
                  <a:pt x="4255380" y="67545"/>
                </a:cubicBezTo>
                <a:lnTo>
                  <a:pt x="4255380" y="540366"/>
                </a:lnTo>
                <a:cubicBezTo>
                  <a:pt x="4255380" y="577670"/>
                  <a:pt x="4225139" y="607911"/>
                  <a:pt x="4187834" y="607911"/>
                </a:cubicBezTo>
                <a:lnTo>
                  <a:pt x="67545" y="607911"/>
                </a:lnTo>
                <a:cubicBezTo>
                  <a:pt x="30241" y="607911"/>
                  <a:pt x="0" y="577670"/>
                  <a:pt x="0" y="540366"/>
                </a:cubicBezTo>
                <a:lnTo>
                  <a:pt x="0" y="67545"/>
                </a:lnTo>
                <a:cubicBezTo>
                  <a:pt x="0" y="30266"/>
                  <a:pt x="30266" y="0"/>
                  <a:pt x="67545" y="0"/>
                </a:cubicBezTo>
                <a:close/>
              </a:path>
            </a:pathLst>
          </a:custGeom>
          <a:solidFill>
            <a:schemeClr val="accent1">
              <a:alpha val="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8" name="Text 10">
            <a:extLst>
              <a:ext uri="{FF2B5EF4-FFF2-40B4-BE49-F238E27FC236}">
                <a16:creationId xmlns:a16="http://schemas.microsoft.com/office/drawing/2014/main" id="{AE0A72D7-4D68-79D2-19FA-90725BF8C64E}"/>
              </a:ext>
            </a:extLst>
          </p:cNvPr>
          <p:cNvSpPr/>
          <p:nvPr/>
        </p:nvSpPr>
        <p:spPr>
          <a:xfrm>
            <a:off x="878094" y="3062988"/>
            <a:ext cx="3444831" cy="202637"/>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4A4A4A"/>
                </a:solidFill>
                <a:effectLst/>
                <a:uLnTx/>
                <a:uFillTx/>
                <a:cs typeface="+mn-ea"/>
                <a:sym typeface="+mn-lt"/>
              </a:rPr>
              <a:t>财务共享中心持续改进</a:t>
            </a:r>
            <a:endParaRPr kumimoji="0" lang="en-US" sz="1400" b="1" i="0" u="none" strike="noStrike" kern="1200" cap="none" spc="0" normalizeH="0" baseline="0" noProof="0" dirty="0">
              <a:ln>
                <a:noFill/>
              </a:ln>
              <a:solidFill>
                <a:srgbClr val="4A4A4A"/>
              </a:solidFill>
              <a:effectLst/>
              <a:uLnTx/>
              <a:uFillTx/>
              <a:cs typeface="+mn-ea"/>
              <a:sym typeface="+mn-lt"/>
            </a:endParaRPr>
          </a:p>
        </p:txBody>
      </p:sp>
      <p:sp>
        <p:nvSpPr>
          <p:cNvPr id="39" name="Text 11">
            <a:extLst>
              <a:ext uri="{FF2B5EF4-FFF2-40B4-BE49-F238E27FC236}">
                <a16:creationId xmlns:a16="http://schemas.microsoft.com/office/drawing/2014/main" id="{8EDC9BF2-D3F1-7A7B-7FA5-97E9A7D92050}"/>
              </a:ext>
            </a:extLst>
          </p:cNvPr>
          <p:cNvSpPr/>
          <p:nvPr/>
        </p:nvSpPr>
        <p:spPr>
          <a:xfrm>
            <a:off x="878094" y="3299397"/>
            <a:ext cx="4474742" cy="823869"/>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srgbClr val="666666"/>
                </a:solidFill>
                <a:effectLst/>
                <a:uLnTx/>
                <a:uFillTx/>
                <a:cs typeface="+mn-ea"/>
                <a:sym typeface="+mn-lt"/>
              </a:rPr>
              <a:t>服务提供者宜持续改进财务共享服务，紧跟市场需求和服务使用者诉求，积极拓展服务范围，</a:t>
            </a:r>
            <a:r>
              <a:rPr kumimoji="0" lang="zh-CN" altLang="en-US" sz="1300" b="1" i="0" u="none" strike="noStrike" kern="1200" cap="none" spc="0" normalizeH="0" baseline="0" noProof="0" dirty="0">
                <a:ln>
                  <a:noFill/>
                </a:ln>
                <a:solidFill>
                  <a:srgbClr val="2372EF"/>
                </a:solidFill>
                <a:effectLst/>
                <a:uLnTx/>
                <a:uFillTx/>
                <a:cs typeface="+mn-ea"/>
                <a:sym typeface="+mn-lt"/>
              </a:rPr>
              <a:t>不断满足服务使用者新需求</a:t>
            </a:r>
            <a:r>
              <a:rPr kumimoji="0" lang="en-US" altLang="zh-CN" sz="1300" b="1" i="0" u="none" strike="noStrike" kern="1200" cap="none" spc="0" normalizeH="0" baseline="0" noProof="0" dirty="0">
                <a:ln>
                  <a:noFill/>
                </a:ln>
                <a:solidFill>
                  <a:srgbClr val="2372EF"/>
                </a:solidFill>
                <a:effectLst/>
                <a:uLnTx/>
                <a:uFillTx/>
                <a:cs typeface="+mn-ea"/>
                <a:sym typeface="+mn-lt"/>
              </a:rPr>
              <a:t>,</a:t>
            </a:r>
            <a:r>
              <a:rPr kumimoji="0" lang="zh-CN" altLang="en-US" sz="1300" b="1" i="0" u="none" strike="noStrike" kern="1200" cap="none" spc="0" normalizeH="0" baseline="0" noProof="0" dirty="0">
                <a:ln>
                  <a:noFill/>
                </a:ln>
                <a:solidFill>
                  <a:srgbClr val="2372EF"/>
                </a:solidFill>
                <a:effectLst/>
                <a:uLnTx/>
                <a:uFillTx/>
                <a:cs typeface="+mn-ea"/>
                <a:sym typeface="+mn-lt"/>
              </a:rPr>
              <a:t>完善和提升服务质量，</a:t>
            </a:r>
            <a:r>
              <a:rPr kumimoji="0" lang="zh-CN" altLang="en-US" sz="1300" b="0" i="0" u="none" strike="noStrike" kern="1200" cap="none" spc="0" normalizeH="0" baseline="0" noProof="0" dirty="0">
                <a:ln>
                  <a:noFill/>
                </a:ln>
                <a:solidFill>
                  <a:srgbClr val="666666"/>
                </a:solidFill>
                <a:effectLst/>
                <a:uLnTx/>
                <a:uFillTx/>
                <a:cs typeface="+mn-ea"/>
                <a:sym typeface="+mn-lt"/>
              </a:rPr>
              <a:t>方式包括但不限于</a:t>
            </a:r>
            <a:r>
              <a:rPr kumimoji="0" lang="en-US" altLang="zh-CN" sz="1300" b="0" i="0" u="none" strike="noStrike" kern="1200" cap="none" spc="0" normalizeH="0" baseline="0" noProof="0" dirty="0">
                <a:ln>
                  <a:noFill/>
                </a:ln>
                <a:solidFill>
                  <a:srgbClr val="666666"/>
                </a:solidFill>
                <a:effectLst/>
                <a:uLnTx/>
                <a:uFillTx/>
                <a:cs typeface="+mn-ea"/>
                <a:sym typeface="+mn-lt"/>
              </a:rPr>
              <a:t>:</a:t>
            </a:r>
            <a:endParaRPr kumimoji="0" lang="en-US" sz="1300" b="0" i="0" u="none" strike="noStrike" kern="1200" cap="none" spc="0" normalizeH="0" baseline="0" noProof="0" dirty="0">
              <a:ln>
                <a:noFill/>
              </a:ln>
              <a:solidFill>
                <a:srgbClr val="666666"/>
              </a:solidFill>
              <a:effectLst/>
              <a:uLnTx/>
              <a:uFillTx/>
              <a:cs typeface="+mn-ea"/>
              <a:sym typeface="+mn-lt"/>
            </a:endParaRPr>
          </a:p>
        </p:txBody>
      </p:sp>
      <p:grpSp>
        <p:nvGrpSpPr>
          <p:cNvPr id="48" name="组合 47">
            <a:extLst>
              <a:ext uri="{FF2B5EF4-FFF2-40B4-BE49-F238E27FC236}">
                <a16:creationId xmlns:a16="http://schemas.microsoft.com/office/drawing/2014/main" id="{50C10FC3-8C5F-4D1D-47DD-AA7BA4C62F83}"/>
              </a:ext>
            </a:extLst>
          </p:cNvPr>
          <p:cNvGrpSpPr/>
          <p:nvPr/>
        </p:nvGrpSpPr>
        <p:grpSpPr>
          <a:xfrm>
            <a:off x="850900" y="4519884"/>
            <a:ext cx="158750" cy="1399119"/>
            <a:chOff x="6449219" y="1919814"/>
            <a:chExt cx="158750" cy="1399119"/>
          </a:xfrm>
          <a:solidFill>
            <a:schemeClr val="tx1">
              <a:lumMod val="65000"/>
              <a:lumOff val="35000"/>
            </a:schemeClr>
          </a:solidFill>
        </p:grpSpPr>
        <p:sp>
          <p:nvSpPr>
            <p:cNvPr id="43" name="Shape 33">
              <a:extLst>
                <a:ext uri="{FF2B5EF4-FFF2-40B4-BE49-F238E27FC236}">
                  <a16:creationId xmlns:a16="http://schemas.microsoft.com/office/drawing/2014/main" id="{731157CB-0343-CDE0-3565-3939F8060B51}"/>
                </a:ext>
              </a:extLst>
            </p:cNvPr>
            <p:cNvSpPr/>
            <p:nvPr/>
          </p:nvSpPr>
          <p:spPr>
            <a:xfrm>
              <a:off x="6449219" y="1919814"/>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4" name="Shape 33">
              <a:extLst>
                <a:ext uri="{FF2B5EF4-FFF2-40B4-BE49-F238E27FC236}">
                  <a16:creationId xmlns:a16="http://schemas.microsoft.com/office/drawing/2014/main" id="{38A065D4-37AA-72AF-8305-BB6D90033CFE}"/>
                </a:ext>
              </a:extLst>
            </p:cNvPr>
            <p:cNvSpPr/>
            <p:nvPr/>
          </p:nvSpPr>
          <p:spPr>
            <a:xfrm>
              <a:off x="6449219" y="2167888"/>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5" name="Shape 33">
              <a:extLst>
                <a:ext uri="{FF2B5EF4-FFF2-40B4-BE49-F238E27FC236}">
                  <a16:creationId xmlns:a16="http://schemas.microsoft.com/office/drawing/2014/main" id="{31482BF6-0953-95D9-C209-0388C3AD489B}"/>
                </a:ext>
              </a:extLst>
            </p:cNvPr>
            <p:cNvSpPr/>
            <p:nvPr/>
          </p:nvSpPr>
          <p:spPr>
            <a:xfrm>
              <a:off x="6449219" y="2415962"/>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6" name="Shape 33">
              <a:extLst>
                <a:ext uri="{FF2B5EF4-FFF2-40B4-BE49-F238E27FC236}">
                  <a16:creationId xmlns:a16="http://schemas.microsoft.com/office/drawing/2014/main" id="{51D164F2-D74A-A75E-D24B-0532F1978B0C}"/>
                </a:ext>
              </a:extLst>
            </p:cNvPr>
            <p:cNvSpPr/>
            <p:nvPr/>
          </p:nvSpPr>
          <p:spPr>
            <a:xfrm>
              <a:off x="6449219" y="2664036"/>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7" name="Shape 33">
              <a:extLst>
                <a:ext uri="{FF2B5EF4-FFF2-40B4-BE49-F238E27FC236}">
                  <a16:creationId xmlns:a16="http://schemas.microsoft.com/office/drawing/2014/main" id="{1C6B0F62-758A-FDB0-6869-5D0ACD6D5074}"/>
                </a:ext>
              </a:extLst>
            </p:cNvPr>
            <p:cNvSpPr/>
            <p:nvPr/>
          </p:nvSpPr>
          <p:spPr>
            <a:xfrm>
              <a:off x="6449219" y="291211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33">
              <a:extLst>
                <a:ext uri="{FF2B5EF4-FFF2-40B4-BE49-F238E27FC236}">
                  <a16:creationId xmlns:a16="http://schemas.microsoft.com/office/drawing/2014/main" id="{004B10AA-51D0-A216-608B-604BCF7583CC}"/>
                </a:ext>
              </a:extLst>
            </p:cNvPr>
            <p:cNvSpPr/>
            <p:nvPr/>
          </p:nvSpPr>
          <p:spPr>
            <a:xfrm>
              <a:off x="6449219" y="316018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pic>
        <p:nvPicPr>
          <p:cNvPr id="50" name="图片 49">
            <a:extLst>
              <a:ext uri="{FF2B5EF4-FFF2-40B4-BE49-F238E27FC236}">
                <a16:creationId xmlns:a16="http://schemas.microsoft.com/office/drawing/2014/main" id="{523187B5-6E4B-8C87-09B7-94D1B1F3188F}"/>
              </a:ext>
            </a:extLst>
          </p:cNvPr>
          <p:cNvPicPr>
            <a:picLocks noChangeAspect="1"/>
          </p:cNvPicPr>
          <p:nvPr/>
        </p:nvPicPr>
        <p:blipFill>
          <a:blip r:embed="rId9"/>
          <a:stretch>
            <a:fillRect/>
          </a:stretch>
        </p:blipFill>
        <p:spPr>
          <a:xfrm>
            <a:off x="6481362" y="1631419"/>
            <a:ext cx="4944276" cy="1951525"/>
          </a:xfrm>
          <a:prstGeom prst="rect">
            <a:avLst/>
          </a:prstGeom>
        </p:spPr>
      </p:pic>
      <p:sp>
        <p:nvSpPr>
          <p:cNvPr id="52" name="文本框 51">
            <a:extLst>
              <a:ext uri="{FF2B5EF4-FFF2-40B4-BE49-F238E27FC236}">
                <a16:creationId xmlns:a16="http://schemas.microsoft.com/office/drawing/2014/main" id="{903CFCB5-13E8-6244-1968-6943BA8C965C}"/>
              </a:ext>
            </a:extLst>
          </p:cNvPr>
          <p:cNvSpPr txBox="1"/>
          <p:nvPr/>
        </p:nvSpPr>
        <p:spPr>
          <a:xfrm>
            <a:off x="6481362" y="3397428"/>
            <a:ext cx="494427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1" u="none" strike="noStrike" kern="1200" cap="none" spc="0" normalizeH="0" baseline="0" noProof="0" dirty="0">
                <a:ln>
                  <a:noFill/>
                </a:ln>
                <a:solidFill>
                  <a:srgbClr val="000000"/>
                </a:solidFill>
                <a:effectLst/>
                <a:uLnTx/>
                <a:uFillTx/>
                <a:cs typeface="+mn-ea"/>
                <a:sym typeface="+mn-lt"/>
              </a:rPr>
              <a:t>摘自《2025年中国企业财务智能化现状调查报告》</a:t>
            </a:r>
          </a:p>
        </p:txBody>
      </p:sp>
      <p:sp>
        <p:nvSpPr>
          <p:cNvPr id="53" name="AutoShape 17">
            <a:extLst>
              <a:ext uri="{FF2B5EF4-FFF2-40B4-BE49-F238E27FC236}">
                <a16:creationId xmlns:a16="http://schemas.microsoft.com/office/drawing/2014/main" id="{C01B1379-34C1-6920-9537-5AA4EDE4DE12}"/>
              </a:ext>
            </a:extLst>
          </p:cNvPr>
          <p:cNvSpPr/>
          <p:nvPr/>
        </p:nvSpPr>
        <p:spPr>
          <a:xfrm>
            <a:off x="6613610" y="4500721"/>
            <a:ext cx="2460156"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员工差旅报销填单自动化率 </a:t>
            </a:r>
            <a:r>
              <a:rPr kumimoji="0" lang="en-US" altLang="zh-CN" sz="1100" b="1" i="0" u="none" strike="noStrike" kern="1200" cap="none" spc="0" normalizeH="0" baseline="0" noProof="0" dirty="0">
                <a:ln>
                  <a:noFill/>
                </a:ln>
                <a:solidFill>
                  <a:srgbClr val="1770EA"/>
                </a:solidFill>
                <a:effectLst/>
                <a:uLnTx/>
                <a:uFillTx/>
                <a:cs typeface="+mn-ea"/>
                <a:sym typeface="+mn-lt"/>
              </a:rPr>
              <a:t>95</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altLang="zh-CN" sz="1100" b="1" i="0" u="none" strike="noStrike" kern="1200" cap="none" spc="0" normalizeH="0" baseline="0" noProof="0" dirty="0">
              <a:ln>
                <a:noFill/>
              </a:ln>
              <a:solidFill>
                <a:srgbClr val="4A4A4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结算报销业务审核自动化率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95%)</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合并报表编制自动化率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70%)</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营收稽核对账自动化率</a:t>
            </a:r>
            <a:r>
              <a:rPr kumimoji="0" lang="zh-CN" altLang="en-US" sz="800" b="0" i="0" u="none" strike="noStrike" kern="1200" cap="none" spc="0" normalizeH="0" baseline="0" noProof="0" dirty="0">
                <a:ln>
                  <a:noFill/>
                </a:ln>
                <a:solidFill>
                  <a:srgbClr val="4A4A4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税种线上计算及自动报税率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发票线上化管理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sz="1100" b="1" i="0" u="none" strike="noStrike" kern="1200" cap="none" spc="0" normalizeH="0" baseline="0" noProof="0" dirty="0">
              <a:ln>
                <a:noFill/>
              </a:ln>
              <a:solidFill>
                <a:srgbClr val="1770EA"/>
              </a:solidFill>
              <a:effectLst/>
              <a:uLnTx/>
              <a:uFillTx/>
              <a:cs typeface="+mn-ea"/>
              <a:sym typeface="+mn-lt"/>
            </a:endParaRPr>
          </a:p>
        </p:txBody>
      </p:sp>
      <p:sp>
        <p:nvSpPr>
          <p:cNvPr id="54" name="AutoShape 17">
            <a:extLst>
              <a:ext uri="{FF2B5EF4-FFF2-40B4-BE49-F238E27FC236}">
                <a16:creationId xmlns:a16="http://schemas.microsoft.com/office/drawing/2014/main" id="{BC650B6F-5D24-5220-A722-5CB135CF152A}"/>
              </a:ext>
            </a:extLst>
          </p:cNvPr>
          <p:cNvSpPr/>
          <p:nvPr/>
        </p:nvSpPr>
        <p:spPr>
          <a:xfrm>
            <a:off x="9375470" y="4500721"/>
            <a:ext cx="2262493"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会计档案文档无纸化率 </a:t>
            </a:r>
            <a:r>
              <a:rPr kumimoji="0" lang="en-US" altLang="zh-CN" sz="1100" b="1" i="0" u="none" strike="noStrike" kern="1200" cap="none" spc="0" normalizeH="0" baseline="0" noProof="0" dirty="0">
                <a:ln>
                  <a:noFill/>
                </a:ln>
                <a:solidFill>
                  <a:srgbClr val="1770EA"/>
                </a:solidFill>
                <a:effectLst/>
                <a:uLnTx/>
                <a:uFillTx/>
                <a:cs typeface="+mn-ea"/>
                <a:sym typeface="+mn-lt"/>
              </a:rPr>
              <a:t>60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电子、纸质同步归档率 </a:t>
            </a:r>
            <a:r>
              <a:rPr kumimoji="0" lang="en-US" altLang="zh-CN" sz="1100" b="1" i="0" u="none" strike="noStrike" kern="1200" cap="none" spc="0" normalizeH="0" baseline="0" noProof="0" dirty="0">
                <a:ln>
                  <a:noFill/>
                </a:ln>
                <a:solidFill>
                  <a:srgbClr val="1770EA"/>
                </a:solidFill>
                <a:effectLst/>
                <a:uLnTx/>
                <a:uFillTx/>
                <a:cs typeface="+mn-ea"/>
                <a:sym typeface="+mn-lt"/>
              </a:rPr>
              <a:t>100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预算编制数据采集自动化率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80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预算控制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altLang="zh-CN" sz="1100" b="1" i="0" u="none" strike="noStrike" kern="1200" cap="none" spc="0" normalizeH="0" baseline="0" noProof="0" dirty="0">
              <a:ln>
                <a:noFill/>
              </a:ln>
              <a:solidFill>
                <a:srgbClr val="1770E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预算分析数据实时采集自动化率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数据自动穿透率</a:t>
            </a:r>
            <a:r>
              <a:rPr kumimoji="0" lang="zh-CN" altLang="en-US"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sz="900" b="1" i="0" u="none" strike="noStrike" kern="1200" cap="none" spc="0" normalizeH="0" baseline="0" noProof="0" dirty="0">
              <a:ln>
                <a:noFill/>
              </a:ln>
              <a:solidFill>
                <a:srgbClr val="4A4A4A"/>
              </a:solidFill>
              <a:effectLst/>
              <a:uLnTx/>
              <a:uFillTx/>
              <a:cs typeface="+mn-ea"/>
              <a:sym typeface="+mn-lt"/>
            </a:endParaRPr>
          </a:p>
        </p:txBody>
      </p:sp>
      <p:grpSp>
        <p:nvGrpSpPr>
          <p:cNvPr id="64" name="组合 63">
            <a:extLst>
              <a:ext uri="{FF2B5EF4-FFF2-40B4-BE49-F238E27FC236}">
                <a16:creationId xmlns:a16="http://schemas.microsoft.com/office/drawing/2014/main" id="{B47EAB97-BD03-B652-C4AF-F5B99AE768B2}"/>
              </a:ext>
            </a:extLst>
          </p:cNvPr>
          <p:cNvGrpSpPr/>
          <p:nvPr/>
        </p:nvGrpSpPr>
        <p:grpSpPr>
          <a:xfrm>
            <a:off x="6471986" y="4746214"/>
            <a:ext cx="78188" cy="1339594"/>
            <a:chOff x="6523631" y="4746214"/>
            <a:chExt cx="78188" cy="1339594"/>
          </a:xfrm>
        </p:grpSpPr>
        <p:sp>
          <p:nvSpPr>
            <p:cNvPr id="57" name="Shape 50">
              <a:extLst>
                <a:ext uri="{FF2B5EF4-FFF2-40B4-BE49-F238E27FC236}">
                  <a16:creationId xmlns:a16="http://schemas.microsoft.com/office/drawing/2014/main" id="{C8A6DCAA-C426-4ED8-D864-DCE7A336C976}"/>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9" name="Shape 50">
              <a:extLst>
                <a:ext uri="{FF2B5EF4-FFF2-40B4-BE49-F238E27FC236}">
                  <a16:creationId xmlns:a16="http://schemas.microsoft.com/office/drawing/2014/main" id="{048C5179-F4BA-1D75-C465-91BACCD6D611}"/>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0" name="Shape 50">
              <a:extLst>
                <a:ext uri="{FF2B5EF4-FFF2-40B4-BE49-F238E27FC236}">
                  <a16:creationId xmlns:a16="http://schemas.microsoft.com/office/drawing/2014/main" id="{A86B8EB8-6548-A96A-9C9F-B2C60FA05E17}"/>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1" name="Shape 50">
              <a:extLst>
                <a:ext uri="{FF2B5EF4-FFF2-40B4-BE49-F238E27FC236}">
                  <a16:creationId xmlns:a16="http://schemas.microsoft.com/office/drawing/2014/main" id="{E4472BEA-6732-A304-1BCA-5026EB5536D9}"/>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2" name="Shape 50">
              <a:extLst>
                <a:ext uri="{FF2B5EF4-FFF2-40B4-BE49-F238E27FC236}">
                  <a16:creationId xmlns:a16="http://schemas.microsoft.com/office/drawing/2014/main" id="{1FAE27FE-93F7-1FF2-F5B3-DD4ECF9A1A27}"/>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3" name="Shape 50">
              <a:extLst>
                <a:ext uri="{FF2B5EF4-FFF2-40B4-BE49-F238E27FC236}">
                  <a16:creationId xmlns:a16="http://schemas.microsoft.com/office/drawing/2014/main" id="{2E10D814-6677-5616-AC02-B8B03A7012EC}"/>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grpSp>
        <p:nvGrpSpPr>
          <p:cNvPr id="66" name="组合 65">
            <a:extLst>
              <a:ext uri="{FF2B5EF4-FFF2-40B4-BE49-F238E27FC236}">
                <a16:creationId xmlns:a16="http://schemas.microsoft.com/office/drawing/2014/main" id="{4AD44638-0628-FB8D-F972-7C6EABB94FE0}"/>
              </a:ext>
            </a:extLst>
          </p:cNvPr>
          <p:cNvGrpSpPr/>
          <p:nvPr/>
        </p:nvGrpSpPr>
        <p:grpSpPr>
          <a:xfrm>
            <a:off x="9234338" y="4746214"/>
            <a:ext cx="78188" cy="1339594"/>
            <a:chOff x="6523631" y="4746214"/>
            <a:chExt cx="78188" cy="1339594"/>
          </a:xfrm>
        </p:grpSpPr>
        <p:sp>
          <p:nvSpPr>
            <p:cNvPr id="67" name="Shape 50">
              <a:extLst>
                <a:ext uri="{FF2B5EF4-FFF2-40B4-BE49-F238E27FC236}">
                  <a16:creationId xmlns:a16="http://schemas.microsoft.com/office/drawing/2014/main" id="{CEB6FD02-3942-6767-E36B-184DEE3C7EE9}"/>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8" name="Shape 50">
              <a:extLst>
                <a:ext uri="{FF2B5EF4-FFF2-40B4-BE49-F238E27FC236}">
                  <a16:creationId xmlns:a16="http://schemas.microsoft.com/office/drawing/2014/main" id="{4CAAE3DE-9DAC-030B-294E-E345CDF4441A}"/>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9" name="Shape 50">
              <a:extLst>
                <a:ext uri="{FF2B5EF4-FFF2-40B4-BE49-F238E27FC236}">
                  <a16:creationId xmlns:a16="http://schemas.microsoft.com/office/drawing/2014/main" id="{8AC0AA02-688A-0D22-84A1-596B4DC5F998}"/>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0" name="Shape 50">
              <a:extLst>
                <a:ext uri="{FF2B5EF4-FFF2-40B4-BE49-F238E27FC236}">
                  <a16:creationId xmlns:a16="http://schemas.microsoft.com/office/drawing/2014/main" id="{DA7231A1-F345-6662-8D65-3EFB39C3CC78}"/>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1" name="Shape 50">
              <a:extLst>
                <a:ext uri="{FF2B5EF4-FFF2-40B4-BE49-F238E27FC236}">
                  <a16:creationId xmlns:a16="http://schemas.microsoft.com/office/drawing/2014/main" id="{2CC0F7D3-6F36-251F-2469-06EB834BD459}"/>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2" name="Shape 50">
              <a:extLst>
                <a:ext uri="{FF2B5EF4-FFF2-40B4-BE49-F238E27FC236}">
                  <a16:creationId xmlns:a16="http://schemas.microsoft.com/office/drawing/2014/main" id="{5F7D0233-A05F-40D2-0362-47B64D528510}"/>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sp>
        <p:nvSpPr>
          <p:cNvPr id="9" name="文本框 8">
            <a:extLst>
              <a:ext uri="{FF2B5EF4-FFF2-40B4-BE49-F238E27FC236}">
                <a16:creationId xmlns:a16="http://schemas.microsoft.com/office/drawing/2014/main" id="{CFDD6CF6-2164-17C8-E6E9-D4116A2FF1A3}"/>
              </a:ext>
            </a:extLst>
          </p:cNvPr>
          <p:cNvSpPr txBox="1"/>
          <p:nvPr/>
        </p:nvSpPr>
        <p:spPr>
          <a:xfrm>
            <a:off x="7859060" y="1799291"/>
            <a:ext cx="3932516" cy="492443"/>
          </a:xfrm>
          <a:prstGeom prst="rect">
            <a:avLst/>
          </a:prstGeom>
          <a:noFill/>
        </p:spPr>
        <p:txBody>
          <a:bodyPr wrap="square" rtlCol="0">
            <a:spAutoFit/>
          </a:bodyPr>
          <a:lstStyle/>
          <a:p>
            <a:r>
              <a:rPr lang="en-US" altLang="zh-CN" sz="1300" b="1" dirty="0">
                <a:solidFill>
                  <a:srgbClr val="2372EF"/>
                </a:solidFill>
              </a:rPr>
              <a:t>27%</a:t>
            </a:r>
            <a:r>
              <a:rPr lang="zh-CN" altLang="en-US" sz="1300" b="1" dirty="0">
                <a:solidFill>
                  <a:srgbClr val="2372EF"/>
                </a:solidFill>
              </a:rPr>
              <a:t>人认同：业务流程标准化和智能化提效</a:t>
            </a:r>
            <a:endParaRPr lang="en-US" altLang="zh-CN" sz="1300" b="1" dirty="0">
              <a:solidFill>
                <a:srgbClr val="2372EF"/>
              </a:solidFill>
            </a:endParaRPr>
          </a:p>
          <a:p>
            <a:r>
              <a:rPr lang="en-US" altLang="zh-CN" sz="1300" b="1" dirty="0">
                <a:solidFill>
                  <a:srgbClr val="2372EF"/>
                </a:solidFill>
              </a:rPr>
              <a:t>20%</a:t>
            </a:r>
            <a:r>
              <a:rPr lang="zh-CN" altLang="en-US" sz="1300" b="1" dirty="0">
                <a:solidFill>
                  <a:srgbClr val="2372EF"/>
                </a:solidFill>
              </a:rPr>
              <a:t>人认同：提高企业的管理和控制水平。</a:t>
            </a:r>
          </a:p>
        </p:txBody>
      </p:sp>
      <p:sp>
        <p:nvSpPr>
          <p:cNvPr id="5" name="文本框 4">
            <a:extLst>
              <a:ext uri="{FF2B5EF4-FFF2-40B4-BE49-F238E27FC236}">
                <a16:creationId xmlns:a16="http://schemas.microsoft.com/office/drawing/2014/main" id="{1BBC3396-DD57-924A-3D2F-5C7D26795235}"/>
              </a:ext>
            </a:extLst>
          </p:cNvPr>
          <p:cNvSpPr txBox="1"/>
          <p:nvPr/>
        </p:nvSpPr>
        <p:spPr>
          <a:xfrm>
            <a:off x="962108" y="637221"/>
            <a:ext cx="9903535" cy="307777"/>
          </a:xfrm>
          <a:prstGeom prst="rect">
            <a:avLst/>
          </a:prstGeom>
          <a:noFill/>
        </p:spPr>
        <p:txBody>
          <a:bodyPr wrap="square" rtlCol="0">
            <a:spAutoFit/>
          </a:bodyPr>
          <a:lstStyle/>
          <a:p>
            <a:r>
              <a:rPr lang="zh-CN" altLang="en-US" sz="1400" dirty="0"/>
              <a:t>售前阶段，我们必须用量化的指标代替模糊的描述，用具体的价值数据打动客户</a:t>
            </a:r>
          </a:p>
        </p:txBody>
      </p:sp>
    </p:spTree>
    <p:extLst>
      <p:ext uri="{BB962C8B-B14F-4D97-AF65-F5344CB8AC3E}">
        <p14:creationId xmlns:p14="http://schemas.microsoft.com/office/powerpoint/2010/main" val="42038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28512-AE2D-0E16-4347-F0B1EDEBF79D}"/>
              </a:ext>
            </a:extLst>
          </p:cNvPr>
          <p:cNvSpPr>
            <a:spLocks noGrp="1"/>
          </p:cNvSpPr>
          <p:nvPr>
            <p:ph type="title"/>
          </p:nvPr>
        </p:nvSpPr>
        <p:spPr>
          <a:xfrm>
            <a:off x="398093" y="210672"/>
            <a:ext cx="10445233" cy="469413"/>
          </a:xfrm>
        </p:spPr>
        <p:txBody>
          <a:bodyPr/>
          <a:lstStyle/>
          <a:p>
            <a:r>
              <a:rPr lang="zh-CN" altLang="en-US" dirty="0">
                <a:latin typeface="+mn-lt"/>
                <a:ea typeface="+mn-ea"/>
                <a:cs typeface="+mn-ea"/>
                <a:sym typeface="+mn-lt"/>
              </a:rPr>
              <a:t>搭建科学的价值指标体系：以财务共享指标体系（售前</a:t>
            </a:r>
            <a:r>
              <a:rPr lang="en-US" altLang="zh-CN" dirty="0">
                <a:latin typeface="+mn-lt"/>
                <a:ea typeface="+mn-ea"/>
                <a:cs typeface="+mn-ea"/>
                <a:sym typeface="+mn-lt"/>
              </a:rPr>
              <a:t>80</a:t>
            </a:r>
            <a:r>
              <a:rPr lang="zh-CN" altLang="en-US" dirty="0">
                <a:latin typeface="+mn-lt"/>
                <a:ea typeface="+mn-ea"/>
                <a:cs typeface="+mn-ea"/>
                <a:sym typeface="+mn-lt"/>
              </a:rPr>
              <a:t>个），</a:t>
            </a:r>
            <a:r>
              <a:rPr lang="en-US" altLang="zh-CN" dirty="0" err="1">
                <a:latin typeface="+mn-lt"/>
                <a:ea typeface="+mn-ea"/>
                <a:cs typeface="+mn-ea"/>
                <a:sym typeface="+mn-lt"/>
              </a:rPr>
              <a:t>驱动</a:t>
            </a:r>
            <a:r>
              <a:rPr lang="zh-CN" altLang="en-US" dirty="0">
                <a:latin typeface="+mn-lt"/>
                <a:ea typeface="+mn-ea"/>
                <a:cs typeface="+mn-ea"/>
                <a:sym typeface="+mn-lt"/>
              </a:rPr>
              <a:t>流程、场景变革</a:t>
            </a:r>
          </a:p>
        </p:txBody>
      </p:sp>
      <p:sp>
        <p:nvSpPr>
          <p:cNvPr id="4" name="TextBox 4">
            <a:extLst>
              <a:ext uri="{FF2B5EF4-FFF2-40B4-BE49-F238E27FC236}">
                <a16:creationId xmlns:a16="http://schemas.microsoft.com/office/drawing/2014/main" id="{1B5B3562-AED2-5357-F6A3-43088BDDB936}"/>
              </a:ext>
            </a:extLst>
          </p:cNvPr>
          <p:cNvSpPr txBox="1"/>
          <p:nvPr/>
        </p:nvSpPr>
        <p:spPr>
          <a:xfrm>
            <a:off x="1725770" y="1157376"/>
            <a:ext cx="450354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cs typeface="+mn-ea"/>
                <a:sym typeface="+mn-lt"/>
              </a:rPr>
              <a:t>价值目标模型</a:t>
            </a:r>
            <a:endParaRPr kumimoji="0" lang="en-US" altLang="zh-CN" sz="20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Optimize Capital Effectiveness</a:t>
            </a:r>
          </a:p>
        </p:txBody>
      </p:sp>
      <p:sp>
        <p:nvSpPr>
          <p:cNvPr id="5" name="TextBox 48">
            <a:extLst>
              <a:ext uri="{FF2B5EF4-FFF2-40B4-BE49-F238E27FC236}">
                <a16:creationId xmlns:a16="http://schemas.microsoft.com/office/drawing/2014/main" id="{8EAB0116-A10F-0592-BF37-DDAF59872CC9}"/>
              </a:ext>
            </a:extLst>
          </p:cNvPr>
          <p:cNvSpPr txBox="1"/>
          <p:nvPr/>
        </p:nvSpPr>
        <p:spPr>
          <a:xfrm>
            <a:off x="791374" y="1792722"/>
            <a:ext cx="6243638"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价值概念分类</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6" name="图片 5">
            <a:extLst>
              <a:ext uri="{FF2B5EF4-FFF2-40B4-BE49-F238E27FC236}">
                <a16:creationId xmlns:a16="http://schemas.microsoft.com/office/drawing/2014/main" id="{A1DB5691-4D41-21E8-6D08-0A5111164BE0}"/>
              </a:ext>
            </a:extLst>
          </p:cNvPr>
          <p:cNvPicPr>
            <a:picLocks noChangeAspect="1"/>
          </p:cNvPicPr>
          <p:nvPr/>
        </p:nvPicPr>
        <p:blipFill>
          <a:blip r:embed="rId3"/>
          <a:stretch>
            <a:fillRect/>
          </a:stretch>
        </p:blipFill>
        <p:spPr>
          <a:xfrm>
            <a:off x="4303032" y="2201641"/>
            <a:ext cx="2731980" cy="2328316"/>
          </a:xfrm>
          <a:prstGeom prst="rect">
            <a:avLst/>
          </a:prstGeom>
        </p:spPr>
      </p:pic>
      <p:pic>
        <p:nvPicPr>
          <p:cNvPr id="10" name="图片 9">
            <a:extLst>
              <a:ext uri="{FF2B5EF4-FFF2-40B4-BE49-F238E27FC236}">
                <a16:creationId xmlns:a16="http://schemas.microsoft.com/office/drawing/2014/main" id="{2913512D-10D0-9832-A8EB-5FD06759463D}"/>
              </a:ext>
            </a:extLst>
          </p:cNvPr>
          <p:cNvPicPr>
            <a:picLocks noChangeAspect="1"/>
          </p:cNvPicPr>
          <p:nvPr/>
        </p:nvPicPr>
        <p:blipFill>
          <a:blip r:embed="rId4"/>
          <a:stretch>
            <a:fillRect/>
          </a:stretch>
        </p:blipFill>
        <p:spPr>
          <a:xfrm>
            <a:off x="791374" y="2683532"/>
            <a:ext cx="3321155" cy="1850879"/>
          </a:xfrm>
          <a:prstGeom prst="rect">
            <a:avLst/>
          </a:prstGeom>
        </p:spPr>
      </p:pic>
      <p:sp>
        <p:nvSpPr>
          <p:cNvPr id="11" name="箭头: V 形 10">
            <a:extLst>
              <a:ext uri="{FF2B5EF4-FFF2-40B4-BE49-F238E27FC236}">
                <a16:creationId xmlns:a16="http://schemas.microsoft.com/office/drawing/2014/main" id="{84BAF5A1-5ED7-ACA9-D9D3-6112961F9683}"/>
              </a:ext>
            </a:extLst>
          </p:cNvPr>
          <p:cNvSpPr/>
          <p:nvPr/>
        </p:nvSpPr>
        <p:spPr>
          <a:xfrm>
            <a:off x="793067" y="2286396"/>
            <a:ext cx="3414713" cy="251004"/>
          </a:xfrm>
          <a:prstGeom prst="chevron">
            <a:avLst/>
          </a:prstGeom>
          <a:solidFill>
            <a:srgbClr val="FD3D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cs typeface="+mn-ea"/>
                <a:sym typeface="+mn-lt"/>
              </a:rPr>
              <a:t>集团企业价值最大化</a:t>
            </a:r>
          </a:p>
        </p:txBody>
      </p:sp>
      <p:sp>
        <p:nvSpPr>
          <p:cNvPr id="12" name="文本框 11">
            <a:extLst>
              <a:ext uri="{FF2B5EF4-FFF2-40B4-BE49-F238E27FC236}">
                <a16:creationId xmlns:a16="http://schemas.microsoft.com/office/drawing/2014/main" id="{C1994AC1-A783-45F8-139F-57295EF4A066}"/>
              </a:ext>
            </a:extLst>
          </p:cNvPr>
          <p:cNvSpPr txBox="1"/>
          <p:nvPr/>
        </p:nvSpPr>
        <p:spPr>
          <a:xfrm>
            <a:off x="848524" y="4826675"/>
            <a:ext cx="3357563" cy="1692771"/>
          </a:xfrm>
          <a:prstGeom prst="rect">
            <a:avLst/>
          </a:prstGeom>
          <a:noFill/>
        </p:spPr>
        <p:txBody>
          <a:bodyPr wrap="square" rtlCol="0">
            <a:spAutoFit/>
          </a:bodyPr>
          <a:lstStyle/>
          <a:p>
            <a:r>
              <a:rPr lang="zh-CN" altLang="en-US" sz="1200" dirty="0">
                <a:cs typeface="+mn-ea"/>
                <a:sym typeface="+mn-lt"/>
              </a:rPr>
              <a:t>集团股东价值最大化，财务共享项目建设成果可以影响：</a:t>
            </a:r>
            <a:endParaRPr lang="en-US" altLang="zh-CN" sz="1200" dirty="0">
              <a:cs typeface="+mn-ea"/>
              <a:sym typeface="+mn-lt"/>
            </a:endParaRPr>
          </a:p>
          <a:p>
            <a:pPr marL="266700" indent="-266700">
              <a:buFont typeface="Arial" panose="020B0604020202020204" pitchFamily="34" charset="0"/>
              <a:buChar char="•"/>
            </a:pPr>
            <a:r>
              <a:rPr lang="zh-CN" altLang="en-US" sz="1400" b="1" i="1" dirty="0">
                <a:solidFill>
                  <a:srgbClr val="2372EF"/>
                </a:solidFill>
                <a:cs typeface="+mn-ea"/>
                <a:sym typeface="+mn-lt"/>
              </a:rPr>
              <a:t> 成本</a:t>
            </a:r>
            <a:r>
              <a:rPr lang="zh-CN" altLang="en-US" sz="1200" dirty="0">
                <a:cs typeface="+mn-ea"/>
                <a:sym typeface="+mn-lt"/>
              </a:rPr>
              <a:t>（采购成本、人工成本利润率、人工 成本占营业收入比例）</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资金</a:t>
            </a:r>
            <a:r>
              <a:rPr lang="zh-CN" altLang="en-US" sz="1200" dirty="0">
                <a:cs typeface="+mn-ea"/>
                <a:sym typeface="+mn-lt"/>
              </a:rPr>
              <a:t>（经营性现金流）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应收账款</a:t>
            </a:r>
            <a:r>
              <a:rPr lang="zh-CN" altLang="en-US" sz="1200" dirty="0">
                <a:cs typeface="+mn-ea"/>
                <a:sym typeface="+mn-lt"/>
              </a:rPr>
              <a:t>（应收账款周转率、逾期应收账款、应收账款账龄）、</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股东回报</a:t>
            </a:r>
            <a:r>
              <a:rPr lang="zh-CN" altLang="en-US" sz="1200" dirty="0">
                <a:cs typeface="+mn-ea"/>
                <a:sym typeface="+mn-lt"/>
              </a:rPr>
              <a:t>（净资产收益率）等指标数值。</a:t>
            </a:r>
          </a:p>
        </p:txBody>
      </p:sp>
      <p:sp>
        <p:nvSpPr>
          <p:cNvPr id="13" name="文本框 12">
            <a:extLst>
              <a:ext uri="{FF2B5EF4-FFF2-40B4-BE49-F238E27FC236}">
                <a16:creationId xmlns:a16="http://schemas.microsoft.com/office/drawing/2014/main" id="{73D41BF0-B3ED-F135-1983-BC6C4C28E1B5}"/>
              </a:ext>
            </a:extLst>
          </p:cNvPr>
          <p:cNvSpPr txBox="1"/>
          <p:nvPr/>
        </p:nvSpPr>
        <p:spPr>
          <a:xfrm>
            <a:off x="4539463" y="4899979"/>
            <a:ext cx="2438400" cy="1815882"/>
          </a:xfrm>
          <a:prstGeom prst="rect">
            <a:avLst/>
          </a:prstGeom>
          <a:noFill/>
        </p:spPr>
        <p:txBody>
          <a:bodyPr wrap="square" rtlCol="0">
            <a:spAutoFit/>
          </a:bodyPr>
          <a:lstStyle/>
          <a:p>
            <a:r>
              <a:rPr lang="zh-CN" altLang="en-US" sz="1200" dirty="0">
                <a:cs typeface="+mn-ea"/>
                <a:sym typeface="+mn-lt"/>
              </a:rPr>
              <a:t>财务共享项目建设成果突显财务和业务双重管理价值：</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财务价值：</a:t>
            </a:r>
            <a:r>
              <a:rPr lang="zh-CN" altLang="en-US" sz="1200" dirty="0">
                <a:cs typeface="+mn-ea"/>
                <a:sym typeface="+mn-lt"/>
              </a:rPr>
              <a:t>降本、增效、管控、多维经营分析分析、决策支持；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业务价值：</a:t>
            </a:r>
            <a:r>
              <a:rPr lang="zh-CN" altLang="en-US" sz="1200" dirty="0">
                <a:cs typeface="+mn-ea"/>
                <a:sym typeface="+mn-lt"/>
              </a:rPr>
              <a:t>业务扩张、资本运作、模式创新、国企改革、国有资本布局、科技创新、赋能生态</a:t>
            </a:r>
          </a:p>
        </p:txBody>
      </p:sp>
      <p:sp>
        <p:nvSpPr>
          <p:cNvPr id="14" name="TextBox 32">
            <a:extLst>
              <a:ext uri="{FF2B5EF4-FFF2-40B4-BE49-F238E27FC236}">
                <a16:creationId xmlns:a16="http://schemas.microsoft.com/office/drawing/2014/main" id="{22BB6ADB-71AA-3CF4-1078-5333B1D4EFFE}"/>
              </a:ext>
            </a:extLst>
          </p:cNvPr>
          <p:cNvSpPr txBox="1"/>
          <p:nvPr/>
        </p:nvSpPr>
        <p:spPr>
          <a:xfrm>
            <a:off x="8930405" y="1079441"/>
            <a:ext cx="1979620" cy="5530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cs typeface="+mn-ea"/>
                <a:sym typeface="+mn-lt"/>
              </a:rPr>
              <a:t>价值驱动</a:t>
            </a:r>
            <a:endParaRPr kumimoji="0" lang="en-US" altLang="zh-CN" sz="18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Value</a:t>
            </a:r>
            <a:r>
              <a:rPr kumimoji="0" lang="zh-CN" altLang="en-US" sz="1200" b="0" i="0" u="none" strike="noStrike" kern="1200" cap="none" spc="0" normalizeH="0" baseline="0" noProof="0" dirty="0">
                <a:ln>
                  <a:noFill/>
                </a:ln>
                <a:solidFill>
                  <a:srgbClr val="000000"/>
                </a:solidFill>
                <a:effectLst/>
                <a:uLnTx/>
                <a:uFillTx/>
                <a:cs typeface="+mn-ea"/>
                <a:sym typeface="+mn-lt"/>
              </a:rPr>
              <a:t> </a:t>
            </a:r>
            <a:r>
              <a:rPr kumimoji="0" lang="en-US" altLang="zh-CN" sz="1200" b="0" i="0" u="none" strike="noStrike" kern="1200" cap="none" spc="0" normalizeH="0" baseline="0" noProof="0" dirty="0">
                <a:ln>
                  <a:noFill/>
                </a:ln>
                <a:solidFill>
                  <a:srgbClr val="000000"/>
                </a:solidFill>
                <a:effectLst/>
                <a:uLnTx/>
                <a:uFillTx/>
                <a:cs typeface="+mn-ea"/>
                <a:sym typeface="+mn-lt"/>
              </a:rPr>
              <a:t>Driver</a:t>
            </a:r>
            <a:r>
              <a:rPr kumimoji="0" lang="zh-CN" altLang="en-US" sz="1200" b="0" i="0" u="none" strike="noStrike" kern="1200" cap="none" spc="0" normalizeH="0" baseline="0" noProof="0" dirty="0">
                <a:ln>
                  <a:noFill/>
                </a:ln>
                <a:solidFill>
                  <a:srgbClr val="000000"/>
                </a:solidFill>
                <a:effectLst/>
                <a:uLnTx/>
                <a:uFillTx/>
                <a:cs typeface="+mn-ea"/>
                <a:sym typeface="+mn-lt"/>
              </a:rPr>
              <a:t>  </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5" name="TextBox 49">
            <a:extLst>
              <a:ext uri="{FF2B5EF4-FFF2-40B4-BE49-F238E27FC236}">
                <a16:creationId xmlns:a16="http://schemas.microsoft.com/office/drawing/2014/main" id="{311AE68B-C04A-6D23-781D-83613BA50FB8}"/>
              </a:ext>
            </a:extLst>
          </p:cNvPr>
          <p:cNvSpPr txBox="1"/>
          <p:nvPr/>
        </p:nvSpPr>
        <p:spPr>
          <a:xfrm>
            <a:off x="7913587" y="1792722"/>
            <a:ext cx="3621879"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高阶价值</a:t>
            </a:r>
            <a:r>
              <a:rPr kumimoji="0" lang="zh-CN" altLang="en-US" sz="1400" b="0" i="0" u="none" strike="noStrike" kern="1200" cap="none" spc="0" normalizeH="0" baseline="0" noProof="0" dirty="0">
                <a:ln>
                  <a:noFill/>
                </a:ln>
                <a:solidFill>
                  <a:srgbClr val="000000"/>
                </a:solidFill>
                <a:effectLst/>
                <a:uLnTx/>
                <a:uFillTx/>
                <a:cs typeface="+mn-ea"/>
                <a:sym typeface="+mn-lt"/>
              </a:rPr>
              <a:t>分析</a:t>
            </a:r>
            <a:r>
              <a:rPr kumimoji="0" lang="en-US" sz="1400" b="0" i="0" u="none" strike="noStrike" kern="1200" cap="none" spc="0" normalizeH="0" baseline="0" noProof="0" dirty="0" err="1">
                <a:ln>
                  <a:noFill/>
                </a:ln>
                <a:solidFill>
                  <a:srgbClr val="000000"/>
                </a:solidFill>
                <a:effectLst/>
                <a:uLnTx/>
                <a:uFillTx/>
                <a:cs typeface="+mn-ea"/>
                <a:sym typeface="+mn-lt"/>
              </a:rPr>
              <a:t>指标</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16" name="图片 15">
            <a:extLst>
              <a:ext uri="{FF2B5EF4-FFF2-40B4-BE49-F238E27FC236}">
                <a16:creationId xmlns:a16="http://schemas.microsoft.com/office/drawing/2014/main" id="{1366F13B-0FFB-2FF9-04E5-1595D4DC37DC}"/>
              </a:ext>
            </a:extLst>
          </p:cNvPr>
          <p:cNvPicPr>
            <a:picLocks noChangeAspect="1"/>
          </p:cNvPicPr>
          <p:nvPr/>
        </p:nvPicPr>
        <p:blipFill>
          <a:blip r:embed="rId5"/>
          <a:stretch>
            <a:fillRect/>
          </a:stretch>
        </p:blipFill>
        <p:spPr>
          <a:xfrm>
            <a:off x="7962645" y="2403657"/>
            <a:ext cx="3572821" cy="2079799"/>
          </a:xfrm>
          <a:prstGeom prst="rect">
            <a:avLst/>
          </a:prstGeom>
        </p:spPr>
      </p:pic>
      <p:sp>
        <p:nvSpPr>
          <p:cNvPr id="17" name="Right Arrow 43">
            <a:extLst>
              <a:ext uri="{FF2B5EF4-FFF2-40B4-BE49-F238E27FC236}">
                <a16:creationId xmlns:a16="http://schemas.microsoft.com/office/drawing/2014/main" id="{0B3568EF-F45F-F3AD-40C4-E5004D1338C4}"/>
              </a:ext>
            </a:extLst>
          </p:cNvPr>
          <p:cNvSpPr/>
          <p:nvPr/>
        </p:nvSpPr>
        <p:spPr>
          <a:xfrm>
            <a:off x="7212767" y="1256767"/>
            <a:ext cx="451692" cy="150982"/>
          </a:xfrm>
          <a:prstGeom prst="rightArrow">
            <a:avLst/>
          </a:prstGeom>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cs typeface="+mn-ea"/>
              <a:sym typeface="+mn-lt"/>
            </a:endParaRPr>
          </a:p>
        </p:txBody>
      </p:sp>
      <p:sp>
        <p:nvSpPr>
          <p:cNvPr id="18" name="文本框 17">
            <a:extLst>
              <a:ext uri="{FF2B5EF4-FFF2-40B4-BE49-F238E27FC236}">
                <a16:creationId xmlns:a16="http://schemas.microsoft.com/office/drawing/2014/main" id="{58478963-41B0-F88B-7471-D4218366922C}"/>
              </a:ext>
            </a:extLst>
          </p:cNvPr>
          <p:cNvSpPr txBox="1"/>
          <p:nvPr/>
        </p:nvSpPr>
        <p:spPr>
          <a:xfrm>
            <a:off x="8031782" y="4765119"/>
            <a:ext cx="3272087" cy="1538883"/>
          </a:xfrm>
          <a:prstGeom prst="rect">
            <a:avLst/>
          </a:prstGeom>
          <a:noFill/>
        </p:spPr>
        <p:txBody>
          <a:bodyPr wrap="square" rtlCol="0">
            <a:spAutoFit/>
          </a:bodyPr>
          <a:lstStyle/>
          <a:p>
            <a:r>
              <a:rPr lang="zh-CN" altLang="en-US" sz="1200" dirty="0">
                <a:cs typeface="+mn-ea"/>
                <a:sym typeface="+mn-lt"/>
              </a:rPr>
              <a:t>财务共享项目建设成果指标</a:t>
            </a:r>
            <a:r>
              <a:rPr lang="en-US" altLang="zh-CN" b="1" i="1" dirty="0">
                <a:solidFill>
                  <a:srgbClr val="2372EF"/>
                </a:solidFill>
                <a:cs typeface="+mn-ea"/>
                <a:sym typeface="+mn-lt"/>
              </a:rPr>
              <a:t>80</a:t>
            </a:r>
            <a:r>
              <a:rPr lang="zh-CN" altLang="en-US" sz="1200" dirty="0">
                <a:cs typeface="+mn-ea"/>
                <a:sym typeface="+mn-lt"/>
              </a:rPr>
              <a:t>个：</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要求使用：</a:t>
            </a:r>
            <a:r>
              <a:rPr lang="en-US" altLang="zh-CN" sz="1200" dirty="0">
                <a:cs typeface="+mn-ea"/>
                <a:sym typeface="+mn-lt"/>
              </a:rPr>
              <a:t>40</a:t>
            </a:r>
            <a:r>
              <a:rPr lang="zh-CN" altLang="en-US" sz="1200" dirty="0">
                <a:cs typeface="+mn-ea"/>
                <a:sym typeface="+mn-lt"/>
              </a:rPr>
              <a:t>个指标，例如：自动化率、人均单据量、每月月结时长、单体法报出具日期、可视化指标数；</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可选使用：</a:t>
            </a:r>
            <a:r>
              <a:rPr lang="en-US" altLang="zh-CN" sz="1200" dirty="0">
                <a:cs typeface="+mn-ea"/>
                <a:sym typeface="+mn-lt"/>
              </a:rPr>
              <a:t>40</a:t>
            </a:r>
            <a:r>
              <a:rPr lang="zh-CN" altLang="en-US" sz="1200" dirty="0">
                <a:cs typeface="+mn-ea"/>
                <a:sym typeface="+mn-lt"/>
              </a:rPr>
              <a:t>个，人工成本占营业收入比例、人均账套数、共享人数占财务总人数比例、业务数据自动抓取、周转率；</a:t>
            </a:r>
          </a:p>
        </p:txBody>
      </p:sp>
    </p:spTree>
    <p:extLst>
      <p:ext uri="{BB962C8B-B14F-4D97-AF65-F5344CB8AC3E}">
        <p14:creationId xmlns:p14="http://schemas.microsoft.com/office/powerpoint/2010/main" val="416547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dirty="0"/>
              <a:t>价值可视化：提供标杆企业财务共享中心的</a:t>
            </a:r>
            <a:r>
              <a:rPr lang="en-US" altLang="zh-CN" dirty="0">
                <a:solidFill>
                  <a:srgbClr val="FF0000"/>
                </a:solidFill>
              </a:rPr>
              <a:t>40</a:t>
            </a:r>
            <a:r>
              <a:rPr lang="zh-CN" altLang="en-US" dirty="0">
                <a:solidFill>
                  <a:srgbClr val="FF0000"/>
                </a:solidFill>
              </a:rPr>
              <a:t>个</a:t>
            </a:r>
            <a:r>
              <a:rPr lang="zh-CN" altLang="en-US" dirty="0"/>
              <a:t>指标参考数据</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a:xfrm>
            <a:off x="397213" y="777874"/>
            <a:ext cx="11206475" cy="5486505"/>
          </a:xfrm>
        </p:spPr>
        <p:txBody>
          <a:bodyPr/>
          <a:lstStyle/>
          <a:p>
            <a:r>
              <a:rPr lang="zh-CN" altLang="en-US" cap="all" dirty="0">
                <a:solidFill>
                  <a:schemeClr val="tx1"/>
                </a:solidFill>
                <a:uFillTx/>
                <a:latin typeface="+mn-lt"/>
                <a:ea typeface="+mn-ea"/>
                <a:cs typeface="+mn-ea"/>
                <a:sym typeface="+mn-lt"/>
              </a:rPr>
              <a:t>价值指标体系</a:t>
            </a:r>
          </a:p>
        </p:txBody>
      </p:sp>
      <p:sp>
        <p:nvSpPr>
          <p:cNvPr id="8" name="同侧圆角矩形 7"/>
          <p:cNvSpPr/>
          <p:nvPr/>
        </p:nvSpPr>
        <p:spPr>
          <a:xfrm>
            <a:off x="655955" y="1372870"/>
            <a:ext cx="2787015" cy="4295140"/>
          </a:xfrm>
          <a:prstGeom prst="round2SameRect">
            <a:avLst>
              <a:gd name="adj1" fmla="val 50000"/>
              <a:gd name="adj2" fmla="val 0"/>
            </a:avLst>
          </a:prstGeom>
          <a:gradFill>
            <a:gsLst>
              <a:gs pos="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36" name="组合 35"/>
          <p:cNvGrpSpPr/>
          <p:nvPr/>
        </p:nvGrpSpPr>
        <p:grpSpPr>
          <a:xfrm>
            <a:off x="1026795" y="2227580"/>
            <a:ext cx="2045970" cy="600710"/>
            <a:chOff x="1762" y="4761"/>
            <a:chExt cx="3222" cy="946"/>
          </a:xfrm>
        </p:grpSpPr>
        <p:sp>
          <p:nvSpPr>
            <p:cNvPr id="22" name="圆角矩形 21"/>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9" name="文本框 28"/>
            <p:cNvSpPr txBox="1"/>
            <p:nvPr/>
          </p:nvSpPr>
          <p:spPr>
            <a:xfrm>
              <a:off x="2127" y="4940"/>
              <a:ext cx="2492"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降本增效</a:t>
              </a:r>
            </a:p>
          </p:txBody>
        </p:sp>
      </p:grpSp>
      <p:grpSp>
        <p:nvGrpSpPr>
          <p:cNvPr id="10" name="组合 9"/>
          <p:cNvGrpSpPr/>
          <p:nvPr/>
        </p:nvGrpSpPr>
        <p:grpSpPr>
          <a:xfrm>
            <a:off x="1026160" y="3220085"/>
            <a:ext cx="2046605" cy="600710"/>
            <a:chOff x="1761" y="4761"/>
            <a:chExt cx="3223" cy="946"/>
          </a:xfrm>
        </p:grpSpPr>
        <p:sp>
          <p:nvSpPr>
            <p:cNvPr id="14" name="圆角矩形 13"/>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15" name="文本框 14"/>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风险管控</a:t>
              </a:r>
            </a:p>
          </p:txBody>
        </p:sp>
      </p:grpSp>
      <p:grpSp>
        <p:nvGrpSpPr>
          <p:cNvPr id="17" name="组合 16"/>
          <p:cNvGrpSpPr/>
          <p:nvPr/>
        </p:nvGrpSpPr>
        <p:grpSpPr>
          <a:xfrm>
            <a:off x="1026795" y="4212590"/>
            <a:ext cx="2046605" cy="600710"/>
            <a:chOff x="1761" y="4761"/>
            <a:chExt cx="3223" cy="946"/>
          </a:xfrm>
        </p:grpSpPr>
        <p:sp>
          <p:nvSpPr>
            <p:cNvPr id="19" name="圆角矩形 18"/>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0" name="文本框 19"/>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决策支持</a:t>
              </a:r>
            </a:p>
          </p:txBody>
        </p:sp>
      </p:grpSp>
      <p:sp>
        <p:nvSpPr>
          <p:cNvPr id="114" name="文本框 113"/>
          <p:cNvSpPr txBox="1"/>
          <p:nvPr/>
        </p:nvSpPr>
        <p:spPr>
          <a:xfrm>
            <a:off x="1189990" y="228473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1</a:t>
            </a:r>
          </a:p>
        </p:txBody>
      </p:sp>
      <p:sp>
        <p:nvSpPr>
          <p:cNvPr id="115" name="文本框 114"/>
          <p:cNvSpPr txBox="1"/>
          <p:nvPr/>
        </p:nvSpPr>
        <p:spPr>
          <a:xfrm>
            <a:off x="1189990" y="3259455"/>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2</a:t>
            </a:r>
          </a:p>
        </p:txBody>
      </p:sp>
      <p:sp>
        <p:nvSpPr>
          <p:cNvPr id="116" name="文本框 115"/>
          <p:cNvSpPr txBox="1"/>
          <p:nvPr/>
        </p:nvSpPr>
        <p:spPr>
          <a:xfrm>
            <a:off x="1172210" y="427228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3</a:t>
            </a:r>
          </a:p>
        </p:txBody>
      </p:sp>
      <p:grpSp>
        <p:nvGrpSpPr>
          <p:cNvPr id="124" name="组合 123"/>
          <p:cNvGrpSpPr/>
          <p:nvPr/>
        </p:nvGrpSpPr>
        <p:grpSpPr>
          <a:xfrm>
            <a:off x="3825875" y="1077595"/>
            <a:ext cx="3131820" cy="5118735"/>
            <a:chOff x="5967" y="1982"/>
            <a:chExt cx="4932" cy="8061"/>
          </a:xfrm>
        </p:grpSpPr>
        <p:sp>
          <p:nvSpPr>
            <p:cNvPr id="69" name="圆角矩形 68"/>
            <p:cNvSpPr/>
            <p:nvPr/>
          </p:nvSpPr>
          <p:spPr>
            <a:xfrm rot="5400000" flipV="1">
              <a:off x="8373" y="5052"/>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67" name="圆角矩形 66"/>
            <p:cNvSpPr/>
            <p:nvPr/>
          </p:nvSpPr>
          <p:spPr>
            <a:xfrm rot="5400000" flipV="1">
              <a:off x="8373" y="2554"/>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30" name="圆角矩形 29"/>
            <p:cNvSpPr/>
            <p:nvPr/>
          </p:nvSpPr>
          <p:spPr>
            <a:xfrm rot="5400000" flipV="1">
              <a:off x="8373" y="-59"/>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28" name="文本框 27"/>
            <p:cNvSpPr txBox="1"/>
            <p:nvPr/>
          </p:nvSpPr>
          <p:spPr>
            <a:xfrm>
              <a:off x="5967" y="198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流程效率提升</a:t>
              </a:r>
            </a:p>
          </p:txBody>
        </p:sp>
        <p:sp>
          <p:nvSpPr>
            <p:cNvPr id="31" name="文本框 30"/>
            <p:cNvSpPr txBox="1"/>
            <p:nvPr/>
          </p:nvSpPr>
          <p:spPr>
            <a:xfrm>
              <a:off x="5967" y="4587"/>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账务差错率</a:t>
              </a:r>
            </a:p>
          </p:txBody>
        </p:sp>
        <p:sp>
          <p:nvSpPr>
            <p:cNvPr id="32" name="文本框 31"/>
            <p:cNvSpPr txBox="1"/>
            <p:nvPr/>
          </p:nvSpPr>
          <p:spPr>
            <a:xfrm>
              <a:off x="5967" y="707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每月月结时长</a:t>
              </a:r>
            </a:p>
          </p:txBody>
        </p:sp>
        <p:sp>
          <p:nvSpPr>
            <p:cNvPr id="109" name="文本框 108"/>
            <p:cNvSpPr txBox="1"/>
            <p:nvPr/>
          </p:nvSpPr>
          <p:spPr>
            <a:xfrm>
              <a:off x="5967" y="2577"/>
              <a:ext cx="2991"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1F4491"/>
                  </a:solidFill>
                  <a:effectLst/>
                  <a:uLnTx/>
                  <a:uFillTx/>
                  <a:cs typeface="+mn-ea"/>
                  <a:sym typeface="+mn-lt"/>
                </a:rPr>
                <a:t>40%～60%</a:t>
              </a:r>
            </a:p>
          </p:txBody>
        </p:sp>
        <p:sp>
          <p:nvSpPr>
            <p:cNvPr id="110" name="文本框 109"/>
            <p:cNvSpPr txBox="1"/>
            <p:nvPr/>
          </p:nvSpPr>
          <p:spPr>
            <a:xfrm>
              <a:off x="5967" y="5167"/>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&lt;2%</a:t>
              </a:r>
            </a:p>
          </p:txBody>
        </p:sp>
        <p:sp>
          <p:nvSpPr>
            <p:cNvPr id="112" name="文本框 111"/>
            <p:cNvSpPr txBox="1"/>
            <p:nvPr/>
          </p:nvSpPr>
          <p:spPr>
            <a:xfrm>
              <a:off x="6057" y="7652"/>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2天</a:t>
              </a:r>
              <a:endParaRPr kumimoji="0" lang="zh-CN" altLang="en-US" sz="2400" b="1" i="0" u="none" strike="noStrike" kern="1200" cap="none" spc="0" normalizeH="0" baseline="0" noProof="0" dirty="0">
                <a:ln>
                  <a:noFill/>
                </a:ln>
                <a:solidFill>
                  <a:srgbClr val="1770EA"/>
                </a:solidFill>
                <a:effectLst/>
                <a:uLnTx/>
                <a:uFillTx/>
                <a:cs typeface="+mn-ea"/>
                <a:sym typeface="+mn-lt"/>
              </a:endParaRPr>
            </a:p>
          </p:txBody>
        </p:sp>
        <p:sp>
          <p:nvSpPr>
            <p:cNvPr id="119" name="圆角矩形 118"/>
            <p:cNvSpPr/>
            <p:nvPr/>
          </p:nvSpPr>
          <p:spPr>
            <a:xfrm rot="5400000" flipV="1">
              <a:off x="8373" y="7443"/>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120" name="文本框 119"/>
            <p:cNvSpPr txBox="1"/>
            <p:nvPr/>
          </p:nvSpPr>
          <p:spPr>
            <a:xfrm>
              <a:off x="5967" y="9463"/>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财务运营指标</a:t>
              </a:r>
            </a:p>
          </p:txBody>
        </p:sp>
      </p:grpSp>
      <p:sp>
        <p:nvSpPr>
          <p:cNvPr id="33" name="文本框 32"/>
          <p:cNvSpPr txBox="1"/>
          <p:nvPr/>
        </p:nvSpPr>
        <p:spPr>
          <a:xfrm>
            <a:off x="6371590" y="727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关键环节操作自动化率</a:t>
            </a:r>
          </a:p>
        </p:txBody>
      </p:sp>
      <p:sp>
        <p:nvSpPr>
          <p:cNvPr id="40" name="文本框 39"/>
          <p:cNvSpPr txBox="1"/>
          <p:nvPr/>
        </p:nvSpPr>
        <p:spPr>
          <a:xfrm>
            <a:off x="6371590" y="159766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员工加班率</a:t>
            </a:r>
          </a:p>
        </p:txBody>
      </p:sp>
      <p:sp>
        <p:nvSpPr>
          <p:cNvPr id="41" name="文本框 40"/>
          <p:cNvSpPr txBox="1"/>
          <p:nvPr/>
        </p:nvSpPr>
        <p:spPr>
          <a:xfrm>
            <a:off x="6371590" y="1162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手工操作时间减少</a:t>
            </a:r>
          </a:p>
        </p:txBody>
      </p:sp>
      <p:sp>
        <p:nvSpPr>
          <p:cNvPr id="42" name="文本框 41"/>
          <p:cNvSpPr txBox="1"/>
          <p:nvPr/>
        </p:nvSpPr>
        <p:spPr>
          <a:xfrm>
            <a:off x="6371590" y="203327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共享人均支撑营收上升</a:t>
            </a:r>
          </a:p>
        </p:txBody>
      </p:sp>
      <p:sp>
        <p:nvSpPr>
          <p:cNvPr id="43" name="文本框 42"/>
          <p:cNvSpPr txBox="1"/>
          <p:nvPr/>
        </p:nvSpPr>
        <p:spPr>
          <a:xfrm>
            <a:off x="6371590" y="2632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单据驳回率</a:t>
            </a:r>
          </a:p>
        </p:txBody>
      </p:sp>
      <p:sp>
        <p:nvSpPr>
          <p:cNvPr id="45" name="文本框 44"/>
          <p:cNvSpPr txBox="1"/>
          <p:nvPr/>
        </p:nvSpPr>
        <p:spPr>
          <a:xfrm>
            <a:off x="6371590" y="3465669"/>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凭证自动化率</a:t>
            </a:r>
          </a:p>
        </p:txBody>
      </p:sp>
      <p:sp>
        <p:nvSpPr>
          <p:cNvPr id="61" name="文本框 60"/>
          <p:cNvSpPr txBox="1"/>
          <p:nvPr/>
        </p:nvSpPr>
        <p:spPr>
          <a:xfrm>
            <a:off x="6371590" y="3067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智能审核规则</a:t>
            </a:r>
          </a:p>
        </p:txBody>
      </p:sp>
      <p:sp>
        <p:nvSpPr>
          <p:cNvPr id="62" name="文本框 61"/>
          <p:cNvSpPr txBox="1"/>
          <p:nvPr/>
        </p:nvSpPr>
        <p:spPr>
          <a:xfrm>
            <a:off x="6371590" y="3900644"/>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凭证准确率</a:t>
            </a:r>
          </a:p>
        </p:txBody>
      </p:sp>
      <p:sp>
        <p:nvSpPr>
          <p:cNvPr id="63" name="文本框 62"/>
          <p:cNvSpPr txBox="1"/>
          <p:nvPr/>
        </p:nvSpPr>
        <p:spPr>
          <a:xfrm>
            <a:off x="6371590" y="457200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单体法报自动化率</a:t>
            </a:r>
          </a:p>
        </p:txBody>
      </p:sp>
      <p:sp>
        <p:nvSpPr>
          <p:cNvPr id="64" name="文本框 63"/>
          <p:cNvSpPr txBox="1"/>
          <p:nvPr/>
        </p:nvSpPr>
        <p:spPr>
          <a:xfrm>
            <a:off x="6371590" y="544322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可视化运营指标数量</a:t>
            </a:r>
          </a:p>
        </p:txBody>
      </p:sp>
      <p:sp>
        <p:nvSpPr>
          <p:cNvPr id="65" name="文本框 64"/>
          <p:cNvSpPr txBox="1"/>
          <p:nvPr/>
        </p:nvSpPr>
        <p:spPr>
          <a:xfrm>
            <a:off x="6371590" y="5976620"/>
            <a:ext cx="351409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战略财务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业务财务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共享财务</a:t>
            </a:r>
            <a:r>
              <a:rPr kumimoji="0" lang="en-US" altLang="zh-CN" sz="1600" b="0" i="0" u="none" strike="noStrike" kern="1200" cap="none" spc="0" normalizeH="0" baseline="0" noProof="0">
                <a:ln>
                  <a:noFill/>
                </a:ln>
                <a:solidFill>
                  <a:srgbClr val="404040"/>
                </a:solidFill>
                <a:effectLst/>
                <a:uLnTx/>
                <a:uFillTx/>
                <a:cs typeface="+mn-ea"/>
                <a:sym typeface="+mn-lt"/>
              </a:rPr>
              <a:t> </a:t>
            </a:r>
            <a:r>
              <a:rPr kumimoji="0" lang="zh-CN" altLang="en-US" sz="1600" b="0" i="0" u="none" strike="noStrike" kern="1200" cap="none" spc="0" normalizeH="0" baseline="0" noProof="0">
                <a:ln>
                  <a:noFill/>
                </a:ln>
                <a:solidFill>
                  <a:srgbClr val="404040"/>
                </a:solidFill>
                <a:effectLst/>
                <a:uLnTx/>
                <a:uFillTx/>
                <a:cs typeface="+mn-ea"/>
                <a:sym typeface="+mn-lt"/>
              </a:rPr>
              <a:t>人数</a:t>
            </a:r>
          </a:p>
        </p:txBody>
      </p:sp>
      <p:sp>
        <p:nvSpPr>
          <p:cNvPr id="66" name="文本框 65"/>
          <p:cNvSpPr txBox="1"/>
          <p:nvPr/>
        </p:nvSpPr>
        <p:spPr>
          <a:xfrm>
            <a:off x="6371590" y="500824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单体法报出具日期</a:t>
            </a:r>
          </a:p>
        </p:txBody>
      </p:sp>
      <p:cxnSp>
        <p:nvCxnSpPr>
          <p:cNvPr id="70" name="直接连接符 69"/>
          <p:cNvCxnSpPr/>
          <p:nvPr/>
        </p:nvCxnSpPr>
        <p:spPr>
          <a:xfrm>
            <a:off x="6371590" y="248666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6371590" y="447231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grpSp>
        <p:nvGrpSpPr>
          <p:cNvPr id="126" name="组合 125"/>
          <p:cNvGrpSpPr/>
          <p:nvPr/>
        </p:nvGrpSpPr>
        <p:grpSpPr>
          <a:xfrm>
            <a:off x="9999980" y="727075"/>
            <a:ext cx="1189990" cy="5586730"/>
            <a:chOff x="14712" y="1145"/>
            <a:chExt cx="1874" cy="8798"/>
          </a:xfrm>
        </p:grpSpPr>
        <p:sp>
          <p:nvSpPr>
            <p:cNvPr id="78" name="文本框 77"/>
            <p:cNvSpPr txBox="1"/>
            <p:nvPr/>
          </p:nvSpPr>
          <p:spPr>
            <a:xfrm>
              <a:off x="14970" y="1145"/>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79" name="文本框 78"/>
            <p:cNvSpPr txBox="1"/>
            <p:nvPr/>
          </p:nvSpPr>
          <p:spPr>
            <a:xfrm>
              <a:off x="14712" y="2516"/>
              <a:ext cx="1874"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10</a:t>
              </a:r>
              <a:r>
                <a:rPr kumimoji="0" lang="zh-CN" altLang="en-US" sz="1600" b="1" i="0" u="none" strike="noStrike" kern="1200" cap="none" spc="0" normalizeH="0" baseline="0" noProof="0">
                  <a:ln>
                    <a:noFill/>
                  </a:ln>
                  <a:solidFill>
                    <a:srgbClr val="404040"/>
                  </a:solidFill>
                  <a:effectLst/>
                  <a:uLnTx/>
                  <a:uFillTx/>
                  <a:cs typeface="+mn-ea"/>
                  <a:sym typeface="+mn-lt"/>
                </a:rPr>
                <a:t>～</a:t>
              </a: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80" name="文本框 79"/>
            <p:cNvSpPr txBox="1"/>
            <p:nvPr/>
          </p:nvSpPr>
          <p:spPr>
            <a:xfrm>
              <a:off x="14970" y="1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&gt;30%</a:t>
              </a:r>
            </a:p>
          </p:txBody>
        </p:sp>
        <p:sp>
          <p:nvSpPr>
            <p:cNvPr id="98" name="文本框 97"/>
            <p:cNvSpPr txBox="1"/>
            <p:nvPr/>
          </p:nvSpPr>
          <p:spPr>
            <a:xfrm>
              <a:off x="14970" y="32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29%</a:t>
              </a:r>
            </a:p>
          </p:txBody>
        </p:sp>
        <p:sp>
          <p:nvSpPr>
            <p:cNvPr id="99" name="文本框 98"/>
            <p:cNvSpPr txBox="1"/>
            <p:nvPr/>
          </p:nvSpPr>
          <p:spPr>
            <a:xfrm>
              <a:off x="14713" y="4145"/>
              <a:ext cx="1873"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all" spc="0" normalizeH="0" baseline="0" noProof="0">
                  <a:ln>
                    <a:noFill/>
                  </a:ln>
                  <a:solidFill>
                    <a:srgbClr val="000000">
                      <a:lumMod val="75000"/>
                      <a:lumOff val="25000"/>
                    </a:srgbClr>
                  </a:solidFill>
                  <a:effectLst/>
                  <a:uLnTx/>
                  <a:uFillTx/>
                  <a:cs typeface="+mn-ea"/>
                  <a:sym typeface="+mn-lt"/>
                </a:rPr>
                <a:t>5%~10%</a:t>
              </a:r>
              <a:endParaRPr kumimoji="0" lang="en-US" altLang="zh-CN" sz="1600" b="1" i="0" u="none" strike="noStrike" kern="1200" cap="none" spc="0" normalizeH="0" baseline="0" noProof="0">
                <a:ln>
                  <a:noFill/>
                </a:ln>
                <a:solidFill>
                  <a:srgbClr val="404040"/>
                </a:solidFill>
                <a:effectLst/>
                <a:uLnTx/>
                <a:uFillTx/>
                <a:cs typeface="+mn-ea"/>
                <a:sym typeface="+mn-lt"/>
              </a:endParaRPr>
            </a:p>
          </p:txBody>
        </p:sp>
        <p:sp>
          <p:nvSpPr>
            <p:cNvPr id="100" name="文本框 99"/>
            <p:cNvSpPr txBox="1"/>
            <p:nvPr/>
          </p:nvSpPr>
          <p:spPr>
            <a:xfrm>
              <a:off x="14970" y="55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dirty="0">
                  <a:ln>
                    <a:noFill/>
                  </a:ln>
                  <a:solidFill>
                    <a:srgbClr val="404040"/>
                  </a:solidFill>
                  <a:effectLst/>
                  <a:uLnTx/>
                  <a:uFillTx/>
                  <a:cs typeface="+mn-ea"/>
                  <a:sym typeface="+mn-lt"/>
                </a:rPr>
                <a:t>&gt;90%</a:t>
              </a:r>
            </a:p>
          </p:txBody>
        </p:sp>
        <p:sp>
          <p:nvSpPr>
            <p:cNvPr id="101" name="文本框 100"/>
            <p:cNvSpPr txBox="1"/>
            <p:nvPr/>
          </p:nvSpPr>
          <p:spPr>
            <a:xfrm>
              <a:off x="14970" y="4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400+</a:t>
              </a:r>
            </a:p>
          </p:txBody>
        </p:sp>
        <p:sp>
          <p:nvSpPr>
            <p:cNvPr id="102" name="文本框 101"/>
            <p:cNvSpPr txBox="1"/>
            <p:nvPr/>
          </p:nvSpPr>
          <p:spPr>
            <a:xfrm>
              <a:off x="14970" y="61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sz="1600" b="1" i="0" u="none" strike="noStrike" kern="1200" cap="none" spc="0" normalizeH="0" baseline="0" noProof="0">
                  <a:ln>
                    <a:noFill/>
                  </a:ln>
                  <a:solidFill>
                    <a:srgbClr val="404040"/>
                  </a:solidFill>
                  <a:effectLst/>
                  <a:uLnTx/>
                  <a:uFillTx/>
                  <a:cs typeface="+mn-ea"/>
                  <a:sym typeface="+mn-lt"/>
                </a:rPr>
                <a:t>98%</a:t>
              </a:r>
            </a:p>
          </p:txBody>
        </p:sp>
        <p:sp>
          <p:nvSpPr>
            <p:cNvPr id="103" name="文本框 102"/>
            <p:cNvSpPr txBox="1"/>
            <p:nvPr/>
          </p:nvSpPr>
          <p:spPr>
            <a:xfrm>
              <a:off x="14970" y="7200"/>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104" name="文本框 103"/>
            <p:cNvSpPr txBox="1"/>
            <p:nvPr/>
          </p:nvSpPr>
          <p:spPr>
            <a:xfrm>
              <a:off x="14970" y="857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105" name="文本框 104"/>
            <p:cNvSpPr txBox="1"/>
            <p:nvPr/>
          </p:nvSpPr>
          <p:spPr>
            <a:xfrm>
              <a:off x="14970" y="941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3:4:3</a:t>
              </a:r>
            </a:p>
          </p:txBody>
        </p:sp>
        <p:sp>
          <p:nvSpPr>
            <p:cNvPr id="106" name="文本框 105"/>
            <p:cNvSpPr txBox="1"/>
            <p:nvPr/>
          </p:nvSpPr>
          <p:spPr>
            <a:xfrm>
              <a:off x="14970" y="78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1600" b="1" i="0" u="none" strike="noStrike" kern="1200" cap="none" spc="0" normalizeH="0" baseline="0" noProof="0">
                  <a:ln>
                    <a:noFill/>
                  </a:ln>
                  <a:solidFill>
                    <a:srgbClr val="404040"/>
                  </a:solidFill>
                  <a:effectLst/>
                  <a:uLnTx/>
                  <a:uFillTx/>
                  <a:cs typeface="+mn-ea"/>
                  <a:sym typeface="+mn-lt"/>
                </a:rPr>
                <a:t>每月</a:t>
              </a:r>
              <a:r>
                <a:rPr kumimoji="0" lang="en-US" altLang="zh-CN" sz="1600" b="1" i="0" u="none" strike="noStrike" kern="1200" cap="none" spc="0" normalizeH="0" baseline="0" noProof="0">
                  <a:ln>
                    <a:noFill/>
                  </a:ln>
                  <a:solidFill>
                    <a:srgbClr val="404040"/>
                  </a:solidFill>
                  <a:effectLst/>
                  <a:uLnTx/>
                  <a:uFillTx/>
                  <a:cs typeface="+mn-ea"/>
                  <a:sym typeface="+mn-lt"/>
                </a:rPr>
                <a:t>2</a:t>
              </a:r>
              <a:r>
                <a:rPr kumimoji="0" lang="zh-CN" altLang="en-US" sz="1600" b="1" i="0" u="none" strike="noStrike" kern="1200" cap="none" spc="0" normalizeH="0" baseline="0" noProof="0">
                  <a:ln>
                    <a:noFill/>
                  </a:ln>
                  <a:solidFill>
                    <a:srgbClr val="404040"/>
                  </a:solidFill>
                  <a:effectLst/>
                  <a:uLnTx/>
                  <a:uFillTx/>
                  <a:cs typeface="+mn-ea"/>
                  <a:sym typeface="+mn-lt"/>
                </a:rPr>
                <a:t>号</a:t>
              </a:r>
            </a:p>
          </p:txBody>
        </p:sp>
      </p:grpSp>
      <p:cxnSp>
        <p:nvCxnSpPr>
          <p:cNvPr id="122" name="直接连接符 121"/>
          <p:cNvCxnSpPr/>
          <p:nvPr/>
        </p:nvCxnSpPr>
        <p:spPr>
          <a:xfrm>
            <a:off x="6371590" y="587883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降本增效</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通过各流程的关键难点优化</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实现财务处理过程时间大幅缩短</a:t>
            </a:r>
          </a:p>
        </p:txBody>
      </p:sp>
      <p:sp>
        <p:nvSpPr>
          <p:cNvPr id="73" name="文本框 72"/>
          <p:cNvSpPr txBox="1"/>
          <p:nvPr/>
        </p:nvSpPr>
        <p:spPr>
          <a:xfrm>
            <a:off x="398145" y="2320925"/>
            <a:ext cx="3273425" cy="82994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dirty="0">
                <a:ln>
                  <a:noFill/>
                </a:ln>
                <a:solidFill>
                  <a:srgbClr val="000000">
                    <a:lumMod val="75000"/>
                    <a:lumOff val="25000"/>
                  </a:srgbClr>
                </a:solidFill>
                <a:effectLst/>
                <a:uLnTx/>
                <a:uFillTx/>
                <a:cs typeface="+mn-ea"/>
                <a:sym typeface="+mn-lt"/>
              </a:rPr>
              <a:t>月结时间</a:t>
            </a:r>
            <a:endParaRPr kumimoji="0" lang="zh-CN" altLang="en-US" sz="32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74" name="右箭头 73"/>
          <p:cNvSpPr/>
          <p:nvPr/>
        </p:nvSpPr>
        <p:spPr>
          <a:xfrm>
            <a:off x="1093470" y="2915920"/>
            <a:ext cx="255270" cy="210185"/>
          </a:xfrm>
          <a:prstGeom prst="rightArrow">
            <a:avLst/>
          </a:prstGeom>
          <a:gradFill>
            <a:gsLst>
              <a:gs pos="5000">
                <a:srgbClr val="1770EA"/>
              </a:gs>
              <a:gs pos="100000">
                <a:schemeClr val="accent6">
                  <a:lumMod val="20000"/>
                  <a:lumOff val="8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gradFill>
                <a:gsLst>
                  <a:gs pos="0">
                    <a:srgbClr val="1770EA">
                      <a:lumMod val="5000"/>
                      <a:lumOff val="95000"/>
                    </a:srgbClr>
                  </a:gs>
                  <a:gs pos="74000">
                    <a:srgbClr val="1770EA">
                      <a:lumMod val="45000"/>
                      <a:lumOff val="55000"/>
                    </a:srgbClr>
                  </a:gs>
                  <a:gs pos="83000">
                    <a:srgbClr val="1770EA">
                      <a:lumMod val="45000"/>
                      <a:lumOff val="55000"/>
                    </a:srgbClr>
                  </a:gs>
                  <a:gs pos="100000">
                    <a:srgbClr val="1770EA">
                      <a:lumMod val="30000"/>
                      <a:lumOff val="70000"/>
                    </a:srgbClr>
                  </a:gs>
                </a:gsLst>
                <a:lin ang="10800000" scaled="0"/>
              </a:gradFill>
              <a:effectLst/>
              <a:uLnTx/>
              <a:uFillTx/>
              <a:cs typeface="+mn-ea"/>
              <a:sym typeface="+mn-lt"/>
            </a:endParaRPr>
          </a:p>
        </p:txBody>
      </p:sp>
      <p:sp>
        <p:nvSpPr>
          <p:cNvPr id="77" name="文本框 76"/>
          <p:cNvSpPr txBox="1"/>
          <p:nvPr/>
        </p:nvSpPr>
        <p:spPr>
          <a:xfrm>
            <a:off x="290195" y="2807970"/>
            <a:ext cx="829945" cy="40011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10</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sp>
        <p:nvSpPr>
          <p:cNvPr id="81" name="文本框 80"/>
          <p:cNvSpPr txBox="1"/>
          <p:nvPr/>
        </p:nvSpPr>
        <p:spPr>
          <a:xfrm>
            <a:off x="1348740" y="2807970"/>
            <a:ext cx="85725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2</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graphicFrame>
        <p:nvGraphicFramePr>
          <p:cNvPr id="145" name="图示 144"/>
          <p:cNvGraphicFramePr/>
          <p:nvPr>
            <p:extLst>
              <p:ext uri="{D42A27DB-BD31-4B8C-83A1-F6EECF244321}">
                <p14:modId xmlns:p14="http://schemas.microsoft.com/office/powerpoint/2010/main" val="1531607046"/>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发票自动开具</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税费自动计算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应收自动清账</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超期自动催收</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营收稽核优化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收款流水智能认领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付款后自动清账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费用报销自动填写</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付款排程</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个人借款逾期提醒</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资产手机端盘点</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主数据统一化管理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凭证自动生成</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薪酬、税费月末计提分摊</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单体报表自动出具</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会计电子档案</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66" name="组合 165"/>
          <p:cNvGrpSpPr/>
          <p:nvPr/>
        </p:nvGrpSpPr>
        <p:grpSpPr>
          <a:xfrm>
            <a:off x="2219325" y="2510790"/>
            <a:ext cx="9629775" cy="1560830"/>
            <a:chOff x="3495" y="3954"/>
            <a:chExt cx="15165" cy="2458"/>
          </a:xfrm>
        </p:grpSpPr>
        <p:sp>
          <p:nvSpPr>
            <p:cNvPr id="21" name="圆角矩形 20"/>
            <p:cNvSpPr/>
            <p:nvPr/>
          </p:nvSpPr>
          <p:spPr>
            <a:xfrm>
              <a:off x="3495" y="3954"/>
              <a:ext cx="3005"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应收清算自动化率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收款认领时长缩短</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23" name="圆角矩形 22"/>
            <p:cNvSpPr/>
            <p:nvPr/>
          </p:nvSpPr>
          <p:spPr>
            <a:xfrm>
              <a:off x="653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应付清算自动化率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银企直连</a:t>
              </a:r>
            </a:p>
          </p:txBody>
        </p:sp>
        <p:sp>
          <p:nvSpPr>
            <p:cNvPr id="24" name="圆角矩形 23"/>
            <p:cNvSpPr/>
            <p:nvPr/>
          </p:nvSpPr>
          <p:spPr>
            <a:xfrm>
              <a:off x="957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个人借款逾期提醒率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对私报销时间</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5" name="圆角矩形 24"/>
            <p:cNvSpPr/>
            <p:nvPr/>
          </p:nvSpPr>
          <p:spPr>
            <a:xfrm>
              <a:off x="1261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流程效率提升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智能盘点提效</a:t>
              </a:r>
            </a:p>
          </p:txBody>
        </p:sp>
        <p:sp>
          <p:nvSpPr>
            <p:cNvPr id="26" name="圆角矩形 25"/>
            <p:cNvSpPr/>
            <p:nvPr/>
          </p:nvSpPr>
          <p:spPr>
            <a:xfrm>
              <a:off x="1565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凭证自动化率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单体法报自动化率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档案装订工作量减少</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158" name="文本框 157"/>
            <p:cNvSpPr txBox="1"/>
            <p:nvPr/>
          </p:nvSpPr>
          <p:spPr>
            <a:xfrm>
              <a:off x="7874" y="4577"/>
              <a:ext cx="171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80%～99%</a:t>
              </a:r>
            </a:p>
          </p:txBody>
        </p:sp>
        <p:sp>
          <p:nvSpPr>
            <p:cNvPr id="159" name="文本框 158"/>
            <p:cNvSpPr txBox="1"/>
            <p:nvPr/>
          </p:nvSpPr>
          <p:spPr>
            <a:xfrm>
              <a:off x="5534" y="4549"/>
              <a:ext cx="969"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97%</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30%</a:t>
              </a:r>
            </a:p>
          </p:txBody>
        </p:sp>
        <p:sp>
          <p:nvSpPr>
            <p:cNvPr id="161" name="文本框 160"/>
            <p:cNvSpPr txBox="1"/>
            <p:nvPr/>
          </p:nvSpPr>
          <p:spPr>
            <a:xfrm>
              <a:off x="10849" y="4567"/>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1～2</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天</a:t>
              </a:r>
            </a:p>
          </p:txBody>
        </p:sp>
        <p:sp>
          <p:nvSpPr>
            <p:cNvPr id="162" name="文本框 161"/>
            <p:cNvSpPr txBox="1"/>
            <p:nvPr/>
          </p:nvSpPr>
          <p:spPr>
            <a:xfrm>
              <a:off x="13939" y="4568"/>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40%</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65" name="文本框 164"/>
            <p:cNvSpPr txBox="1"/>
            <p:nvPr/>
          </p:nvSpPr>
          <p:spPr>
            <a:xfrm>
              <a:off x="17300" y="4536"/>
              <a:ext cx="135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60%</a:t>
              </a: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a:solidFill>
                  <a:schemeClr val="tx1"/>
                </a:solidFill>
                <a:uFillTx/>
                <a:latin typeface="+mn-lt"/>
                <a:ea typeface="+mn-ea"/>
                <a:cs typeface="+mn-ea"/>
                <a:sym typeface="+mn-lt"/>
              </a:rPr>
              <a:t>流程变革预期价值</a:t>
            </a:r>
            <a:r>
              <a:rPr lang="en-US" altLang="zh-CN" cap="all">
                <a:uFillTx/>
                <a:latin typeface="+mn-lt"/>
                <a:ea typeface="+mn-ea"/>
                <a:cs typeface="+mn-ea"/>
                <a:sym typeface="+mn-lt"/>
              </a:rPr>
              <a:t>（</a:t>
            </a:r>
            <a:r>
              <a:rPr lang="zh-CN" altLang="en-US" cap="all">
                <a:uFillTx/>
                <a:latin typeface="+mn-lt"/>
                <a:ea typeface="+mn-ea"/>
                <a:cs typeface="+mn-ea"/>
                <a:sym typeface="+mn-lt"/>
              </a:rPr>
              <a:t>制造行业示例</a:t>
            </a:r>
            <a:r>
              <a:rPr lang="en-US" altLang="zh-CN" cap="all">
                <a:uFillTx/>
                <a:latin typeface="+mn-lt"/>
                <a:ea typeface="+mn-ea"/>
                <a:cs typeface="+mn-ea"/>
                <a:sym typeface="+mn-lt"/>
              </a:rPr>
              <a:t>）</a:t>
            </a:r>
            <a:endParaRPr lang="en-US" altLang="zh-CN" cap="all">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风险管控</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通过业务</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财务各流程的关键环节管控</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落实风险控制</a:t>
            </a:r>
          </a:p>
        </p:txBody>
      </p:sp>
      <p:sp>
        <p:nvSpPr>
          <p:cNvPr id="73" name="文本框 72"/>
          <p:cNvSpPr txBox="1"/>
          <p:nvPr/>
        </p:nvSpPr>
        <p:spPr>
          <a:xfrm>
            <a:off x="398145" y="2320925"/>
            <a:ext cx="3273425" cy="4603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a:ln>
                  <a:noFill/>
                </a:ln>
                <a:solidFill>
                  <a:srgbClr val="000000">
                    <a:lumMod val="75000"/>
                    <a:lumOff val="25000"/>
                  </a:srgbClr>
                </a:solidFill>
                <a:effectLst/>
                <a:uLnTx/>
                <a:uFillTx/>
                <a:cs typeface="+mn-ea"/>
                <a:sym typeface="+mn-lt"/>
              </a:rPr>
              <a:t>强管控</a:t>
            </a:r>
          </a:p>
        </p:txBody>
      </p:sp>
      <p:sp>
        <p:nvSpPr>
          <p:cNvPr id="77" name="文本框 76"/>
          <p:cNvSpPr txBox="1"/>
          <p:nvPr/>
        </p:nvSpPr>
        <p:spPr>
          <a:xfrm>
            <a:off x="398145" y="2807970"/>
            <a:ext cx="153924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all" spc="0" normalizeH="0" baseline="0" noProof="0">
                <a:ln>
                  <a:noFill/>
                </a:ln>
                <a:solidFill>
                  <a:srgbClr val="1770EA"/>
                </a:solidFill>
                <a:effectLst/>
                <a:uLnTx/>
                <a:uFillTx/>
                <a:cs typeface="+mn-ea"/>
                <a:sym typeface="+mn-lt"/>
              </a:rPr>
              <a:t>差错率&lt;2%</a:t>
            </a:r>
          </a:p>
        </p:txBody>
      </p:sp>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客户信用风险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应收账款逾期风险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银企收款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自动认领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供应商信用风险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不合规发票拦截</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涉税风险检查</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预算和费用报销强关联</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违规报销检查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入账科目准确性核对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往来科目核对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风险指标看板实时预警</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重点风险管控项</a:t>
            </a:r>
          </a:p>
        </p:txBody>
      </p:sp>
      <p:graphicFrame>
        <p:nvGraphicFramePr>
          <p:cNvPr id="13" name="图示 12"/>
          <p:cNvGraphicFramePr/>
          <p:nvPr>
            <p:extLst>
              <p:ext uri="{D42A27DB-BD31-4B8C-83A1-F6EECF244321}">
                <p14:modId xmlns:p14="http://schemas.microsoft.com/office/powerpoint/2010/main" val="1332588362"/>
              </p:ext>
            </p:extLst>
          </p:nvPr>
        </p:nvGraphicFramePr>
        <p:xfrm>
          <a:off x="2219325" y="924560"/>
          <a:ext cx="9576000"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4" name="组合 13"/>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 name="等腰三角形 14"/>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等腰三角形 16"/>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8" name="等腰三角形 17"/>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等腰三角形 18"/>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等腰三角形 19"/>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8" name="圆角矩形 27"/>
          <p:cNvSpPr/>
          <p:nvPr/>
        </p:nvSpPr>
        <p:spPr>
          <a:xfrm>
            <a:off x="2219325" y="2510790"/>
            <a:ext cx="190817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a:t>
            </a:r>
            <a:endPar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9" name="圆角矩形 28"/>
          <p:cNvSpPr/>
          <p:nvPr/>
        </p:nvSpPr>
        <p:spPr>
          <a:xfrm>
            <a:off x="41503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0" name="圆角矩形 29"/>
          <p:cNvSpPr/>
          <p:nvPr/>
        </p:nvSpPr>
        <p:spPr>
          <a:xfrm>
            <a:off x="60807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不合规报销次数比例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1" name="圆角矩形 30"/>
          <p:cNvSpPr/>
          <p:nvPr/>
        </p:nvSpPr>
        <p:spPr>
          <a:xfrm>
            <a:off x="80111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p>
        </p:txBody>
      </p:sp>
      <p:sp>
        <p:nvSpPr>
          <p:cNvPr id="32" name="圆角矩形 31"/>
          <p:cNvSpPr/>
          <p:nvPr/>
        </p:nvSpPr>
        <p:spPr>
          <a:xfrm>
            <a:off x="99415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凭证准确率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404040"/>
                </a:solidFill>
                <a:effectLst/>
                <a:uLnTx/>
                <a:uFillTx/>
                <a:cs typeface="+mn-ea"/>
                <a:sym typeface="+mn-lt"/>
              </a:rPr>
              <a:t>可视化运营指标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36" name="文本框 35"/>
          <p:cNvSpPr txBox="1"/>
          <p:nvPr/>
        </p:nvSpPr>
        <p:spPr>
          <a:xfrm>
            <a:off x="3265805"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28</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100%</a:t>
            </a:r>
          </a:p>
        </p:txBody>
      </p:sp>
      <p:sp>
        <p:nvSpPr>
          <p:cNvPr id="39" name="文本框 38"/>
          <p:cNvSpPr txBox="1"/>
          <p:nvPr/>
        </p:nvSpPr>
        <p:spPr>
          <a:xfrm>
            <a:off x="7387590" y="2924524"/>
            <a:ext cx="59436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217</a:t>
            </a:r>
            <a:r>
              <a:rPr kumimoji="0" lang="zh-CN" altLang="en-US" sz="1000" b="1" i="0" u="none" strike="noStrike" kern="1200" cap="all" spc="0" normalizeH="0" baseline="0" noProof="0" dirty="0">
                <a:ln>
                  <a:noFill/>
                </a:ln>
                <a:solidFill>
                  <a:srgbClr val="404040"/>
                </a:solidFill>
                <a:effectLst/>
                <a:uLnTx/>
                <a:uFillTx/>
                <a:cs typeface="+mn-ea"/>
                <a:sym typeface="+mn-lt"/>
              </a:rPr>
              <a:t>个</a:t>
            </a:r>
            <a:endParaRPr kumimoji="0" lang="en-US" altLang="zh-CN" sz="1000" b="1" i="0" u="none" strike="noStrike" kern="1200" cap="all" spc="0" normalizeH="0" baseline="0" noProof="0" dirty="0">
              <a:ln>
                <a:noFill/>
              </a:ln>
              <a:solidFill>
                <a:srgbClr val="404040"/>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&lt;</a:t>
            </a:r>
            <a:r>
              <a:rPr kumimoji="0" lang="en-US" altLang="zh-CN" sz="1000" b="1" i="0" u="none" strike="noStrike" kern="1200" cap="all" spc="0" normalizeH="0" baseline="0" noProof="0" dirty="0">
                <a:ln>
                  <a:noFill/>
                </a:ln>
                <a:solidFill>
                  <a:srgbClr val="000000"/>
                </a:solidFill>
                <a:effectLst/>
                <a:uLnTx/>
                <a:uFillTx/>
                <a:cs typeface="+mn-ea"/>
                <a:sym typeface="+mn-lt"/>
              </a:rPr>
              <a:t>1%</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
        <p:nvSpPr>
          <p:cNvPr id="40" name="文本框 39"/>
          <p:cNvSpPr txBox="1"/>
          <p:nvPr/>
        </p:nvSpPr>
        <p:spPr>
          <a:xfrm>
            <a:off x="8858250" y="2949747"/>
            <a:ext cx="108585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41" name="文本框 40"/>
          <p:cNvSpPr txBox="1"/>
          <p:nvPr/>
        </p:nvSpPr>
        <p:spPr>
          <a:xfrm>
            <a:off x="11002010" y="2792095"/>
            <a:ext cx="857250"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31</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98%</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30+</a:t>
            </a:r>
          </a:p>
        </p:txBody>
      </p:sp>
      <p:sp>
        <p:nvSpPr>
          <p:cNvPr id="42" name="文本框 41"/>
          <p:cNvSpPr txBox="1"/>
          <p:nvPr/>
        </p:nvSpPr>
        <p:spPr>
          <a:xfrm>
            <a:off x="5223510"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145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8847455" y="2491105"/>
            <a:ext cx="298640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00000"/>
              </a:lnSpc>
              <a:spcBef>
                <a:spcPts val="450"/>
              </a:spcBef>
              <a:spcAft>
                <a:spcPts val="0"/>
              </a:spcAft>
              <a:buClrTx/>
              <a:buSzTx/>
              <a:buFont typeface="Arial" panose="020B0604020202090204" pitchFamily="34" charset="0"/>
              <a:buNone/>
              <a:tabLst/>
              <a:defRPr/>
            </a:pPr>
            <a:endPar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决策支持</a:t>
            </a: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构建</a:t>
            </a:r>
            <a:r>
              <a:rPr kumimoji="0" lang="zh-CN" altLang="en-US" sz="1200" b="1" i="0" u="none" strike="noStrike" kern="1200" cap="none" spc="0" normalizeH="0" baseline="0" noProof="0" dirty="0">
                <a:ln>
                  <a:noFill/>
                </a:ln>
                <a:solidFill>
                  <a:srgbClr val="2372EF"/>
                </a:solidFill>
                <a:effectLst/>
                <a:uLnTx/>
                <a:uFillTx/>
                <a:cs typeface="+mn-ea"/>
                <a:sym typeface="+mn-lt"/>
              </a:rPr>
              <a:t>数据集市</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结合智能数据服务</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实现快速出具业财数据</a:t>
            </a:r>
            <a:r>
              <a:rPr kumimoji="0" lang="en-US"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实现对</a:t>
            </a:r>
            <a:r>
              <a:rPr kumimoji="0" lang="zh-CN" altLang="en-US" sz="1200" b="1" i="0" u="none" strike="noStrike" kern="1200" cap="none" spc="0" normalizeH="0" baseline="0" noProof="0" dirty="0">
                <a:ln>
                  <a:noFill/>
                </a:ln>
                <a:solidFill>
                  <a:srgbClr val="2372EF"/>
                </a:solidFill>
                <a:effectLst/>
                <a:uLnTx/>
                <a:uFillTx/>
                <a:cs typeface="+mn-ea"/>
                <a:sym typeface="+mn-lt"/>
              </a:rPr>
              <a:t>业务经营的决策支撑</a:t>
            </a:r>
          </a:p>
        </p:txBody>
      </p:sp>
      <p:grpSp>
        <p:nvGrpSpPr>
          <p:cNvPr id="11" name="组合 10"/>
          <p:cNvGrpSpPr/>
          <p:nvPr/>
        </p:nvGrpSpPr>
        <p:grpSpPr>
          <a:xfrm>
            <a:off x="255270" y="2219960"/>
            <a:ext cx="2195830" cy="467995"/>
            <a:chOff x="402" y="3496"/>
            <a:chExt cx="3458" cy="737"/>
          </a:xfrm>
        </p:grpSpPr>
        <p:sp>
          <p:nvSpPr>
            <p:cNvPr id="55" name="圆角矩形 54"/>
            <p:cNvSpPr/>
            <p:nvPr/>
          </p:nvSpPr>
          <p:spPr>
            <a:xfrm rot="16200000">
              <a:off x="2017" y="2390"/>
              <a:ext cx="227" cy="3458"/>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3" name="文本框 72"/>
            <p:cNvSpPr txBox="1"/>
            <p:nvPr/>
          </p:nvSpPr>
          <p:spPr>
            <a:xfrm>
              <a:off x="684" y="3496"/>
              <a:ext cx="3176"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cs typeface="+mn-ea"/>
                  <a:sym typeface="+mn-lt"/>
                </a:rPr>
                <a:t>更快更全</a:t>
              </a:r>
            </a:p>
          </p:txBody>
        </p:sp>
      </p:grpSp>
      <p:graphicFrame>
        <p:nvGraphicFramePr>
          <p:cNvPr id="145" name="图示 144"/>
          <p:cNvGraphicFramePr/>
          <p:nvPr>
            <p:extLst>
              <p:ext uri="{D42A27DB-BD31-4B8C-83A1-F6EECF244321}">
                <p14:modId xmlns:p14="http://schemas.microsoft.com/office/powerpoint/2010/main" val="303720023"/>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34" name="圆角矩形 33"/>
          <p:cNvSpPr/>
          <p:nvPr/>
        </p:nvSpPr>
        <p:spPr>
          <a:xfrm>
            <a:off x="2205990" y="4442460"/>
            <a:ext cx="479171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建设数据集市</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集成多个前端系统，实现数据集中与统一核算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业财数据启用多数据维度，并保持与原始业务数据一致，满足管理分析的诉求</a:t>
            </a:r>
          </a:p>
        </p:txBody>
      </p:sp>
      <p:sp>
        <p:nvSpPr>
          <p:cNvPr id="38" name="圆角矩形 37"/>
          <p:cNvSpPr/>
          <p:nvPr/>
        </p:nvSpPr>
        <p:spPr>
          <a:xfrm>
            <a:off x="7042785" y="4451350"/>
            <a:ext cx="47910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智能应用</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提升财务分析能力</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财务指标运营管理、看板展示、实时监控和预警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智能AI：智能经营分析和数据洞察，数据驱动管理决策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1" name="圆角矩形 20"/>
          <p:cNvSpPr/>
          <p:nvPr/>
        </p:nvSpPr>
        <p:spPr>
          <a:xfrm>
            <a:off x="2219325" y="2510790"/>
            <a:ext cx="647446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敏捷：</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API、</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可视化配置</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快速接入前端业务系统，轻松应对业务敏捷、数据源变化快的问题</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集中：</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集中各业态</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业务系统数据，形成业财数据池，为数据分析提供数据基础</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数据集成标准对齐，解决口径不一致的问题</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满足业务快速分析的需求</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精细</a:t>
            </a:r>
            <a:r>
              <a:rPr kumimoji="1" lang="en-US" altLang="zh-CN" sz="1000" b="1"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业财数据的精益化管理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多维度数据一体拉通</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支撑管理决策</a:t>
            </a:r>
          </a:p>
        </p:txBody>
      </p:sp>
      <p:grpSp>
        <p:nvGrpSpPr>
          <p:cNvPr id="19" name="组合 18"/>
          <p:cNvGrpSpPr/>
          <p:nvPr/>
        </p:nvGrpSpPr>
        <p:grpSpPr>
          <a:xfrm>
            <a:off x="9076690" y="2474595"/>
            <a:ext cx="2475865" cy="1505585"/>
            <a:chOff x="14632" y="3975"/>
            <a:chExt cx="3899" cy="2371"/>
          </a:xfrm>
        </p:grpSpPr>
        <p:sp>
          <p:nvSpPr>
            <p:cNvPr id="14" name="文本框 13"/>
            <p:cNvSpPr txBox="1"/>
            <p:nvPr/>
          </p:nvSpPr>
          <p:spPr>
            <a:xfrm>
              <a:off x="14632" y="3991"/>
              <a:ext cx="2599"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对接外部系统</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多维经营分析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异常支付监测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税务数据分析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现金流预测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供应商信用评价</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5" name="文本框 14"/>
            <p:cNvSpPr txBox="1"/>
            <p:nvPr/>
          </p:nvSpPr>
          <p:spPr>
            <a:xfrm>
              <a:off x="17345" y="3975"/>
              <a:ext cx="1186"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20+</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系统</a:t>
              </a:r>
              <a:endPar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48.82%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54.12%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31.18%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37.65%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29.41%</a:t>
              </a: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DE474-FEAD-3B67-8FF3-741989A8C7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CEACF8-942C-9BFD-6939-6DB71459FADB}"/>
              </a:ext>
            </a:extLst>
          </p:cNvPr>
          <p:cNvSpPr>
            <a:spLocks noGrp="1"/>
          </p:cNvSpPr>
          <p:nvPr>
            <p:ph type="title"/>
          </p:nvPr>
        </p:nvSpPr>
        <p:spPr>
          <a:xfrm>
            <a:off x="398093" y="210672"/>
            <a:ext cx="10399777" cy="469413"/>
          </a:xfrm>
        </p:spPr>
        <p:txBody>
          <a:bodyPr/>
          <a:lstStyle/>
          <a:p>
            <a:pPr>
              <a:lnSpc>
                <a:spcPct val="125000"/>
              </a:lnSpc>
              <a:defRPr/>
            </a:pPr>
            <a:r>
              <a:rPr lang="en-US" altLang="zh-CN" dirty="0" err="1">
                <a:solidFill>
                  <a:srgbClr val="333333"/>
                </a:solidFill>
                <a:latin typeface="Noto Sans SC"/>
                <a:ea typeface="Noto Sans SC"/>
                <a:cs typeface="Noto Sans SC"/>
                <a:sym typeface="Noto Sans SC"/>
              </a:rPr>
              <a:t>财务共享服务中心五大端到端流程效能对标</a:t>
            </a:r>
            <a:r>
              <a:rPr lang="en-US" altLang="zh-CN" dirty="0">
                <a:solidFill>
                  <a:srgbClr val="333333"/>
                </a:solidFill>
                <a:latin typeface="Noto Sans SC"/>
                <a:ea typeface="Noto Sans SC"/>
                <a:cs typeface="Noto Sans SC"/>
                <a:sym typeface="Noto Sans SC"/>
              </a:rPr>
              <a:t>（</a:t>
            </a:r>
            <a:r>
              <a:rPr lang="zh-CN" altLang="en-US" dirty="0">
                <a:solidFill>
                  <a:srgbClr val="333333"/>
                </a:solidFill>
                <a:latin typeface="Noto Sans SC"/>
                <a:ea typeface="Noto Sans SC"/>
                <a:cs typeface="Noto Sans SC"/>
                <a:sym typeface="Noto Sans SC"/>
              </a:rPr>
              <a:t>部分指标</a:t>
            </a:r>
            <a:r>
              <a:rPr lang="en-US" altLang="zh-CN" dirty="0">
                <a:solidFill>
                  <a:srgbClr val="333333"/>
                </a:solidFill>
                <a:latin typeface="Noto Sans SC"/>
                <a:ea typeface="Noto Sans SC"/>
                <a:cs typeface="Noto Sans SC"/>
                <a:sym typeface="Noto Sans SC"/>
              </a:rPr>
              <a:t>）</a:t>
            </a:r>
            <a:endParaRPr lang="en-US" altLang="zh-CN" sz="1050" dirty="0"/>
          </a:p>
        </p:txBody>
      </p:sp>
      <p:sp>
        <p:nvSpPr>
          <p:cNvPr id="3" name="AutoShape 3"/>
          <p:cNvSpPr/>
          <p:nvPr/>
        </p:nvSpPr>
        <p:spPr>
          <a:xfrm>
            <a:off x="609600" y="1016000"/>
            <a:ext cx="152400" cy="152400"/>
          </a:xfrm>
          <a:prstGeom prst="roundRect">
            <a:avLst>
              <a:gd name="adj" fmla="val 133333"/>
            </a:avLst>
          </a:prstGeom>
          <a:solidFill>
            <a:schemeClr val="dk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AutoShape 4"/>
          <p:cNvSpPr/>
          <p:nvPr/>
        </p:nvSpPr>
        <p:spPr>
          <a:xfrm>
            <a:off x="8128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行业对标值</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AutoShape 5"/>
          <p:cNvSpPr/>
          <p:nvPr/>
        </p:nvSpPr>
        <p:spPr>
          <a:xfrm>
            <a:off x="1905000" y="1016000"/>
            <a:ext cx="152400" cy="152400"/>
          </a:xfrm>
          <a:prstGeom prst="roundRect">
            <a:avLst>
              <a:gd name="adj" fmla="val 133333"/>
            </a:avLst>
          </a:prstGeom>
          <a:solidFill>
            <a:schemeClr val="accent6"/>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 name="AutoShape 6"/>
          <p:cNvSpPr/>
          <p:nvPr/>
        </p:nvSpPr>
        <p:spPr>
          <a:xfrm>
            <a:off x="21082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海信集团</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AutoShape 7"/>
          <p:cNvSpPr/>
          <p:nvPr/>
        </p:nvSpPr>
        <p:spPr>
          <a:xfrm>
            <a:off x="3200400" y="1016000"/>
            <a:ext cx="152400" cy="152400"/>
          </a:xfrm>
          <a:prstGeom prst="roundRect">
            <a:avLst>
              <a:gd name="adj" fmla="val 133333"/>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AutoShape 8"/>
          <p:cNvSpPr/>
          <p:nvPr/>
        </p:nvSpPr>
        <p:spPr>
          <a:xfrm>
            <a:off x="34036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浙江交投</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AutoShape 9"/>
          <p:cNvSpPr/>
          <p:nvPr/>
        </p:nvSpPr>
        <p:spPr>
          <a:xfrm>
            <a:off x="4495800" y="1016000"/>
            <a:ext cx="152400" cy="152400"/>
          </a:xfrm>
          <a:prstGeom prst="roundRect">
            <a:avLst>
              <a:gd name="adj" fmla="val 133333"/>
            </a:avLst>
          </a:prstGeom>
          <a:solidFill>
            <a:schemeClr val="accent2"/>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AutoShape 10"/>
          <p:cNvSpPr/>
          <p:nvPr/>
        </p:nvSpPr>
        <p:spPr>
          <a:xfrm>
            <a:off x="46990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金地物业</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AutoShape 11"/>
          <p:cNvSpPr/>
          <p:nvPr/>
        </p:nvSpPr>
        <p:spPr>
          <a:xfrm>
            <a:off x="6096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27"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 y="1524000"/>
            <a:ext cx="304800" cy="304800"/>
          </a:xfrm>
          <a:prstGeom prst="rect">
            <a:avLst/>
          </a:prstGeom>
        </p:spPr>
      </p:pic>
      <p:sp>
        <p:nvSpPr>
          <p:cNvPr id="28" name="AutoShape 13"/>
          <p:cNvSpPr/>
          <p:nvPr/>
        </p:nvSpPr>
        <p:spPr>
          <a:xfrm>
            <a:off x="1066800" y="1498600"/>
            <a:ext cx="1574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开票到收款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(O2C)</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29" name="Connector 14"/>
          <p:cNvCxnSpPr/>
          <p:nvPr/>
        </p:nvCxnSpPr>
        <p:spPr>
          <a:xfrm rot="-24554">
            <a:off x="7366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30" name="AutoShape 15"/>
          <p:cNvSpPr/>
          <p:nvPr/>
        </p:nvSpPr>
        <p:spPr>
          <a:xfrm>
            <a:off x="7366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人均单据量</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AutoShape 16"/>
          <p:cNvSpPr/>
          <p:nvPr/>
        </p:nvSpPr>
        <p:spPr>
          <a:xfrm>
            <a:off x="7366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180单 </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（招商蛇口）</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200单</a:t>
            </a:r>
          </a:p>
        </p:txBody>
      </p:sp>
      <p:sp>
        <p:nvSpPr>
          <p:cNvPr id="35" name="AutoShape 17"/>
          <p:cNvSpPr/>
          <p:nvPr/>
        </p:nvSpPr>
        <p:spPr>
          <a:xfrm>
            <a:off x="7366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收款认领时长缩短</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8" name="AutoShape 18"/>
          <p:cNvSpPr/>
          <p:nvPr/>
        </p:nvSpPr>
        <p:spPr>
          <a:xfrm>
            <a:off x="736600" y="326284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30%（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自动化率</a:t>
            </a:r>
            <a:r>
              <a:rPr lang="en-US" altLang="zh-CN" sz="1100" kern="0" dirty="0">
                <a:solidFill>
                  <a:srgbClr val="70AD47"/>
                </a:solidFill>
                <a:latin typeface="Noto Sans SC"/>
                <a:ea typeface="Noto Sans SC"/>
                <a:cs typeface="Noto Sans SC"/>
                <a:sym typeface="Noto Sans SC"/>
              </a:rPr>
              <a:t>85%</a:t>
            </a:r>
            <a:r>
              <a:rPr lang="zh-CN" altLang="en-US" sz="1100" kern="0" dirty="0">
                <a:solidFill>
                  <a:srgbClr val="70AD47"/>
                </a:solidFill>
                <a:latin typeface="Noto Sans SC"/>
                <a:ea typeface="Noto Sans SC"/>
                <a:cs typeface="Noto Sans SC"/>
                <a:sym typeface="Noto Sans SC"/>
              </a:rPr>
              <a:t>，每单</a:t>
            </a:r>
            <a:r>
              <a:rPr lang="en-US" altLang="zh-CN" sz="1100" kern="0" dirty="0">
                <a:solidFill>
                  <a:srgbClr val="70AD47"/>
                </a:solidFill>
                <a:latin typeface="Noto Sans SC"/>
                <a:ea typeface="Noto Sans SC"/>
                <a:cs typeface="Noto Sans SC"/>
                <a:sym typeface="Noto Sans SC"/>
              </a:rPr>
              <a:t>40</a:t>
            </a:r>
            <a:r>
              <a:rPr lang="zh-CN" altLang="en-US" sz="1100" kern="0" dirty="0">
                <a:solidFill>
                  <a:srgbClr val="70AD47"/>
                </a:solidFill>
                <a:latin typeface="Noto Sans SC"/>
                <a:ea typeface="Noto Sans SC"/>
                <a:cs typeface="Noto Sans SC"/>
                <a:sym typeface="Noto Sans SC"/>
              </a:rPr>
              <a:t>秒</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20%</a:t>
            </a:r>
          </a:p>
        </p:txBody>
      </p:sp>
      <p:sp>
        <p:nvSpPr>
          <p:cNvPr id="39" name="AutoShape 19"/>
          <p:cNvSpPr/>
          <p:nvPr/>
        </p:nvSpPr>
        <p:spPr>
          <a:xfrm>
            <a:off x="736600" y="405506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2" name="AutoShape 20"/>
          <p:cNvSpPr/>
          <p:nvPr/>
        </p:nvSpPr>
        <p:spPr>
          <a:xfrm>
            <a:off x="736600" y="4309065"/>
            <a:ext cx="1778000" cy="6731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43" name="AutoShape 21"/>
          <p:cNvSpPr/>
          <p:nvPr/>
        </p:nvSpPr>
        <p:spPr>
          <a:xfrm>
            <a:off x="28448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44"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71800" y="1524000"/>
            <a:ext cx="304800" cy="304800"/>
          </a:xfrm>
          <a:prstGeom prst="rect">
            <a:avLst/>
          </a:prstGeom>
        </p:spPr>
      </p:pic>
      <p:sp>
        <p:nvSpPr>
          <p:cNvPr id="45" name="AutoShape 23"/>
          <p:cNvSpPr/>
          <p:nvPr/>
        </p:nvSpPr>
        <p:spPr>
          <a:xfrm>
            <a:off x="3302000" y="1498600"/>
            <a:ext cx="1447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收票到付款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(P2P)</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46" name="Connector 24"/>
          <p:cNvCxnSpPr/>
          <p:nvPr/>
        </p:nvCxnSpPr>
        <p:spPr>
          <a:xfrm rot="-24554">
            <a:off x="29718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47" name="AutoShape 25"/>
          <p:cNvSpPr/>
          <p:nvPr/>
        </p:nvSpPr>
        <p:spPr>
          <a:xfrm>
            <a:off x="29718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流程效率提升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AutoShape 26"/>
          <p:cNvSpPr/>
          <p:nvPr/>
        </p:nvSpPr>
        <p:spPr>
          <a:xfrm>
            <a:off x="2971800" y="2393204"/>
            <a:ext cx="21082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所有流程提效</a:t>
            </a:r>
            <a:r>
              <a:rPr lang="en-US" altLang="zh-CN" sz="1100" kern="0" dirty="0">
                <a:solidFill>
                  <a:srgbClr val="70AD47"/>
                </a:solidFill>
                <a:latin typeface="Noto Sans SC"/>
                <a:ea typeface="Noto Sans SC"/>
                <a:cs typeface="Noto Sans SC"/>
                <a:sym typeface="Noto Sans SC"/>
              </a:rPr>
              <a:t>30%+10%</a:t>
            </a:r>
            <a:endPar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endParaRPr>
          </a:p>
        </p:txBody>
      </p:sp>
      <p:sp>
        <p:nvSpPr>
          <p:cNvPr id="49" name="AutoShape 27"/>
          <p:cNvSpPr/>
          <p:nvPr/>
        </p:nvSpPr>
        <p:spPr>
          <a:xfrm>
            <a:off x="2971800" y="3122358"/>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银企直连覆盖度</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0" name="AutoShape 28"/>
          <p:cNvSpPr/>
          <p:nvPr/>
        </p:nvSpPr>
        <p:spPr>
          <a:xfrm>
            <a:off x="2971800" y="3710586"/>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80%-99%(</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玉柴</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账户余额可视化率</a:t>
            </a:r>
            <a:r>
              <a:rPr kumimoji="0" lang="en-US" altLang="zh-CN"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100%</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覆盖63国</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40-60%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sp>
        <p:nvSpPr>
          <p:cNvPr id="52" name="AutoShape 29"/>
          <p:cNvSpPr/>
          <p:nvPr/>
        </p:nvSpPr>
        <p:spPr>
          <a:xfrm>
            <a:off x="2971800" y="425686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付款排程自动化率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3" name="AutoShape 30"/>
          <p:cNvSpPr/>
          <p:nvPr/>
        </p:nvSpPr>
        <p:spPr>
          <a:xfrm>
            <a:off x="2971800" y="444149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100%（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重药</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100%</a:t>
            </a:r>
          </a:p>
        </p:txBody>
      </p:sp>
      <p:sp>
        <p:nvSpPr>
          <p:cNvPr id="54" name="AutoShape 31"/>
          <p:cNvSpPr/>
          <p:nvPr/>
        </p:nvSpPr>
        <p:spPr>
          <a:xfrm>
            <a:off x="2971800" y="5012994"/>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重复付款次数</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7" name="AutoShape 32"/>
          <p:cNvSpPr/>
          <p:nvPr/>
        </p:nvSpPr>
        <p:spPr>
          <a:xfrm>
            <a:off x="2971800" y="5266994"/>
            <a:ext cx="1778000" cy="698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0</a:t>
            </a:r>
          </a:p>
        </p:txBody>
      </p:sp>
      <p:sp>
        <p:nvSpPr>
          <p:cNvPr id="59" name="AutoShape 33"/>
          <p:cNvSpPr/>
          <p:nvPr/>
        </p:nvSpPr>
        <p:spPr>
          <a:xfrm>
            <a:off x="50800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60"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7000" y="1524000"/>
            <a:ext cx="304800" cy="304800"/>
          </a:xfrm>
          <a:prstGeom prst="rect">
            <a:avLst/>
          </a:prstGeom>
        </p:spPr>
      </p:pic>
      <p:sp>
        <p:nvSpPr>
          <p:cNvPr id="61" name="AutoShape 35"/>
          <p:cNvSpPr/>
          <p:nvPr/>
        </p:nvSpPr>
        <p:spPr>
          <a:xfrm>
            <a:off x="55372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费用到报销 (E2R)</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2" name="Connector 36"/>
          <p:cNvCxnSpPr/>
          <p:nvPr/>
        </p:nvCxnSpPr>
        <p:spPr>
          <a:xfrm rot="-24554">
            <a:off x="52070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63" name="AutoShape 37"/>
          <p:cNvSpPr/>
          <p:nvPr/>
        </p:nvSpPr>
        <p:spPr>
          <a:xfrm>
            <a:off x="5207000" y="3003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4" name="AutoShape 38"/>
          <p:cNvSpPr/>
          <p:nvPr/>
        </p:nvSpPr>
        <p:spPr>
          <a:xfrm>
            <a:off x="5207000" y="3257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217个(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15%</a:t>
            </a:r>
          </a:p>
        </p:txBody>
      </p:sp>
      <p:sp>
        <p:nvSpPr>
          <p:cNvPr id="66" name="AutoShape 39"/>
          <p:cNvSpPr/>
          <p:nvPr/>
        </p:nvSpPr>
        <p:spPr>
          <a:xfrm>
            <a:off x="5207000" y="3828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对私报销时长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7" name="AutoShape 40"/>
          <p:cNvSpPr/>
          <p:nvPr/>
        </p:nvSpPr>
        <p:spPr>
          <a:xfrm>
            <a:off x="5207000" y="4082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1-2天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当天</a:t>
            </a:r>
            <a:endPar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endParaRPr>
          </a:p>
        </p:txBody>
      </p:sp>
      <p:sp>
        <p:nvSpPr>
          <p:cNvPr id="68" name="AutoShape 41"/>
          <p:cNvSpPr/>
          <p:nvPr/>
        </p:nvSpPr>
        <p:spPr>
          <a:xfrm>
            <a:off x="5207000" y="4654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9" name="AutoShape 42"/>
          <p:cNvSpPr/>
          <p:nvPr/>
        </p:nvSpPr>
        <p:spPr>
          <a:xfrm>
            <a:off x="5207000" y="4908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p:txBody>
      </p:sp>
      <p:sp>
        <p:nvSpPr>
          <p:cNvPr id="70" name="AutoShape 43"/>
          <p:cNvSpPr/>
          <p:nvPr/>
        </p:nvSpPr>
        <p:spPr>
          <a:xfrm>
            <a:off x="5207000" y="5479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不合规报销比例</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1" name="AutoShape 44"/>
          <p:cNvSpPr/>
          <p:nvPr/>
        </p:nvSpPr>
        <p:spPr>
          <a:xfrm>
            <a:off x="5207000" y="5733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&lt;1%</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5%</a:t>
            </a:r>
          </a:p>
        </p:txBody>
      </p:sp>
      <p:sp>
        <p:nvSpPr>
          <p:cNvPr id="72" name="AutoShape 45"/>
          <p:cNvSpPr/>
          <p:nvPr/>
        </p:nvSpPr>
        <p:spPr>
          <a:xfrm>
            <a:off x="73152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06" name="Picture 4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42200" y="1524000"/>
            <a:ext cx="304800" cy="304800"/>
          </a:xfrm>
          <a:prstGeom prst="rect">
            <a:avLst/>
          </a:prstGeom>
        </p:spPr>
      </p:pic>
      <p:sp>
        <p:nvSpPr>
          <p:cNvPr id="107" name="AutoShape 47"/>
          <p:cNvSpPr/>
          <p:nvPr/>
        </p:nvSpPr>
        <p:spPr>
          <a:xfrm>
            <a:off x="77724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投资到资产 (I2A)</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108" name="Connector 48"/>
          <p:cNvCxnSpPr/>
          <p:nvPr/>
        </p:nvCxnSpPr>
        <p:spPr>
          <a:xfrm rot="-24554">
            <a:off x="74422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09" name="AutoShape 49"/>
          <p:cNvSpPr/>
          <p:nvPr/>
        </p:nvSpPr>
        <p:spPr>
          <a:xfrm>
            <a:off x="74422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0" name="AutoShape 50"/>
          <p:cNvSpPr/>
          <p:nvPr/>
        </p:nvSpPr>
        <p:spPr>
          <a:xfrm>
            <a:off x="74422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15个（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36%</a:t>
            </a:r>
          </a:p>
        </p:txBody>
      </p:sp>
      <p:sp>
        <p:nvSpPr>
          <p:cNvPr id="111" name="AutoShape 51"/>
          <p:cNvSpPr/>
          <p:nvPr/>
        </p:nvSpPr>
        <p:spPr>
          <a:xfrm>
            <a:off x="74422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2" name="AutoShape 52"/>
          <p:cNvSpPr/>
          <p:nvPr/>
        </p:nvSpPr>
        <p:spPr>
          <a:xfrm>
            <a:off x="7442200" y="3111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113" name="AutoShape 53"/>
          <p:cNvSpPr/>
          <p:nvPr/>
        </p:nvSpPr>
        <p:spPr>
          <a:xfrm>
            <a:off x="95504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14" name="Picture 5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77400" y="1524000"/>
            <a:ext cx="304800" cy="304800"/>
          </a:xfrm>
          <a:prstGeom prst="rect">
            <a:avLst/>
          </a:prstGeom>
        </p:spPr>
      </p:pic>
      <p:sp>
        <p:nvSpPr>
          <p:cNvPr id="115" name="AutoShape 55"/>
          <p:cNvSpPr/>
          <p:nvPr/>
        </p:nvSpPr>
        <p:spPr>
          <a:xfrm>
            <a:off x="10007600" y="1498600"/>
            <a:ext cx="152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记录到报告</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(R2R)</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116" name="Connector 56"/>
          <p:cNvCxnSpPr/>
          <p:nvPr/>
        </p:nvCxnSpPr>
        <p:spPr>
          <a:xfrm rot="-24554">
            <a:off x="96774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17" name="AutoShape 57"/>
          <p:cNvSpPr/>
          <p:nvPr/>
        </p:nvSpPr>
        <p:spPr>
          <a:xfrm>
            <a:off x="96774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凭证自动化率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8" name="AutoShape 58"/>
          <p:cNvSpPr/>
          <p:nvPr/>
        </p:nvSpPr>
        <p:spPr>
          <a:xfrm>
            <a:off x="9677400" y="2286000"/>
            <a:ext cx="1778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99%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100%</a:t>
            </a:r>
          </a:p>
        </p:txBody>
      </p:sp>
      <p:sp>
        <p:nvSpPr>
          <p:cNvPr id="119" name="AutoShape 59"/>
          <p:cNvSpPr/>
          <p:nvPr/>
        </p:nvSpPr>
        <p:spPr>
          <a:xfrm>
            <a:off x="9677400" y="3111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凭证准确率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0" name="AutoShape 60"/>
          <p:cNvSpPr/>
          <p:nvPr/>
        </p:nvSpPr>
        <p:spPr>
          <a:xfrm>
            <a:off x="9677400" y="3365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&gt;98%</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99%</a:t>
            </a:r>
          </a:p>
        </p:txBody>
      </p:sp>
      <p:sp>
        <p:nvSpPr>
          <p:cNvPr id="121" name="AutoShape 61"/>
          <p:cNvSpPr/>
          <p:nvPr/>
        </p:nvSpPr>
        <p:spPr>
          <a:xfrm>
            <a:off x="9677400" y="3937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单体法报出具日期</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2" name="AutoShape 62"/>
          <p:cNvSpPr/>
          <p:nvPr/>
        </p:nvSpPr>
        <p:spPr>
          <a:xfrm>
            <a:off x="9677400" y="435916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每月2号</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2或3号</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3</a:t>
            </a:r>
            <a:r>
              <a:rPr lang="zh-CN" altLang="en-US" sz="1100" kern="0" dirty="0">
                <a:solidFill>
                  <a:srgbClr val="4472C4"/>
                </a:solidFill>
                <a:latin typeface="Noto Sans SC"/>
                <a:ea typeface="Noto Sans SC"/>
                <a:cs typeface="Noto Sans SC"/>
                <a:sym typeface="Noto Sans SC"/>
              </a:rPr>
              <a:t>号</a:t>
            </a:r>
            <a:endParaRPr lang="en-US" altLang="zh-CN" sz="1100" kern="0" dirty="0">
              <a:solidFill>
                <a:srgbClr val="4472C4"/>
              </a:solidFill>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pic>
        <p:nvPicPr>
          <p:cNvPr id="123" name="Picture 63"/>
          <p:cNvPicPr>
            <a:picLocks noChangeAspect="1"/>
          </p:cNvPicPr>
          <p:nvPr/>
        </p:nvPicPr>
        <p:blipFill>
          <a:blip r:embed="rId13"/>
          <a:stretch>
            <a:fillRect/>
          </a:stretch>
        </p:blipFill>
        <p:spPr>
          <a:xfrm>
            <a:off x="10693400" y="6336224"/>
            <a:ext cx="1524000" cy="667888"/>
          </a:xfrm>
          <a:prstGeom prst="rect">
            <a:avLst/>
          </a:prstGeom>
        </p:spPr>
      </p:pic>
      <p:sp>
        <p:nvSpPr>
          <p:cNvPr id="126" name="AutoShape 43">
            <a:extLst>
              <a:ext uri="{FF2B5EF4-FFF2-40B4-BE49-F238E27FC236}">
                <a16:creationId xmlns:a16="http://schemas.microsoft.com/office/drawing/2014/main" id="{29E97CEC-2D5E-2C8D-71D4-7069F301FF95}"/>
              </a:ext>
            </a:extLst>
          </p:cNvPr>
          <p:cNvSpPr/>
          <p:nvPr/>
        </p:nvSpPr>
        <p:spPr>
          <a:xfrm>
            <a:off x="5207000" y="202707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报销流程效率提升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7" name="AutoShape 44">
            <a:extLst>
              <a:ext uri="{FF2B5EF4-FFF2-40B4-BE49-F238E27FC236}">
                <a16:creationId xmlns:a16="http://schemas.microsoft.com/office/drawing/2014/main" id="{9C65F1D0-B80F-448F-7336-A8425161E2FB}"/>
              </a:ext>
            </a:extLst>
          </p:cNvPr>
          <p:cNvSpPr/>
          <p:nvPr/>
        </p:nvSpPr>
        <p:spPr>
          <a:xfrm>
            <a:off x="5207000" y="2281075"/>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p:txBody>
      </p:sp>
      <p:sp>
        <p:nvSpPr>
          <p:cNvPr id="128" name="AutoShape 61">
            <a:extLst>
              <a:ext uri="{FF2B5EF4-FFF2-40B4-BE49-F238E27FC236}">
                <a16:creationId xmlns:a16="http://schemas.microsoft.com/office/drawing/2014/main" id="{CB4AFCB7-6629-6147-826A-8EC1243135F5}"/>
              </a:ext>
            </a:extLst>
          </p:cNvPr>
          <p:cNvSpPr/>
          <p:nvPr/>
        </p:nvSpPr>
        <p:spPr>
          <a:xfrm>
            <a:off x="9677400" y="4914899"/>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每月月结时长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9" name="AutoShape 62">
            <a:extLst>
              <a:ext uri="{FF2B5EF4-FFF2-40B4-BE49-F238E27FC236}">
                <a16:creationId xmlns:a16="http://schemas.microsoft.com/office/drawing/2014/main" id="{610426CB-F637-2D39-E68C-CF9C4BC5EA7C}"/>
              </a:ext>
            </a:extLst>
          </p:cNvPr>
          <p:cNvSpPr/>
          <p:nvPr/>
        </p:nvSpPr>
        <p:spPr>
          <a:xfrm>
            <a:off x="9677400" y="516889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7</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天（</a:t>
            </a:r>
            <a:r>
              <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26</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日开始）</a:t>
            </a:r>
            <a:endPar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endParaRPr>
          </a:p>
        </p:txBody>
      </p:sp>
    </p:spTree>
    <p:extLst>
      <p:ext uri="{BB962C8B-B14F-4D97-AF65-F5344CB8AC3E}">
        <p14:creationId xmlns:p14="http://schemas.microsoft.com/office/powerpoint/2010/main" val="361843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圆圈&#10;&#10;AI 生成的内容可能不正确。">
            <a:extLst>
              <a:ext uri="{FF2B5EF4-FFF2-40B4-BE49-F238E27FC236}">
                <a16:creationId xmlns:a16="http://schemas.microsoft.com/office/drawing/2014/main" id="{415B53A9-9CCF-BDC7-FA68-6FFCCA4C98A6}"/>
              </a:ext>
            </a:extLst>
          </p:cNvPr>
          <p:cNvPicPr>
            <a:picLocks noChangeAspect="1"/>
          </p:cNvPicPr>
          <p:nvPr/>
        </p:nvPicPr>
        <p:blipFill>
          <a:blip r:embed="rId2"/>
          <a:srcRect t="28226" r="5134"/>
          <a:stretch>
            <a:fillRect/>
          </a:stretch>
        </p:blipFill>
        <p:spPr>
          <a:xfrm>
            <a:off x="1324377" y="447"/>
            <a:ext cx="10867624" cy="6857107"/>
          </a:xfrm>
          <a:prstGeom prst="rect">
            <a:avLst/>
          </a:prstGeom>
        </p:spPr>
      </p:pic>
      <p:pic>
        <p:nvPicPr>
          <p:cNvPr id="9" name="图片 8"/>
          <p:cNvPicPr>
            <a:picLocks noChangeAspect="1"/>
          </p:cNvPicPr>
          <p:nvPr/>
        </p:nvPicPr>
        <p:blipFill>
          <a:blip r:embed="rId3"/>
          <a:srcRect l="26651"/>
          <a:stretch>
            <a:fillRect/>
          </a:stretch>
        </p:blipFill>
        <p:spPr>
          <a:xfrm>
            <a:off x="456788" y="2210891"/>
            <a:ext cx="6552699" cy="2001317"/>
          </a:xfrm>
          <a:prstGeom prst="rect">
            <a:avLst/>
          </a:prstGeom>
        </p:spPr>
      </p:pic>
      <p:pic>
        <p:nvPicPr>
          <p:cNvPr id="6" name="图片 5" descr="图片包含 徽标&#10;&#10;AI 生成的内容可能不正确。">
            <a:extLst>
              <a:ext uri="{FF2B5EF4-FFF2-40B4-BE49-F238E27FC236}">
                <a16:creationId xmlns:a16="http://schemas.microsoft.com/office/drawing/2014/main" id="{A18395A5-B2FB-E2ED-9B04-7F6C86D103D2}"/>
              </a:ext>
            </a:extLst>
          </p:cNvPr>
          <p:cNvPicPr>
            <a:picLocks noChangeAspect="1"/>
          </p:cNvPicPr>
          <p:nvPr/>
        </p:nvPicPr>
        <p:blipFill>
          <a:blip r:embed="rId4"/>
          <a:stretch>
            <a:fillRect/>
          </a:stretch>
        </p:blipFill>
        <p:spPr>
          <a:xfrm>
            <a:off x="386653" y="372898"/>
            <a:ext cx="1757783" cy="7910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Rectangle 104">
            <a:extLst>
              <a:ext uri="{FF2B5EF4-FFF2-40B4-BE49-F238E27FC236}">
                <a16:creationId xmlns:a16="http://schemas.microsoft.com/office/drawing/2014/main" id="{E0774CEA-0362-DA4D-BDA8-3B52807E6359}"/>
              </a:ext>
            </a:extLst>
          </p:cNvPr>
          <p:cNvSpPr/>
          <p:nvPr>
            <p:custDataLst>
              <p:tags r:id="rId1"/>
            </p:custDataLst>
          </p:nvPr>
        </p:nvSpPr>
        <p:spPr>
          <a:xfrm>
            <a:off x="940435" y="2970600"/>
            <a:ext cx="8035290" cy="184736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7" name="Rectangle 104">
            <a:extLst>
              <a:ext uri="{FF2B5EF4-FFF2-40B4-BE49-F238E27FC236}">
                <a16:creationId xmlns:a16="http://schemas.microsoft.com/office/drawing/2014/main" id="{618FBF25-9929-A041-A961-A24AD7B4E0C9}"/>
              </a:ext>
            </a:extLst>
          </p:cNvPr>
          <p:cNvSpPr/>
          <p:nvPr>
            <p:custDataLst>
              <p:tags r:id="rId2"/>
            </p:custDataLst>
          </p:nvPr>
        </p:nvSpPr>
        <p:spPr>
          <a:xfrm>
            <a:off x="940435" y="2137664"/>
            <a:ext cx="8035290" cy="760095"/>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8" name="Rectangle 104">
            <a:extLst>
              <a:ext uri="{FF2B5EF4-FFF2-40B4-BE49-F238E27FC236}">
                <a16:creationId xmlns:a16="http://schemas.microsoft.com/office/drawing/2014/main" id="{9480B03D-A01F-2543-83AF-8FD767214B80}"/>
              </a:ext>
            </a:extLst>
          </p:cNvPr>
          <p:cNvSpPr/>
          <p:nvPr>
            <p:custDataLst>
              <p:tags r:id="rId3"/>
            </p:custDataLst>
          </p:nvPr>
        </p:nvSpPr>
        <p:spPr>
          <a:xfrm>
            <a:off x="944880" y="1330580"/>
            <a:ext cx="8035290" cy="717550"/>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9" name="Rectangle 125">
            <a:extLst>
              <a:ext uri="{FF2B5EF4-FFF2-40B4-BE49-F238E27FC236}">
                <a16:creationId xmlns:a16="http://schemas.microsoft.com/office/drawing/2014/main" id="{8044E124-DD5A-884D-8735-411AA89785DD}"/>
              </a:ext>
            </a:extLst>
          </p:cNvPr>
          <p:cNvSpPr/>
          <p:nvPr>
            <p:custDataLst>
              <p:tags r:id="rId4"/>
            </p:custDataLst>
          </p:nvPr>
        </p:nvSpPr>
        <p:spPr>
          <a:xfrm>
            <a:off x="579120" y="2973960"/>
            <a:ext cx="309880" cy="184912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财务部门</a:t>
            </a:r>
          </a:p>
        </p:txBody>
      </p:sp>
      <p:sp>
        <p:nvSpPr>
          <p:cNvPr id="190" name="Chevron 77">
            <a:extLst>
              <a:ext uri="{FF2B5EF4-FFF2-40B4-BE49-F238E27FC236}">
                <a16:creationId xmlns:a16="http://schemas.microsoft.com/office/drawing/2014/main" id="{26A32B20-1A3A-E340-96EF-96D336440C45}"/>
              </a:ext>
            </a:extLst>
          </p:cNvPr>
          <p:cNvSpPr/>
          <p:nvPr>
            <p:custDataLst>
              <p:tags r:id="rId5"/>
            </p:custDataLst>
          </p:nvPr>
        </p:nvSpPr>
        <p:spPr bwMode="ltGray">
          <a:xfrm>
            <a:off x="3167380" y="936245"/>
            <a:ext cx="1210945"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发货出</a:t>
            </a: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库</a:t>
            </a:r>
          </a:p>
        </p:txBody>
      </p:sp>
      <p:sp>
        <p:nvSpPr>
          <p:cNvPr id="191" name="Pentagon 76">
            <a:extLst>
              <a:ext uri="{FF2B5EF4-FFF2-40B4-BE49-F238E27FC236}">
                <a16:creationId xmlns:a16="http://schemas.microsoft.com/office/drawing/2014/main" id="{AADF6C8F-950D-9245-99B7-8AD63FA77CC4}"/>
              </a:ext>
            </a:extLst>
          </p:cNvPr>
          <p:cNvSpPr/>
          <p:nvPr>
            <p:custDataLst>
              <p:tags r:id="rId6"/>
            </p:custDataLst>
          </p:nvPr>
        </p:nvSpPr>
        <p:spPr bwMode="ltGray">
          <a:xfrm>
            <a:off x="944880" y="936245"/>
            <a:ext cx="1130300" cy="321310"/>
          </a:xfrm>
          <a:prstGeom prst="homePlate">
            <a:avLst>
              <a:gd name="adj" fmla="val 31469"/>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投标报价</a:t>
            </a:r>
            <a:endPar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endParaRPr>
          </a:p>
        </p:txBody>
      </p:sp>
      <p:sp>
        <p:nvSpPr>
          <p:cNvPr id="192" name="Chevron 78">
            <a:extLst>
              <a:ext uri="{FF2B5EF4-FFF2-40B4-BE49-F238E27FC236}">
                <a16:creationId xmlns:a16="http://schemas.microsoft.com/office/drawing/2014/main" id="{EE0EE223-7984-834A-BE06-8DD9D2BEBD1D}"/>
              </a:ext>
            </a:extLst>
          </p:cNvPr>
          <p:cNvSpPr/>
          <p:nvPr>
            <p:custDataLst>
              <p:tags r:id="rId7"/>
            </p:custDataLst>
          </p:nvPr>
        </p:nvSpPr>
        <p:spPr bwMode="ltGray">
          <a:xfrm>
            <a:off x="431927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客户</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结算</a:t>
            </a:r>
          </a:p>
        </p:txBody>
      </p:sp>
      <p:sp>
        <p:nvSpPr>
          <p:cNvPr id="193" name="Chevron 79">
            <a:extLst>
              <a:ext uri="{FF2B5EF4-FFF2-40B4-BE49-F238E27FC236}">
                <a16:creationId xmlns:a16="http://schemas.microsoft.com/office/drawing/2014/main" id="{443B90F1-8549-924A-8E87-4EC4745D203B}"/>
              </a:ext>
            </a:extLst>
          </p:cNvPr>
          <p:cNvSpPr/>
          <p:nvPr>
            <p:custDataLst>
              <p:tags r:id="rId8"/>
            </p:custDataLst>
          </p:nvPr>
        </p:nvSpPr>
        <p:spPr bwMode="ltGray">
          <a:xfrm>
            <a:off x="662305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应收</a:t>
            </a: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催收</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4" name="Chevron 80">
            <a:extLst>
              <a:ext uri="{FF2B5EF4-FFF2-40B4-BE49-F238E27FC236}">
                <a16:creationId xmlns:a16="http://schemas.microsoft.com/office/drawing/2014/main" id="{E3F3B6A2-710B-5C4C-8CE7-3B77D2B43A48}"/>
              </a:ext>
            </a:extLst>
          </p:cNvPr>
          <p:cNvSpPr/>
          <p:nvPr>
            <p:custDataLst>
              <p:tags r:id="rId9"/>
            </p:custDataLst>
          </p:nvPr>
        </p:nvSpPr>
        <p:spPr bwMode="ltGray">
          <a:xfrm>
            <a:off x="54711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a:ln>
                  <a:noFill/>
                </a:ln>
                <a:solidFill>
                  <a:srgbClr val="FFFFFF"/>
                </a:solidFill>
                <a:effectLst/>
                <a:uLnTx/>
                <a:uFillTx/>
                <a:latin typeface="Arial"/>
                <a:ea typeface="微软雅黑"/>
                <a:cs typeface="+mn-ea"/>
                <a:sym typeface="+mn-lt"/>
              </a:rPr>
              <a:t>发票</a:t>
            </a: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开具</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5" name="Chevron 80">
            <a:extLst>
              <a:ext uri="{FF2B5EF4-FFF2-40B4-BE49-F238E27FC236}">
                <a16:creationId xmlns:a16="http://schemas.microsoft.com/office/drawing/2014/main" id="{B0ACA058-C162-564D-BD0E-C57ABEE02C44}"/>
              </a:ext>
            </a:extLst>
          </p:cNvPr>
          <p:cNvSpPr/>
          <p:nvPr>
            <p:custDataLst>
              <p:tags r:id="rId10"/>
            </p:custDataLst>
          </p:nvPr>
        </p:nvSpPr>
        <p:spPr bwMode="ltGray">
          <a:xfrm>
            <a:off x="77698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收款</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及记账</a:t>
            </a:r>
          </a:p>
        </p:txBody>
      </p:sp>
      <p:sp>
        <p:nvSpPr>
          <p:cNvPr id="196" name="Chevron 77">
            <a:extLst>
              <a:ext uri="{FF2B5EF4-FFF2-40B4-BE49-F238E27FC236}">
                <a16:creationId xmlns:a16="http://schemas.microsoft.com/office/drawing/2014/main" id="{FA86E4B3-80CD-9046-B451-AED0E1AEB8AE}"/>
              </a:ext>
            </a:extLst>
          </p:cNvPr>
          <p:cNvSpPr/>
          <p:nvPr>
            <p:custDataLst>
              <p:tags r:id="rId11"/>
            </p:custDataLst>
          </p:nvPr>
        </p:nvSpPr>
        <p:spPr bwMode="ltGray">
          <a:xfrm>
            <a:off x="2030730" y="936245"/>
            <a:ext cx="1197610"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合同订单</a:t>
            </a:r>
          </a:p>
        </p:txBody>
      </p:sp>
      <p:sp>
        <p:nvSpPr>
          <p:cNvPr id="197" name="Rectangle 136">
            <a:extLst>
              <a:ext uri="{FF2B5EF4-FFF2-40B4-BE49-F238E27FC236}">
                <a16:creationId xmlns:a16="http://schemas.microsoft.com/office/drawing/2014/main" id="{712B227A-6663-D14B-9024-222CBE6545F4}"/>
              </a:ext>
            </a:extLst>
          </p:cNvPr>
          <p:cNvSpPr/>
          <p:nvPr>
            <p:custDataLst>
              <p:tags r:id="rId12"/>
            </p:custDataLst>
          </p:nvPr>
        </p:nvSpPr>
        <p:spPr>
          <a:xfrm>
            <a:off x="579120" y="213957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业务部门</a:t>
            </a:r>
          </a:p>
        </p:txBody>
      </p:sp>
      <p:sp>
        <p:nvSpPr>
          <p:cNvPr id="198" name="Rectangle 137">
            <a:extLst>
              <a:ext uri="{FF2B5EF4-FFF2-40B4-BE49-F238E27FC236}">
                <a16:creationId xmlns:a16="http://schemas.microsoft.com/office/drawing/2014/main" id="{C483FCD1-0714-4D43-B4F0-78F5924E1633}"/>
              </a:ext>
            </a:extLst>
          </p:cNvPr>
          <p:cNvSpPr/>
          <p:nvPr>
            <p:custDataLst>
              <p:tags r:id="rId13"/>
            </p:custDataLst>
          </p:nvPr>
        </p:nvSpPr>
        <p:spPr>
          <a:xfrm>
            <a:off x="579120" y="130518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客户</a:t>
            </a:r>
          </a:p>
        </p:txBody>
      </p:sp>
      <p:sp>
        <p:nvSpPr>
          <p:cNvPr id="199" name="矩形 198">
            <a:extLst>
              <a:ext uri="{FF2B5EF4-FFF2-40B4-BE49-F238E27FC236}">
                <a16:creationId xmlns:a16="http://schemas.microsoft.com/office/drawing/2014/main" id="{EF91ABB8-186C-7246-8D9E-F039E2460CF3}"/>
              </a:ext>
            </a:extLst>
          </p:cNvPr>
          <p:cNvSpPr/>
          <p:nvPr>
            <p:custDataLst>
              <p:tags r:id="rId14"/>
            </p:custDataLst>
          </p:nvPr>
        </p:nvSpPr>
        <p:spPr>
          <a:xfrm>
            <a:off x="995680" y="2330705"/>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投标报价</a:t>
            </a:r>
            <a:endParaRPr kumimoji="0" lang="en-US" altLang="zh-CN"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cxnSp>
        <p:nvCxnSpPr>
          <p:cNvPr id="200" name="直接箭头连接符 92">
            <a:extLst>
              <a:ext uri="{FF2B5EF4-FFF2-40B4-BE49-F238E27FC236}">
                <a16:creationId xmlns:a16="http://schemas.microsoft.com/office/drawing/2014/main" id="{A7CD7CAA-6351-5A49-AFB7-3F60E6A7F119}"/>
              </a:ext>
            </a:extLst>
          </p:cNvPr>
          <p:cNvCxnSpPr>
            <a:stCxn id="199" idx="0"/>
            <a:endCxn id="213" idx="2"/>
          </p:cNvCxnSpPr>
          <p:nvPr>
            <p:custDataLst>
              <p:tags r:id="rId15"/>
            </p:custDataLst>
          </p:nvPr>
        </p:nvCxnSpPr>
        <p:spPr>
          <a:xfrm flipV="1">
            <a:off x="1239937" y="1922420"/>
            <a:ext cx="0" cy="40830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矩形 200">
            <a:extLst>
              <a:ext uri="{FF2B5EF4-FFF2-40B4-BE49-F238E27FC236}">
                <a16:creationId xmlns:a16="http://schemas.microsoft.com/office/drawing/2014/main" id="{356D7C09-1EAE-C646-8933-84681C787379}"/>
              </a:ext>
            </a:extLst>
          </p:cNvPr>
          <p:cNvSpPr/>
          <p:nvPr>
            <p:custDataLst>
              <p:tags r:id="rId16"/>
            </p:custDataLst>
          </p:nvPr>
        </p:nvSpPr>
        <p:spPr>
          <a:xfrm>
            <a:off x="3264565" y="2159927"/>
            <a:ext cx="888365" cy="2911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发货通知</a:t>
            </a:r>
          </a:p>
        </p:txBody>
      </p:sp>
      <p:sp>
        <p:nvSpPr>
          <p:cNvPr id="202" name="矩形 201">
            <a:extLst>
              <a:ext uri="{FF2B5EF4-FFF2-40B4-BE49-F238E27FC236}">
                <a16:creationId xmlns:a16="http://schemas.microsoft.com/office/drawing/2014/main" id="{C4D6E034-6B82-9241-888D-3F884F3EBFD4}"/>
              </a:ext>
            </a:extLst>
          </p:cNvPr>
          <p:cNvSpPr/>
          <p:nvPr>
            <p:custDataLst>
              <p:tags r:id="rId17"/>
            </p:custDataLst>
          </p:nvPr>
        </p:nvSpPr>
        <p:spPr>
          <a:xfrm>
            <a:off x="3264565" y="2583656"/>
            <a:ext cx="888365" cy="2782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出库结算</a:t>
            </a:r>
          </a:p>
        </p:txBody>
      </p:sp>
      <p:cxnSp>
        <p:nvCxnSpPr>
          <p:cNvPr id="203" name="直接箭头连接符 95">
            <a:extLst>
              <a:ext uri="{FF2B5EF4-FFF2-40B4-BE49-F238E27FC236}">
                <a16:creationId xmlns:a16="http://schemas.microsoft.com/office/drawing/2014/main" id="{30B20399-6C9D-7A4C-B091-AEED3A15C23D}"/>
              </a:ext>
            </a:extLst>
          </p:cNvPr>
          <p:cNvCxnSpPr>
            <a:stCxn id="227" idx="2"/>
            <a:endCxn id="229" idx="0"/>
          </p:cNvCxnSpPr>
          <p:nvPr>
            <p:custDataLst>
              <p:tags r:id="rId18"/>
            </p:custDataLst>
          </p:nvPr>
        </p:nvCxnSpPr>
        <p:spPr>
          <a:xfrm flipH="1">
            <a:off x="4928553" y="2455890"/>
            <a:ext cx="317" cy="5517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连接符: 肘形 58">
            <a:extLst>
              <a:ext uri="{FF2B5EF4-FFF2-40B4-BE49-F238E27FC236}">
                <a16:creationId xmlns:a16="http://schemas.microsoft.com/office/drawing/2014/main" id="{CDE299A1-A87F-8749-BFEA-A9A88C6AE6A7}"/>
              </a:ext>
            </a:extLst>
          </p:cNvPr>
          <p:cNvCxnSpPr>
            <a:stCxn id="215" idx="3"/>
            <a:endCxn id="201" idx="1"/>
          </p:cNvCxnSpPr>
          <p:nvPr>
            <p:custDataLst>
              <p:tags r:id="rId19"/>
            </p:custDataLst>
          </p:nvPr>
        </p:nvCxnSpPr>
        <p:spPr>
          <a:xfrm flipV="1">
            <a:off x="3046092" y="2305481"/>
            <a:ext cx="218473" cy="419352"/>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连接符: 肘形 74">
            <a:extLst>
              <a:ext uri="{FF2B5EF4-FFF2-40B4-BE49-F238E27FC236}">
                <a16:creationId xmlns:a16="http://schemas.microsoft.com/office/drawing/2014/main" id="{8D506343-66E7-4440-862F-207EEE6279C2}"/>
              </a:ext>
            </a:extLst>
          </p:cNvPr>
          <p:cNvCxnSpPr>
            <a:stCxn id="214" idx="0"/>
            <a:endCxn id="223" idx="0"/>
          </p:cNvCxnSpPr>
          <p:nvPr>
            <p:custDataLst>
              <p:tags r:id="rId20"/>
            </p:custDataLst>
          </p:nvPr>
        </p:nvCxnSpPr>
        <p:spPr>
          <a:xfrm rot="16200000" flipH="1">
            <a:off x="5030724" y="-302857"/>
            <a:ext cx="841184" cy="5766753"/>
          </a:xfrm>
          <a:prstGeom prst="bentConnector3">
            <a:avLst>
              <a:gd name="adj1" fmla="val -27176"/>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6" name="文本框 205">
            <a:extLst>
              <a:ext uri="{FF2B5EF4-FFF2-40B4-BE49-F238E27FC236}">
                <a16:creationId xmlns:a16="http://schemas.microsoft.com/office/drawing/2014/main" id="{7F5C158B-766F-0D43-82BF-4B6C86779558}"/>
              </a:ext>
            </a:extLst>
          </p:cNvPr>
          <p:cNvSpPr txBox="1"/>
          <p:nvPr>
            <p:custDataLst>
              <p:tags r:id="rId21"/>
            </p:custDataLst>
          </p:nvPr>
        </p:nvSpPr>
        <p:spPr>
          <a:xfrm>
            <a:off x="4483128" y="1679605"/>
            <a:ext cx="572814" cy="245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有预收</a:t>
            </a:r>
          </a:p>
        </p:txBody>
      </p:sp>
      <p:cxnSp>
        <p:nvCxnSpPr>
          <p:cNvPr id="207" name="直接箭头连接符 116">
            <a:extLst>
              <a:ext uri="{FF2B5EF4-FFF2-40B4-BE49-F238E27FC236}">
                <a16:creationId xmlns:a16="http://schemas.microsoft.com/office/drawing/2014/main" id="{2B88C109-03A1-BC47-B56F-CA427FC08FB8}"/>
              </a:ext>
            </a:extLst>
          </p:cNvPr>
          <p:cNvCxnSpPr>
            <a:stCxn id="201" idx="2"/>
            <a:endCxn id="202" idx="0"/>
          </p:cNvCxnSpPr>
          <p:nvPr>
            <p:custDataLst>
              <p:tags r:id="rId22"/>
            </p:custDataLst>
          </p:nvPr>
        </p:nvCxnSpPr>
        <p:spPr>
          <a:xfrm>
            <a:off x="3708748" y="2451035"/>
            <a:ext cx="0" cy="13262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117">
            <a:extLst>
              <a:ext uri="{FF2B5EF4-FFF2-40B4-BE49-F238E27FC236}">
                <a16:creationId xmlns:a16="http://schemas.microsoft.com/office/drawing/2014/main" id="{4C51AB05-DBDF-F643-A120-059BC61B7636}"/>
              </a:ext>
            </a:extLst>
          </p:cNvPr>
          <p:cNvCxnSpPr>
            <a:stCxn id="223" idx="2"/>
            <a:endCxn id="224" idx="0"/>
          </p:cNvCxnSpPr>
          <p:nvPr>
            <p:custDataLst>
              <p:tags r:id="rId23"/>
            </p:custDataLst>
          </p:nvPr>
        </p:nvCxnSpPr>
        <p:spPr>
          <a:xfrm>
            <a:off x="8334693" y="3317977"/>
            <a:ext cx="0" cy="634647"/>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直接箭头连接符 119">
            <a:extLst>
              <a:ext uri="{FF2B5EF4-FFF2-40B4-BE49-F238E27FC236}">
                <a16:creationId xmlns:a16="http://schemas.microsoft.com/office/drawing/2014/main" id="{668D0EFC-6278-A04E-955E-980B9168244C}"/>
              </a:ext>
            </a:extLst>
          </p:cNvPr>
          <p:cNvCxnSpPr>
            <a:stCxn id="222" idx="2"/>
            <a:endCxn id="243" idx="0"/>
          </p:cNvCxnSpPr>
          <p:nvPr>
            <p:custDataLst>
              <p:tags r:id="rId24"/>
            </p:custDataLst>
          </p:nvPr>
        </p:nvCxnSpPr>
        <p:spPr>
          <a:xfrm>
            <a:off x="7193917" y="2730085"/>
            <a:ext cx="316" cy="7395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2" name="标注: 线形(无边框) 36">
            <a:extLst>
              <a:ext uri="{FF2B5EF4-FFF2-40B4-BE49-F238E27FC236}">
                <a16:creationId xmlns:a16="http://schemas.microsoft.com/office/drawing/2014/main" id="{817DE62C-7E0C-5F4E-95D9-CDE433AE7533}"/>
              </a:ext>
            </a:extLst>
          </p:cNvPr>
          <p:cNvSpPr/>
          <p:nvPr>
            <p:custDataLst>
              <p:tags r:id="rId25"/>
            </p:custDataLst>
          </p:nvPr>
        </p:nvSpPr>
        <p:spPr>
          <a:xfrm>
            <a:off x="6920333" y="4309147"/>
            <a:ext cx="706551" cy="428297"/>
          </a:xfrm>
          <a:prstGeom prst="callout1">
            <a:avLst>
              <a:gd name="adj1" fmla="val 34002"/>
              <a:gd name="adj2" fmla="val 102890"/>
              <a:gd name="adj3" fmla="val 59503"/>
              <a:gd name="adj4" fmla="val 135693"/>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真实完整</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防篡改</a:t>
            </a:r>
          </a:p>
        </p:txBody>
      </p:sp>
      <p:sp>
        <p:nvSpPr>
          <p:cNvPr id="213" name="矩形 212">
            <a:extLst>
              <a:ext uri="{FF2B5EF4-FFF2-40B4-BE49-F238E27FC236}">
                <a16:creationId xmlns:a16="http://schemas.microsoft.com/office/drawing/2014/main" id="{E97FE9CF-D98B-A14D-B549-33FE0C547CC6}"/>
              </a:ext>
            </a:extLst>
          </p:cNvPr>
          <p:cNvSpPr/>
          <p:nvPr>
            <p:custDataLst>
              <p:tags r:id="rId26"/>
            </p:custDataLst>
          </p:nvPr>
        </p:nvSpPr>
        <p:spPr>
          <a:xfrm>
            <a:off x="995680" y="1494410"/>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询价</a:t>
            </a:r>
          </a:p>
        </p:txBody>
      </p:sp>
      <p:sp>
        <p:nvSpPr>
          <p:cNvPr id="214" name="矩形 213">
            <a:extLst>
              <a:ext uri="{FF2B5EF4-FFF2-40B4-BE49-F238E27FC236}">
                <a16:creationId xmlns:a16="http://schemas.microsoft.com/office/drawing/2014/main" id="{ABD91871-920F-8E4F-B396-393154B4B2AD}"/>
              </a:ext>
            </a:extLst>
          </p:cNvPr>
          <p:cNvSpPr/>
          <p:nvPr>
            <p:custDataLst>
              <p:tags r:id="rId27"/>
            </p:custDataLst>
          </p:nvPr>
        </p:nvSpPr>
        <p:spPr>
          <a:xfrm>
            <a:off x="2089785" y="2159927"/>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销售合同</a:t>
            </a:r>
          </a:p>
        </p:txBody>
      </p:sp>
      <p:sp>
        <p:nvSpPr>
          <p:cNvPr id="215" name="矩形 214">
            <a:extLst>
              <a:ext uri="{FF2B5EF4-FFF2-40B4-BE49-F238E27FC236}">
                <a16:creationId xmlns:a16="http://schemas.microsoft.com/office/drawing/2014/main" id="{C3AA32E6-80A3-DA45-AF50-71313F20869B}"/>
              </a:ext>
            </a:extLst>
          </p:cNvPr>
          <p:cNvSpPr/>
          <p:nvPr>
            <p:custDataLst>
              <p:tags r:id="rId28"/>
            </p:custDataLst>
          </p:nvPr>
        </p:nvSpPr>
        <p:spPr>
          <a:xfrm>
            <a:off x="2089782" y="2583656"/>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创建订单</a:t>
            </a:r>
          </a:p>
        </p:txBody>
      </p:sp>
      <p:sp>
        <p:nvSpPr>
          <p:cNvPr id="216" name="矩形 215">
            <a:extLst>
              <a:ext uri="{FF2B5EF4-FFF2-40B4-BE49-F238E27FC236}">
                <a16:creationId xmlns:a16="http://schemas.microsoft.com/office/drawing/2014/main" id="{9C721FEE-DD08-BD49-917C-CC657F1098E5}"/>
              </a:ext>
            </a:extLst>
          </p:cNvPr>
          <p:cNvSpPr/>
          <p:nvPr>
            <p:custDataLst>
              <p:tags r:id="rId29"/>
            </p:custDataLst>
          </p:nvPr>
        </p:nvSpPr>
        <p:spPr>
          <a:xfrm>
            <a:off x="5589390" y="2404998"/>
            <a:ext cx="888124" cy="3441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开票申请</a:t>
            </a:r>
          </a:p>
        </p:txBody>
      </p:sp>
      <p:cxnSp>
        <p:nvCxnSpPr>
          <p:cNvPr id="217" name="直接箭头连接符 126">
            <a:extLst>
              <a:ext uri="{FF2B5EF4-FFF2-40B4-BE49-F238E27FC236}">
                <a16:creationId xmlns:a16="http://schemas.microsoft.com/office/drawing/2014/main" id="{6D4A036A-C703-6D41-AEAC-13817BF2B926}"/>
              </a:ext>
            </a:extLst>
          </p:cNvPr>
          <p:cNvCxnSpPr>
            <a:stCxn id="214" idx="2"/>
            <a:endCxn id="215" idx="0"/>
          </p:cNvCxnSpPr>
          <p:nvPr>
            <p:custDataLst>
              <p:tags r:id="rId30"/>
            </p:custDataLst>
          </p:nvPr>
        </p:nvCxnSpPr>
        <p:spPr>
          <a:xfrm flipH="1">
            <a:off x="2567937" y="2442280"/>
            <a:ext cx="3" cy="141376"/>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8" name="矩形 217">
            <a:extLst>
              <a:ext uri="{FF2B5EF4-FFF2-40B4-BE49-F238E27FC236}">
                <a16:creationId xmlns:a16="http://schemas.microsoft.com/office/drawing/2014/main" id="{559033C8-18A9-1F4F-85A4-C8C00ED05571}"/>
              </a:ext>
            </a:extLst>
          </p:cNvPr>
          <p:cNvSpPr/>
          <p:nvPr>
            <p:custDataLst>
              <p:tags r:id="rId31"/>
            </p:custDataLst>
          </p:nvPr>
        </p:nvSpPr>
        <p:spPr>
          <a:xfrm>
            <a:off x="5589270" y="3003463"/>
            <a:ext cx="888365" cy="3114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发票开具</a:t>
            </a:r>
          </a:p>
        </p:txBody>
      </p:sp>
      <p:cxnSp>
        <p:nvCxnSpPr>
          <p:cNvPr id="219" name="直接箭头连接符 129">
            <a:extLst>
              <a:ext uri="{FF2B5EF4-FFF2-40B4-BE49-F238E27FC236}">
                <a16:creationId xmlns:a16="http://schemas.microsoft.com/office/drawing/2014/main" id="{51B3BBAD-DD70-0C46-957B-932D279829C0}"/>
              </a:ext>
            </a:extLst>
          </p:cNvPr>
          <p:cNvCxnSpPr>
            <a:stCxn id="216" idx="2"/>
            <a:endCxn id="218" idx="0"/>
          </p:cNvCxnSpPr>
          <p:nvPr>
            <p:custDataLst>
              <p:tags r:id="rId32"/>
            </p:custDataLst>
          </p:nvPr>
        </p:nvCxnSpPr>
        <p:spPr>
          <a:xfrm>
            <a:off x="6033452" y="2749169"/>
            <a:ext cx="1" cy="25429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连接符: 肘形 58">
            <a:extLst>
              <a:ext uri="{FF2B5EF4-FFF2-40B4-BE49-F238E27FC236}">
                <a16:creationId xmlns:a16="http://schemas.microsoft.com/office/drawing/2014/main" id="{921837D0-8CA7-C64C-8D8E-E8F53782F4D5}"/>
              </a:ext>
            </a:extLst>
          </p:cNvPr>
          <p:cNvCxnSpPr>
            <a:stCxn id="213" idx="3"/>
            <a:endCxn id="214" idx="1"/>
          </p:cNvCxnSpPr>
          <p:nvPr>
            <p:custDataLst>
              <p:tags r:id="rId33"/>
            </p:custDataLst>
          </p:nvPr>
        </p:nvCxnSpPr>
        <p:spPr>
          <a:xfrm>
            <a:off x="1484630" y="1708405"/>
            <a:ext cx="605155" cy="592699"/>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2" name="矩形 221">
            <a:extLst>
              <a:ext uri="{FF2B5EF4-FFF2-40B4-BE49-F238E27FC236}">
                <a16:creationId xmlns:a16="http://schemas.microsoft.com/office/drawing/2014/main" id="{A02AF336-F306-214B-811D-FC0B11D9ABEF}"/>
              </a:ext>
            </a:extLst>
          </p:cNvPr>
          <p:cNvSpPr/>
          <p:nvPr>
            <p:custDataLst>
              <p:tags r:id="rId34"/>
            </p:custDataLst>
          </p:nvPr>
        </p:nvSpPr>
        <p:spPr>
          <a:xfrm>
            <a:off x="6749734" y="2447732"/>
            <a:ext cx="888365"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催收信息</a:t>
            </a:r>
          </a:p>
        </p:txBody>
      </p:sp>
      <p:sp>
        <p:nvSpPr>
          <p:cNvPr id="223" name="矩形 222">
            <a:extLst>
              <a:ext uri="{FF2B5EF4-FFF2-40B4-BE49-F238E27FC236}">
                <a16:creationId xmlns:a16="http://schemas.microsoft.com/office/drawing/2014/main" id="{D687C6F8-D97A-7447-913E-EA5BF8471810}"/>
              </a:ext>
            </a:extLst>
          </p:cNvPr>
          <p:cNvSpPr/>
          <p:nvPr>
            <p:custDataLst>
              <p:tags r:id="rId35"/>
            </p:custDataLst>
          </p:nvPr>
        </p:nvSpPr>
        <p:spPr>
          <a:xfrm>
            <a:off x="7890510" y="3001111"/>
            <a:ext cx="888365" cy="3168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收款处理</a:t>
            </a:r>
          </a:p>
        </p:txBody>
      </p:sp>
      <p:sp>
        <p:nvSpPr>
          <p:cNvPr id="224" name="矩形 223">
            <a:extLst>
              <a:ext uri="{FF2B5EF4-FFF2-40B4-BE49-F238E27FC236}">
                <a16:creationId xmlns:a16="http://schemas.microsoft.com/office/drawing/2014/main" id="{04B0DD90-1F35-6441-ACAB-9898E460757D}"/>
              </a:ext>
            </a:extLst>
          </p:cNvPr>
          <p:cNvSpPr/>
          <p:nvPr>
            <p:custDataLst>
              <p:tags r:id="rId36"/>
            </p:custDataLst>
          </p:nvPr>
        </p:nvSpPr>
        <p:spPr>
          <a:xfrm>
            <a:off x="7890510" y="3952624"/>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会计凭证</a:t>
            </a:r>
          </a:p>
        </p:txBody>
      </p:sp>
      <p:sp>
        <p:nvSpPr>
          <p:cNvPr id="225" name="矩形 224">
            <a:extLst>
              <a:ext uri="{FF2B5EF4-FFF2-40B4-BE49-F238E27FC236}">
                <a16:creationId xmlns:a16="http://schemas.microsoft.com/office/drawing/2014/main" id="{5457ECBD-9C52-6A40-B853-18B6EB3AD835}"/>
              </a:ext>
            </a:extLst>
          </p:cNvPr>
          <p:cNvSpPr/>
          <p:nvPr>
            <p:custDataLst>
              <p:tags r:id="rId37"/>
            </p:custDataLst>
          </p:nvPr>
        </p:nvSpPr>
        <p:spPr>
          <a:xfrm>
            <a:off x="7890510" y="4393185"/>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会计档案</a:t>
            </a:r>
          </a:p>
        </p:txBody>
      </p:sp>
      <p:cxnSp>
        <p:nvCxnSpPr>
          <p:cNvPr id="226" name="直接箭头连接符 136">
            <a:extLst>
              <a:ext uri="{FF2B5EF4-FFF2-40B4-BE49-F238E27FC236}">
                <a16:creationId xmlns:a16="http://schemas.microsoft.com/office/drawing/2014/main" id="{8E337766-6455-704F-8E44-012B250321FF}"/>
              </a:ext>
            </a:extLst>
          </p:cNvPr>
          <p:cNvCxnSpPr>
            <a:stCxn id="224" idx="2"/>
            <a:endCxn id="225" idx="0"/>
          </p:cNvCxnSpPr>
          <p:nvPr>
            <p:custDataLst>
              <p:tags r:id="rId38"/>
            </p:custDataLst>
          </p:nvPr>
        </p:nvCxnSpPr>
        <p:spPr>
          <a:xfrm>
            <a:off x="8334693" y="4296794"/>
            <a:ext cx="0" cy="9639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7" name="矩形 226">
            <a:extLst>
              <a:ext uri="{FF2B5EF4-FFF2-40B4-BE49-F238E27FC236}">
                <a16:creationId xmlns:a16="http://schemas.microsoft.com/office/drawing/2014/main" id="{7FE3CAE7-30DA-F846-8D8D-05F9C798A7A4}"/>
              </a:ext>
            </a:extLst>
          </p:cNvPr>
          <p:cNvSpPr/>
          <p:nvPr>
            <p:custDataLst>
              <p:tags r:id="rId39"/>
            </p:custDataLst>
          </p:nvPr>
        </p:nvSpPr>
        <p:spPr>
          <a:xfrm>
            <a:off x="4522470" y="2125917"/>
            <a:ext cx="812800" cy="3299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发起结算对账</a:t>
            </a:r>
          </a:p>
        </p:txBody>
      </p:sp>
      <p:cxnSp>
        <p:nvCxnSpPr>
          <p:cNvPr id="228" name="连接符: 肘形 58">
            <a:extLst>
              <a:ext uri="{FF2B5EF4-FFF2-40B4-BE49-F238E27FC236}">
                <a16:creationId xmlns:a16="http://schemas.microsoft.com/office/drawing/2014/main" id="{AEA97C18-CD8D-8A4C-9CF9-ECF538A7BAE6}"/>
              </a:ext>
            </a:extLst>
          </p:cNvPr>
          <p:cNvCxnSpPr>
            <a:stCxn id="202" idx="3"/>
            <a:endCxn id="227" idx="1"/>
          </p:cNvCxnSpPr>
          <p:nvPr>
            <p:custDataLst>
              <p:tags r:id="rId40"/>
            </p:custDataLst>
          </p:nvPr>
        </p:nvCxnSpPr>
        <p:spPr>
          <a:xfrm flipV="1">
            <a:off x="4152930" y="2290904"/>
            <a:ext cx="369540" cy="431864"/>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9" name="矩形 228">
            <a:extLst>
              <a:ext uri="{FF2B5EF4-FFF2-40B4-BE49-F238E27FC236}">
                <a16:creationId xmlns:a16="http://schemas.microsoft.com/office/drawing/2014/main" id="{BC9A2AAD-595A-FA40-90D3-2C969838C67E}"/>
              </a:ext>
            </a:extLst>
          </p:cNvPr>
          <p:cNvSpPr/>
          <p:nvPr>
            <p:custDataLst>
              <p:tags r:id="rId41"/>
            </p:custDataLst>
          </p:nvPr>
        </p:nvSpPr>
        <p:spPr>
          <a:xfrm>
            <a:off x="4522153" y="300765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审核结算对账单</a:t>
            </a:r>
          </a:p>
        </p:txBody>
      </p:sp>
      <p:cxnSp>
        <p:nvCxnSpPr>
          <p:cNvPr id="230" name="连接符: 肘形 58">
            <a:extLst>
              <a:ext uri="{FF2B5EF4-FFF2-40B4-BE49-F238E27FC236}">
                <a16:creationId xmlns:a16="http://schemas.microsoft.com/office/drawing/2014/main" id="{486C9630-D1AC-9247-929C-054CF65BD8E7}"/>
              </a:ext>
            </a:extLst>
          </p:cNvPr>
          <p:cNvCxnSpPr>
            <a:stCxn id="238" idx="3"/>
            <a:endCxn id="216" idx="1"/>
          </p:cNvCxnSpPr>
          <p:nvPr>
            <p:custDataLst>
              <p:tags r:id="rId42"/>
            </p:custDataLst>
          </p:nvPr>
        </p:nvCxnSpPr>
        <p:spPr>
          <a:xfrm flipV="1">
            <a:off x="5334636" y="2577084"/>
            <a:ext cx="254754" cy="1065570"/>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Oval 156">
            <a:extLst>
              <a:ext uri="{FF2B5EF4-FFF2-40B4-BE49-F238E27FC236}">
                <a16:creationId xmlns:a16="http://schemas.microsoft.com/office/drawing/2014/main" id="{A714B29A-BB15-9D46-A813-340027CF223F}"/>
              </a:ext>
            </a:extLst>
          </p:cNvPr>
          <p:cNvSpPr/>
          <p:nvPr>
            <p:custDataLst>
              <p:tags r:id="rId43"/>
            </p:custDataLst>
          </p:nvPr>
        </p:nvSpPr>
        <p:spPr>
          <a:xfrm>
            <a:off x="7494905" y="2283902"/>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3</a:t>
            </a:r>
          </a:p>
        </p:txBody>
      </p:sp>
      <p:sp>
        <p:nvSpPr>
          <p:cNvPr id="233" name="Oval 156">
            <a:extLst>
              <a:ext uri="{FF2B5EF4-FFF2-40B4-BE49-F238E27FC236}">
                <a16:creationId xmlns:a16="http://schemas.microsoft.com/office/drawing/2014/main" id="{B70C7ABD-5941-F942-A5D6-776875325F2E}"/>
              </a:ext>
            </a:extLst>
          </p:cNvPr>
          <p:cNvSpPr/>
          <p:nvPr>
            <p:custDataLst>
              <p:tags r:id="rId44"/>
            </p:custDataLst>
          </p:nvPr>
        </p:nvSpPr>
        <p:spPr>
          <a:xfrm>
            <a:off x="8661400" y="430936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5</a:t>
            </a:r>
          </a:p>
        </p:txBody>
      </p:sp>
      <p:sp>
        <p:nvSpPr>
          <p:cNvPr id="234" name="标注: 线形(无边框) 120">
            <a:extLst>
              <a:ext uri="{FF2B5EF4-FFF2-40B4-BE49-F238E27FC236}">
                <a16:creationId xmlns:a16="http://schemas.microsoft.com/office/drawing/2014/main" id="{DCA03B81-5427-144C-B10A-EFDF41A17A7D}"/>
              </a:ext>
            </a:extLst>
          </p:cNvPr>
          <p:cNvSpPr/>
          <p:nvPr>
            <p:custDataLst>
              <p:tags r:id="rId45"/>
            </p:custDataLst>
          </p:nvPr>
        </p:nvSpPr>
        <p:spPr>
          <a:xfrm>
            <a:off x="6674515" y="2877541"/>
            <a:ext cx="489585" cy="316865"/>
          </a:xfrm>
          <a:prstGeom prst="callout1">
            <a:avLst>
              <a:gd name="adj1" fmla="val -4551"/>
              <a:gd name="adj2" fmla="val 21668"/>
              <a:gd name="adj3" fmla="val -50620"/>
              <a:gd name="adj4" fmla="val 673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自动通知</a:t>
            </a:r>
          </a:p>
        </p:txBody>
      </p:sp>
      <p:sp>
        <p:nvSpPr>
          <p:cNvPr id="235" name="标注: 线形(无边框) 120">
            <a:extLst>
              <a:ext uri="{FF2B5EF4-FFF2-40B4-BE49-F238E27FC236}">
                <a16:creationId xmlns:a16="http://schemas.microsoft.com/office/drawing/2014/main" id="{1C95C655-5796-EB41-85DE-FC34587F6C34}"/>
              </a:ext>
            </a:extLst>
          </p:cNvPr>
          <p:cNvSpPr/>
          <p:nvPr>
            <p:custDataLst>
              <p:tags r:id="rId46"/>
            </p:custDataLst>
          </p:nvPr>
        </p:nvSpPr>
        <p:spPr>
          <a:xfrm>
            <a:off x="8416607" y="1883030"/>
            <a:ext cx="489585" cy="316865"/>
          </a:xfrm>
          <a:prstGeom prst="callout1">
            <a:avLst>
              <a:gd name="adj1" fmla="val 108617"/>
              <a:gd name="adj2" fmla="val 36316"/>
              <a:gd name="adj3" fmla="val 172886"/>
              <a:gd name="adj4" fmla="val 14259"/>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智能认领</a:t>
            </a:r>
          </a:p>
        </p:txBody>
      </p:sp>
      <p:cxnSp>
        <p:nvCxnSpPr>
          <p:cNvPr id="236" name="肘形连接符 235">
            <a:extLst>
              <a:ext uri="{FF2B5EF4-FFF2-40B4-BE49-F238E27FC236}">
                <a16:creationId xmlns:a16="http://schemas.microsoft.com/office/drawing/2014/main" id="{142F3296-DC9E-F64E-865D-346C5B57A31D}"/>
              </a:ext>
            </a:extLst>
          </p:cNvPr>
          <p:cNvCxnSpPr>
            <a:stCxn id="238" idx="3"/>
            <a:endCxn id="224" idx="0"/>
          </p:cNvCxnSpPr>
          <p:nvPr/>
        </p:nvCxnSpPr>
        <p:spPr>
          <a:xfrm>
            <a:off x="5334636" y="3642654"/>
            <a:ext cx="3000057" cy="309970"/>
          </a:xfrm>
          <a:prstGeom prst="bentConnector2">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直接箭头连接符 184">
            <a:extLst>
              <a:ext uri="{FF2B5EF4-FFF2-40B4-BE49-F238E27FC236}">
                <a16:creationId xmlns:a16="http://schemas.microsoft.com/office/drawing/2014/main" id="{529048CE-70B0-744D-9B42-65A4ABAE32AC}"/>
              </a:ext>
            </a:extLst>
          </p:cNvPr>
          <p:cNvCxnSpPr>
            <a:stCxn id="229" idx="2"/>
            <a:endCxn id="238" idx="0"/>
          </p:cNvCxnSpPr>
          <p:nvPr>
            <p:custDataLst>
              <p:tags r:id="rId47"/>
            </p:custDataLst>
          </p:nvPr>
        </p:nvCxnSpPr>
        <p:spPr>
          <a:xfrm>
            <a:off x="4928553" y="3351824"/>
            <a:ext cx="2474" cy="11874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8" name="矩形 237">
            <a:extLst>
              <a:ext uri="{FF2B5EF4-FFF2-40B4-BE49-F238E27FC236}">
                <a16:creationId xmlns:a16="http://schemas.microsoft.com/office/drawing/2014/main" id="{DBBE45D0-DA05-F24D-8C0B-E03A11001C66}"/>
              </a:ext>
            </a:extLst>
          </p:cNvPr>
          <p:cNvSpPr/>
          <p:nvPr>
            <p:custDataLst>
              <p:tags r:id="rId48"/>
            </p:custDataLst>
          </p:nvPr>
        </p:nvSpPr>
        <p:spPr>
          <a:xfrm>
            <a:off x="4527418" y="3470569"/>
            <a:ext cx="807218"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应收挂账</a:t>
            </a:r>
          </a:p>
        </p:txBody>
      </p:sp>
      <p:cxnSp>
        <p:nvCxnSpPr>
          <p:cNvPr id="239" name="直接箭头连接符 186">
            <a:extLst>
              <a:ext uri="{FF2B5EF4-FFF2-40B4-BE49-F238E27FC236}">
                <a16:creationId xmlns:a16="http://schemas.microsoft.com/office/drawing/2014/main" id="{3540F55E-9167-804F-A33E-B1D0930D587F}"/>
              </a:ext>
            </a:extLst>
          </p:cNvPr>
          <p:cNvCxnSpPr>
            <a:stCxn id="238" idx="2"/>
            <a:endCxn id="241" idx="0"/>
          </p:cNvCxnSpPr>
          <p:nvPr>
            <p:custDataLst>
              <p:tags r:id="rId49"/>
            </p:custDataLst>
          </p:nvPr>
        </p:nvCxnSpPr>
        <p:spPr>
          <a:xfrm>
            <a:off x="4931027" y="3814739"/>
            <a:ext cx="2914" cy="13788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肘形连接符 115">
            <a:extLst>
              <a:ext uri="{FF2B5EF4-FFF2-40B4-BE49-F238E27FC236}">
                <a16:creationId xmlns:a16="http://schemas.microsoft.com/office/drawing/2014/main" id="{B8482158-7927-0843-9497-2A0D8EF6EE5F}"/>
              </a:ext>
            </a:extLst>
          </p:cNvPr>
          <p:cNvCxnSpPr>
            <a:cxnSpLocks/>
            <a:stCxn id="202" idx="2"/>
            <a:endCxn id="224" idx="1"/>
          </p:cNvCxnSpPr>
          <p:nvPr/>
        </p:nvCxnSpPr>
        <p:spPr>
          <a:xfrm rot="16200000" flipH="1">
            <a:off x="5168215" y="1402413"/>
            <a:ext cx="1262829" cy="418176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41" name="矩形 240">
            <a:extLst>
              <a:ext uri="{FF2B5EF4-FFF2-40B4-BE49-F238E27FC236}">
                <a16:creationId xmlns:a16="http://schemas.microsoft.com/office/drawing/2014/main" id="{E43DD971-84B7-C140-8159-210DDB8AA4CA}"/>
              </a:ext>
            </a:extLst>
          </p:cNvPr>
          <p:cNvSpPr/>
          <p:nvPr>
            <p:custDataLst>
              <p:tags r:id="rId50"/>
            </p:custDataLst>
          </p:nvPr>
        </p:nvSpPr>
        <p:spPr>
          <a:xfrm>
            <a:off x="4527541" y="395262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收入确认</a:t>
            </a:r>
          </a:p>
        </p:txBody>
      </p:sp>
      <p:sp>
        <p:nvSpPr>
          <p:cNvPr id="242" name="Oval 156">
            <a:extLst>
              <a:ext uri="{FF2B5EF4-FFF2-40B4-BE49-F238E27FC236}">
                <a16:creationId xmlns:a16="http://schemas.microsoft.com/office/drawing/2014/main" id="{E3038735-5469-C84E-B8FA-27754BDD9057}"/>
              </a:ext>
            </a:extLst>
          </p:cNvPr>
          <p:cNvSpPr/>
          <p:nvPr>
            <p:custDataLst>
              <p:tags r:id="rId51"/>
            </p:custDataLst>
          </p:nvPr>
        </p:nvSpPr>
        <p:spPr>
          <a:xfrm>
            <a:off x="5193096" y="384048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2</a:t>
            </a:r>
          </a:p>
        </p:txBody>
      </p:sp>
      <p:sp>
        <p:nvSpPr>
          <p:cNvPr id="243" name="矩形 242">
            <a:extLst>
              <a:ext uri="{FF2B5EF4-FFF2-40B4-BE49-F238E27FC236}">
                <a16:creationId xmlns:a16="http://schemas.microsoft.com/office/drawing/2014/main" id="{C57E0038-A848-044D-93ED-A87E22BC71F2}"/>
              </a:ext>
            </a:extLst>
          </p:cNvPr>
          <p:cNvSpPr/>
          <p:nvPr>
            <p:custDataLst>
              <p:tags r:id="rId52"/>
            </p:custDataLst>
          </p:nvPr>
        </p:nvSpPr>
        <p:spPr>
          <a:xfrm>
            <a:off x="6750050" y="3469649"/>
            <a:ext cx="888365" cy="3113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坏账</a:t>
            </a:r>
            <a:r>
              <a:rPr kumimoji="0" lang="zh-Hans"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计提</a:t>
            </a:r>
            <a:endPar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244" name="矩形 243">
            <a:extLst>
              <a:ext uri="{FF2B5EF4-FFF2-40B4-BE49-F238E27FC236}">
                <a16:creationId xmlns:a16="http://schemas.microsoft.com/office/drawing/2014/main" id="{44285892-3DBB-224C-83BC-BF33AAB9F21D}"/>
              </a:ext>
            </a:extLst>
          </p:cNvPr>
          <p:cNvSpPr/>
          <p:nvPr>
            <p:custDataLst>
              <p:tags r:id="rId53"/>
            </p:custDataLst>
          </p:nvPr>
        </p:nvSpPr>
        <p:spPr>
          <a:xfrm>
            <a:off x="7890510" y="2451034"/>
            <a:ext cx="888365" cy="3124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收款认领</a:t>
            </a:r>
          </a:p>
        </p:txBody>
      </p:sp>
      <p:cxnSp>
        <p:nvCxnSpPr>
          <p:cNvPr id="245" name="直接箭头连接符 192">
            <a:extLst>
              <a:ext uri="{FF2B5EF4-FFF2-40B4-BE49-F238E27FC236}">
                <a16:creationId xmlns:a16="http://schemas.microsoft.com/office/drawing/2014/main" id="{82A45A27-3533-9E4D-A2A7-C76EB5F66B39}"/>
              </a:ext>
            </a:extLst>
          </p:cNvPr>
          <p:cNvCxnSpPr>
            <a:cxnSpLocks/>
            <a:stCxn id="241" idx="3"/>
            <a:endCxn id="224" idx="1"/>
          </p:cNvCxnSpPr>
          <p:nvPr>
            <p:custDataLst>
              <p:tags r:id="rId54"/>
            </p:custDataLst>
          </p:nvPr>
        </p:nvCxnSpPr>
        <p:spPr>
          <a:xfrm>
            <a:off x="5340341" y="4124709"/>
            <a:ext cx="2550169" cy="0"/>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接箭头连接符 193">
            <a:extLst>
              <a:ext uri="{FF2B5EF4-FFF2-40B4-BE49-F238E27FC236}">
                <a16:creationId xmlns:a16="http://schemas.microsoft.com/office/drawing/2014/main" id="{4B5E0C4E-C06D-A342-BEE2-7FD0BA01A247}"/>
              </a:ext>
            </a:extLst>
          </p:cNvPr>
          <p:cNvCxnSpPr>
            <a:stCxn id="244" idx="2"/>
            <a:endCxn id="223" idx="0"/>
          </p:cNvCxnSpPr>
          <p:nvPr>
            <p:custDataLst>
              <p:tags r:id="rId55"/>
            </p:custDataLst>
          </p:nvPr>
        </p:nvCxnSpPr>
        <p:spPr>
          <a:xfrm>
            <a:off x="8334693" y="2763457"/>
            <a:ext cx="0" cy="23765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7" name="Oval 156">
            <a:extLst>
              <a:ext uri="{FF2B5EF4-FFF2-40B4-BE49-F238E27FC236}">
                <a16:creationId xmlns:a16="http://schemas.microsoft.com/office/drawing/2014/main" id="{DD3DDF74-E503-294E-A395-6B344364D13A}"/>
              </a:ext>
            </a:extLst>
          </p:cNvPr>
          <p:cNvSpPr/>
          <p:nvPr>
            <p:custDataLst>
              <p:tags r:id="rId56"/>
            </p:custDataLst>
          </p:nvPr>
        </p:nvSpPr>
        <p:spPr>
          <a:xfrm>
            <a:off x="8669179" y="2338529"/>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4</a:t>
            </a:r>
          </a:p>
        </p:txBody>
      </p:sp>
      <p:sp>
        <p:nvSpPr>
          <p:cNvPr id="248" name="标注: 线形(无边框) 152">
            <a:extLst>
              <a:ext uri="{FF2B5EF4-FFF2-40B4-BE49-F238E27FC236}">
                <a16:creationId xmlns:a16="http://schemas.microsoft.com/office/drawing/2014/main" id="{78E159D0-A475-CF4A-83DA-52A7C8EFF534}"/>
              </a:ext>
            </a:extLst>
          </p:cNvPr>
          <p:cNvSpPr/>
          <p:nvPr>
            <p:custDataLst>
              <p:tags r:id="rId57"/>
            </p:custDataLst>
          </p:nvPr>
        </p:nvSpPr>
        <p:spPr>
          <a:xfrm>
            <a:off x="5527085" y="4205909"/>
            <a:ext cx="661988" cy="427355"/>
          </a:xfrm>
          <a:prstGeom prst="callout1">
            <a:avLst>
              <a:gd name="adj1" fmla="val 53674"/>
              <a:gd name="adj2" fmla="val -11264"/>
              <a:gd name="adj3" fmla="val 22445"/>
              <a:gd name="adj4" fmla="val -334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灵活确认收入</a:t>
            </a:r>
          </a:p>
        </p:txBody>
      </p:sp>
      <p:cxnSp>
        <p:nvCxnSpPr>
          <p:cNvPr id="257" name="直接连接符 4">
            <a:extLst>
              <a:ext uri="{FF2B5EF4-FFF2-40B4-BE49-F238E27FC236}">
                <a16:creationId xmlns:a16="http://schemas.microsoft.com/office/drawing/2014/main" id="{49525D3C-2A37-D04E-B030-33B2D8056C13}"/>
              </a:ext>
            </a:extLst>
          </p:cNvPr>
          <p:cNvCxnSpPr/>
          <p:nvPr/>
        </p:nvCxnSpPr>
        <p:spPr>
          <a:xfrm>
            <a:off x="195539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8" name="直接连接符 5">
            <a:extLst>
              <a:ext uri="{FF2B5EF4-FFF2-40B4-BE49-F238E27FC236}">
                <a16:creationId xmlns:a16="http://schemas.microsoft.com/office/drawing/2014/main" id="{7ED0EFA7-FE55-244E-8092-0998AC1D652C}"/>
              </a:ext>
            </a:extLst>
          </p:cNvPr>
          <p:cNvCxnSpPr/>
          <p:nvPr/>
        </p:nvCxnSpPr>
        <p:spPr>
          <a:xfrm>
            <a:off x="316738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9" name="直接连接符 6">
            <a:extLst>
              <a:ext uri="{FF2B5EF4-FFF2-40B4-BE49-F238E27FC236}">
                <a16:creationId xmlns:a16="http://schemas.microsoft.com/office/drawing/2014/main" id="{0713D238-8903-524F-A311-BF337D5374A8}"/>
              </a:ext>
            </a:extLst>
          </p:cNvPr>
          <p:cNvCxnSpPr/>
          <p:nvPr/>
        </p:nvCxnSpPr>
        <p:spPr>
          <a:xfrm>
            <a:off x="4319204"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0" name="直接连接符 7">
            <a:extLst>
              <a:ext uri="{FF2B5EF4-FFF2-40B4-BE49-F238E27FC236}">
                <a16:creationId xmlns:a16="http://schemas.microsoft.com/office/drawing/2014/main" id="{11E4E556-E7B7-2746-A2A4-075BDAEAC064}"/>
              </a:ext>
            </a:extLst>
          </p:cNvPr>
          <p:cNvCxnSpPr/>
          <p:nvPr/>
        </p:nvCxnSpPr>
        <p:spPr>
          <a:xfrm>
            <a:off x="5443117"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1" name="直接连接符 8">
            <a:extLst>
              <a:ext uri="{FF2B5EF4-FFF2-40B4-BE49-F238E27FC236}">
                <a16:creationId xmlns:a16="http://schemas.microsoft.com/office/drawing/2014/main" id="{27C187F1-CBE8-DE45-8ABC-7449E5A1601C}"/>
              </a:ext>
            </a:extLst>
          </p:cNvPr>
          <p:cNvCxnSpPr/>
          <p:nvPr/>
        </p:nvCxnSpPr>
        <p:spPr>
          <a:xfrm>
            <a:off x="662305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2" name="直接连接符 9">
            <a:extLst>
              <a:ext uri="{FF2B5EF4-FFF2-40B4-BE49-F238E27FC236}">
                <a16:creationId xmlns:a16="http://schemas.microsoft.com/office/drawing/2014/main" id="{4A00E636-AA91-F149-B330-A38CCE9D357F}"/>
              </a:ext>
            </a:extLst>
          </p:cNvPr>
          <p:cNvCxnSpPr/>
          <p:nvPr/>
        </p:nvCxnSpPr>
        <p:spPr>
          <a:xfrm>
            <a:off x="7769860" y="1325464"/>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a:bodyPr>
          <a:lstStyle/>
          <a:p>
            <a:r>
              <a:rPr lang="zh-CN" altLang="en-US" dirty="0">
                <a:solidFill>
                  <a:srgbClr val="2971EB"/>
                </a:solidFill>
                <a:latin typeface="+mn-lt"/>
                <a:ea typeface="+mn-ea"/>
                <a:cs typeface="+mn-ea"/>
                <a:sym typeface="+mn-lt"/>
              </a:rPr>
              <a:t>流程基础管控示例</a:t>
            </a:r>
            <a:r>
              <a:rPr lang="en-US" altLang="zh-CN" dirty="0">
                <a:solidFill>
                  <a:srgbClr val="2971EB"/>
                </a:solidFill>
                <a:latin typeface="+mn-lt"/>
                <a:ea typeface="+mn-ea"/>
                <a:cs typeface="+mn-ea"/>
                <a:sym typeface="+mn-lt"/>
              </a:rPr>
              <a:t>1</a:t>
            </a:r>
            <a:r>
              <a:rPr lang="zh-CN" altLang="en-US" dirty="0">
                <a:latin typeface="+mn-lt"/>
                <a:ea typeface="+mn-ea"/>
                <a:cs typeface="+mn-ea"/>
                <a:sym typeface="+mn-lt"/>
              </a:rPr>
              <a:t>：销售到收款</a:t>
            </a:r>
            <a:endParaRPr lang="zh-CN" altLang="en-US" sz="2400" b="1" dirty="0">
              <a:latin typeface="+mn-lt"/>
              <a:ea typeface="+mn-ea"/>
              <a:cs typeface="+mn-ea"/>
              <a:sym typeface="+mn-lt"/>
            </a:endParaRPr>
          </a:p>
        </p:txBody>
      </p:sp>
      <p:sp>
        <p:nvSpPr>
          <p:cNvPr id="75" name="Rectangle 111">
            <a:extLst>
              <a:ext uri="{FF2B5EF4-FFF2-40B4-BE49-F238E27FC236}">
                <a16:creationId xmlns:a16="http://schemas.microsoft.com/office/drawing/2014/main" id="{4A1AA156-D8F0-A842-A899-5B52F3DB52FF}"/>
              </a:ext>
            </a:extLst>
          </p:cNvPr>
          <p:cNvSpPr/>
          <p:nvPr>
            <p:custDataLst>
              <p:tags r:id="rId58"/>
            </p:custDataLst>
          </p:nvPr>
        </p:nvSpPr>
        <p:spPr>
          <a:xfrm>
            <a:off x="941070" y="4920870"/>
            <a:ext cx="8039735" cy="1527810"/>
          </a:xfrm>
          <a:prstGeom prst="rect">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prstClr val="white"/>
              </a:solidFill>
              <a:effectLst/>
              <a:uLnTx/>
              <a:uFillTx/>
              <a:latin typeface="Arial"/>
              <a:ea typeface="微软雅黑"/>
              <a:cs typeface="+mn-ea"/>
              <a:sym typeface="+mn-lt"/>
            </a:endParaRPr>
          </a:p>
        </p:txBody>
      </p:sp>
      <p:grpSp>
        <p:nvGrpSpPr>
          <p:cNvPr id="89" name="Group 115">
            <a:extLst>
              <a:ext uri="{FF2B5EF4-FFF2-40B4-BE49-F238E27FC236}">
                <a16:creationId xmlns:a16="http://schemas.microsoft.com/office/drawing/2014/main" id="{0B9D67F7-8208-D44F-B55D-BF0C7DE90AEC}"/>
              </a:ext>
            </a:extLst>
          </p:cNvPr>
          <p:cNvGrpSpPr/>
          <p:nvPr/>
        </p:nvGrpSpPr>
        <p:grpSpPr>
          <a:xfrm>
            <a:off x="9223375" y="1291210"/>
            <a:ext cx="2503805" cy="5158105"/>
            <a:chOff x="9848198" y="1485683"/>
            <a:chExt cx="3600924" cy="3717131"/>
          </a:xfrm>
        </p:grpSpPr>
        <p:sp>
          <p:nvSpPr>
            <p:cNvPr id="101" name="圆角矩形 12">
              <a:extLst>
                <a:ext uri="{FF2B5EF4-FFF2-40B4-BE49-F238E27FC236}">
                  <a16:creationId xmlns:a16="http://schemas.microsoft.com/office/drawing/2014/main" id="{734E4511-FF21-A34C-AAF8-1F9EF7057F42}"/>
                </a:ext>
              </a:extLst>
            </p:cNvPr>
            <p:cNvSpPr/>
            <p:nvPr>
              <p:custDataLst>
                <p:tags r:id="rId87"/>
              </p:custDataLst>
            </p:nvPr>
          </p:nvSpPr>
          <p:spPr>
            <a:xfrm>
              <a:off x="9895640" y="1628894"/>
              <a:ext cx="3553482" cy="3573920"/>
            </a:xfrm>
            <a:prstGeom prst="roundRect">
              <a:avLst>
                <a:gd name="adj" fmla="val 4800"/>
              </a:avLst>
            </a:prstGeom>
            <a:solidFill>
              <a:sysClr val="window" lastClr="FFFFFF"/>
            </a:solidFill>
            <a:ln w="15875" cap="rnd" cmpd="sng" algn="ctr">
              <a:solidFill>
                <a:schemeClr val="tx1"/>
              </a:solidFill>
              <a:prstDash val="solid"/>
              <a:round/>
            </a:ln>
            <a:effectLst>
              <a:outerShdw blurRad="254000" dist="127000" algn="ctr" rotWithShape="0">
                <a:sysClr val="window" lastClr="FFFFFF">
                  <a:lumMod val="65000"/>
                  <a:alpha val="20000"/>
                </a:sysClr>
              </a:outerShdw>
            </a:effectLst>
          </p:spPr>
          <p:txBody>
            <a:bodyPr rot="0" spcFirstLastPara="0" vert="horz" wrap="square" lIns="91440" tIns="45720" rIns="91440" bIns="45720" numCol="1" spcCol="0" rtlCol="0" fromWordArt="0" anchor="ctr" anchorCtr="0" forceAA="0" compatLnSpc="1">
              <a:noAutofit/>
            </a:bodyP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数据确认应收的准确性和业务一致性；</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根据经双方确认的对账单开具发票，并正式确认</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收入</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，这是事中合规性控制，避免因提前开票、虚假开票等导致收入确认违规或税务风险</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US"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催收，自定义</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催款</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规则，</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自动向客户及业务员</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发送催收信息</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认领</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自动化，将银行流水通过漏斗式的规则设置方案，有规则的自动生成收款单，无规则的推送业务人员认领后自动形成收款</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GB"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实施会计档案校验，防范档案缺失，篡改导致的风险。</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2" name="文本框 13">
              <a:extLst>
                <a:ext uri="{FF2B5EF4-FFF2-40B4-BE49-F238E27FC236}">
                  <a16:creationId xmlns:a16="http://schemas.microsoft.com/office/drawing/2014/main" id="{27F80008-D0C9-EB4D-8E45-FC1CD4F01A0B}"/>
                </a:ext>
              </a:extLst>
            </p:cNvPr>
            <p:cNvSpPr txBox="1"/>
            <p:nvPr>
              <p:custDataLst>
                <p:tags r:id="rId88"/>
              </p:custDataLst>
            </p:nvPr>
          </p:nvSpPr>
          <p:spPr>
            <a:xfrm>
              <a:off x="9982343" y="1485683"/>
              <a:ext cx="1822025" cy="242636"/>
            </a:xfrm>
            <a:prstGeom prst="rect">
              <a:avLst/>
            </a:prstGeom>
            <a:solidFill>
              <a:sysClr val="window" lastClr="FFFFFF"/>
            </a:solidFill>
            <a:ln>
              <a:noFill/>
            </a:ln>
          </p:spPr>
          <p:txBody>
            <a:bodyPr wrap="square" rtlCol="0">
              <a:spAutoFit/>
            </a:bodyPr>
            <a:lstStyle/>
            <a:p>
              <a:pPr marL="0" marR="0" lvl="0" indent="0" algn="ctr" defTabSz="1018540" rtl="0" eaLnBrk="1" fontAlgn="auto" latinLnBrk="0" hangingPunct="1">
                <a:lnSpc>
                  <a:spcPct val="150000"/>
                </a:lnSpc>
                <a:spcBef>
                  <a:spcPts val="0"/>
                </a:spcBef>
                <a:spcAft>
                  <a:spcPts val="0"/>
                </a:spcAft>
                <a:buClrTx/>
                <a:buSzTx/>
                <a:buFontTx/>
                <a:buNone/>
                <a:tabLst/>
                <a:defRPr/>
              </a:pPr>
              <a:r>
                <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主要风险点</a:t>
              </a:r>
              <a:r>
                <a:rPr kumimoji="0" lang="zh-CN" altLang="en-US"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控制</a:t>
              </a:r>
              <a:endPar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3" name="Rectangle 117">
              <a:extLst>
                <a:ext uri="{FF2B5EF4-FFF2-40B4-BE49-F238E27FC236}">
                  <a16:creationId xmlns:a16="http://schemas.microsoft.com/office/drawing/2014/main" id="{972A8193-A71A-F844-A9A7-4CE379EE1534}"/>
                </a:ext>
              </a:extLst>
            </p:cNvPr>
            <p:cNvSpPr>
              <a:spLocks noChangeArrowheads="1"/>
            </p:cNvSpPr>
            <p:nvPr>
              <p:custDataLst>
                <p:tags r:id="rId89"/>
              </p:custDataLst>
            </p:nvPr>
          </p:nvSpPr>
          <p:spPr bwMode="blackWhite">
            <a:xfrm>
              <a:off x="9848198" y="2248067"/>
              <a:ext cx="3553482" cy="1281506"/>
            </a:xfrm>
            <a:prstGeom prst="rect">
              <a:avLst/>
            </a:prstGeom>
            <a:noFill/>
            <a:ln w="12700" cap="flat" cmpd="sng" algn="ctr">
              <a:noFill/>
              <a:prstDash val="solid"/>
              <a:miter lim="800000"/>
            </a:ln>
            <a:effectLst/>
          </p:spPr>
          <p:txBody>
            <a:bodyPr rtlCol="0" anchor="ct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endParaRPr kumimoji="0" lang="en-GB" sz="1200" b="0" i="0" u="none" strike="noStrike" kern="0" cap="none" spc="0" normalizeH="0" baseline="0" noProof="0" dirty="0">
                <a:ln>
                  <a:noFill/>
                </a:ln>
                <a:solidFill>
                  <a:prstClr val="black"/>
                </a:solidFill>
                <a:effectLst/>
                <a:uLnTx/>
                <a:uFillTx/>
                <a:latin typeface="Arial"/>
                <a:ea typeface="微软雅黑"/>
                <a:cs typeface="+mn-ea"/>
                <a:sym typeface="+mn-lt"/>
              </a:endParaRPr>
            </a:p>
          </p:txBody>
        </p:sp>
      </p:grpSp>
      <p:sp>
        <p:nvSpPr>
          <p:cNvPr id="104" name="Rectangle 138">
            <a:extLst>
              <a:ext uri="{FF2B5EF4-FFF2-40B4-BE49-F238E27FC236}">
                <a16:creationId xmlns:a16="http://schemas.microsoft.com/office/drawing/2014/main" id="{FDE94BAF-79E6-0541-9A51-563A99A30137}"/>
              </a:ext>
            </a:extLst>
          </p:cNvPr>
          <p:cNvSpPr/>
          <p:nvPr>
            <p:custDataLst>
              <p:tags r:id="rId59"/>
            </p:custDataLst>
          </p:nvPr>
        </p:nvSpPr>
        <p:spPr>
          <a:xfrm>
            <a:off x="579120" y="4920235"/>
            <a:ext cx="308610" cy="149860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内控</a:t>
            </a: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监督</a:t>
            </a:r>
          </a:p>
        </p:txBody>
      </p:sp>
      <p:cxnSp>
        <p:nvCxnSpPr>
          <p:cNvPr id="105" name="直接箭头连接符 108">
            <a:extLst>
              <a:ext uri="{FF2B5EF4-FFF2-40B4-BE49-F238E27FC236}">
                <a16:creationId xmlns:a16="http://schemas.microsoft.com/office/drawing/2014/main" id="{82F1C9A3-17C6-AB4D-9DFA-1C35F979C53E}"/>
              </a:ext>
            </a:extLst>
          </p:cNvPr>
          <p:cNvCxnSpPr>
            <a:cxnSpLocks/>
          </p:cNvCxnSpPr>
          <p:nvPr>
            <p:custDataLst>
              <p:tags r:id="rId60"/>
            </p:custDataLst>
          </p:nvPr>
        </p:nvCxnSpPr>
        <p:spPr>
          <a:xfrm flipV="1">
            <a:off x="165029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9">
            <a:extLst>
              <a:ext uri="{FF2B5EF4-FFF2-40B4-BE49-F238E27FC236}">
                <a16:creationId xmlns:a16="http://schemas.microsoft.com/office/drawing/2014/main" id="{F706544A-0E31-1E41-BE30-5197C3ABBC73}"/>
              </a:ext>
            </a:extLst>
          </p:cNvPr>
          <p:cNvCxnSpPr>
            <a:cxnSpLocks/>
          </p:cNvCxnSpPr>
          <p:nvPr>
            <p:custDataLst>
              <p:tags r:id="rId61"/>
            </p:custDataLst>
          </p:nvPr>
        </p:nvCxnSpPr>
        <p:spPr>
          <a:xfrm flipV="1">
            <a:off x="2987355"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10">
            <a:extLst>
              <a:ext uri="{FF2B5EF4-FFF2-40B4-BE49-F238E27FC236}">
                <a16:creationId xmlns:a16="http://schemas.microsoft.com/office/drawing/2014/main" id="{64CE3EEA-C48B-E049-BC21-60CD7F2CC8E1}"/>
              </a:ext>
            </a:extLst>
          </p:cNvPr>
          <p:cNvCxnSpPr>
            <a:cxnSpLocks/>
          </p:cNvCxnSpPr>
          <p:nvPr>
            <p:custDataLst>
              <p:tags r:id="rId62"/>
            </p:custDataLst>
          </p:nvPr>
        </p:nvCxnSpPr>
        <p:spPr>
          <a:xfrm flipV="1">
            <a:off x="4324411"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11">
            <a:extLst>
              <a:ext uri="{FF2B5EF4-FFF2-40B4-BE49-F238E27FC236}">
                <a16:creationId xmlns:a16="http://schemas.microsoft.com/office/drawing/2014/main" id="{F1007ABA-9068-BC47-B15D-85A7DE27452F}"/>
              </a:ext>
            </a:extLst>
          </p:cNvPr>
          <p:cNvCxnSpPr>
            <a:cxnSpLocks/>
          </p:cNvCxnSpPr>
          <p:nvPr>
            <p:custDataLst>
              <p:tags r:id="rId63"/>
            </p:custDataLst>
          </p:nvPr>
        </p:nvCxnSpPr>
        <p:spPr>
          <a:xfrm flipV="1">
            <a:off x="5661467"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12">
            <a:extLst>
              <a:ext uri="{FF2B5EF4-FFF2-40B4-BE49-F238E27FC236}">
                <a16:creationId xmlns:a16="http://schemas.microsoft.com/office/drawing/2014/main" id="{D498BFAE-C101-7F42-9CC0-D813E874EAA1}"/>
              </a:ext>
            </a:extLst>
          </p:cNvPr>
          <p:cNvCxnSpPr>
            <a:cxnSpLocks/>
          </p:cNvCxnSpPr>
          <p:nvPr>
            <p:custDataLst>
              <p:tags r:id="rId64"/>
            </p:custDataLst>
          </p:nvPr>
        </p:nvCxnSpPr>
        <p:spPr>
          <a:xfrm flipV="1">
            <a:off x="6998523"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13">
            <a:extLst>
              <a:ext uri="{FF2B5EF4-FFF2-40B4-BE49-F238E27FC236}">
                <a16:creationId xmlns:a16="http://schemas.microsoft.com/office/drawing/2014/main" id="{9980A084-1683-7041-9A30-E9BB303DB560}"/>
              </a:ext>
            </a:extLst>
          </p:cNvPr>
          <p:cNvCxnSpPr>
            <a:cxnSpLocks/>
          </p:cNvCxnSpPr>
          <p:nvPr>
            <p:custDataLst>
              <p:tags r:id="rId65"/>
            </p:custDataLst>
          </p:nvPr>
        </p:nvCxnSpPr>
        <p:spPr>
          <a:xfrm flipV="1">
            <a:off x="833557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sp>
        <p:nvSpPr>
          <p:cNvPr id="111" name="Rectangle 2">
            <a:extLst>
              <a:ext uri="{FF2B5EF4-FFF2-40B4-BE49-F238E27FC236}">
                <a16:creationId xmlns:a16="http://schemas.microsoft.com/office/drawing/2014/main" id="{06E96B37-308A-254D-A963-5C76460A2EBC}"/>
              </a:ext>
            </a:extLst>
          </p:cNvPr>
          <p:cNvSpPr txBox="1"/>
          <p:nvPr>
            <p:custDataLst>
              <p:tags r:id="rId66"/>
            </p:custDataLst>
          </p:nvPr>
        </p:nvSpPr>
        <p:spPr bwMode="auto">
          <a:xfrm>
            <a:off x="1037590" y="50396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客户准入机制</a:t>
            </a:r>
          </a:p>
        </p:txBody>
      </p:sp>
      <p:sp>
        <p:nvSpPr>
          <p:cNvPr id="114" name="Rectangle 2">
            <a:extLst>
              <a:ext uri="{FF2B5EF4-FFF2-40B4-BE49-F238E27FC236}">
                <a16:creationId xmlns:a16="http://schemas.microsoft.com/office/drawing/2014/main" id="{A793948A-A293-1C42-9096-815B84F11A92}"/>
              </a:ext>
            </a:extLst>
          </p:cNvPr>
          <p:cNvSpPr txBox="1"/>
          <p:nvPr>
            <p:custDataLst>
              <p:tags r:id="rId67"/>
            </p:custDataLst>
          </p:nvPr>
        </p:nvSpPr>
        <p:spPr bwMode="auto">
          <a:xfrm>
            <a:off x="2369185" y="5039615"/>
            <a:ext cx="1193165" cy="26289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客户风险评价</a:t>
            </a:r>
          </a:p>
        </p:txBody>
      </p:sp>
      <p:sp>
        <p:nvSpPr>
          <p:cNvPr id="116" name="Rectangle 2">
            <a:extLst>
              <a:ext uri="{FF2B5EF4-FFF2-40B4-BE49-F238E27FC236}">
                <a16:creationId xmlns:a16="http://schemas.microsoft.com/office/drawing/2014/main" id="{1A0D4C39-6A7E-9745-B372-0E35EB85A0D2}"/>
              </a:ext>
            </a:extLst>
          </p:cNvPr>
          <p:cNvSpPr txBox="1"/>
          <p:nvPr>
            <p:custDataLst>
              <p:tags r:id="rId68"/>
            </p:custDataLst>
          </p:nvPr>
        </p:nvSpPr>
        <p:spPr bwMode="auto">
          <a:xfrm>
            <a:off x="3772535" y="53698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智能稽核确认收入合规性</a:t>
            </a:r>
          </a:p>
        </p:txBody>
      </p:sp>
      <p:sp>
        <p:nvSpPr>
          <p:cNvPr id="117" name="Rectangle 2">
            <a:extLst>
              <a:ext uri="{FF2B5EF4-FFF2-40B4-BE49-F238E27FC236}">
                <a16:creationId xmlns:a16="http://schemas.microsoft.com/office/drawing/2014/main" id="{6A2E591D-17C7-F841-8E9D-18A2C2CE8082}"/>
              </a:ext>
            </a:extLst>
          </p:cNvPr>
          <p:cNvSpPr txBox="1"/>
          <p:nvPr>
            <p:custDataLst>
              <p:tags r:id="rId69"/>
            </p:custDataLst>
          </p:nvPr>
        </p:nvSpPr>
        <p:spPr bwMode="auto">
          <a:xfrm>
            <a:off x="523176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应收账款账龄检查</a:t>
            </a:r>
          </a:p>
        </p:txBody>
      </p:sp>
      <p:sp>
        <p:nvSpPr>
          <p:cNvPr id="118" name="Rectangle 2">
            <a:extLst>
              <a:ext uri="{FF2B5EF4-FFF2-40B4-BE49-F238E27FC236}">
                <a16:creationId xmlns:a16="http://schemas.microsoft.com/office/drawing/2014/main" id="{72B47354-D7ED-1E44-B01A-B3C099D8C15A}"/>
              </a:ext>
            </a:extLst>
          </p:cNvPr>
          <p:cNvSpPr txBox="1"/>
          <p:nvPr>
            <p:custDataLst>
              <p:tags r:id="rId70"/>
            </p:custDataLst>
          </p:nvPr>
        </p:nvSpPr>
        <p:spPr bwMode="auto">
          <a:xfrm>
            <a:off x="7753985" y="50396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信用审核与发货隔离</a:t>
            </a:r>
          </a:p>
        </p:txBody>
      </p:sp>
      <p:sp>
        <p:nvSpPr>
          <p:cNvPr id="119" name="Rectangle 2">
            <a:extLst>
              <a:ext uri="{FF2B5EF4-FFF2-40B4-BE49-F238E27FC236}">
                <a16:creationId xmlns:a16="http://schemas.microsoft.com/office/drawing/2014/main" id="{A2184F97-06AB-8647-95F7-49AFA165C79E}"/>
              </a:ext>
            </a:extLst>
          </p:cNvPr>
          <p:cNvSpPr txBox="1"/>
          <p:nvPr>
            <p:custDataLst>
              <p:tags r:id="rId71"/>
            </p:custDataLst>
          </p:nvPr>
        </p:nvSpPr>
        <p:spPr bwMode="auto">
          <a:xfrm>
            <a:off x="1037590" y="53698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出库与记账分离</a:t>
            </a:r>
          </a:p>
        </p:txBody>
      </p:sp>
      <p:sp>
        <p:nvSpPr>
          <p:cNvPr id="120" name="Rectangle 2">
            <a:extLst>
              <a:ext uri="{FF2B5EF4-FFF2-40B4-BE49-F238E27FC236}">
                <a16:creationId xmlns:a16="http://schemas.microsoft.com/office/drawing/2014/main" id="{5904994C-600C-5842-A76A-E768103D6840}"/>
              </a:ext>
            </a:extLst>
          </p:cNvPr>
          <p:cNvSpPr txBox="1"/>
          <p:nvPr>
            <p:custDataLst>
              <p:tags r:id="rId72"/>
            </p:custDataLst>
          </p:nvPr>
        </p:nvSpPr>
        <p:spPr bwMode="auto">
          <a:xfrm>
            <a:off x="2369185" y="5369815"/>
            <a:ext cx="119316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发票开具与收入确认合规</a:t>
            </a:r>
          </a:p>
        </p:txBody>
      </p:sp>
      <p:sp>
        <p:nvSpPr>
          <p:cNvPr id="121" name="Rectangle 2">
            <a:extLst>
              <a:ext uri="{FF2B5EF4-FFF2-40B4-BE49-F238E27FC236}">
                <a16:creationId xmlns:a16="http://schemas.microsoft.com/office/drawing/2014/main" id="{FA13E0D4-ACB9-4247-B755-CC2A936E85DA}"/>
              </a:ext>
            </a:extLst>
          </p:cNvPr>
          <p:cNvSpPr txBox="1"/>
          <p:nvPr>
            <p:custDataLst>
              <p:tags r:id="rId73"/>
            </p:custDataLst>
          </p:nvPr>
        </p:nvSpPr>
        <p:spPr bwMode="auto">
          <a:xfrm>
            <a:off x="3772535" y="50396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销售目标控制</a:t>
            </a:r>
          </a:p>
        </p:txBody>
      </p:sp>
      <p:sp>
        <p:nvSpPr>
          <p:cNvPr id="122" name="Rectangle 2">
            <a:extLst>
              <a:ext uri="{FF2B5EF4-FFF2-40B4-BE49-F238E27FC236}">
                <a16:creationId xmlns:a16="http://schemas.microsoft.com/office/drawing/2014/main" id="{60BEA667-D70B-8F45-B8CC-28C0FEB09BE6}"/>
              </a:ext>
            </a:extLst>
          </p:cNvPr>
          <p:cNvSpPr txBox="1"/>
          <p:nvPr>
            <p:custDataLst>
              <p:tags r:id="rId74"/>
            </p:custDataLst>
          </p:nvPr>
        </p:nvSpPr>
        <p:spPr bwMode="auto">
          <a:xfrm>
            <a:off x="523176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信用体系控制</a:t>
            </a:r>
          </a:p>
        </p:txBody>
      </p:sp>
      <p:sp>
        <p:nvSpPr>
          <p:cNvPr id="123" name="Rectangle 2">
            <a:extLst>
              <a:ext uri="{FF2B5EF4-FFF2-40B4-BE49-F238E27FC236}">
                <a16:creationId xmlns:a16="http://schemas.microsoft.com/office/drawing/2014/main" id="{D852AAF8-1664-AB42-9E3F-E5C09DB08A9B}"/>
              </a:ext>
            </a:extLst>
          </p:cNvPr>
          <p:cNvSpPr txBox="1"/>
          <p:nvPr>
            <p:custDataLst>
              <p:tags r:id="rId75"/>
            </p:custDataLst>
          </p:nvPr>
        </p:nvSpPr>
        <p:spPr bwMode="auto">
          <a:xfrm>
            <a:off x="649287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Hans"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应收账款逾期监控</a:t>
            </a:r>
            <a:endPar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24" name="Rectangle 2">
            <a:extLst>
              <a:ext uri="{FF2B5EF4-FFF2-40B4-BE49-F238E27FC236}">
                <a16:creationId xmlns:a16="http://schemas.microsoft.com/office/drawing/2014/main" id="{8A4FB4E2-3A11-0842-99E4-0421FCA290F3}"/>
              </a:ext>
            </a:extLst>
          </p:cNvPr>
          <p:cNvSpPr txBox="1"/>
          <p:nvPr>
            <p:custDataLst>
              <p:tags r:id="rId76"/>
            </p:custDataLst>
          </p:nvPr>
        </p:nvSpPr>
        <p:spPr bwMode="auto">
          <a:xfrm>
            <a:off x="649287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合同关键风险校验</a:t>
            </a:r>
          </a:p>
        </p:txBody>
      </p:sp>
      <p:sp>
        <p:nvSpPr>
          <p:cNvPr id="125" name="Rectangle 2">
            <a:extLst>
              <a:ext uri="{FF2B5EF4-FFF2-40B4-BE49-F238E27FC236}">
                <a16:creationId xmlns:a16="http://schemas.microsoft.com/office/drawing/2014/main" id="{160F2033-81FD-9342-8750-808888E345ED}"/>
              </a:ext>
            </a:extLst>
          </p:cNvPr>
          <p:cNvSpPr txBox="1"/>
          <p:nvPr>
            <p:custDataLst>
              <p:tags r:id="rId77"/>
            </p:custDataLst>
          </p:nvPr>
        </p:nvSpPr>
        <p:spPr bwMode="auto">
          <a:xfrm>
            <a:off x="7753985" y="53698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会计档案校验</a:t>
            </a:r>
          </a:p>
        </p:txBody>
      </p:sp>
      <p:sp>
        <p:nvSpPr>
          <p:cNvPr id="126" name="Rectangle 2">
            <a:extLst>
              <a:ext uri="{FF2B5EF4-FFF2-40B4-BE49-F238E27FC236}">
                <a16:creationId xmlns:a16="http://schemas.microsoft.com/office/drawing/2014/main" id="{8BA663D8-FB40-AE47-8335-E5F6ED9C5D63}"/>
              </a:ext>
            </a:extLst>
          </p:cNvPr>
          <p:cNvSpPr txBox="1"/>
          <p:nvPr>
            <p:custDataLst>
              <p:tags r:id="rId78"/>
            </p:custDataLst>
          </p:nvPr>
        </p:nvSpPr>
        <p:spPr bwMode="auto">
          <a:xfrm>
            <a:off x="1037590" y="5941315"/>
            <a:ext cx="7769225" cy="477520"/>
          </a:xfrm>
          <a:prstGeom prst="rect">
            <a:avLst/>
          </a:prstGeom>
          <a:solidFill>
            <a:schemeClr val="bg1">
              <a:lumMod val="95000"/>
            </a:schemeClr>
          </a:solidFill>
          <a:ln w="19050" algn="ctr">
            <a:noFill/>
            <a:miter lim="800000"/>
          </a:ln>
          <a:effectLst/>
        </p:spPr>
        <p:txBody>
          <a:bodyPr vert="horz" wrap="square" lIns="91421" tIns="45711" rIns="91421" bIns="45711" numCol="1" rtlCol="0" anchor="t"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127" name="Rectangle 2">
            <a:extLst>
              <a:ext uri="{FF2B5EF4-FFF2-40B4-BE49-F238E27FC236}">
                <a16:creationId xmlns:a16="http://schemas.microsoft.com/office/drawing/2014/main" id="{F0894523-A7EF-5B41-8236-D24B41D26739}"/>
              </a:ext>
            </a:extLst>
          </p:cNvPr>
          <p:cNvSpPr txBox="1"/>
          <p:nvPr>
            <p:custDataLst>
              <p:tags r:id="rId79"/>
            </p:custDataLst>
          </p:nvPr>
        </p:nvSpPr>
        <p:spPr bwMode="auto">
          <a:xfrm>
            <a:off x="1155065" y="6043550"/>
            <a:ext cx="1270756"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客户准入与</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信用管理制度</a:t>
            </a:r>
          </a:p>
        </p:txBody>
      </p:sp>
      <p:sp>
        <p:nvSpPr>
          <p:cNvPr id="128" name="Rectangle 2">
            <a:extLst>
              <a:ext uri="{FF2B5EF4-FFF2-40B4-BE49-F238E27FC236}">
                <a16:creationId xmlns:a16="http://schemas.microsoft.com/office/drawing/2014/main" id="{EC8E4047-EB95-4246-B7D2-C6E5244F9FD4}"/>
              </a:ext>
            </a:extLst>
          </p:cNvPr>
          <p:cNvSpPr txBox="1"/>
          <p:nvPr>
            <p:custDataLst>
              <p:tags r:id="rId80"/>
            </p:custDataLst>
          </p:nvPr>
        </p:nvSpPr>
        <p:spPr bwMode="auto">
          <a:xfrm>
            <a:off x="5063866" y="6043550"/>
            <a:ext cx="1400669"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应收账款催收</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与坏账管理办法</a:t>
            </a:r>
          </a:p>
        </p:txBody>
      </p:sp>
      <p:sp>
        <p:nvSpPr>
          <p:cNvPr id="129" name="Rectangle 2">
            <a:extLst>
              <a:ext uri="{FF2B5EF4-FFF2-40B4-BE49-F238E27FC236}">
                <a16:creationId xmlns:a16="http://schemas.microsoft.com/office/drawing/2014/main" id="{06D93DEA-D802-F24D-8114-AF8BAD90A25C}"/>
              </a:ext>
            </a:extLst>
          </p:cNvPr>
          <p:cNvSpPr txBox="1"/>
          <p:nvPr>
            <p:custDataLst>
              <p:tags r:id="rId81"/>
            </p:custDataLst>
          </p:nvPr>
        </p:nvSpPr>
        <p:spPr bwMode="auto">
          <a:xfrm>
            <a:off x="6525060"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财务管理制度</a:t>
            </a:r>
          </a:p>
        </p:txBody>
      </p:sp>
      <p:sp>
        <p:nvSpPr>
          <p:cNvPr id="130" name="Rectangle 2">
            <a:extLst>
              <a:ext uri="{FF2B5EF4-FFF2-40B4-BE49-F238E27FC236}">
                <a16:creationId xmlns:a16="http://schemas.microsoft.com/office/drawing/2014/main" id="{0E286181-E852-A84C-ABEB-FB61B4AEB89C}"/>
              </a:ext>
            </a:extLst>
          </p:cNvPr>
          <p:cNvSpPr txBox="1"/>
          <p:nvPr>
            <p:custDataLst>
              <p:tags r:id="rId82"/>
            </p:custDataLst>
          </p:nvPr>
        </p:nvSpPr>
        <p:spPr bwMode="auto">
          <a:xfrm>
            <a:off x="7638415"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资金管理制度</a:t>
            </a:r>
          </a:p>
        </p:txBody>
      </p:sp>
      <p:sp>
        <p:nvSpPr>
          <p:cNvPr id="131" name="Rectangle 2">
            <a:extLst>
              <a:ext uri="{FF2B5EF4-FFF2-40B4-BE49-F238E27FC236}">
                <a16:creationId xmlns:a16="http://schemas.microsoft.com/office/drawing/2014/main" id="{42550D86-C4B5-8843-B37F-7DAC7E837DAC}"/>
              </a:ext>
            </a:extLst>
          </p:cNvPr>
          <p:cNvSpPr txBox="1"/>
          <p:nvPr>
            <p:custDataLst>
              <p:tags r:id="rId83"/>
            </p:custDataLst>
          </p:nvPr>
        </p:nvSpPr>
        <p:spPr bwMode="auto">
          <a:xfrm>
            <a:off x="248634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销售定价管理办法</a:t>
            </a:r>
          </a:p>
        </p:txBody>
      </p:sp>
      <p:sp>
        <p:nvSpPr>
          <p:cNvPr id="132" name="文本框 131">
            <a:extLst>
              <a:ext uri="{FF2B5EF4-FFF2-40B4-BE49-F238E27FC236}">
                <a16:creationId xmlns:a16="http://schemas.microsoft.com/office/drawing/2014/main" id="{98CE4DEF-9107-974C-ADEF-1C29EC52B1CB}"/>
              </a:ext>
            </a:extLst>
          </p:cNvPr>
          <p:cNvSpPr txBox="1"/>
          <p:nvPr/>
        </p:nvSpPr>
        <p:spPr>
          <a:xfrm>
            <a:off x="2069465" y="5670805"/>
            <a:ext cx="6096000" cy="27559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监督模型</a:t>
            </a:r>
            <a:r>
              <a:rPr kumimoji="0" lang="en-US" altLang="zh-CN"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a:t>
            </a: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数据算法</a:t>
            </a:r>
          </a:p>
        </p:txBody>
      </p:sp>
      <p:sp>
        <p:nvSpPr>
          <p:cNvPr id="170" name="Rectangle 2">
            <a:extLst>
              <a:ext uri="{FF2B5EF4-FFF2-40B4-BE49-F238E27FC236}">
                <a16:creationId xmlns:a16="http://schemas.microsoft.com/office/drawing/2014/main" id="{A93A0478-BCB5-FF4D-9563-8CCB7A1720C8}"/>
              </a:ext>
            </a:extLst>
          </p:cNvPr>
          <p:cNvSpPr txBox="1"/>
          <p:nvPr>
            <p:custDataLst>
              <p:tags r:id="rId84"/>
            </p:custDataLst>
          </p:nvPr>
        </p:nvSpPr>
        <p:spPr bwMode="auto">
          <a:xfrm>
            <a:off x="377510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销售合同管理办法</a:t>
            </a:r>
          </a:p>
        </p:txBody>
      </p:sp>
      <p:sp>
        <p:nvSpPr>
          <p:cNvPr id="263" name="Oval 156">
            <a:extLst>
              <a:ext uri="{FF2B5EF4-FFF2-40B4-BE49-F238E27FC236}">
                <a16:creationId xmlns:a16="http://schemas.microsoft.com/office/drawing/2014/main" id="{1B1BFFC7-6821-6D40-BF8B-4D6E89034AA6}"/>
              </a:ext>
            </a:extLst>
          </p:cNvPr>
          <p:cNvSpPr/>
          <p:nvPr>
            <p:custDataLst>
              <p:tags r:id="rId85"/>
            </p:custDataLst>
          </p:nvPr>
        </p:nvSpPr>
        <p:spPr>
          <a:xfrm>
            <a:off x="5197142" y="3374367"/>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zh-Hans" sz="1200" b="1" i="0" u="none" strike="noStrike" kern="0" cap="none" spc="0" normalizeH="0" baseline="0" noProof="0" dirty="0">
                <a:ln>
                  <a:noFill/>
                </a:ln>
                <a:solidFill>
                  <a:prstClr val="white"/>
                </a:solidFill>
                <a:effectLst/>
                <a:uLnTx/>
                <a:uFillTx/>
                <a:latin typeface="Arial"/>
                <a:ea typeface="微软雅黑"/>
                <a:cs typeface="+mn-ea"/>
                <a:sym typeface="+mn-lt"/>
              </a:rPr>
              <a:t>1</a:t>
            </a:r>
            <a:endPar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endParaRPr>
          </a:p>
        </p:txBody>
      </p:sp>
      <p:cxnSp>
        <p:nvCxnSpPr>
          <p:cNvPr id="231" name="连接符: 肘形 58">
            <a:extLst>
              <a:ext uri="{FF2B5EF4-FFF2-40B4-BE49-F238E27FC236}">
                <a16:creationId xmlns:a16="http://schemas.microsoft.com/office/drawing/2014/main" id="{274B2357-63F1-2349-8E95-A7358C42797E}"/>
              </a:ext>
            </a:extLst>
          </p:cNvPr>
          <p:cNvCxnSpPr>
            <a:cxnSpLocks/>
            <a:stCxn id="218" idx="3"/>
            <a:endCxn id="222" idx="1"/>
          </p:cNvCxnSpPr>
          <p:nvPr>
            <p:custDataLst>
              <p:tags r:id="rId86"/>
            </p:custDataLst>
          </p:nvPr>
        </p:nvCxnSpPr>
        <p:spPr>
          <a:xfrm flipV="1">
            <a:off x="6477635" y="2588909"/>
            <a:ext cx="272099" cy="570281"/>
          </a:xfrm>
          <a:prstGeom prst="bentConnector3">
            <a:avLst>
              <a:gd name="adj1" fmla="val 50000"/>
            </a:avLst>
          </a:prstGeom>
          <a:ln w="12700">
            <a:solidFill>
              <a:schemeClr val="bg2">
                <a:lumMod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741029"/>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测试公司</a:t>
            </a:r>
            <a:br/>
            <a:r>
              <a:t>ERP升级项目述标方案</a:t>
            </a:r>
          </a:p>
        </p:txBody>
      </p:sp>
      <p:sp>
        <p:nvSpPr>
          <p:cNvPr id="3" name="Content Placeholder 2"/>
          <p:cNvSpPr>
            <a:spLocks noGrp="1"/>
          </p:cNvSpPr>
          <p:nvPr>
            <p:ph idx="12" sz="quarter"/>
          </p:nvPr>
        </p:nvSpPr>
        <p:spPr/>
        <p:txBody>
          <a:bodyPr/>
          <a:lstStyle/>
          <a:p/>
        </p:txBody>
      </p:sp>
      <p:sp>
        <p:nvSpPr>
          <p:cNvPr id="4" name="Content Placeholder 3"/>
          <p:cNvSpPr>
            <a:spLocks noGrp="1"/>
          </p:cNvSpPr>
          <p:nvPr>
            <p:ph idx="13" sz="quarter"/>
          </p:nvPr>
        </p:nvSpPr>
        <p:spPr/>
        <p:txBody>
          <a:bodyPr/>
          <a:lstStyle/>
          <a:p/>
        </p:txBody>
      </p:sp>
      <p:sp>
        <p:nvSpPr>
          <p:cNvPr id="5" name="Content Placeholder 4"/>
          <p:cNvSpPr>
            <a:spLocks noGrp="1"/>
          </p:cNvSpPr>
          <p:nvPr>
            <p:ph idx="14"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团队介绍</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800" b="1">
                <a:solidFill>
                  <a:srgbClr val="003F56"/>
                </a:solidFill>
                <a:latin typeface="微软雅黑"/>
              </a:defRPr>
            </a:pPr>
            <a:r>
              <a:t>本次项目金蝶述标团队</a:t>
            </a:r>
          </a:p>
        </p:txBody>
      </p:sp>
      <p:sp>
        <p:nvSpPr>
          <p:cNvPr id="5" name="Rounded Rectangle 4"/>
          <p:cNvSpPr/>
          <p:nvPr/>
        </p:nvSpPr>
        <p:spPr>
          <a:xfrm>
            <a:off x="457200" y="1645920"/>
            <a:ext cx="2560320" cy="22860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37360"/>
            <a:ext cx="2377440" cy="457200"/>
          </a:xfrm>
          <a:prstGeom prst="rect">
            <a:avLst/>
          </a:prstGeom>
          <a:noFill/>
        </p:spPr>
        <p:txBody>
          <a:bodyPr wrap="square">
            <a:spAutoFit/>
          </a:bodyPr>
          <a:lstStyle/>
          <a:p>
            <a:pPr algn="l">
              <a:defRPr sz="1600" b="1">
                <a:solidFill>
                  <a:srgbClr val="0886EC"/>
                </a:solidFill>
                <a:latin typeface="微软雅黑"/>
              </a:defRPr>
            </a:pPr>
            <a:r>
              <a:t>项目经理</a:t>
            </a:r>
          </a:p>
        </p:txBody>
      </p:sp>
      <p:sp>
        <p:nvSpPr>
          <p:cNvPr id="7" name="TextBox 6"/>
          <p:cNvSpPr txBox="1"/>
          <p:nvPr/>
        </p:nvSpPr>
        <p:spPr>
          <a:xfrm>
            <a:off x="548640" y="2286000"/>
            <a:ext cx="2377440" cy="731520"/>
          </a:xfrm>
          <a:prstGeom prst="rect">
            <a:avLst/>
          </a:prstGeom>
          <a:noFill/>
        </p:spPr>
        <p:txBody>
          <a:bodyPr wrap="square">
            <a:spAutoFit/>
          </a:bodyPr>
          <a:lstStyle/>
          <a:p>
            <a:pPr algn="l">
              <a:defRPr sz="1100" b="0">
                <a:solidFill>
                  <a:srgbClr val="000000"/>
                </a:solidFill>
                <a:latin typeface="微软雅黑"/>
              </a:defRPr>
            </a:pPr>
            <a:r>
              <a:t>15年ERP实施经验</a:t>
            </a:r>
          </a:p>
        </p:txBody>
      </p:sp>
      <p:sp>
        <p:nvSpPr>
          <p:cNvPr id="8" name="TextBox 7"/>
          <p:cNvSpPr txBox="1"/>
          <p:nvPr/>
        </p:nvSpPr>
        <p:spPr>
          <a:xfrm>
            <a:off x="548640" y="3108960"/>
            <a:ext cx="2377440" cy="365760"/>
          </a:xfrm>
          <a:prstGeom prst="rect">
            <a:avLst/>
          </a:prstGeom>
          <a:noFill/>
        </p:spPr>
        <p:txBody>
          <a:bodyPr wrap="square">
            <a:spAutoFit/>
          </a:bodyPr>
          <a:lstStyle/>
          <a:p>
            <a:pPr algn="l">
              <a:defRPr sz="1000" b="0">
                <a:solidFill>
                  <a:srgbClr val="0070C0"/>
                </a:solidFill>
                <a:latin typeface="微软雅黑"/>
              </a:defRPr>
            </a:pPr>
            <a:r>
              <a:t>PMP认证</a:t>
            </a:r>
          </a:p>
        </p:txBody>
      </p:sp>
      <p:sp>
        <p:nvSpPr>
          <p:cNvPr id="9" name="Rounded Rectangle 8"/>
          <p:cNvSpPr/>
          <p:nvPr/>
        </p:nvSpPr>
        <p:spPr>
          <a:xfrm>
            <a:off x="3291840" y="1645920"/>
            <a:ext cx="2560320" cy="22860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737360"/>
            <a:ext cx="2377440" cy="457200"/>
          </a:xfrm>
          <a:prstGeom prst="rect">
            <a:avLst/>
          </a:prstGeom>
          <a:noFill/>
        </p:spPr>
        <p:txBody>
          <a:bodyPr wrap="square">
            <a:spAutoFit/>
          </a:bodyPr>
          <a:lstStyle/>
          <a:p>
            <a:pPr algn="l">
              <a:defRPr sz="1600" b="1">
                <a:solidFill>
                  <a:srgbClr val="0886EC"/>
                </a:solidFill>
                <a:latin typeface="微软雅黑"/>
              </a:defRPr>
            </a:pPr>
            <a:r>
              <a:t>财务顾问</a:t>
            </a:r>
          </a:p>
        </p:txBody>
      </p:sp>
      <p:sp>
        <p:nvSpPr>
          <p:cNvPr id="11" name="TextBox 10"/>
          <p:cNvSpPr txBox="1"/>
          <p:nvPr/>
        </p:nvSpPr>
        <p:spPr>
          <a:xfrm>
            <a:off x="3383280" y="2286000"/>
            <a:ext cx="2377440" cy="731520"/>
          </a:xfrm>
          <a:prstGeom prst="rect">
            <a:avLst/>
          </a:prstGeom>
          <a:noFill/>
        </p:spPr>
        <p:txBody>
          <a:bodyPr wrap="square">
            <a:spAutoFit/>
          </a:bodyPr>
          <a:lstStyle/>
          <a:p>
            <a:pPr algn="l">
              <a:defRPr sz="1100" b="0">
                <a:solidFill>
                  <a:srgbClr val="000000"/>
                </a:solidFill>
                <a:latin typeface="微软雅黑"/>
              </a:defRPr>
            </a:pPr>
            <a:r>
              <a:t>10年财务管理经验</a:t>
            </a:r>
          </a:p>
        </p:txBody>
      </p:sp>
      <p:sp>
        <p:nvSpPr>
          <p:cNvPr id="12" name="TextBox 11"/>
          <p:cNvSpPr txBox="1"/>
          <p:nvPr/>
        </p:nvSpPr>
        <p:spPr>
          <a:xfrm>
            <a:off x="3383280" y="3108960"/>
            <a:ext cx="2377440" cy="365760"/>
          </a:xfrm>
          <a:prstGeom prst="rect">
            <a:avLst/>
          </a:prstGeom>
          <a:noFill/>
        </p:spPr>
        <p:txBody>
          <a:bodyPr wrap="square">
            <a:spAutoFit/>
          </a:bodyPr>
          <a:lstStyle/>
          <a:p>
            <a:pPr algn="l">
              <a:defRPr sz="1000" b="0">
                <a:solidFill>
                  <a:srgbClr val="0070C0"/>
                </a:solidFill>
                <a:latin typeface="微软雅黑"/>
              </a:defRPr>
            </a:pPr>
            <a:r>
              <a:t>CPA认证</a:t>
            </a:r>
          </a:p>
        </p:txBody>
      </p:sp>
      <p:sp>
        <p:nvSpPr>
          <p:cNvPr id="13" name="Rounded Rectangle 12"/>
          <p:cNvSpPr/>
          <p:nvPr/>
        </p:nvSpPr>
        <p:spPr>
          <a:xfrm>
            <a:off x="6126480" y="1645920"/>
            <a:ext cx="2560320" cy="22860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737360"/>
            <a:ext cx="2377440" cy="457200"/>
          </a:xfrm>
          <a:prstGeom prst="rect">
            <a:avLst/>
          </a:prstGeom>
          <a:noFill/>
        </p:spPr>
        <p:txBody>
          <a:bodyPr wrap="square">
            <a:spAutoFit/>
          </a:bodyPr>
          <a:lstStyle/>
          <a:p>
            <a:pPr algn="l">
              <a:defRPr sz="1600" b="1">
                <a:solidFill>
                  <a:srgbClr val="0886EC"/>
                </a:solidFill>
                <a:latin typeface="微软雅黑"/>
              </a:defRPr>
            </a:pPr>
            <a:r>
              <a:t>供应链顾问</a:t>
            </a:r>
          </a:p>
        </p:txBody>
      </p:sp>
      <p:sp>
        <p:nvSpPr>
          <p:cNvPr id="15" name="TextBox 14"/>
          <p:cNvSpPr txBox="1"/>
          <p:nvPr/>
        </p:nvSpPr>
        <p:spPr>
          <a:xfrm>
            <a:off x="6217920" y="2286000"/>
            <a:ext cx="2377440" cy="731520"/>
          </a:xfrm>
          <a:prstGeom prst="rect">
            <a:avLst/>
          </a:prstGeom>
          <a:noFill/>
        </p:spPr>
        <p:txBody>
          <a:bodyPr wrap="square">
            <a:spAutoFit/>
          </a:bodyPr>
          <a:lstStyle/>
          <a:p>
            <a:pPr algn="l">
              <a:defRPr sz="1100" b="0">
                <a:solidFill>
                  <a:srgbClr val="000000"/>
                </a:solidFill>
                <a:latin typeface="微软雅黑"/>
              </a:defRPr>
            </a:pPr>
            <a:r>
              <a:t>8年供应链经验</a:t>
            </a:r>
          </a:p>
        </p:txBody>
      </p:sp>
      <p:sp>
        <p:nvSpPr>
          <p:cNvPr id="16" name="TextBox 15"/>
          <p:cNvSpPr txBox="1"/>
          <p:nvPr/>
        </p:nvSpPr>
        <p:spPr>
          <a:xfrm>
            <a:off x="6217920" y="3108960"/>
            <a:ext cx="2377440" cy="365760"/>
          </a:xfrm>
          <a:prstGeom prst="rect">
            <a:avLst/>
          </a:prstGeom>
          <a:noFill/>
        </p:spPr>
        <p:txBody>
          <a:bodyPr wrap="square">
            <a:spAutoFit/>
          </a:bodyPr>
          <a:lstStyle/>
          <a:p>
            <a:pPr algn="l">
              <a:defRPr sz="1000" b="0">
                <a:solidFill>
                  <a:srgbClr val="0070C0"/>
                </a:solidFill>
                <a:latin typeface="微软雅黑"/>
              </a:defRPr>
            </a:pPr>
            <a:r>
              <a:t>APICS认证</a:t>
            </a:r>
          </a:p>
        </p:txBody>
      </p:sp>
      <p:sp>
        <p:nvSpPr>
          <p:cNvPr id="17" name="Rounded Rectangle 16"/>
          <p:cNvSpPr/>
          <p:nvPr/>
        </p:nvSpPr>
        <p:spPr>
          <a:xfrm>
            <a:off x="8961120" y="1645920"/>
            <a:ext cx="2560320" cy="22860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737360"/>
            <a:ext cx="2377440" cy="457200"/>
          </a:xfrm>
          <a:prstGeom prst="rect">
            <a:avLst/>
          </a:prstGeom>
          <a:noFill/>
        </p:spPr>
        <p:txBody>
          <a:bodyPr wrap="square">
            <a:spAutoFit/>
          </a:bodyPr>
          <a:lstStyle/>
          <a:p>
            <a:pPr algn="l">
              <a:defRPr sz="1600" b="1">
                <a:solidFill>
                  <a:srgbClr val="0886EC"/>
                </a:solidFill>
                <a:latin typeface="微软雅黑"/>
              </a:defRPr>
            </a:pPr>
            <a:r>
              <a:t>技术顾问</a:t>
            </a:r>
          </a:p>
        </p:txBody>
      </p:sp>
      <p:sp>
        <p:nvSpPr>
          <p:cNvPr id="19" name="TextBox 18"/>
          <p:cNvSpPr txBox="1"/>
          <p:nvPr/>
        </p:nvSpPr>
        <p:spPr>
          <a:xfrm>
            <a:off x="9052560" y="2286000"/>
            <a:ext cx="2377440" cy="731520"/>
          </a:xfrm>
          <a:prstGeom prst="rect">
            <a:avLst/>
          </a:prstGeom>
          <a:noFill/>
        </p:spPr>
        <p:txBody>
          <a:bodyPr wrap="square">
            <a:spAutoFit/>
          </a:bodyPr>
          <a:lstStyle/>
          <a:p>
            <a:pPr algn="l">
              <a:defRPr sz="1100" b="0">
                <a:solidFill>
                  <a:srgbClr val="000000"/>
                </a:solidFill>
                <a:latin typeface="微软雅黑"/>
              </a:defRPr>
            </a:pPr>
            <a:r>
              <a:t>12年技术架构经验</a:t>
            </a:r>
          </a:p>
        </p:txBody>
      </p:sp>
      <p:sp>
        <p:nvSpPr>
          <p:cNvPr id="20" name="TextBox 19"/>
          <p:cNvSpPr txBox="1"/>
          <p:nvPr/>
        </p:nvSpPr>
        <p:spPr>
          <a:xfrm>
            <a:off x="9052560" y="3108960"/>
            <a:ext cx="2377440" cy="365760"/>
          </a:xfrm>
          <a:prstGeom prst="rect">
            <a:avLst/>
          </a:prstGeom>
          <a:noFill/>
        </p:spPr>
        <p:txBody>
          <a:bodyPr wrap="square">
            <a:spAutoFit/>
          </a:bodyPr>
          <a:lstStyle/>
          <a:p>
            <a:pPr algn="l">
              <a:defRPr sz="1000" b="0">
                <a:solidFill>
                  <a:srgbClr val="0070C0"/>
                </a:solidFill>
                <a:latin typeface="微软雅黑"/>
              </a:defRPr>
            </a:pPr>
            <a:r>
              <a:t>云架构师</a:t>
            </a:r>
          </a:p>
        </p:txBody>
      </p:sp>
      <p:sp>
        <p:nvSpPr>
          <p:cNvPr id="21" name="TextBox 20"/>
          <p:cNvSpPr txBox="1"/>
          <p:nvPr/>
        </p:nvSpPr>
        <p:spPr>
          <a:xfrm>
            <a:off x="457200" y="4389120"/>
            <a:ext cx="10972800" cy="914400"/>
          </a:xfrm>
          <a:prstGeom prst="rect">
            <a:avLst/>
          </a:prstGeom>
          <a:noFill/>
        </p:spPr>
        <p:txBody>
          <a:bodyPr wrap="square">
            <a:spAutoFit/>
          </a:bodyPr>
          <a:lstStyle/>
          <a:p>
            <a:pPr algn="l">
              <a:defRPr sz="1200" b="0">
                <a:solidFill>
                  <a:srgbClr val="000000"/>
                </a:solidFill>
                <a:latin typeface="微软雅黑"/>
              </a:defRPr>
            </a:pPr>
            <a:r>
              <a:t>金蝶项目团队拥有丰富的行业实施经验，累计服务超过1000家企业客户，在制造业、零售业、金融业等多个行业拥有成功案例。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a:pPr>
              <a:defRPr sz="2400">
                <a:solidFill>
                  <a:srgbClr val="003F56"/>
                </a:solidFill>
              </a:defRPr>
            </a:pPr>
            <a:r>
              <a:t>目 录</a:t>
            </a:r>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914400" y="1645920"/>
            <a:ext cx="457200" cy="365760"/>
          </a:xfrm>
          <a:prstGeom prst="rect">
            <a:avLst/>
          </a:prstGeom>
          <a:noFill/>
        </p:spPr>
        <p:txBody>
          <a:bodyPr wrap="square">
            <a:spAutoFit/>
          </a:bodyPr>
          <a:lstStyle/>
          <a:p>
            <a:pPr algn="l">
              <a:defRPr sz="1800" b="1">
                <a:solidFill>
                  <a:srgbClr val="0886EC"/>
                </a:solidFill>
                <a:latin typeface="微软雅黑"/>
              </a:defRPr>
            </a:pPr>
            <a:r>
              <a:t>01</a:t>
            </a:r>
          </a:p>
        </p:txBody>
      </p:sp>
      <p:sp>
        <p:nvSpPr>
          <p:cNvPr id="21" name="TextBox 20"/>
          <p:cNvSpPr txBox="1"/>
          <p:nvPr/>
        </p:nvSpPr>
        <p:spPr>
          <a:xfrm>
            <a:off x="1463040" y="1645920"/>
            <a:ext cx="9144000" cy="365760"/>
          </a:xfrm>
          <a:prstGeom prst="rect">
            <a:avLst/>
          </a:prstGeom>
          <a:noFill/>
        </p:spPr>
        <p:txBody>
          <a:bodyPr wrap="square">
            <a:spAutoFit/>
          </a:bodyPr>
          <a:lstStyle/>
          <a:p>
            <a:pPr algn="l">
              <a:defRPr sz="1600" b="0">
                <a:solidFill>
                  <a:srgbClr val="000000"/>
                </a:solidFill>
                <a:latin typeface="微软雅黑"/>
              </a:defRPr>
            </a:pPr>
            <a:r>
              <a:t>公司介绍</a:t>
            </a:r>
          </a:p>
        </p:txBody>
      </p:sp>
      <p:sp>
        <p:nvSpPr>
          <p:cNvPr id="22" name="TextBox 21"/>
          <p:cNvSpPr txBox="1"/>
          <p:nvPr/>
        </p:nvSpPr>
        <p:spPr>
          <a:xfrm>
            <a:off x="914400" y="2148840"/>
            <a:ext cx="457200" cy="365760"/>
          </a:xfrm>
          <a:prstGeom prst="rect">
            <a:avLst/>
          </a:prstGeom>
          <a:noFill/>
        </p:spPr>
        <p:txBody>
          <a:bodyPr wrap="square">
            <a:spAutoFit/>
          </a:bodyPr>
          <a:lstStyle/>
          <a:p>
            <a:pPr algn="l">
              <a:defRPr sz="1800" b="1">
                <a:solidFill>
                  <a:srgbClr val="0886EC"/>
                </a:solidFill>
                <a:latin typeface="微软雅黑"/>
              </a:defRPr>
            </a:pPr>
            <a:r>
              <a:t>02</a:t>
            </a:r>
          </a:p>
        </p:txBody>
      </p:sp>
      <p:sp>
        <p:nvSpPr>
          <p:cNvPr id="23" name="TextBox 22"/>
          <p:cNvSpPr txBox="1"/>
          <p:nvPr/>
        </p:nvSpPr>
        <p:spPr>
          <a:xfrm>
            <a:off x="1463040" y="2148840"/>
            <a:ext cx="9144000" cy="365760"/>
          </a:xfrm>
          <a:prstGeom prst="rect">
            <a:avLst/>
          </a:prstGeom>
          <a:noFill/>
        </p:spPr>
        <p:txBody>
          <a:bodyPr wrap="square">
            <a:spAutoFit/>
          </a:bodyPr>
          <a:lstStyle/>
          <a:p>
            <a:pPr algn="l">
              <a:defRPr sz="1600" b="0">
                <a:solidFill>
                  <a:srgbClr val="000000"/>
                </a:solidFill>
                <a:latin typeface="微软雅黑"/>
              </a:defRPr>
            </a:pPr>
            <a:r>
              <a:t>产品体系</a:t>
            </a:r>
          </a:p>
        </p:txBody>
      </p:sp>
      <p:sp>
        <p:nvSpPr>
          <p:cNvPr id="24" name="TextBox 23"/>
          <p:cNvSpPr txBox="1"/>
          <p:nvPr/>
        </p:nvSpPr>
        <p:spPr>
          <a:xfrm>
            <a:off x="914400" y="2651760"/>
            <a:ext cx="457200" cy="365760"/>
          </a:xfrm>
          <a:prstGeom prst="rect">
            <a:avLst/>
          </a:prstGeom>
          <a:noFill/>
        </p:spPr>
        <p:txBody>
          <a:bodyPr wrap="square">
            <a:spAutoFit/>
          </a:bodyPr>
          <a:lstStyle/>
          <a:p>
            <a:pPr algn="l">
              <a:defRPr sz="1800" b="1">
                <a:solidFill>
                  <a:srgbClr val="0886EC"/>
                </a:solidFill>
                <a:latin typeface="微软雅黑"/>
              </a:defRPr>
            </a:pPr>
            <a:r>
              <a:t>03</a:t>
            </a:r>
          </a:p>
        </p:txBody>
      </p:sp>
      <p:sp>
        <p:nvSpPr>
          <p:cNvPr id="25" name="TextBox 24"/>
          <p:cNvSpPr txBox="1"/>
          <p:nvPr/>
        </p:nvSpPr>
        <p:spPr>
          <a:xfrm>
            <a:off x="1463040" y="2651760"/>
            <a:ext cx="9144000" cy="365760"/>
          </a:xfrm>
          <a:prstGeom prst="rect">
            <a:avLst/>
          </a:prstGeom>
          <a:noFill/>
        </p:spPr>
        <p:txBody>
          <a:bodyPr wrap="square">
            <a:spAutoFit/>
          </a:bodyPr>
          <a:lstStyle/>
          <a:p>
            <a:pPr algn="l">
              <a:defRPr sz="1600" b="0">
                <a:solidFill>
                  <a:srgbClr val="000000"/>
                </a:solidFill>
                <a:latin typeface="微软雅黑"/>
              </a:defRPr>
            </a:pPr>
            <a:r>
              <a:t>解决方案</a:t>
            </a:r>
          </a:p>
        </p:txBody>
      </p:sp>
      <p:sp>
        <p:nvSpPr>
          <p:cNvPr id="26" name="TextBox 25"/>
          <p:cNvSpPr txBox="1"/>
          <p:nvPr/>
        </p:nvSpPr>
        <p:spPr>
          <a:xfrm>
            <a:off x="914400" y="3154680"/>
            <a:ext cx="457200" cy="365760"/>
          </a:xfrm>
          <a:prstGeom prst="rect">
            <a:avLst/>
          </a:prstGeom>
          <a:noFill/>
        </p:spPr>
        <p:txBody>
          <a:bodyPr wrap="square">
            <a:spAutoFit/>
          </a:bodyPr>
          <a:lstStyle/>
          <a:p>
            <a:pPr algn="l">
              <a:defRPr sz="1800" b="1">
                <a:solidFill>
                  <a:srgbClr val="0886EC"/>
                </a:solidFill>
                <a:latin typeface="微软雅黑"/>
              </a:defRPr>
            </a:pPr>
            <a:r>
              <a:t>04</a:t>
            </a:r>
          </a:p>
        </p:txBody>
      </p:sp>
      <p:sp>
        <p:nvSpPr>
          <p:cNvPr id="27" name="TextBox 26"/>
          <p:cNvSpPr txBox="1"/>
          <p:nvPr/>
        </p:nvSpPr>
        <p:spPr>
          <a:xfrm>
            <a:off x="1463040" y="3154680"/>
            <a:ext cx="9144000" cy="365760"/>
          </a:xfrm>
          <a:prstGeom prst="rect">
            <a:avLst/>
          </a:prstGeom>
          <a:noFill/>
        </p:spPr>
        <p:txBody>
          <a:bodyPr wrap="square">
            <a:spAutoFit/>
          </a:bodyPr>
          <a:lstStyle/>
          <a:p>
            <a:pPr algn="l">
              <a:defRPr sz="1600" b="0">
                <a:solidFill>
                  <a:srgbClr val="000000"/>
                </a:solidFill>
                <a:latin typeface="微软雅黑"/>
              </a:defRPr>
            </a:pPr>
            <a:r>
              <a:t>实施路线</a:t>
            </a:r>
          </a:p>
        </p:txBody>
      </p:sp>
      <p:sp>
        <p:nvSpPr>
          <p:cNvPr id="28" name="TextBox 27"/>
          <p:cNvSpPr txBox="1"/>
          <p:nvPr/>
        </p:nvSpPr>
        <p:spPr>
          <a:xfrm>
            <a:off x="914400" y="3657600"/>
            <a:ext cx="457200" cy="365760"/>
          </a:xfrm>
          <a:prstGeom prst="rect">
            <a:avLst/>
          </a:prstGeom>
          <a:noFill/>
        </p:spPr>
        <p:txBody>
          <a:bodyPr wrap="square">
            <a:spAutoFit/>
          </a:bodyPr>
          <a:lstStyle/>
          <a:p>
            <a:pPr algn="l">
              <a:defRPr sz="1800" b="1">
                <a:solidFill>
                  <a:srgbClr val="0886EC"/>
                </a:solidFill>
                <a:latin typeface="微软雅黑"/>
              </a:defRPr>
            </a:pPr>
            <a:r>
              <a:t>05</a:t>
            </a:r>
          </a:p>
        </p:txBody>
      </p:sp>
      <p:sp>
        <p:nvSpPr>
          <p:cNvPr id="29" name="TextBox 28"/>
          <p:cNvSpPr txBox="1"/>
          <p:nvPr/>
        </p:nvSpPr>
        <p:spPr>
          <a:xfrm>
            <a:off x="1463040" y="3657600"/>
            <a:ext cx="9144000" cy="365760"/>
          </a:xfrm>
          <a:prstGeom prst="rect">
            <a:avLst/>
          </a:prstGeom>
          <a:noFill/>
        </p:spPr>
        <p:txBody>
          <a:bodyPr wrap="square">
            <a:spAutoFit/>
          </a:bodyPr>
          <a:lstStyle/>
          <a:p>
            <a:pPr algn="l">
              <a:defRPr sz="1600" b="0">
                <a:solidFill>
                  <a:srgbClr val="000000"/>
                </a:solidFill>
                <a:latin typeface="微软雅黑"/>
              </a:defRPr>
            </a:pPr>
            <a:r>
              <a:t>成功案例</a:t>
            </a:r>
          </a:p>
        </p:txBody>
      </p:sp>
      <p:sp>
        <p:nvSpPr>
          <p:cNvPr id="30" name="TextBox 29"/>
          <p:cNvSpPr txBox="1"/>
          <p:nvPr/>
        </p:nvSpPr>
        <p:spPr>
          <a:xfrm>
            <a:off x="914400" y="4160520"/>
            <a:ext cx="457200" cy="365760"/>
          </a:xfrm>
          <a:prstGeom prst="rect">
            <a:avLst/>
          </a:prstGeom>
          <a:noFill/>
        </p:spPr>
        <p:txBody>
          <a:bodyPr wrap="square">
            <a:spAutoFit/>
          </a:bodyPr>
          <a:lstStyle/>
          <a:p>
            <a:pPr algn="l">
              <a:defRPr sz="1800" b="1">
                <a:solidFill>
                  <a:srgbClr val="0886EC"/>
                </a:solidFill>
                <a:latin typeface="微软雅黑"/>
              </a:defRPr>
            </a:pPr>
            <a:r>
              <a:t>06</a:t>
            </a:r>
          </a:p>
        </p:txBody>
      </p:sp>
      <p:sp>
        <p:nvSpPr>
          <p:cNvPr id="31" name="TextBox 30"/>
          <p:cNvSpPr txBox="1"/>
          <p:nvPr/>
        </p:nvSpPr>
        <p:spPr>
          <a:xfrm>
            <a:off x="1463040" y="4160520"/>
            <a:ext cx="9144000" cy="365760"/>
          </a:xfrm>
          <a:prstGeom prst="rect">
            <a:avLst/>
          </a:prstGeom>
          <a:noFill/>
        </p:spPr>
        <p:txBody>
          <a:bodyPr wrap="square">
            <a:spAutoFit/>
          </a:bodyPr>
          <a:lstStyle/>
          <a:p>
            <a:pPr algn="l">
              <a:defRPr sz="1600" b="0">
                <a:solidFill>
                  <a:srgbClr val="000000"/>
                </a:solidFill>
                <a:latin typeface="微软雅黑"/>
              </a:defRPr>
            </a:pPr>
            <a:r>
              <a:t>服务保障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square">
            <a:spAutoFit/>
          </a:bodyPr>
          <a:lstStyle/>
          <a:p>
            <a:pPr algn="l">
              <a:defRPr sz="7200" b="1">
                <a:solidFill>
                  <a:srgbClr val="0886EC"/>
                </a:solidFill>
                <a:latin typeface="微软雅黑"/>
              </a:defRPr>
            </a:pPr>
            <a:r>
              <a:t>01</a:t>
            </a:r>
          </a:p>
        </p:txBody>
      </p:sp>
      <p:sp>
        <p:nvSpPr>
          <p:cNvPr id="21" name="TextBox 20"/>
          <p:cNvSpPr txBox="1"/>
          <p:nvPr/>
        </p:nvSpPr>
        <p:spPr>
          <a:xfrm>
            <a:off x="2286000" y="2560320"/>
            <a:ext cx="8229600" cy="914400"/>
          </a:xfrm>
          <a:prstGeom prst="rect">
            <a:avLst/>
          </a:prstGeom>
          <a:noFill/>
        </p:spPr>
        <p:txBody>
          <a:bodyPr wrap="square">
            <a:spAutoFit/>
          </a:bodyPr>
          <a:lstStyle/>
          <a:p>
            <a:pPr algn="l">
              <a:defRPr sz="3600" b="1">
                <a:solidFill>
                  <a:srgbClr val="003F56"/>
                </a:solidFill>
                <a:latin typeface="微软雅黑"/>
              </a:defRPr>
            </a:pPr>
            <a:r>
              <a:t>公司介绍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公司概况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34747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3291839" cy="457200"/>
          </a:xfrm>
          <a:prstGeom prst="rect">
            <a:avLst/>
          </a:prstGeom>
          <a:noFill/>
        </p:spPr>
        <p:txBody>
          <a:bodyPr wrap="none">
            <a:spAutoFit/>
          </a:bodyPr>
          <a:lstStyle/>
          <a:p>
            <a:r>
              <a:rPr sz="2800" b="1">
                <a:solidFill>
                  <a:srgbClr val="0886EC"/>
                </a:solidFill>
                <a:latin typeface="微软雅黑"/>
              </a:rPr>
              <a:t>30+</a:t>
            </a:r>
            <a:r>
              <a:rPr sz="1400">
                <a:solidFill>
                  <a:srgbClr val="000000"/>
                </a:solidFill>
                <a:latin typeface="微软雅黑"/>
              </a:rPr>
              <a:t>年</a:t>
            </a:r>
          </a:p>
        </p:txBody>
      </p:sp>
      <p:sp>
        <p:nvSpPr>
          <p:cNvPr id="6" name="TextBox 5"/>
          <p:cNvSpPr txBox="1"/>
          <p:nvPr/>
        </p:nvSpPr>
        <p:spPr>
          <a:xfrm>
            <a:off x="548640" y="2148840"/>
            <a:ext cx="3291839" cy="274320"/>
          </a:xfrm>
          <a:prstGeom prst="rect">
            <a:avLst/>
          </a:prstGeom>
          <a:noFill/>
        </p:spPr>
        <p:txBody>
          <a:bodyPr wrap="none">
            <a:spAutoFit/>
          </a:bodyPr>
          <a:lstStyle/>
          <a:p>
            <a:pPr algn="ctr">
              <a:defRPr sz="1200">
                <a:solidFill>
                  <a:srgbClr val="000000"/>
                </a:solidFill>
                <a:latin typeface="微软雅黑"/>
              </a:defRPr>
            </a:pPr>
            <a:r>
              <a:t>发展历程</a:t>
            </a:r>
          </a:p>
        </p:txBody>
      </p:sp>
      <p:sp>
        <p:nvSpPr>
          <p:cNvPr id="7" name="Rounded Rectangle 6"/>
          <p:cNvSpPr/>
          <p:nvPr/>
        </p:nvSpPr>
        <p:spPr>
          <a:xfrm>
            <a:off x="4206240" y="1371600"/>
            <a:ext cx="34747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79" y="1508760"/>
            <a:ext cx="3291839" cy="457200"/>
          </a:xfrm>
          <a:prstGeom prst="rect">
            <a:avLst/>
          </a:prstGeom>
          <a:noFill/>
        </p:spPr>
        <p:txBody>
          <a:bodyPr wrap="none">
            <a:spAutoFit/>
          </a:bodyPr>
          <a:lstStyle/>
          <a:p>
            <a:r>
              <a:rPr sz="2800" b="1">
                <a:solidFill>
                  <a:srgbClr val="0886EC"/>
                </a:solidFill>
                <a:latin typeface="微软雅黑"/>
              </a:rPr>
              <a:t>5000+</a:t>
            </a:r>
            <a:r>
              <a:rPr sz="1400">
                <a:solidFill>
                  <a:srgbClr val="000000"/>
                </a:solidFill>
                <a:latin typeface="微软雅黑"/>
              </a:rPr>
              <a:t>亿</a:t>
            </a:r>
          </a:p>
        </p:txBody>
      </p:sp>
      <p:sp>
        <p:nvSpPr>
          <p:cNvPr id="9" name="TextBox 8"/>
          <p:cNvSpPr txBox="1"/>
          <p:nvPr/>
        </p:nvSpPr>
        <p:spPr>
          <a:xfrm>
            <a:off x="4297679" y="2148840"/>
            <a:ext cx="3291839" cy="274320"/>
          </a:xfrm>
          <a:prstGeom prst="rect">
            <a:avLst/>
          </a:prstGeom>
          <a:noFill/>
        </p:spPr>
        <p:txBody>
          <a:bodyPr wrap="none">
            <a:spAutoFit/>
          </a:bodyPr>
          <a:lstStyle/>
          <a:p>
            <a:pPr algn="ctr">
              <a:defRPr sz="1200">
                <a:solidFill>
                  <a:srgbClr val="000000"/>
                </a:solidFill>
                <a:latin typeface="微软雅黑"/>
              </a:defRPr>
            </a:pPr>
            <a:r>
              <a:t>市值</a:t>
            </a:r>
          </a:p>
        </p:txBody>
      </p:sp>
      <p:sp>
        <p:nvSpPr>
          <p:cNvPr id="10" name="Rounded Rectangle 9"/>
          <p:cNvSpPr/>
          <p:nvPr/>
        </p:nvSpPr>
        <p:spPr>
          <a:xfrm>
            <a:off x="7955279" y="1371600"/>
            <a:ext cx="34747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9" y="1508760"/>
            <a:ext cx="3291839" cy="457200"/>
          </a:xfrm>
          <a:prstGeom prst="rect">
            <a:avLst/>
          </a:prstGeom>
          <a:noFill/>
        </p:spPr>
        <p:txBody>
          <a:bodyPr wrap="none">
            <a:spAutoFit/>
          </a:bodyPr>
          <a:lstStyle/>
          <a:p>
            <a:r>
              <a:rPr sz="2800" b="1">
                <a:solidFill>
                  <a:srgbClr val="0886EC"/>
                </a:solidFill>
                <a:latin typeface="微软雅黑"/>
              </a:rPr>
              <a:t>1000万+</a:t>
            </a:r>
            <a:r>
              <a:rPr sz="1400">
                <a:solidFill>
                  <a:srgbClr val="000000"/>
                </a:solidFill>
                <a:latin typeface="微软雅黑"/>
              </a:rPr>
              <a:t>家</a:t>
            </a:r>
          </a:p>
        </p:txBody>
      </p:sp>
      <p:sp>
        <p:nvSpPr>
          <p:cNvPr id="12" name="TextBox 11"/>
          <p:cNvSpPr txBox="1"/>
          <p:nvPr/>
        </p:nvSpPr>
        <p:spPr>
          <a:xfrm>
            <a:off x="8046719" y="2148840"/>
            <a:ext cx="3291839" cy="274320"/>
          </a:xfrm>
          <a:prstGeom prst="rect">
            <a:avLst/>
          </a:prstGeom>
          <a:noFill/>
        </p:spPr>
        <p:txBody>
          <a:bodyPr wrap="none">
            <a:spAutoFit/>
          </a:bodyPr>
          <a:lstStyle/>
          <a:p>
            <a:pPr algn="ctr">
              <a:defRPr sz="1200">
                <a:solidFill>
                  <a:srgbClr val="000000"/>
                </a:solidFill>
                <a:latin typeface="微软雅黑"/>
              </a:defRPr>
            </a:pPr>
            <a:r>
              <a:t>企业客户</a:t>
            </a:r>
          </a:p>
        </p:txBody>
      </p:sp>
      <p:sp>
        <p:nvSpPr>
          <p:cNvPr id="13" name="TextBox 12"/>
          <p:cNvSpPr txBox="1"/>
          <p:nvPr/>
        </p:nvSpPr>
        <p:spPr>
          <a:xfrm>
            <a:off x="457200" y="2743200"/>
            <a:ext cx="10972800" cy="1828800"/>
          </a:xfrm>
          <a:prstGeom prst="rect">
            <a:avLst/>
          </a:prstGeom>
          <a:noFill/>
        </p:spPr>
        <p:txBody>
          <a:bodyPr wrap="square">
            <a:spAutoFit/>
          </a:bodyPr>
          <a:lstStyle/>
          <a:p>
            <a:pPr algn="l">
              <a:defRPr sz="1400" b="0">
                <a:solidFill>
                  <a:srgbClr val="000000"/>
                </a:solidFill>
                <a:latin typeface="微软雅黑"/>
              </a:defRPr>
            </a:pPr>
            <a:r>
              <a:t>金蝶国际软件集团有限公司是亚太地区领先的企业管理软件及电子商务应用解决方案供应商。金蝶旗下云服务产品有金蝶云·苍穹、金蝶云·星瀚、金蝶云·星空、金蝶云·星辰等，为不同规模的企业提供数字化转型解决方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发展历程</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square">
            <a:spAutoFit/>
          </a:bodyPr>
          <a:lstStyle/>
          <a:p>
            <a:pPr algn="ctr">
              <a:defRPr sz="1200" b="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square">
            <a:spAutoFit/>
          </a:bodyPr>
          <a:lstStyle/>
          <a:p>
            <a:pPr algn="ctr">
              <a:defRPr sz="1000" b="0">
                <a:solidFill>
                  <a:srgbClr val="000000"/>
                </a:solidFill>
                <a:latin typeface="微软雅黑"/>
              </a:defRPr>
            </a:pPr>
            <a:r>
              <a:t>1993</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成立</a:t>
            </a:r>
          </a:p>
        </p:txBody>
      </p:sp>
      <p:sp>
        <p:nvSpPr>
          <p:cNvPr id="9" name="Oval 8"/>
          <p:cNvSpPr/>
          <p:nvPr/>
        </p:nvSpPr>
        <p:spPr>
          <a:xfrm>
            <a:off x="30632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764792"/>
            <a:ext cx="182880" cy="228600"/>
          </a:xfrm>
          <a:prstGeom prst="rect">
            <a:avLst/>
          </a:prstGeom>
          <a:noFill/>
        </p:spPr>
        <p:txBody>
          <a:bodyPr wrap="square">
            <a:spAutoFit/>
          </a:bodyPr>
          <a:lstStyle/>
          <a:p>
            <a:pPr algn="ctr">
              <a:defRPr sz="1200" b="0">
                <a:solidFill>
                  <a:srgbClr val="FFFFFF"/>
                </a:solidFill>
                <a:latin typeface="微软雅黑"/>
              </a:defRPr>
            </a:pPr>
            <a:r>
              <a:t>2</a:t>
            </a:r>
          </a:p>
        </p:txBody>
      </p:sp>
      <p:sp>
        <p:nvSpPr>
          <p:cNvPr id="11" name="TextBox 10"/>
          <p:cNvSpPr txBox="1"/>
          <p:nvPr/>
        </p:nvSpPr>
        <p:spPr>
          <a:xfrm>
            <a:off x="2834640" y="2103120"/>
            <a:ext cx="731520" cy="274320"/>
          </a:xfrm>
          <a:prstGeom prst="rect">
            <a:avLst/>
          </a:prstGeom>
          <a:noFill/>
        </p:spPr>
        <p:txBody>
          <a:bodyPr wrap="square">
            <a:spAutoFit/>
          </a:bodyPr>
          <a:lstStyle/>
          <a:p>
            <a:pPr algn="ctr">
              <a:defRPr sz="1000" b="0">
                <a:solidFill>
                  <a:srgbClr val="000000"/>
                </a:solidFill>
                <a:latin typeface="微软雅黑"/>
              </a:defRPr>
            </a:pPr>
            <a:r>
              <a:t>2001</a:t>
            </a:r>
          </a:p>
        </p:txBody>
      </p:sp>
      <p:sp>
        <p:nvSpPr>
          <p:cNvPr id="12" name="TextBox 11"/>
          <p:cNvSpPr txBox="1"/>
          <p:nvPr/>
        </p:nvSpPr>
        <p:spPr>
          <a:xfrm>
            <a:off x="2743200" y="2377440"/>
            <a:ext cx="914400" cy="365760"/>
          </a:xfrm>
          <a:prstGeom prst="rect">
            <a:avLst/>
          </a:prstGeom>
          <a:noFill/>
        </p:spPr>
        <p:txBody>
          <a:bodyPr wrap="square">
            <a:spAutoFit/>
          </a:bodyPr>
          <a:lstStyle/>
          <a:p>
            <a:pPr algn="ctr">
              <a:defRPr sz="1000">
                <a:solidFill>
                  <a:srgbClr val="000000"/>
                </a:solidFill>
                <a:latin typeface="微软雅黑"/>
              </a:defRPr>
            </a:pPr>
            <a:r>
              <a:t>香港上市</a:t>
            </a:r>
          </a:p>
        </p:txBody>
      </p:sp>
      <p:sp>
        <p:nvSpPr>
          <p:cNvPr id="13" name="Oval 12"/>
          <p:cNvSpPr/>
          <p:nvPr/>
        </p:nvSpPr>
        <p:spPr>
          <a:xfrm>
            <a:off x="58064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1764792"/>
            <a:ext cx="182880" cy="228600"/>
          </a:xfrm>
          <a:prstGeom prst="rect">
            <a:avLst/>
          </a:prstGeom>
          <a:noFill/>
        </p:spPr>
        <p:txBody>
          <a:bodyPr wrap="square">
            <a:spAutoFit/>
          </a:bodyPr>
          <a:lstStyle/>
          <a:p>
            <a:pPr algn="ctr">
              <a:defRPr sz="1200" b="0">
                <a:solidFill>
                  <a:srgbClr val="FFFFFF"/>
                </a:solidFill>
                <a:latin typeface="微软雅黑"/>
              </a:defRPr>
            </a:pPr>
            <a:r>
              <a:t>3</a:t>
            </a:r>
          </a:p>
        </p:txBody>
      </p:sp>
      <p:sp>
        <p:nvSpPr>
          <p:cNvPr id="15" name="TextBox 14"/>
          <p:cNvSpPr txBox="1"/>
          <p:nvPr/>
        </p:nvSpPr>
        <p:spPr>
          <a:xfrm>
            <a:off x="5577840" y="2103120"/>
            <a:ext cx="731520" cy="274320"/>
          </a:xfrm>
          <a:prstGeom prst="rect">
            <a:avLst/>
          </a:prstGeom>
          <a:noFill/>
        </p:spPr>
        <p:txBody>
          <a:bodyPr wrap="square">
            <a:spAutoFit/>
          </a:bodyPr>
          <a:lstStyle/>
          <a:p>
            <a:pPr algn="ctr">
              <a:defRPr sz="1000" b="0">
                <a:solidFill>
                  <a:srgbClr val="000000"/>
                </a:solidFill>
                <a:latin typeface="微软雅黑"/>
              </a:defRPr>
            </a:pPr>
            <a:r>
              <a:t>2012</a:t>
            </a:r>
          </a:p>
        </p:txBody>
      </p:sp>
      <p:sp>
        <p:nvSpPr>
          <p:cNvPr id="16" name="TextBox 15"/>
          <p:cNvSpPr txBox="1"/>
          <p:nvPr/>
        </p:nvSpPr>
        <p:spPr>
          <a:xfrm>
            <a:off x="5486400" y="2377440"/>
            <a:ext cx="914400" cy="365760"/>
          </a:xfrm>
          <a:prstGeom prst="rect">
            <a:avLst/>
          </a:prstGeom>
          <a:noFill/>
        </p:spPr>
        <p:txBody>
          <a:bodyPr wrap="square">
            <a:spAutoFit/>
          </a:bodyPr>
          <a:lstStyle/>
          <a:p>
            <a:pPr algn="ctr">
              <a:defRPr sz="1000">
                <a:solidFill>
                  <a:srgbClr val="000000"/>
                </a:solidFill>
                <a:latin typeface="微软雅黑"/>
              </a:defRPr>
            </a:pPr>
            <a:r>
              <a:t>云转型</a:t>
            </a:r>
          </a:p>
        </p:txBody>
      </p:sp>
      <p:sp>
        <p:nvSpPr>
          <p:cNvPr id="17" name="Oval 16"/>
          <p:cNvSpPr/>
          <p:nvPr/>
        </p:nvSpPr>
        <p:spPr>
          <a:xfrm>
            <a:off x="85496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64792"/>
            <a:ext cx="182880" cy="228600"/>
          </a:xfrm>
          <a:prstGeom prst="rect">
            <a:avLst/>
          </a:prstGeom>
          <a:noFill/>
        </p:spPr>
        <p:txBody>
          <a:bodyPr wrap="square">
            <a:spAutoFit/>
          </a:bodyPr>
          <a:lstStyle/>
          <a:p>
            <a:pPr algn="ctr">
              <a:defRPr sz="1200" b="0">
                <a:solidFill>
                  <a:srgbClr val="FFFFFF"/>
                </a:solidFill>
                <a:latin typeface="微软雅黑"/>
              </a:defRPr>
            </a:pPr>
            <a:r>
              <a:t>4</a:t>
            </a:r>
          </a:p>
        </p:txBody>
      </p:sp>
      <p:sp>
        <p:nvSpPr>
          <p:cNvPr id="19" name="TextBox 18"/>
          <p:cNvSpPr txBox="1"/>
          <p:nvPr/>
        </p:nvSpPr>
        <p:spPr>
          <a:xfrm>
            <a:off x="8321040" y="2103120"/>
            <a:ext cx="731520" cy="274320"/>
          </a:xfrm>
          <a:prstGeom prst="rect">
            <a:avLst/>
          </a:prstGeom>
          <a:noFill/>
        </p:spPr>
        <p:txBody>
          <a:bodyPr wrap="square">
            <a:spAutoFit/>
          </a:bodyPr>
          <a:lstStyle/>
          <a:p>
            <a:pPr algn="ctr">
              <a:defRPr sz="1000" b="0">
                <a:solidFill>
                  <a:srgbClr val="000000"/>
                </a:solidFill>
                <a:latin typeface="微软雅黑"/>
              </a:defRPr>
            </a:pPr>
            <a:r>
              <a:t>2018</a:t>
            </a:r>
          </a:p>
        </p:txBody>
      </p:sp>
      <p:sp>
        <p:nvSpPr>
          <p:cNvPr id="20" name="TextBox 19"/>
          <p:cNvSpPr txBox="1"/>
          <p:nvPr/>
        </p:nvSpPr>
        <p:spPr>
          <a:xfrm>
            <a:off x="8229600" y="2377440"/>
            <a:ext cx="914400" cy="365760"/>
          </a:xfrm>
          <a:prstGeom prst="rect">
            <a:avLst/>
          </a:prstGeom>
          <a:noFill/>
        </p:spPr>
        <p:txBody>
          <a:bodyPr wrap="square">
            <a:spAutoFit/>
          </a:bodyPr>
          <a:lstStyle/>
          <a:p>
            <a:pPr algn="ctr">
              <a:defRPr sz="1000">
                <a:solidFill>
                  <a:srgbClr val="000000"/>
                </a:solidFill>
                <a:latin typeface="微软雅黑"/>
              </a:defRPr>
            </a:pPr>
            <a:r>
              <a:t>苍穹发布</a:t>
            </a:r>
          </a:p>
        </p:txBody>
      </p:sp>
      <p:sp>
        <p:nvSpPr>
          <p:cNvPr id="21" name="Oval 20"/>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8560" y="1764792"/>
            <a:ext cx="182880" cy="228600"/>
          </a:xfrm>
          <a:prstGeom prst="rect">
            <a:avLst/>
          </a:prstGeom>
          <a:noFill/>
        </p:spPr>
        <p:txBody>
          <a:bodyPr wrap="square">
            <a:spAutoFit/>
          </a:bodyPr>
          <a:lstStyle/>
          <a:p>
            <a:pPr algn="ctr">
              <a:defRPr sz="1200" b="0">
                <a:solidFill>
                  <a:srgbClr val="FFFFFF"/>
                </a:solidFill>
                <a:latin typeface="微软雅黑"/>
              </a:defRPr>
            </a:pPr>
            <a:r>
              <a:t>5</a:t>
            </a:r>
          </a:p>
        </p:txBody>
      </p:sp>
      <p:sp>
        <p:nvSpPr>
          <p:cNvPr id="23" name="TextBox 22"/>
          <p:cNvSpPr txBox="1"/>
          <p:nvPr/>
        </p:nvSpPr>
        <p:spPr>
          <a:xfrm>
            <a:off x="11064240" y="2103120"/>
            <a:ext cx="731520" cy="274320"/>
          </a:xfrm>
          <a:prstGeom prst="rect">
            <a:avLst/>
          </a:prstGeom>
          <a:noFill/>
        </p:spPr>
        <p:txBody>
          <a:bodyPr wrap="square">
            <a:spAutoFit/>
          </a:bodyPr>
          <a:lstStyle/>
          <a:p>
            <a:pPr algn="ctr">
              <a:defRPr sz="1000" b="0">
                <a:solidFill>
                  <a:srgbClr val="000000"/>
                </a:solidFill>
                <a:latin typeface="微软雅黑"/>
              </a:defRPr>
            </a:pPr>
            <a:r>
              <a:t>2023</a:t>
            </a:r>
          </a:p>
        </p:txBody>
      </p:sp>
      <p:sp>
        <p:nvSpPr>
          <p:cNvPr id="24" name="TextBox 23"/>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云收入79%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核心优势</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技术领先</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云原生架构</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AI赋能</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微服务</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产品丰富</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苍穹PaaS</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星瀚EBC</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星空ERP</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服务完善</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全国服务网</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生态伙伴</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专业团队</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案例众多</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500强客户</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行业标杆</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成功经验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市场占有率-金蝶云产品多项第一</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5303520" cy="82296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5120640" cy="457200"/>
          </a:xfrm>
          <a:prstGeom prst="rect">
            <a:avLst/>
          </a:prstGeom>
          <a:noFill/>
        </p:spPr>
        <p:txBody>
          <a:bodyPr wrap="none">
            <a:spAutoFit/>
          </a:bodyPr>
          <a:lstStyle/>
          <a:p>
            <a:r>
              <a:rPr sz="2800" b="1">
                <a:solidFill>
                  <a:srgbClr val="0886EC"/>
                </a:solidFill>
                <a:latin typeface="微软雅黑"/>
              </a:rPr>
              <a:t>连续19年</a:t>
            </a:r>
            <a:r>
              <a:rPr sz="1400">
                <a:solidFill>
                  <a:srgbClr val="000000"/>
                </a:solidFill>
                <a:latin typeface="微软雅黑"/>
              </a:rPr>
              <a:t/>
            </a:r>
          </a:p>
        </p:txBody>
      </p:sp>
      <p:sp>
        <p:nvSpPr>
          <p:cNvPr id="6" name="TextBox 5"/>
          <p:cNvSpPr txBox="1"/>
          <p:nvPr/>
        </p:nvSpPr>
        <p:spPr>
          <a:xfrm>
            <a:off x="548640" y="1874519"/>
            <a:ext cx="5120640" cy="274320"/>
          </a:xfrm>
          <a:prstGeom prst="rect">
            <a:avLst/>
          </a:prstGeom>
          <a:noFill/>
        </p:spPr>
        <p:txBody>
          <a:bodyPr wrap="none">
            <a:spAutoFit/>
          </a:bodyPr>
          <a:lstStyle/>
          <a:p>
            <a:pPr algn="ctr">
              <a:defRPr sz="1200">
                <a:solidFill>
                  <a:srgbClr val="000000"/>
                </a:solidFill>
                <a:latin typeface="微软雅黑"/>
              </a:defRPr>
            </a:pPr>
            <a:r>
              <a:t>中国企业应用软件市场占有率第一</a:t>
            </a:r>
          </a:p>
        </p:txBody>
      </p:sp>
      <p:sp>
        <p:nvSpPr>
          <p:cNvPr id="7" name="Rounded Rectangle 6"/>
          <p:cNvSpPr/>
          <p:nvPr/>
        </p:nvSpPr>
        <p:spPr>
          <a:xfrm>
            <a:off x="6035040" y="1371600"/>
            <a:ext cx="5303520" cy="82296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79" y="1508760"/>
            <a:ext cx="5120640" cy="457200"/>
          </a:xfrm>
          <a:prstGeom prst="rect">
            <a:avLst/>
          </a:prstGeom>
          <a:noFill/>
        </p:spPr>
        <p:txBody>
          <a:bodyPr wrap="none">
            <a:spAutoFit/>
          </a:bodyPr>
          <a:lstStyle/>
          <a:p>
            <a:r>
              <a:rPr sz="2800" b="1">
                <a:solidFill>
                  <a:srgbClr val="0886EC"/>
                </a:solidFill>
                <a:latin typeface="微软雅黑"/>
              </a:rPr>
              <a:t>连续4年</a:t>
            </a:r>
            <a:r>
              <a:rPr sz="1400">
                <a:solidFill>
                  <a:srgbClr val="000000"/>
                </a:solidFill>
                <a:latin typeface="微软雅黑"/>
              </a:rPr>
              <a:t/>
            </a:r>
          </a:p>
        </p:txBody>
      </p:sp>
      <p:sp>
        <p:nvSpPr>
          <p:cNvPr id="9" name="TextBox 8"/>
          <p:cNvSpPr txBox="1"/>
          <p:nvPr/>
        </p:nvSpPr>
        <p:spPr>
          <a:xfrm>
            <a:off x="6126479" y="1874519"/>
            <a:ext cx="5120640" cy="274320"/>
          </a:xfrm>
          <a:prstGeom prst="rect">
            <a:avLst/>
          </a:prstGeom>
          <a:noFill/>
        </p:spPr>
        <p:txBody>
          <a:bodyPr wrap="none">
            <a:spAutoFit/>
          </a:bodyPr>
          <a:lstStyle/>
          <a:p>
            <a:pPr algn="ctr">
              <a:defRPr sz="1200">
                <a:solidFill>
                  <a:srgbClr val="000000"/>
                </a:solidFill>
                <a:latin typeface="微软雅黑"/>
              </a:defRPr>
            </a:pPr>
            <a:r>
              <a:t>中国企业SaaS云服务市场占有率第一</a:t>
            </a:r>
          </a:p>
        </p:txBody>
      </p:sp>
      <p:sp>
        <p:nvSpPr>
          <p:cNvPr id="10" name="Rounded Rectangle 9"/>
          <p:cNvSpPr/>
          <p:nvPr/>
        </p:nvSpPr>
        <p:spPr>
          <a:xfrm>
            <a:off x="457200" y="2468880"/>
            <a:ext cx="5303520" cy="82296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06040"/>
            <a:ext cx="5120640" cy="457200"/>
          </a:xfrm>
          <a:prstGeom prst="rect">
            <a:avLst/>
          </a:prstGeom>
          <a:noFill/>
        </p:spPr>
        <p:txBody>
          <a:bodyPr wrap="none">
            <a:spAutoFit/>
          </a:bodyPr>
          <a:lstStyle/>
          <a:p>
            <a:r>
              <a:rPr sz="2800" b="1">
                <a:solidFill>
                  <a:srgbClr val="0886EC"/>
                </a:solidFill>
                <a:latin typeface="微软雅黑"/>
              </a:rPr>
              <a:t>连续4年</a:t>
            </a:r>
            <a:r>
              <a:rPr sz="1400">
                <a:solidFill>
                  <a:srgbClr val="000000"/>
                </a:solidFill>
                <a:latin typeface="微软雅黑"/>
              </a:rPr>
              <a:t/>
            </a:r>
          </a:p>
        </p:txBody>
      </p:sp>
      <p:sp>
        <p:nvSpPr>
          <p:cNvPr id="12" name="TextBox 11"/>
          <p:cNvSpPr txBox="1"/>
          <p:nvPr/>
        </p:nvSpPr>
        <p:spPr>
          <a:xfrm>
            <a:off x="548640" y="2971800"/>
            <a:ext cx="5120640" cy="274320"/>
          </a:xfrm>
          <a:prstGeom prst="rect">
            <a:avLst/>
          </a:prstGeom>
          <a:noFill/>
        </p:spPr>
        <p:txBody>
          <a:bodyPr wrap="none">
            <a:spAutoFit/>
          </a:bodyPr>
          <a:lstStyle/>
          <a:p>
            <a:pPr algn="ctr">
              <a:defRPr sz="1200">
                <a:solidFill>
                  <a:srgbClr val="000000"/>
                </a:solidFill>
                <a:latin typeface="微软雅黑"/>
              </a:defRPr>
            </a:pPr>
            <a:r>
              <a:t>中国企业ERP云服务市场占有率第一</a:t>
            </a:r>
          </a:p>
        </p:txBody>
      </p:sp>
      <p:sp>
        <p:nvSpPr>
          <p:cNvPr id="13" name="Rounded Rectangle 12"/>
          <p:cNvSpPr/>
          <p:nvPr/>
        </p:nvSpPr>
        <p:spPr>
          <a:xfrm>
            <a:off x="6035040" y="2468880"/>
            <a:ext cx="5303520" cy="82296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2606040"/>
            <a:ext cx="5120640" cy="457200"/>
          </a:xfrm>
          <a:prstGeom prst="rect">
            <a:avLst/>
          </a:prstGeom>
          <a:noFill/>
        </p:spPr>
        <p:txBody>
          <a:bodyPr wrap="none">
            <a:spAutoFit/>
          </a:bodyPr>
          <a:lstStyle/>
          <a:p>
            <a:r>
              <a:rPr sz="2800" b="1">
                <a:solidFill>
                  <a:srgbClr val="0886EC"/>
                </a:solidFill>
                <a:latin typeface="微软雅黑"/>
              </a:rPr>
              <a:t>IDC认证</a:t>
            </a:r>
            <a:r>
              <a:rPr sz="1400">
                <a:solidFill>
                  <a:srgbClr val="000000"/>
                </a:solidFill>
                <a:latin typeface="微软雅黑"/>
              </a:rPr>
              <a:t/>
            </a:r>
          </a:p>
        </p:txBody>
      </p:sp>
      <p:sp>
        <p:nvSpPr>
          <p:cNvPr id="15" name="TextBox 14"/>
          <p:cNvSpPr txBox="1"/>
          <p:nvPr/>
        </p:nvSpPr>
        <p:spPr>
          <a:xfrm>
            <a:off x="6126479" y="2971800"/>
            <a:ext cx="5120640" cy="274320"/>
          </a:xfrm>
          <a:prstGeom prst="rect">
            <a:avLst/>
          </a:prstGeom>
          <a:noFill/>
        </p:spPr>
        <p:txBody>
          <a:bodyPr wrap="none">
            <a:spAutoFit/>
          </a:bodyPr>
          <a:lstStyle/>
          <a:p>
            <a:pPr algn="ctr">
              <a:defRPr sz="1200">
                <a:solidFill>
                  <a:srgbClr val="000000"/>
                </a:solidFill>
                <a:latin typeface="微软雅黑"/>
              </a:defRPr>
            </a:pPr>
            <a:r>
              <a:t>中国企业级应用软件市场领导者</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技术实力</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914400" cy="82296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云原生</a:t>
            </a:r>
          </a:p>
        </p:txBody>
      </p:sp>
      <p:sp>
        <p:nvSpPr>
          <p:cNvPr id="5" name="Rounded Rectangle 4"/>
          <p:cNvSpPr/>
          <p:nvPr/>
        </p:nvSpPr>
        <p:spPr>
          <a:xfrm>
            <a:off x="1463040" y="14630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容器化</a:t>
            </a:r>
          </a:p>
        </p:txBody>
      </p:sp>
      <p:sp>
        <p:nvSpPr>
          <p:cNvPr id="6" name="Rounded Rectangle 5"/>
          <p:cNvSpPr/>
          <p:nvPr/>
        </p:nvSpPr>
        <p:spPr>
          <a:xfrm>
            <a:off x="3931920" y="14630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微服务</a:t>
            </a:r>
          </a:p>
        </p:txBody>
      </p:sp>
      <p:sp>
        <p:nvSpPr>
          <p:cNvPr id="7" name="Rounded Rectangle 6"/>
          <p:cNvSpPr/>
          <p:nvPr/>
        </p:nvSpPr>
        <p:spPr>
          <a:xfrm>
            <a:off x="6400800" y="14630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DevOps</a:t>
            </a:r>
          </a:p>
        </p:txBody>
      </p:sp>
      <p:sp>
        <p:nvSpPr>
          <p:cNvPr id="8" name="Rounded Rectangle 7"/>
          <p:cNvSpPr/>
          <p:nvPr/>
        </p:nvSpPr>
        <p:spPr>
          <a:xfrm>
            <a:off x="8869680" y="14630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云安全</a:t>
            </a:r>
          </a:p>
        </p:txBody>
      </p:sp>
      <p:sp>
        <p:nvSpPr>
          <p:cNvPr id="9" name="Rounded Rectangle 8"/>
          <p:cNvSpPr/>
          <p:nvPr/>
        </p:nvSpPr>
        <p:spPr>
          <a:xfrm>
            <a:off x="457200" y="2377440"/>
            <a:ext cx="914400" cy="8229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AI赋能</a:t>
            </a:r>
          </a:p>
        </p:txBody>
      </p:sp>
      <p:sp>
        <p:nvSpPr>
          <p:cNvPr id="10" name="Rounded Rectangle 9"/>
          <p:cNvSpPr/>
          <p:nvPr/>
        </p:nvSpPr>
        <p:spPr>
          <a:xfrm>
            <a:off x="1463040" y="246888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智能分析</a:t>
            </a:r>
          </a:p>
        </p:txBody>
      </p:sp>
      <p:sp>
        <p:nvSpPr>
          <p:cNvPr id="11" name="Rounded Rectangle 10"/>
          <p:cNvSpPr/>
          <p:nvPr/>
        </p:nvSpPr>
        <p:spPr>
          <a:xfrm>
            <a:off x="3931920" y="246888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OCR识别</a:t>
            </a:r>
          </a:p>
        </p:txBody>
      </p:sp>
      <p:sp>
        <p:nvSpPr>
          <p:cNvPr id="12" name="Rounded Rectangle 11"/>
          <p:cNvSpPr/>
          <p:nvPr/>
        </p:nvSpPr>
        <p:spPr>
          <a:xfrm>
            <a:off x="6400800" y="246888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RPA自动化</a:t>
            </a:r>
          </a:p>
        </p:txBody>
      </p:sp>
      <p:sp>
        <p:nvSpPr>
          <p:cNvPr id="13" name="Rounded Rectangle 12"/>
          <p:cNvSpPr/>
          <p:nvPr/>
        </p:nvSpPr>
        <p:spPr>
          <a:xfrm>
            <a:off x="8869680" y="246888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智能助手</a:t>
            </a:r>
          </a:p>
        </p:txBody>
      </p:sp>
      <p:sp>
        <p:nvSpPr>
          <p:cNvPr id="14" name="Rounded Rectangle 13"/>
          <p:cNvSpPr/>
          <p:nvPr/>
        </p:nvSpPr>
        <p:spPr>
          <a:xfrm>
            <a:off x="457200" y="3383280"/>
            <a:ext cx="914400" cy="82296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低代码</a:t>
            </a:r>
          </a:p>
        </p:txBody>
      </p:sp>
      <p:sp>
        <p:nvSpPr>
          <p:cNvPr id="15" name="Rounded Rectangle 14"/>
          <p:cNvSpPr/>
          <p:nvPr/>
        </p:nvSpPr>
        <p:spPr>
          <a:xfrm>
            <a:off x="1463040" y="347472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可视化建模</a:t>
            </a:r>
          </a:p>
        </p:txBody>
      </p:sp>
      <p:sp>
        <p:nvSpPr>
          <p:cNvPr id="16" name="Rounded Rectangle 15"/>
          <p:cNvSpPr/>
          <p:nvPr/>
        </p:nvSpPr>
        <p:spPr>
          <a:xfrm>
            <a:off x="3931920" y="347472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表单设计</a:t>
            </a:r>
          </a:p>
        </p:txBody>
      </p:sp>
      <p:sp>
        <p:nvSpPr>
          <p:cNvPr id="17" name="Rounded Rectangle 16"/>
          <p:cNvSpPr/>
          <p:nvPr/>
        </p:nvSpPr>
        <p:spPr>
          <a:xfrm>
            <a:off x="6400800" y="347472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流程编排</a:t>
            </a:r>
          </a:p>
        </p:txBody>
      </p:sp>
      <p:sp>
        <p:nvSpPr>
          <p:cNvPr id="18" name="Rounded Rectangle 17"/>
          <p:cNvSpPr/>
          <p:nvPr/>
        </p:nvSpPr>
        <p:spPr>
          <a:xfrm>
            <a:off x="8869680" y="347472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移动开发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荣誉资质</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国家高新</a:t>
            </a:r>
            <a:r>
              <a:rPr sz="1400">
                <a:solidFill>
                  <a:srgbClr val="000000"/>
                </a:solidFill>
                <a:latin typeface="微软雅黑"/>
              </a:rPr>
              <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技术企业认证</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ISO27001</a:t>
            </a:r>
            <a:r>
              <a:rPr sz="1400">
                <a:solidFill>
                  <a:srgbClr val="000000"/>
                </a:solidFill>
                <a:latin typeface="微软雅黑"/>
              </a:rPr>
              <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信息安全认证</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等保三级</a:t>
            </a:r>
            <a:r>
              <a:rPr sz="14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信息安全等级</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CMMI5</a:t>
            </a:r>
            <a:r>
              <a:rPr sz="14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软件能力成熟度</a:t>
            </a:r>
          </a:p>
        </p:txBody>
      </p:sp>
      <p:sp>
        <p:nvSpPr>
          <p:cNvPr id="16" name="Rounded Rectangle 15"/>
          <p:cNvSpPr/>
          <p:nvPr/>
        </p:nvSpPr>
        <p:spPr>
          <a:xfrm>
            <a:off x="457200" y="265176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788920"/>
            <a:ext cx="2377439" cy="457200"/>
          </a:xfrm>
          <a:prstGeom prst="rect">
            <a:avLst/>
          </a:prstGeom>
          <a:noFill/>
        </p:spPr>
        <p:txBody>
          <a:bodyPr wrap="none">
            <a:spAutoFit/>
          </a:bodyPr>
          <a:lstStyle/>
          <a:p>
            <a:r>
              <a:rPr sz="2800" b="1">
                <a:solidFill>
                  <a:srgbClr val="0886EC"/>
                </a:solidFill>
                <a:latin typeface="微软雅黑"/>
              </a:rPr>
              <a:t>Gartner</a:t>
            </a:r>
            <a:r>
              <a:rPr sz="1400">
                <a:solidFill>
                  <a:srgbClr val="000000"/>
                </a:solidFill>
                <a:latin typeface="微软雅黑"/>
              </a:rPr>
              <a:t/>
            </a:r>
          </a:p>
        </p:txBody>
      </p:sp>
      <p:sp>
        <p:nvSpPr>
          <p:cNvPr id="18" name="TextBox 17"/>
          <p:cNvSpPr txBox="1"/>
          <p:nvPr/>
        </p:nvSpPr>
        <p:spPr>
          <a:xfrm>
            <a:off x="548640" y="3428999"/>
            <a:ext cx="2377439" cy="274320"/>
          </a:xfrm>
          <a:prstGeom prst="rect">
            <a:avLst/>
          </a:prstGeom>
          <a:noFill/>
        </p:spPr>
        <p:txBody>
          <a:bodyPr wrap="none">
            <a:spAutoFit/>
          </a:bodyPr>
          <a:lstStyle/>
          <a:p>
            <a:pPr algn="ctr">
              <a:defRPr sz="1200">
                <a:solidFill>
                  <a:srgbClr val="000000"/>
                </a:solidFill>
                <a:latin typeface="微软雅黑"/>
              </a:defRPr>
            </a:pPr>
            <a:r>
              <a:t>魔力象限认可</a:t>
            </a:r>
          </a:p>
        </p:txBody>
      </p:sp>
      <p:sp>
        <p:nvSpPr>
          <p:cNvPr id="19" name="Rounded Rectangle 18"/>
          <p:cNvSpPr/>
          <p:nvPr/>
        </p:nvSpPr>
        <p:spPr>
          <a:xfrm>
            <a:off x="3291839" y="265176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79" y="2788920"/>
            <a:ext cx="2377439" cy="457200"/>
          </a:xfrm>
          <a:prstGeom prst="rect">
            <a:avLst/>
          </a:prstGeom>
          <a:noFill/>
        </p:spPr>
        <p:txBody>
          <a:bodyPr wrap="none">
            <a:spAutoFit/>
          </a:bodyPr>
          <a:lstStyle/>
          <a:p>
            <a:r>
              <a:rPr sz="2800" b="1">
                <a:solidFill>
                  <a:srgbClr val="0886EC"/>
                </a:solidFill>
                <a:latin typeface="微软雅黑"/>
              </a:rPr>
              <a:t>IDC</a:t>
            </a:r>
            <a:r>
              <a:rPr sz="1400">
                <a:solidFill>
                  <a:srgbClr val="000000"/>
                </a:solidFill>
                <a:latin typeface="微软雅黑"/>
              </a:rPr>
              <a:t/>
            </a:r>
          </a:p>
        </p:txBody>
      </p:sp>
      <p:sp>
        <p:nvSpPr>
          <p:cNvPr id="21" name="TextBox 20"/>
          <p:cNvSpPr txBox="1"/>
          <p:nvPr/>
        </p:nvSpPr>
        <p:spPr>
          <a:xfrm>
            <a:off x="3383279" y="3428999"/>
            <a:ext cx="2377439" cy="274320"/>
          </a:xfrm>
          <a:prstGeom prst="rect">
            <a:avLst/>
          </a:prstGeom>
          <a:noFill/>
        </p:spPr>
        <p:txBody>
          <a:bodyPr wrap="none">
            <a:spAutoFit/>
          </a:bodyPr>
          <a:lstStyle/>
          <a:p>
            <a:pPr algn="ctr">
              <a:defRPr sz="1200">
                <a:solidFill>
                  <a:srgbClr val="000000"/>
                </a:solidFill>
                <a:latin typeface="微软雅黑"/>
              </a:defRPr>
            </a:pPr>
            <a:r>
              <a:t>市场占有率第一</a:t>
            </a:r>
          </a:p>
        </p:txBody>
      </p:sp>
      <p:sp>
        <p:nvSpPr>
          <p:cNvPr id="22" name="Rounded Rectangle 21"/>
          <p:cNvSpPr/>
          <p:nvPr/>
        </p:nvSpPr>
        <p:spPr>
          <a:xfrm>
            <a:off x="6126479" y="265176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19" y="2788920"/>
            <a:ext cx="2377439" cy="457200"/>
          </a:xfrm>
          <a:prstGeom prst="rect">
            <a:avLst/>
          </a:prstGeom>
          <a:noFill/>
        </p:spPr>
        <p:txBody>
          <a:bodyPr wrap="none">
            <a:spAutoFit/>
          </a:bodyPr>
          <a:lstStyle/>
          <a:p>
            <a:r>
              <a:rPr sz="2800" b="1">
                <a:solidFill>
                  <a:srgbClr val="0886EC"/>
                </a:solidFill>
                <a:latin typeface="微软雅黑"/>
              </a:rPr>
              <a:t>福布斯</a:t>
            </a:r>
            <a:r>
              <a:rPr sz="1400">
                <a:solidFill>
                  <a:srgbClr val="000000"/>
                </a:solidFill>
                <a:latin typeface="微软雅黑"/>
              </a:rPr>
              <a:t/>
            </a:r>
          </a:p>
        </p:txBody>
      </p:sp>
      <p:sp>
        <p:nvSpPr>
          <p:cNvPr id="24" name="TextBox 23"/>
          <p:cNvSpPr txBox="1"/>
          <p:nvPr/>
        </p:nvSpPr>
        <p:spPr>
          <a:xfrm>
            <a:off x="6217919" y="3428999"/>
            <a:ext cx="2377439" cy="274320"/>
          </a:xfrm>
          <a:prstGeom prst="rect">
            <a:avLst/>
          </a:prstGeom>
          <a:noFill/>
        </p:spPr>
        <p:txBody>
          <a:bodyPr wrap="none">
            <a:spAutoFit/>
          </a:bodyPr>
          <a:lstStyle/>
          <a:p>
            <a:pPr algn="ctr">
              <a:defRPr sz="1200">
                <a:solidFill>
                  <a:srgbClr val="000000"/>
                </a:solidFill>
                <a:latin typeface="微软雅黑"/>
              </a:defRPr>
            </a:pPr>
            <a:r>
              <a:t>全球企业2000强</a:t>
            </a:r>
          </a:p>
        </p:txBody>
      </p:sp>
      <p:sp>
        <p:nvSpPr>
          <p:cNvPr id="25" name="Rounded Rectangle 24"/>
          <p:cNvSpPr/>
          <p:nvPr/>
        </p:nvSpPr>
        <p:spPr>
          <a:xfrm>
            <a:off x="8961119" y="265176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59" y="2788920"/>
            <a:ext cx="2377439" cy="457200"/>
          </a:xfrm>
          <a:prstGeom prst="rect">
            <a:avLst/>
          </a:prstGeom>
          <a:noFill/>
        </p:spPr>
        <p:txBody>
          <a:bodyPr wrap="none">
            <a:spAutoFit/>
          </a:bodyPr>
          <a:lstStyle/>
          <a:p>
            <a:r>
              <a:rPr sz="2800" b="1">
                <a:solidFill>
                  <a:srgbClr val="0886EC"/>
                </a:solidFill>
                <a:latin typeface="微软雅黑"/>
              </a:rPr>
              <a:t>财富</a:t>
            </a:r>
            <a:r>
              <a:rPr sz="1400">
                <a:solidFill>
                  <a:srgbClr val="000000"/>
                </a:solidFill>
                <a:latin typeface="微软雅黑"/>
              </a:rPr>
              <a:t/>
            </a:r>
          </a:p>
        </p:txBody>
      </p:sp>
      <p:sp>
        <p:nvSpPr>
          <p:cNvPr id="27" name="TextBox 26"/>
          <p:cNvSpPr txBox="1"/>
          <p:nvPr/>
        </p:nvSpPr>
        <p:spPr>
          <a:xfrm>
            <a:off x="9052559" y="3428999"/>
            <a:ext cx="2377439" cy="274320"/>
          </a:xfrm>
          <a:prstGeom prst="rect">
            <a:avLst/>
          </a:prstGeom>
          <a:noFill/>
        </p:spPr>
        <p:txBody>
          <a:bodyPr wrap="none">
            <a:spAutoFit/>
          </a:bodyPr>
          <a:lstStyle/>
          <a:p>
            <a:pPr algn="ctr">
              <a:defRPr sz="1200">
                <a:solidFill>
                  <a:srgbClr val="000000"/>
                </a:solidFill>
                <a:latin typeface="微软雅黑"/>
              </a:defRPr>
            </a:pPr>
            <a:r>
              <a:t>中国500强企业</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客户基础</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750万+</a:t>
            </a:r>
            <a:r>
              <a:rPr sz="1400">
                <a:solidFill>
                  <a:srgbClr val="000000"/>
                </a:solidFill>
                <a:latin typeface="微软雅黑"/>
              </a:rPr>
              <a:t>家</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企业客户</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200+</a:t>
            </a:r>
            <a:r>
              <a:rPr sz="1400">
                <a:solidFill>
                  <a:srgbClr val="000000"/>
                </a:solidFill>
                <a:latin typeface="微软雅黑"/>
              </a:rPr>
              <a:t>家</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生态伙伴</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5000+</a:t>
            </a:r>
            <a:r>
              <a:rPr sz="1400">
                <a:solidFill>
                  <a:srgbClr val="000000"/>
                </a:solidFill>
                <a:latin typeface="微软雅黑"/>
              </a:rPr>
              <a:t>人</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专业团队</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全国</a:t>
            </a:r>
            <a:r>
              <a:rPr sz="14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服务网络</a:t>
            </a:r>
          </a:p>
        </p:txBody>
      </p:sp>
      <p:sp>
        <p:nvSpPr>
          <p:cNvPr id="16" name="TextBox 15"/>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金蝶服务超过750万家企业客户，覆盖制造业、零售业、金融业、服务业等多个行业，拥有200+生态合作伙伴，5000+专业服务团队，在全国设有完善的服务网络。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行业洞察</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行业洞察：数字化转型趋势</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技术驱动</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云计算普及</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AI应用</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大数据分析</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业务变革</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流程重构</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模式创新</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生态协同</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管理升级</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数据决策</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敏捷管理</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智能运营</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合规要求</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国产化替代</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数据安全</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行业监管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转型挑战</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企业数字化转型面临的挑战</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系统孤岛</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数据不互通</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流程断裂</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效率低下</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管理粗放</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数据不准确</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决策滞后</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风险难控</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业务僵化</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响应缓慢</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创新困难</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竞争乏力</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成本高昂</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IT投入大</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维护成本高</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ROI不明</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square">
            <a:spAutoFit/>
          </a:bodyPr>
          <a:lstStyle/>
          <a:p>
            <a:pPr algn="l">
              <a:defRPr sz="7200" b="1">
                <a:solidFill>
                  <a:srgbClr val="0886EC"/>
                </a:solidFill>
                <a:latin typeface="微软雅黑"/>
              </a:defRPr>
            </a:pPr>
            <a:r>
              <a:t>02</a:t>
            </a:r>
          </a:p>
        </p:txBody>
      </p:sp>
      <p:sp>
        <p:nvSpPr>
          <p:cNvPr id="21" name="TextBox 20"/>
          <p:cNvSpPr txBox="1"/>
          <p:nvPr/>
        </p:nvSpPr>
        <p:spPr>
          <a:xfrm>
            <a:off x="2286000" y="2560320"/>
            <a:ext cx="8229600" cy="914400"/>
          </a:xfrm>
          <a:prstGeom prst="rect">
            <a:avLst/>
          </a:prstGeom>
          <a:noFill/>
        </p:spPr>
        <p:txBody>
          <a:bodyPr wrap="square">
            <a:spAutoFit/>
          </a:bodyPr>
          <a:lstStyle/>
          <a:p>
            <a:pPr algn="l">
              <a:defRPr sz="3600" b="1">
                <a:solidFill>
                  <a:srgbClr val="003F56"/>
                </a:solidFill>
                <a:latin typeface="微软雅黑"/>
              </a:defRPr>
            </a:pPr>
            <a:r>
              <a:t>产品体系</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金蝶云产品矩阵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914400" cy="914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大企业</a:t>
            </a:r>
          </a:p>
        </p:txBody>
      </p:sp>
      <p:sp>
        <p:nvSpPr>
          <p:cNvPr id="5" name="Rounded Rectangle 4"/>
          <p:cNvSpPr/>
          <p:nvPr/>
        </p:nvSpPr>
        <p:spPr>
          <a:xfrm>
            <a:off x="1463040" y="1463040"/>
            <a:ext cx="48463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金蝶云·苍穹</a:t>
            </a:r>
          </a:p>
        </p:txBody>
      </p:sp>
      <p:sp>
        <p:nvSpPr>
          <p:cNvPr id="6" name="Rounded Rectangle 5"/>
          <p:cNvSpPr/>
          <p:nvPr/>
        </p:nvSpPr>
        <p:spPr>
          <a:xfrm>
            <a:off x="6400800" y="1463040"/>
            <a:ext cx="48463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金蝶云·星瀚</a:t>
            </a:r>
          </a:p>
        </p:txBody>
      </p:sp>
      <p:sp>
        <p:nvSpPr>
          <p:cNvPr id="7" name="Rounded Rectangle 6"/>
          <p:cNvSpPr/>
          <p:nvPr/>
        </p:nvSpPr>
        <p:spPr>
          <a:xfrm>
            <a:off x="457200" y="2468880"/>
            <a:ext cx="914400" cy="9144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中企业</a:t>
            </a:r>
          </a:p>
        </p:txBody>
      </p:sp>
      <p:sp>
        <p:nvSpPr>
          <p:cNvPr id="8" name="Rounded Rectangle 7"/>
          <p:cNvSpPr/>
          <p:nvPr/>
        </p:nvSpPr>
        <p:spPr>
          <a:xfrm>
            <a:off x="1463040" y="2560320"/>
            <a:ext cx="978408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金蝶云·星空</a:t>
            </a:r>
          </a:p>
        </p:txBody>
      </p:sp>
      <p:sp>
        <p:nvSpPr>
          <p:cNvPr id="9" name="Rounded Rectangle 8"/>
          <p:cNvSpPr/>
          <p:nvPr/>
        </p:nvSpPr>
        <p:spPr>
          <a:xfrm>
            <a:off x="457200" y="3566160"/>
            <a:ext cx="914400" cy="91440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小企业</a:t>
            </a:r>
          </a:p>
        </p:txBody>
      </p:sp>
      <p:sp>
        <p:nvSpPr>
          <p:cNvPr id="10" name="Rounded Rectangle 9"/>
          <p:cNvSpPr/>
          <p:nvPr/>
        </p:nvSpPr>
        <p:spPr>
          <a:xfrm>
            <a:off x="1463040" y="3657600"/>
            <a:ext cx="48463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金蝶云·星辰</a:t>
            </a:r>
          </a:p>
        </p:txBody>
      </p:sp>
      <p:sp>
        <p:nvSpPr>
          <p:cNvPr id="11" name="Rounded Rectangle 10"/>
          <p:cNvSpPr/>
          <p:nvPr/>
        </p:nvSpPr>
        <p:spPr>
          <a:xfrm>
            <a:off x="6400800" y="3657600"/>
            <a:ext cx="48463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精斗云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金蝶云·苍穹 - 世界一流企业级PaaS平台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371600" cy="3200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latin typeface="微软雅黑"/>
              </a:defRPr>
            </a:pPr>
            <a:r>
              <a:t>金蝶云·苍穹</a:t>
            </a:r>
            <a:br/>
            <a:br/>
            <a:r>
              <a:t>世界一流</a:t>
            </a:r>
            <a:br/>
            <a:r>
              <a:t>企业级</a:t>
            </a:r>
            <a:br/>
            <a:r>
              <a:t>PaaS平台</a:t>
            </a:r>
          </a:p>
        </p:txBody>
      </p:sp>
      <p:sp>
        <p:nvSpPr>
          <p:cNvPr id="5" name="Rounded Rectangle 4"/>
          <p:cNvSpPr/>
          <p:nvPr/>
        </p:nvSpPr>
        <p:spPr>
          <a:xfrm>
            <a:off x="182880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云原生架构</a:t>
            </a:r>
          </a:p>
        </p:txBody>
      </p:sp>
      <p:sp>
        <p:nvSpPr>
          <p:cNvPr id="6" name="Rounded Rectangle 5"/>
          <p:cNvSpPr/>
          <p:nvPr/>
        </p:nvSpPr>
        <p:spPr>
          <a:xfrm>
            <a:off x="182880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容器化部署</a:t>
            </a:r>
          </a:p>
        </p:txBody>
      </p:sp>
      <p:sp>
        <p:nvSpPr>
          <p:cNvPr id="7" name="Rounded Rectangle 6"/>
          <p:cNvSpPr/>
          <p:nvPr/>
        </p:nvSpPr>
        <p:spPr>
          <a:xfrm>
            <a:off x="182880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微服务</a:t>
            </a:r>
          </a:p>
        </p:txBody>
      </p:sp>
      <p:sp>
        <p:nvSpPr>
          <p:cNvPr id="8" name="Rounded Rectangle 7"/>
          <p:cNvSpPr/>
          <p:nvPr/>
        </p:nvSpPr>
        <p:spPr>
          <a:xfrm>
            <a:off x="182880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DevOps</a:t>
            </a:r>
          </a:p>
        </p:txBody>
      </p:sp>
      <p:sp>
        <p:nvSpPr>
          <p:cNvPr id="9" name="Rounded Rectangle 8"/>
          <p:cNvSpPr/>
          <p:nvPr/>
        </p:nvSpPr>
        <p:spPr>
          <a:xfrm>
            <a:off x="438912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低代码开发</a:t>
            </a:r>
          </a:p>
        </p:txBody>
      </p:sp>
      <p:sp>
        <p:nvSpPr>
          <p:cNvPr id="10" name="Rounded Rectangle 9"/>
          <p:cNvSpPr/>
          <p:nvPr/>
        </p:nvSpPr>
        <p:spPr>
          <a:xfrm>
            <a:off x="438912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可视化建模</a:t>
            </a:r>
          </a:p>
        </p:txBody>
      </p:sp>
      <p:sp>
        <p:nvSpPr>
          <p:cNvPr id="11" name="Rounded Rectangle 10"/>
          <p:cNvSpPr/>
          <p:nvPr/>
        </p:nvSpPr>
        <p:spPr>
          <a:xfrm>
            <a:off x="438912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表单设计</a:t>
            </a:r>
          </a:p>
        </p:txBody>
      </p:sp>
      <p:sp>
        <p:nvSpPr>
          <p:cNvPr id="12" name="Rounded Rectangle 11"/>
          <p:cNvSpPr/>
          <p:nvPr/>
        </p:nvSpPr>
        <p:spPr>
          <a:xfrm>
            <a:off x="438912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流程编排</a:t>
            </a:r>
          </a:p>
        </p:txBody>
      </p:sp>
      <p:sp>
        <p:nvSpPr>
          <p:cNvPr id="13" name="Rounded Rectangle 12"/>
          <p:cNvSpPr/>
          <p:nvPr/>
        </p:nvSpPr>
        <p:spPr>
          <a:xfrm>
            <a:off x="694944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AI赋能</a:t>
            </a:r>
          </a:p>
        </p:txBody>
      </p:sp>
      <p:sp>
        <p:nvSpPr>
          <p:cNvPr id="14" name="Rounded Rectangle 13"/>
          <p:cNvSpPr/>
          <p:nvPr/>
        </p:nvSpPr>
        <p:spPr>
          <a:xfrm>
            <a:off x="694944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智能分析</a:t>
            </a:r>
          </a:p>
        </p:txBody>
      </p:sp>
      <p:sp>
        <p:nvSpPr>
          <p:cNvPr id="15" name="Rounded Rectangle 14"/>
          <p:cNvSpPr/>
          <p:nvPr/>
        </p:nvSpPr>
        <p:spPr>
          <a:xfrm>
            <a:off x="694944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OCR识别</a:t>
            </a:r>
          </a:p>
        </p:txBody>
      </p:sp>
      <p:sp>
        <p:nvSpPr>
          <p:cNvPr id="16" name="Rounded Rectangle 15"/>
          <p:cNvSpPr/>
          <p:nvPr/>
        </p:nvSpPr>
        <p:spPr>
          <a:xfrm>
            <a:off x="694944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智能助手</a:t>
            </a:r>
          </a:p>
        </p:txBody>
      </p:sp>
      <p:sp>
        <p:nvSpPr>
          <p:cNvPr id="17" name="Rounded Rectangle 16"/>
          <p:cNvSpPr/>
          <p:nvPr/>
        </p:nvSpPr>
        <p:spPr>
          <a:xfrm>
            <a:off x="950976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数据中台</a:t>
            </a:r>
          </a:p>
        </p:txBody>
      </p:sp>
      <p:sp>
        <p:nvSpPr>
          <p:cNvPr id="18" name="Rounded Rectangle 17"/>
          <p:cNvSpPr/>
          <p:nvPr/>
        </p:nvSpPr>
        <p:spPr>
          <a:xfrm>
            <a:off x="950976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数据治理</a:t>
            </a:r>
          </a:p>
        </p:txBody>
      </p:sp>
      <p:sp>
        <p:nvSpPr>
          <p:cNvPr id="19" name="Rounded Rectangle 18"/>
          <p:cNvSpPr/>
          <p:nvPr/>
        </p:nvSpPr>
        <p:spPr>
          <a:xfrm>
            <a:off x="950976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数据服务</a:t>
            </a:r>
          </a:p>
        </p:txBody>
      </p:sp>
      <p:sp>
        <p:nvSpPr>
          <p:cNvPr id="20" name="Rounded Rectangle 19"/>
          <p:cNvSpPr/>
          <p:nvPr/>
        </p:nvSpPr>
        <p:spPr>
          <a:xfrm>
            <a:off x="950976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数据资产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金蝶云·星瀚 - 大企业数字化平台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1031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财务管理</a:t>
            </a:r>
          </a:p>
        </p:txBody>
      </p:sp>
      <p:sp>
        <p:nvSpPr>
          <p:cNvPr id="5" name="Rounded Rectangle 4"/>
          <p:cNvSpPr/>
          <p:nvPr/>
        </p:nvSpPr>
        <p:spPr>
          <a:xfrm>
            <a:off x="457200" y="175564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总账</a:t>
            </a:r>
          </a:p>
        </p:txBody>
      </p:sp>
      <p:sp>
        <p:nvSpPr>
          <p:cNvPr id="6" name="Rounded Rectangle 5"/>
          <p:cNvSpPr/>
          <p:nvPr/>
        </p:nvSpPr>
        <p:spPr>
          <a:xfrm>
            <a:off x="457200" y="207568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报表</a:t>
            </a:r>
          </a:p>
        </p:txBody>
      </p:sp>
      <p:sp>
        <p:nvSpPr>
          <p:cNvPr id="7" name="Rounded Rectangle 6"/>
          <p:cNvSpPr/>
          <p:nvPr/>
        </p:nvSpPr>
        <p:spPr>
          <a:xfrm>
            <a:off x="457200" y="239572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资金</a:t>
            </a:r>
          </a:p>
        </p:txBody>
      </p:sp>
      <p:sp>
        <p:nvSpPr>
          <p:cNvPr id="8" name="Rounded Rectangle 7"/>
          <p:cNvSpPr/>
          <p:nvPr/>
        </p:nvSpPr>
        <p:spPr>
          <a:xfrm>
            <a:off x="457200" y="271576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成本</a:t>
            </a:r>
          </a:p>
        </p:txBody>
      </p:sp>
      <p:sp>
        <p:nvSpPr>
          <p:cNvPr id="9" name="Rounded Rectangle 8"/>
          <p:cNvSpPr/>
          <p:nvPr/>
        </p:nvSpPr>
        <p:spPr>
          <a:xfrm>
            <a:off x="2697479" y="1371600"/>
            <a:ext cx="21031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供应链</a:t>
            </a:r>
          </a:p>
        </p:txBody>
      </p:sp>
      <p:sp>
        <p:nvSpPr>
          <p:cNvPr id="10" name="Rounded Rectangle 9"/>
          <p:cNvSpPr/>
          <p:nvPr/>
        </p:nvSpPr>
        <p:spPr>
          <a:xfrm>
            <a:off x="2697479" y="175564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a:t>
            </a:r>
          </a:p>
        </p:txBody>
      </p:sp>
      <p:sp>
        <p:nvSpPr>
          <p:cNvPr id="11" name="Rounded Rectangle 10"/>
          <p:cNvSpPr/>
          <p:nvPr/>
        </p:nvSpPr>
        <p:spPr>
          <a:xfrm>
            <a:off x="2697479" y="207568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销售</a:t>
            </a:r>
          </a:p>
        </p:txBody>
      </p:sp>
      <p:sp>
        <p:nvSpPr>
          <p:cNvPr id="12" name="Rounded Rectangle 11"/>
          <p:cNvSpPr/>
          <p:nvPr/>
        </p:nvSpPr>
        <p:spPr>
          <a:xfrm>
            <a:off x="2697479" y="239572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库存</a:t>
            </a:r>
          </a:p>
        </p:txBody>
      </p:sp>
      <p:sp>
        <p:nvSpPr>
          <p:cNvPr id="13" name="Rounded Rectangle 12"/>
          <p:cNvSpPr/>
          <p:nvPr/>
        </p:nvSpPr>
        <p:spPr>
          <a:xfrm>
            <a:off x="2697479" y="271576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物流</a:t>
            </a:r>
          </a:p>
        </p:txBody>
      </p:sp>
      <p:sp>
        <p:nvSpPr>
          <p:cNvPr id="14" name="Rounded Rectangle 13"/>
          <p:cNvSpPr/>
          <p:nvPr/>
        </p:nvSpPr>
        <p:spPr>
          <a:xfrm>
            <a:off x="4937759" y="1371600"/>
            <a:ext cx="21031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生产制造</a:t>
            </a:r>
          </a:p>
        </p:txBody>
      </p:sp>
      <p:sp>
        <p:nvSpPr>
          <p:cNvPr id="15" name="Rounded Rectangle 14"/>
          <p:cNvSpPr/>
          <p:nvPr/>
        </p:nvSpPr>
        <p:spPr>
          <a:xfrm>
            <a:off x="4937759" y="175564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计划</a:t>
            </a:r>
          </a:p>
        </p:txBody>
      </p:sp>
      <p:sp>
        <p:nvSpPr>
          <p:cNvPr id="16" name="Rounded Rectangle 15"/>
          <p:cNvSpPr/>
          <p:nvPr/>
        </p:nvSpPr>
        <p:spPr>
          <a:xfrm>
            <a:off x="4937759" y="207568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生产</a:t>
            </a:r>
          </a:p>
        </p:txBody>
      </p:sp>
      <p:sp>
        <p:nvSpPr>
          <p:cNvPr id="17" name="Rounded Rectangle 16"/>
          <p:cNvSpPr/>
          <p:nvPr/>
        </p:nvSpPr>
        <p:spPr>
          <a:xfrm>
            <a:off x="4937759" y="239572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质量</a:t>
            </a:r>
          </a:p>
        </p:txBody>
      </p:sp>
      <p:sp>
        <p:nvSpPr>
          <p:cNvPr id="18" name="Rounded Rectangle 17"/>
          <p:cNvSpPr/>
          <p:nvPr/>
        </p:nvSpPr>
        <p:spPr>
          <a:xfrm>
            <a:off x="4937759" y="271576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设备</a:t>
            </a:r>
          </a:p>
        </p:txBody>
      </p:sp>
      <p:sp>
        <p:nvSpPr>
          <p:cNvPr id="19" name="Rounded Rectangle 18"/>
          <p:cNvSpPr/>
          <p:nvPr/>
        </p:nvSpPr>
        <p:spPr>
          <a:xfrm>
            <a:off x="7178040" y="1371600"/>
            <a:ext cx="21031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人力资本</a:t>
            </a:r>
          </a:p>
        </p:txBody>
      </p:sp>
      <p:sp>
        <p:nvSpPr>
          <p:cNvPr id="20" name="Rounded Rectangle 19"/>
          <p:cNvSpPr/>
          <p:nvPr/>
        </p:nvSpPr>
        <p:spPr>
          <a:xfrm>
            <a:off x="7178040" y="175564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人事</a:t>
            </a:r>
          </a:p>
        </p:txBody>
      </p:sp>
      <p:sp>
        <p:nvSpPr>
          <p:cNvPr id="21" name="Rounded Rectangle 20"/>
          <p:cNvSpPr/>
          <p:nvPr/>
        </p:nvSpPr>
        <p:spPr>
          <a:xfrm>
            <a:off x="7178040" y="207568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薪酬</a:t>
            </a:r>
          </a:p>
        </p:txBody>
      </p:sp>
      <p:sp>
        <p:nvSpPr>
          <p:cNvPr id="22" name="Rounded Rectangle 21"/>
          <p:cNvSpPr/>
          <p:nvPr/>
        </p:nvSpPr>
        <p:spPr>
          <a:xfrm>
            <a:off x="7178040" y="239572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绩效</a:t>
            </a:r>
          </a:p>
        </p:txBody>
      </p:sp>
      <p:sp>
        <p:nvSpPr>
          <p:cNvPr id="23" name="Rounded Rectangle 22"/>
          <p:cNvSpPr/>
          <p:nvPr/>
        </p:nvSpPr>
        <p:spPr>
          <a:xfrm>
            <a:off x="7178040" y="271576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培训</a:t>
            </a:r>
          </a:p>
        </p:txBody>
      </p:sp>
      <p:sp>
        <p:nvSpPr>
          <p:cNvPr id="24" name="Rounded Rectangle 23"/>
          <p:cNvSpPr/>
          <p:nvPr/>
        </p:nvSpPr>
        <p:spPr>
          <a:xfrm>
            <a:off x="9418319" y="1371600"/>
            <a:ext cx="21031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项目管理</a:t>
            </a:r>
          </a:p>
        </p:txBody>
      </p:sp>
      <p:sp>
        <p:nvSpPr>
          <p:cNvPr id="25" name="Rounded Rectangle 24"/>
          <p:cNvSpPr/>
          <p:nvPr/>
        </p:nvSpPr>
        <p:spPr>
          <a:xfrm>
            <a:off x="9418319" y="175564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立项</a:t>
            </a:r>
          </a:p>
        </p:txBody>
      </p:sp>
      <p:sp>
        <p:nvSpPr>
          <p:cNvPr id="26" name="Rounded Rectangle 25"/>
          <p:cNvSpPr/>
          <p:nvPr/>
        </p:nvSpPr>
        <p:spPr>
          <a:xfrm>
            <a:off x="9418319" y="207568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预算</a:t>
            </a:r>
          </a:p>
        </p:txBody>
      </p:sp>
      <p:sp>
        <p:nvSpPr>
          <p:cNvPr id="27" name="Rounded Rectangle 26"/>
          <p:cNvSpPr/>
          <p:nvPr/>
        </p:nvSpPr>
        <p:spPr>
          <a:xfrm>
            <a:off x="9418319" y="239572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执行</a:t>
            </a:r>
          </a:p>
        </p:txBody>
      </p:sp>
      <p:sp>
        <p:nvSpPr>
          <p:cNvPr id="28" name="Rounded Rectangle 27"/>
          <p:cNvSpPr/>
          <p:nvPr/>
        </p:nvSpPr>
        <p:spPr>
          <a:xfrm>
            <a:off x="9418319" y="2715768"/>
            <a:ext cx="21031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结算</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金蝶云·星空 - 成长型企业云服务</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371600" cy="32004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latin typeface="微软雅黑"/>
              </a:defRPr>
            </a:pPr>
            <a:r>
              <a:t>金蝶云·星空</a:t>
            </a:r>
            <a:br/>
            <a:br/>
            <a:r>
              <a:t>成长型企业</a:t>
            </a:r>
            <a:br/>
            <a:r>
              <a:t>云管理平台</a:t>
            </a:r>
          </a:p>
        </p:txBody>
      </p:sp>
      <p:sp>
        <p:nvSpPr>
          <p:cNvPr id="5" name="Rounded Rectangle 4"/>
          <p:cNvSpPr/>
          <p:nvPr/>
        </p:nvSpPr>
        <p:spPr>
          <a:xfrm>
            <a:off x="182880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财务云</a:t>
            </a:r>
          </a:p>
        </p:txBody>
      </p:sp>
      <p:sp>
        <p:nvSpPr>
          <p:cNvPr id="6" name="Rounded Rectangle 5"/>
          <p:cNvSpPr/>
          <p:nvPr/>
        </p:nvSpPr>
        <p:spPr>
          <a:xfrm>
            <a:off x="182880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智能核算</a:t>
            </a:r>
          </a:p>
        </p:txBody>
      </p:sp>
      <p:sp>
        <p:nvSpPr>
          <p:cNvPr id="7" name="Rounded Rectangle 6"/>
          <p:cNvSpPr/>
          <p:nvPr/>
        </p:nvSpPr>
        <p:spPr>
          <a:xfrm>
            <a:off x="182880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税务管理</a:t>
            </a:r>
          </a:p>
        </p:txBody>
      </p:sp>
      <p:sp>
        <p:nvSpPr>
          <p:cNvPr id="8" name="Rounded Rectangle 7"/>
          <p:cNvSpPr/>
          <p:nvPr/>
        </p:nvSpPr>
        <p:spPr>
          <a:xfrm>
            <a:off x="182880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资金管理</a:t>
            </a:r>
          </a:p>
        </p:txBody>
      </p:sp>
      <p:sp>
        <p:nvSpPr>
          <p:cNvPr id="9" name="Rounded Rectangle 8"/>
          <p:cNvSpPr/>
          <p:nvPr/>
        </p:nvSpPr>
        <p:spPr>
          <a:xfrm>
            <a:off x="438912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供应链云</a:t>
            </a:r>
          </a:p>
        </p:txBody>
      </p:sp>
      <p:sp>
        <p:nvSpPr>
          <p:cNvPr id="10" name="Rounded Rectangle 9"/>
          <p:cNvSpPr/>
          <p:nvPr/>
        </p:nvSpPr>
        <p:spPr>
          <a:xfrm>
            <a:off x="438912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采购管理</a:t>
            </a:r>
          </a:p>
        </p:txBody>
      </p:sp>
      <p:sp>
        <p:nvSpPr>
          <p:cNvPr id="11" name="Rounded Rectangle 10"/>
          <p:cNvSpPr/>
          <p:nvPr/>
        </p:nvSpPr>
        <p:spPr>
          <a:xfrm>
            <a:off x="438912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销售管理</a:t>
            </a:r>
          </a:p>
        </p:txBody>
      </p:sp>
      <p:sp>
        <p:nvSpPr>
          <p:cNvPr id="12" name="Rounded Rectangle 11"/>
          <p:cNvSpPr/>
          <p:nvPr/>
        </p:nvSpPr>
        <p:spPr>
          <a:xfrm>
            <a:off x="438912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库存管理</a:t>
            </a:r>
          </a:p>
        </p:txBody>
      </p:sp>
      <p:sp>
        <p:nvSpPr>
          <p:cNvPr id="13" name="Rounded Rectangle 12"/>
          <p:cNvSpPr/>
          <p:nvPr/>
        </p:nvSpPr>
        <p:spPr>
          <a:xfrm>
            <a:off x="6949440" y="1371600"/>
            <a:ext cx="237744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制造云</a:t>
            </a:r>
          </a:p>
        </p:txBody>
      </p:sp>
      <p:sp>
        <p:nvSpPr>
          <p:cNvPr id="14" name="Rounded Rectangle 13"/>
          <p:cNvSpPr/>
          <p:nvPr/>
        </p:nvSpPr>
        <p:spPr>
          <a:xfrm>
            <a:off x="694944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生产计划</a:t>
            </a:r>
          </a:p>
        </p:txBody>
      </p:sp>
      <p:sp>
        <p:nvSpPr>
          <p:cNvPr id="15" name="Rounded Rectangle 14"/>
          <p:cNvSpPr/>
          <p:nvPr/>
        </p:nvSpPr>
        <p:spPr>
          <a:xfrm>
            <a:off x="694944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车间管理</a:t>
            </a:r>
          </a:p>
        </p:txBody>
      </p:sp>
      <p:sp>
        <p:nvSpPr>
          <p:cNvPr id="16" name="Rounded Rectangle 15"/>
          <p:cNvSpPr/>
          <p:nvPr/>
        </p:nvSpPr>
        <p:spPr>
          <a:xfrm>
            <a:off x="694944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质量管理</a:t>
            </a:r>
          </a:p>
        </p:txBody>
      </p:sp>
      <p:sp>
        <p:nvSpPr>
          <p:cNvPr id="17" name="Rounded Rectangle 16"/>
          <p:cNvSpPr/>
          <p:nvPr/>
        </p:nvSpPr>
        <p:spPr>
          <a:xfrm>
            <a:off x="9509760" y="1371600"/>
            <a:ext cx="237744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全渠道云</a:t>
            </a:r>
          </a:p>
        </p:txBody>
      </p:sp>
      <p:sp>
        <p:nvSpPr>
          <p:cNvPr id="18" name="Rounded Rectangle 17"/>
          <p:cNvSpPr/>
          <p:nvPr/>
        </p:nvSpPr>
        <p:spPr>
          <a:xfrm>
            <a:off x="9509760" y="175564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电商管理</a:t>
            </a:r>
          </a:p>
        </p:txBody>
      </p:sp>
      <p:sp>
        <p:nvSpPr>
          <p:cNvPr id="19" name="Rounded Rectangle 18"/>
          <p:cNvSpPr/>
          <p:nvPr/>
        </p:nvSpPr>
        <p:spPr>
          <a:xfrm>
            <a:off x="9509760" y="207568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门店管理</a:t>
            </a:r>
          </a:p>
        </p:txBody>
      </p:sp>
      <p:sp>
        <p:nvSpPr>
          <p:cNvPr id="20" name="Rounded Rectangle 19"/>
          <p:cNvSpPr/>
          <p:nvPr/>
        </p:nvSpPr>
        <p:spPr>
          <a:xfrm>
            <a:off x="9509760" y="2395728"/>
            <a:ext cx="237744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会员管理</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技术架构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188720"/>
            <a:ext cx="914400" cy="8229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应用层</a:t>
            </a:r>
          </a:p>
        </p:txBody>
      </p:sp>
      <p:sp>
        <p:nvSpPr>
          <p:cNvPr id="5" name="Rounded Rectangle 4"/>
          <p:cNvSpPr/>
          <p:nvPr/>
        </p:nvSpPr>
        <p:spPr>
          <a:xfrm>
            <a:off x="1463040" y="128016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财务应用</a:t>
            </a:r>
          </a:p>
        </p:txBody>
      </p:sp>
      <p:sp>
        <p:nvSpPr>
          <p:cNvPr id="6" name="Rounded Rectangle 5"/>
          <p:cNvSpPr/>
          <p:nvPr/>
        </p:nvSpPr>
        <p:spPr>
          <a:xfrm>
            <a:off x="3931920" y="128016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供应链应用</a:t>
            </a:r>
          </a:p>
        </p:txBody>
      </p:sp>
      <p:sp>
        <p:nvSpPr>
          <p:cNvPr id="7" name="Rounded Rectangle 6"/>
          <p:cNvSpPr/>
          <p:nvPr/>
        </p:nvSpPr>
        <p:spPr>
          <a:xfrm>
            <a:off x="6400800" y="128016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制造应用</a:t>
            </a:r>
          </a:p>
        </p:txBody>
      </p:sp>
      <p:sp>
        <p:nvSpPr>
          <p:cNvPr id="8" name="Rounded Rectangle 7"/>
          <p:cNvSpPr/>
          <p:nvPr/>
        </p:nvSpPr>
        <p:spPr>
          <a:xfrm>
            <a:off x="8869680" y="128016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人力应用</a:t>
            </a:r>
          </a:p>
        </p:txBody>
      </p:sp>
      <p:sp>
        <p:nvSpPr>
          <p:cNvPr id="9" name="Rounded Rectangle 8"/>
          <p:cNvSpPr/>
          <p:nvPr/>
        </p:nvSpPr>
        <p:spPr>
          <a:xfrm>
            <a:off x="457200" y="2194560"/>
            <a:ext cx="914400" cy="82296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服务层</a:t>
            </a:r>
          </a:p>
        </p:txBody>
      </p:sp>
      <p:sp>
        <p:nvSpPr>
          <p:cNvPr id="10" name="Rounded Rectangle 9"/>
          <p:cNvSpPr/>
          <p:nvPr/>
        </p:nvSpPr>
        <p:spPr>
          <a:xfrm>
            <a:off x="1463040" y="228600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API网关</a:t>
            </a:r>
          </a:p>
        </p:txBody>
      </p:sp>
      <p:sp>
        <p:nvSpPr>
          <p:cNvPr id="11" name="Rounded Rectangle 10"/>
          <p:cNvSpPr/>
          <p:nvPr/>
        </p:nvSpPr>
        <p:spPr>
          <a:xfrm>
            <a:off x="3931920" y="228600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消息服务</a:t>
            </a:r>
          </a:p>
        </p:txBody>
      </p:sp>
      <p:sp>
        <p:nvSpPr>
          <p:cNvPr id="12" name="Rounded Rectangle 11"/>
          <p:cNvSpPr/>
          <p:nvPr/>
        </p:nvSpPr>
        <p:spPr>
          <a:xfrm>
            <a:off x="6400800" y="228600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流程引擎</a:t>
            </a:r>
          </a:p>
        </p:txBody>
      </p:sp>
      <p:sp>
        <p:nvSpPr>
          <p:cNvPr id="13" name="Rounded Rectangle 12"/>
          <p:cNvSpPr/>
          <p:nvPr/>
        </p:nvSpPr>
        <p:spPr>
          <a:xfrm>
            <a:off x="8869680" y="228600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规则引擎</a:t>
            </a:r>
          </a:p>
        </p:txBody>
      </p:sp>
      <p:sp>
        <p:nvSpPr>
          <p:cNvPr id="14" name="Rounded Rectangle 13"/>
          <p:cNvSpPr/>
          <p:nvPr/>
        </p:nvSpPr>
        <p:spPr>
          <a:xfrm>
            <a:off x="457200" y="3200400"/>
            <a:ext cx="914400" cy="82296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数据层</a:t>
            </a:r>
          </a:p>
        </p:txBody>
      </p:sp>
      <p:sp>
        <p:nvSpPr>
          <p:cNvPr id="15" name="Rounded Rectangle 14"/>
          <p:cNvSpPr/>
          <p:nvPr/>
        </p:nvSpPr>
        <p:spPr>
          <a:xfrm>
            <a:off x="1463040" y="32918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关系数据库</a:t>
            </a:r>
          </a:p>
        </p:txBody>
      </p:sp>
      <p:sp>
        <p:nvSpPr>
          <p:cNvPr id="16" name="Rounded Rectangle 15"/>
          <p:cNvSpPr/>
          <p:nvPr/>
        </p:nvSpPr>
        <p:spPr>
          <a:xfrm>
            <a:off x="3931920" y="32918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缓存服务</a:t>
            </a:r>
          </a:p>
        </p:txBody>
      </p:sp>
      <p:sp>
        <p:nvSpPr>
          <p:cNvPr id="17" name="Rounded Rectangle 16"/>
          <p:cNvSpPr/>
          <p:nvPr/>
        </p:nvSpPr>
        <p:spPr>
          <a:xfrm>
            <a:off x="6400800" y="32918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对象存储</a:t>
            </a:r>
          </a:p>
        </p:txBody>
      </p:sp>
      <p:sp>
        <p:nvSpPr>
          <p:cNvPr id="18" name="Rounded Rectangle 17"/>
          <p:cNvSpPr/>
          <p:nvPr/>
        </p:nvSpPr>
        <p:spPr>
          <a:xfrm>
            <a:off x="8869680" y="3291840"/>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搜索引擎</a:t>
            </a:r>
          </a:p>
        </p:txBody>
      </p:sp>
      <p:sp>
        <p:nvSpPr>
          <p:cNvPr id="19" name="Rounded Rectangle 18"/>
          <p:cNvSpPr/>
          <p:nvPr/>
        </p:nvSpPr>
        <p:spPr>
          <a:xfrm>
            <a:off x="457200" y="4206240"/>
            <a:ext cx="914400" cy="8229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基础设施层</a:t>
            </a:r>
          </a:p>
        </p:txBody>
      </p:sp>
      <p:sp>
        <p:nvSpPr>
          <p:cNvPr id="20" name="Rounded Rectangle 19"/>
          <p:cNvSpPr/>
          <p:nvPr/>
        </p:nvSpPr>
        <p:spPr>
          <a:xfrm>
            <a:off x="1463040" y="4297679"/>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计算资源</a:t>
            </a:r>
          </a:p>
        </p:txBody>
      </p:sp>
      <p:sp>
        <p:nvSpPr>
          <p:cNvPr id="21" name="Rounded Rectangle 20"/>
          <p:cNvSpPr/>
          <p:nvPr/>
        </p:nvSpPr>
        <p:spPr>
          <a:xfrm>
            <a:off x="3931920" y="4297679"/>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网络资源</a:t>
            </a:r>
          </a:p>
        </p:txBody>
      </p:sp>
      <p:sp>
        <p:nvSpPr>
          <p:cNvPr id="22" name="Rounded Rectangle 21"/>
          <p:cNvSpPr/>
          <p:nvPr/>
        </p:nvSpPr>
        <p:spPr>
          <a:xfrm>
            <a:off x="6400800" y="4297679"/>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存储资源</a:t>
            </a:r>
          </a:p>
        </p:txBody>
      </p:sp>
      <p:sp>
        <p:nvSpPr>
          <p:cNvPr id="23" name="Rounded Rectangle 22"/>
          <p:cNvSpPr/>
          <p:nvPr/>
        </p:nvSpPr>
        <p:spPr>
          <a:xfrm>
            <a:off x="8869680" y="4297679"/>
            <a:ext cx="2377440" cy="64008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安全服务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square">
            <a:spAutoFit/>
          </a:bodyPr>
          <a:lstStyle/>
          <a:p>
            <a:pPr algn="l">
              <a:defRPr sz="7200" b="1">
                <a:solidFill>
                  <a:srgbClr val="0886EC"/>
                </a:solidFill>
                <a:latin typeface="微软雅黑"/>
              </a:defRPr>
            </a:pPr>
            <a:r>
              <a:t>03</a:t>
            </a:r>
          </a:p>
        </p:txBody>
      </p:sp>
      <p:sp>
        <p:nvSpPr>
          <p:cNvPr id="21" name="TextBox 20"/>
          <p:cNvSpPr txBox="1"/>
          <p:nvPr/>
        </p:nvSpPr>
        <p:spPr>
          <a:xfrm>
            <a:off x="2286000" y="2560320"/>
            <a:ext cx="8229600" cy="914400"/>
          </a:xfrm>
          <a:prstGeom prst="rect">
            <a:avLst/>
          </a:prstGeom>
          <a:noFill/>
        </p:spPr>
        <p:txBody>
          <a:bodyPr wrap="square">
            <a:spAutoFit/>
          </a:bodyPr>
          <a:lstStyle/>
          <a:p>
            <a:pPr algn="l">
              <a:defRPr sz="3600" b="1">
                <a:solidFill>
                  <a:srgbClr val="003F56"/>
                </a:solidFill>
                <a:latin typeface="微软雅黑"/>
              </a:defRPr>
            </a:pPr>
            <a:r>
              <a:t>解决方案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制造业</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离散制造</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流程制造</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装备制造</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零售业</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连锁零售</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电商零售</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全渠道</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金融业</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银行</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保险</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证券</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服务业</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专业服务</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教育</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医疗</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财务管理解决方案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业务发生</a:t>
            </a:r>
          </a:p>
        </p:txBody>
      </p:sp>
      <p:sp>
        <p:nvSpPr>
          <p:cNvPr id="5" name="Right Arrow 4"/>
          <p:cNvSpPr/>
          <p:nvPr/>
        </p:nvSpPr>
        <p:spPr>
          <a:xfrm>
            <a:off x="233172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8892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凭证生成</a:t>
            </a:r>
          </a:p>
        </p:txBody>
      </p:sp>
      <p:sp>
        <p:nvSpPr>
          <p:cNvPr id="7" name="Right Arrow 6"/>
          <p:cNvSpPr/>
          <p:nvPr/>
        </p:nvSpPr>
        <p:spPr>
          <a:xfrm>
            <a:off x="466344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审核记账</a:t>
            </a:r>
          </a:p>
        </p:txBody>
      </p:sp>
      <p:sp>
        <p:nvSpPr>
          <p:cNvPr id="9" name="Right Arrow 8"/>
          <p:cNvSpPr/>
          <p:nvPr/>
        </p:nvSpPr>
        <p:spPr>
          <a:xfrm>
            <a:off x="6995159"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52359"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期末结账</a:t>
            </a:r>
          </a:p>
        </p:txBody>
      </p:sp>
      <p:sp>
        <p:nvSpPr>
          <p:cNvPr id="11" name="Right Arrow 10"/>
          <p:cNvSpPr/>
          <p:nvPr/>
        </p:nvSpPr>
        <p:spPr>
          <a:xfrm>
            <a:off x="932688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报表输出</a:t>
            </a:r>
          </a:p>
        </p:txBody>
      </p:sp>
      <p:sp>
        <p:nvSpPr>
          <p:cNvPr id="13" name="Rounded Rectangle 12"/>
          <p:cNvSpPr/>
          <p:nvPr/>
        </p:nvSpPr>
        <p:spPr>
          <a:xfrm>
            <a:off x="4572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总账管理</a:t>
            </a:r>
          </a:p>
        </p:txBody>
      </p:sp>
      <p:sp>
        <p:nvSpPr>
          <p:cNvPr id="14" name="Rounded Rectangle 13"/>
          <p:cNvSpPr/>
          <p:nvPr/>
        </p:nvSpPr>
        <p:spPr>
          <a:xfrm>
            <a:off x="4572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多账簿</a:t>
            </a:r>
          </a:p>
        </p:txBody>
      </p:sp>
      <p:sp>
        <p:nvSpPr>
          <p:cNvPr id="15" name="Rounded Rectangle 14"/>
          <p:cNvSpPr/>
          <p:nvPr/>
        </p:nvSpPr>
        <p:spPr>
          <a:xfrm>
            <a:off x="4572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多币种</a:t>
            </a:r>
          </a:p>
        </p:txBody>
      </p:sp>
      <p:sp>
        <p:nvSpPr>
          <p:cNvPr id="16" name="Rounded Rectangle 15"/>
          <p:cNvSpPr/>
          <p:nvPr/>
        </p:nvSpPr>
        <p:spPr>
          <a:xfrm>
            <a:off x="4572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多会计准则</a:t>
            </a:r>
          </a:p>
        </p:txBody>
      </p:sp>
      <p:sp>
        <p:nvSpPr>
          <p:cNvPr id="17" name="Rounded Rectangle 16"/>
          <p:cNvSpPr/>
          <p:nvPr/>
        </p:nvSpPr>
        <p:spPr>
          <a:xfrm>
            <a:off x="41148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报表管理</a:t>
            </a:r>
          </a:p>
        </p:txBody>
      </p:sp>
      <p:sp>
        <p:nvSpPr>
          <p:cNvPr id="18" name="Rounded Rectangle 17"/>
          <p:cNvSpPr/>
          <p:nvPr/>
        </p:nvSpPr>
        <p:spPr>
          <a:xfrm>
            <a:off x="41148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资产负债表</a:t>
            </a:r>
          </a:p>
        </p:txBody>
      </p:sp>
      <p:sp>
        <p:nvSpPr>
          <p:cNvPr id="19" name="Rounded Rectangle 18"/>
          <p:cNvSpPr/>
          <p:nvPr/>
        </p:nvSpPr>
        <p:spPr>
          <a:xfrm>
            <a:off x="41148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利润表</a:t>
            </a:r>
          </a:p>
        </p:txBody>
      </p:sp>
      <p:sp>
        <p:nvSpPr>
          <p:cNvPr id="20" name="Rounded Rectangle 19"/>
          <p:cNvSpPr/>
          <p:nvPr/>
        </p:nvSpPr>
        <p:spPr>
          <a:xfrm>
            <a:off x="41148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现金流量表</a:t>
            </a:r>
          </a:p>
        </p:txBody>
      </p:sp>
      <p:sp>
        <p:nvSpPr>
          <p:cNvPr id="21" name="Rounded Rectangle 20"/>
          <p:cNvSpPr/>
          <p:nvPr/>
        </p:nvSpPr>
        <p:spPr>
          <a:xfrm>
            <a:off x="77724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成本管理</a:t>
            </a:r>
          </a:p>
        </p:txBody>
      </p:sp>
      <p:sp>
        <p:nvSpPr>
          <p:cNvPr id="22" name="Rounded Rectangle 21"/>
          <p:cNvSpPr/>
          <p:nvPr/>
        </p:nvSpPr>
        <p:spPr>
          <a:xfrm>
            <a:off x="77724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标准成本</a:t>
            </a:r>
          </a:p>
        </p:txBody>
      </p:sp>
      <p:sp>
        <p:nvSpPr>
          <p:cNvPr id="23" name="Rounded Rectangle 22"/>
          <p:cNvSpPr/>
          <p:nvPr/>
        </p:nvSpPr>
        <p:spPr>
          <a:xfrm>
            <a:off x="77724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实际成本</a:t>
            </a:r>
          </a:p>
        </p:txBody>
      </p:sp>
      <p:sp>
        <p:nvSpPr>
          <p:cNvPr id="24" name="Rounded Rectangle 23"/>
          <p:cNvSpPr/>
          <p:nvPr/>
        </p:nvSpPr>
        <p:spPr>
          <a:xfrm>
            <a:off x="77724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作业成本</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财务管理详细方案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应收管理</a:t>
            </a:r>
          </a:p>
        </p:txBody>
      </p:sp>
      <p:sp>
        <p:nvSpPr>
          <p:cNvPr id="5" name="Rounded Rectangle 4"/>
          <p:cNvSpPr/>
          <p:nvPr/>
        </p:nvSpPr>
        <p:spPr>
          <a:xfrm>
            <a:off x="457200" y="17556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销售发票</a:t>
            </a:r>
          </a:p>
        </p:txBody>
      </p:sp>
      <p:sp>
        <p:nvSpPr>
          <p:cNvPr id="6" name="Rounded Rectangle 5"/>
          <p:cNvSpPr/>
          <p:nvPr/>
        </p:nvSpPr>
        <p:spPr>
          <a:xfrm>
            <a:off x="457200" y="207568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收款核销</a:t>
            </a:r>
          </a:p>
        </p:txBody>
      </p:sp>
      <p:sp>
        <p:nvSpPr>
          <p:cNvPr id="7" name="Rounded Rectangle 6"/>
          <p:cNvSpPr/>
          <p:nvPr/>
        </p:nvSpPr>
        <p:spPr>
          <a:xfrm>
            <a:off x="457200" y="239572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账龄分析</a:t>
            </a:r>
          </a:p>
        </p:txBody>
      </p:sp>
      <p:sp>
        <p:nvSpPr>
          <p:cNvPr id="8" name="Rounded Rectangle 7"/>
          <p:cNvSpPr/>
          <p:nvPr/>
        </p:nvSpPr>
        <p:spPr>
          <a:xfrm>
            <a:off x="4114800" y="137160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应付管理</a:t>
            </a:r>
          </a:p>
        </p:txBody>
      </p:sp>
      <p:sp>
        <p:nvSpPr>
          <p:cNvPr id="9" name="Rounded Rectangle 8"/>
          <p:cNvSpPr/>
          <p:nvPr/>
        </p:nvSpPr>
        <p:spPr>
          <a:xfrm>
            <a:off x="4114800" y="17556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采购发票</a:t>
            </a:r>
          </a:p>
        </p:txBody>
      </p:sp>
      <p:sp>
        <p:nvSpPr>
          <p:cNvPr id="10" name="Rounded Rectangle 9"/>
          <p:cNvSpPr/>
          <p:nvPr/>
        </p:nvSpPr>
        <p:spPr>
          <a:xfrm>
            <a:off x="4114800" y="207568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付款管理</a:t>
            </a:r>
          </a:p>
        </p:txBody>
      </p:sp>
      <p:sp>
        <p:nvSpPr>
          <p:cNvPr id="11" name="Rounded Rectangle 10"/>
          <p:cNvSpPr/>
          <p:nvPr/>
        </p:nvSpPr>
        <p:spPr>
          <a:xfrm>
            <a:off x="4114800" y="239572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往来对账</a:t>
            </a:r>
          </a:p>
        </p:txBody>
      </p:sp>
      <p:sp>
        <p:nvSpPr>
          <p:cNvPr id="12" name="Rounded Rectangle 11"/>
          <p:cNvSpPr/>
          <p:nvPr/>
        </p:nvSpPr>
        <p:spPr>
          <a:xfrm>
            <a:off x="7772400" y="137160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资金管理</a:t>
            </a:r>
          </a:p>
        </p:txBody>
      </p:sp>
      <p:sp>
        <p:nvSpPr>
          <p:cNvPr id="13" name="Rounded Rectangle 12"/>
          <p:cNvSpPr/>
          <p:nvPr/>
        </p:nvSpPr>
        <p:spPr>
          <a:xfrm>
            <a:off x="7772400" y="17556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账户管理</a:t>
            </a:r>
          </a:p>
        </p:txBody>
      </p:sp>
      <p:sp>
        <p:nvSpPr>
          <p:cNvPr id="14" name="Rounded Rectangle 13"/>
          <p:cNvSpPr/>
          <p:nvPr/>
        </p:nvSpPr>
        <p:spPr>
          <a:xfrm>
            <a:off x="7772400" y="207568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资金计划</a:t>
            </a:r>
          </a:p>
        </p:txBody>
      </p:sp>
      <p:sp>
        <p:nvSpPr>
          <p:cNvPr id="15" name="Rounded Rectangle 14"/>
          <p:cNvSpPr/>
          <p:nvPr/>
        </p:nvSpPr>
        <p:spPr>
          <a:xfrm>
            <a:off x="7772400" y="239572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银企直联</a:t>
            </a:r>
          </a:p>
        </p:txBody>
      </p:sp>
      <p:sp>
        <p:nvSpPr>
          <p:cNvPr id="16" name="Rounded Rectangle 15"/>
          <p:cNvSpPr/>
          <p:nvPr/>
        </p:nvSpPr>
        <p:spPr>
          <a:xfrm>
            <a:off x="457200" y="34747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固定资产</a:t>
            </a:r>
          </a:p>
        </p:txBody>
      </p:sp>
      <p:sp>
        <p:nvSpPr>
          <p:cNvPr id="17" name="Rounded Rectangle 16"/>
          <p:cNvSpPr/>
          <p:nvPr/>
        </p:nvSpPr>
        <p:spPr>
          <a:xfrm>
            <a:off x="457200" y="38587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资产登记</a:t>
            </a:r>
          </a:p>
        </p:txBody>
      </p:sp>
      <p:sp>
        <p:nvSpPr>
          <p:cNvPr id="18" name="Rounded Rectangle 17"/>
          <p:cNvSpPr/>
          <p:nvPr/>
        </p:nvSpPr>
        <p:spPr>
          <a:xfrm>
            <a:off x="457200" y="4178807"/>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折旧计提</a:t>
            </a:r>
          </a:p>
        </p:txBody>
      </p:sp>
      <p:sp>
        <p:nvSpPr>
          <p:cNvPr id="19" name="Rounded Rectangle 18"/>
          <p:cNvSpPr/>
          <p:nvPr/>
        </p:nvSpPr>
        <p:spPr>
          <a:xfrm>
            <a:off x="457200" y="44988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资产处置</a:t>
            </a:r>
          </a:p>
        </p:txBody>
      </p:sp>
      <p:sp>
        <p:nvSpPr>
          <p:cNvPr id="20" name="Rounded Rectangle 19"/>
          <p:cNvSpPr/>
          <p:nvPr/>
        </p:nvSpPr>
        <p:spPr>
          <a:xfrm>
            <a:off x="4114800" y="34747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预算管理</a:t>
            </a:r>
          </a:p>
        </p:txBody>
      </p:sp>
      <p:sp>
        <p:nvSpPr>
          <p:cNvPr id="21" name="Rounded Rectangle 20"/>
          <p:cNvSpPr/>
          <p:nvPr/>
        </p:nvSpPr>
        <p:spPr>
          <a:xfrm>
            <a:off x="4114800" y="38587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预算编制</a:t>
            </a:r>
          </a:p>
        </p:txBody>
      </p:sp>
      <p:sp>
        <p:nvSpPr>
          <p:cNvPr id="22" name="Rounded Rectangle 21"/>
          <p:cNvSpPr/>
          <p:nvPr/>
        </p:nvSpPr>
        <p:spPr>
          <a:xfrm>
            <a:off x="4114800" y="4178807"/>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预算控制</a:t>
            </a:r>
          </a:p>
        </p:txBody>
      </p:sp>
      <p:sp>
        <p:nvSpPr>
          <p:cNvPr id="23" name="Rounded Rectangle 22"/>
          <p:cNvSpPr/>
          <p:nvPr/>
        </p:nvSpPr>
        <p:spPr>
          <a:xfrm>
            <a:off x="4114800" y="44988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预算分析</a:t>
            </a:r>
          </a:p>
        </p:txBody>
      </p:sp>
      <p:sp>
        <p:nvSpPr>
          <p:cNvPr id="24" name="Rounded Rectangle 23"/>
          <p:cNvSpPr/>
          <p:nvPr/>
        </p:nvSpPr>
        <p:spPr>
          <a:xfrm>
            <a:off x="7772400" y="3474720"/>
            <a:ext cx="34747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税务管理</a:t>
            </a:r>
          </a:p>
        </p:txBody>
      </p:sp>
      <p:sp>
        <p:nvSpPr>
          <p:cNvPr id="25" name="Rounded Rectangle 24"/>
          <p:cNvSpPr/>
          <p:nvPr/>
        </p:nvSpPr>
        <p:spPr>
          <a:xfrm>
            <a:off x="7772400" y="38587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税务申报</a:t>
            </a:r>
          </a:p>
        </p:txBody>
      </p:sp>
      <p:sp>
        <p:nvSpPr>
          <p:cNvPr id="26" name="Rounded Rectangle 25"/>
          <p:cNvSpPr/>
          <p:nvPr/>
        </p:nvSpPr>
        <p:spPr>
          <a:xfrm>
            <a:off x="7772400" y="4178807"/>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发票管理</a:t>
            </a:r>
          </a:p>
        </p:txBody>
      </p:sp>
      <p:sp>
        <p:nvSpPr>
          <p:cNvPr id="27" name="Rounded Rectangle 26"/>
          <p:cNvSpPr/>
          <p:nvPr/>
        </p:nvSpPr>
        <p:spPr>
          <a:xfrm>
            <a:off x="7772400" y="44988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税务风险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供应链管理解决方案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需求计划</a:t>
            </a:r>
          </a:p>
        </p:txBody>
      </p:sp>
      <p:sp>
        <p:nvSpPr>
          <p:cNvPr id="5" name="Right Arrow 4"/>
          <p:cNvSpPr/>
          <p:nvPr/>
        </p:nvSpPr>
        <p:spPr>
          <a:xfrm>
            <a:off x="233172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8892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采购执行</a:t>
            </a:r>
          </a:p>
        </p:txBody>
      </p:sp>
      <p:sp>
        <p:nvSpPr>
          <p:cNvPr id="7" name="Right Arrow 6"/>
          <p:cNvSpPr/>
          <p:nvPr/>
        </p:nvSpPr>
        <p:spPr>
          <a:xfrm>
            <a:off x="466344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库存管理</a:t>
            </a:r>
          </a:p>
        </p:txBody>
      </p:sp>
      <p:sp>
        <p:nvSpPr>
          <p:cNvPr id="9" name="Right Arrow 8"/>
          <p:cNvSpPr/>
          <p:nvPr/>
        </p:nvSpPr>
        <p:spPr>
          <a:xfrm>
            <a:off x="6995159"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52359"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销售配送</a:t>
            </a:r>
          </a:p>
        </p:txBody>
      </p:sp>
      <p:sp>
        <p:nvSpPr>
          <p:cNvPr id="11" name="Right Arrow 10"/>
          <p:cNvSpPr/>
          <p:nvPr/>
        </p:nvSpPr>
        <p:spPr>
          <a:xfrm>
            <a:off x="932688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结算分析</a:t>
            </a:r>
          </a:p>
        </p:txBody>
      </p:sp>
      <p:sp>
        <p:nvSpPr>
          <p:cNvPr id="13" name="Rounded Rectangle 12"/>
          <p:cNvSpPr/>
          <p:nvPr/>
        </p:nvSpPr>
        <p:spPr>
          <a:xfrm>
            <a:off x="4572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采购管理</a:t>
            </a:r>
          </a:p>
        </p:txBody>
      </p:sp>
      <p:sp>
        <p:nvSpPr>
          <p:cNvPr id="14" name="Rounded Rectangle 13"/>
          <p:cNvSpPr/>
          <p:nvPr/>
        </p:nvSpPr>
        <p:spPr>
          <a:xfrm>
            <a:off x="4572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供应商管理</a:t>
            </a:r>
          </a:p>
        </p:txBody>
      </p:sp>
      <p:sp>
        <p:nvSpPr>
          <p:cNvPr id="15" name="Rounded Rectangle 14"/>
          <p:cNvSpPr/>
          <p:nvPr/>
        </p:nvSpPr>
        <p:spPr>
          <a:xfrm>
            <a:off x="4572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采购申请</a:t>
            </a:r>
          </a:p>
        </p:txBody>
      </p:sp>
      <p:sp>
        <p:nvSpPr>
          <p:cNvPr id="16" name="Rounded Rectangle 15"/>
          <p:cNvSpPr/>
          <p:nvPr/>
        </p:nvSpPr>
        <p:spPr>
          <a:xfrm>
            <a:off x="4572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采购订单</a:t>
            </a:r>
          </a:p>
        </p:txBody>
      </p:sp>
      <p:sp>
        <p:nvSpPr>
          <p:cNvPr id="17" name="Rounded Rectangle 16"/>
          <p:cNvSpPr/>
          <p:nvPr/>
        </p:nvSpPr>
        <p:spPr>
          <a:xfrm>
            <a:off x="457200" y="3447287"/>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采购结算</a:t>
            </a:r>
          </a:p>
        </p:txBody>
      </p:sp>
      <p:sp>
        <p:nvSpPr>
          <p:cNvPr id="18" name="Rounded Rectangle 17"/>
          <p:cNvSpPr/>
          <p:nvPr/>
        </p:nvSpPr>
        <p:spPr>
          <a:xfrm>
            <a:off x="41148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库存管理</a:t>
            </a:r>
          </a:p>
        </p:txBody>
      </p:sp>
      <p:sp>
        <p:nvSpPr>
          <p:cNvPr id="19" name="Rounded Rectangle 18"/>
          <p:cNvSpPr/>
          <p:nvPr/>
        </p:nvSpPr>
        <p:spPr>
          <a:xfrm>
            <a:off x="41148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入库管理</a:t>
            </a:r>
          </a:p>
        </p:txBody>
      </p:sp>
      <p:sp>
        <p:nvSpPr>
          <p:cNvPr id="20" name="Rounded Rectangle 19"/>
          <p:cNvSpPr/>
          <p:nvPr/>
        </p:nvSpPr>
        <p:spPr>
          <a:xfrm>
            <a:off x="41148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出库管理</a:t>
            </a:r>
          </a:p>
        </p:txBody>
      </p:sp>
      <p:sp>
        <p:nvSpPr>
          <p:cNvPr id="21" name="Rounded Rectangle 20"/>
          <p:cNvSpPr/>
          <p:nvPr/>
        </p:nvSpPr>
        <p:spPr>
          <a:xfrm>
            <a:off x="41148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库存盘点</a:t>
            </a:r>
          </a:p>
        </p:txBody>
      </p:sp>
      <p:sp>
        <p:nvSpPr>
          <p:cNvPr id="22" name="Rounded Rectangle 21"/>
          <p:cNvSpPr/>
          <p:nvPr/>
        </p:nvSpPr>
        <p:spPr>
          <a:xfrm>
            <a:off x="4114800" y="3447287"/>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库存分析</a:t>
            </a:r>
          </a:p>
        </p:txBody>
      </p:sp>
      <p:sp>
        <p:nvSpPr>
          <p:cNvPr id="23" name="Rounded Rectangle 22"/>
          <p:cNvSpPr/>
          <p:nvPr/>
        </p:nvSpPr>
        <p:spPr>
          <a:xfrm>
            <a:off x="77724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销售管理</a:t>
            </a:r>
          </a:p>
        </p:txBody>
      </p:sp>
      <p:sp>
        <p:nvSpPr>
          <p:cNvPr id="24" name="Rounded Rectangle 23"/>
          <p:cNvSpPr/>
          <p:nvPr/>
        </p:nvSpPr>
        <p:spPr>
          <a:xfrm>
            <a:off x="77724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客户管理</a:t>
            </a:r>
          </a:p>
        </p:txBody>
      </p:sp>
      <p:sp>
        <p:nvSpPr>
          <p:cNvPr id="25" name="Rounded Rectangle 24"/>
          <p:cNvSpPr/>
          <p:nvPr/>
        </p:nvSpPr>
        <p:spPr>
          <a:xfrm>
            <a:off x="77724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销售订单</a:t>
            </a:r>
          </a:p>
        </p:txBody>
      </p:sp>
      <p:sp>
        <p:nvSpPr>
          <p:cNvPr id="26" name="Rounded Rectangle 25"/>
          <p:cNvSpPr/>
          <p:nvPr/>
        </p:nvSpPr>
        <p:spPr>
          <a:xfrm>
            <a:off x="77724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发货管理</a:t>
            </a:r>
          </a:p>
        </p:txBody>
      </p:sp>
      <p:sp>
        <p:nvSpPr>
          <p:cNvPr id="27" name="Rounded Rectangle 26"/>
          <p:cNvSpPr/>
          <p:nvPr/>
        </p:nvSpPr>
        <p:spPr>
          <a:xfrm>
            <a:off x="7772400" y="3447287"/>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销售结算</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生产制造解决方案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需求预测</a:t>
            </a:r>
          </a:p>
        </p:txBody>
      </p:sp>
      <p:sp>
        <p:nvSpPr>
          <p:cNvPr id="5" name="Right Arrow 4"/>
          <p:cNvSpPr/>
          <p:nvPr/>
        </p:nvSpPr>
        <p:spPr>
          <a:xfrm>
            <a:off x="233172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8892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MRP运算</a:t>
            </a:r>
          </a:p>
        </p:txBody>
      </p:sp>
      <p:sp>
        <p:nvSpPr>
          <p:cNvPr id="7" name="Right Arrow 6"/>
          <p:cNvSpPr/>
          <p:nvPr/>
        </p:nvSpPr>
        <p:spPr>
          <a:xfrm>
            <a:off x="466344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生产计划</a:t>
            </a:r>
          </a:p>
        </p:txBody>
      </p:sp>
      <p:sp>
        <p:nvSpPr>
          <p:cNvPr id="9" name="Right Arrow 8"/>
          <p:cNvSpPr/>
          <p:nvPr/>
        </p:nvSpPr>
        <p:spPr>
          <a:xfrm>
            <a:off x="6995159"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52359"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车间执行</a:t>
            </a:r>
          </a:p>
        </p:txBody>
      </p:sp>
      <p:sp>
        <p:nvSpPr>
          <p:cNvPr id="11" name="Right Arrow 10"/>
          <p:cNvSpPr/>
          <p:nvPr/>
        </p:nvSpPr>
        <p:spPr>
          <a:xfrm>
            <a:off x="932688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0" y="1371600"/>
            <a:ext cx="18288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质量检验</a:t>
            </a:r>
          </a:p>
        </p:txBody>
      </p:sp>
      <p:sp>
        <p:nvSpPr>
          <p:cNvPr id="13" name="Rounded Rectangle 12"/>
          <p:cNvSpPr/>
          <p:nvPr/>
        </p:nvSpPr>
        <p:spPr>
          <a:xfrm>
            <a:off x="4572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计划管理</a:t>
            </a:r>
          </a:p>
        </p:txBody>
      </p:sp>
      <p:sp>
        <p:nvSpPr>
          <p:cNvPr id="14" name="Rounded Rectangle 13"/>
          <p:cNvSpPr/>
          <p:nvPr/>
        </p:nvSpPr>
        <p:spPr>
          <a:xfrm>
            <a:off x="4572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主生产计划</a:t>
            </a:r>
          </a:p>
        </p:txBody>
      </p:sp>
      <p:sp>
        <p:nvSpPr>
          <p:cNvPr id="15" name="Rounded Rectangle 14"/>
          <p:cNvSpPr/>
          <p:nvPr/>
        </p:nvSpPr>
        <p:spPr>
          <a:xfrm>
            <a:off x="4572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MRP运算</a:t>
            </a:r>
          </a:p>
        </p:txBody>
      </p:sp>
      <p:sp>
        <p:nvSpPr>
          <p:cNvPr id="16" name="Rounded Rectangle 15"/>
          <p:cNvSpPr/>
          <p:nvPr/>
        </p:nvSpPr>
        <p:spPr>
          <a:xfrm>
            <a:off x="4572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能力计划</a:t>
            </a:r>
          </a:p>
        </p:txBody>
      </p:sp>
      <p:sp>
        <p:nvSpPr>
          <p:cNvPr id="17" name="Rounded Rectangle 16"/>
          <p:cNvSpPr/>
          <p:nvPr/>
        </p:nvSpPr>
        <p:spPr>
          <a:xfrm>
            <a:off x="41148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生产执行</a:t>
            </a:r>
          </a:p>
        </p:txBody>
      </p:sp>
      <p:sp>
        <p:nvSpPr>
          <p:cNvPr id="18" name="Rounded Rectangle 17"/>
          <p:cNvSpPr/>
          <p:nvPr/>
        </p:nvSpPr>
        <p:spPr>
          <a:xfrm>
            <a:off x="41148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工单管理</a:t>
            </a:r>
          </a:p>
        </p:txBody>
      </p:sp>
      <p:sp>
        <p:nvSpPr>
          <p:cNvPr id="19" name="Rounded Rectangle 18"/>
          <p:cNvSpPr/>
          <p:nvPr/>
        </p:nvSpPr>
        <p:spPr>
          <a:xfrm>
            <a:off x="41148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领料管理</a:t>
            </a:r>
          </a:p>
        </p:txBody>
      </p:sp>
      <p:sp>
        <p:nvSpPr>
          <p:cNvPr id="20" name="Rounded Rectangle 19"/>
          <p:cNvSpPr/>
          <p:nvPr/>
        </p:nvSpPr>
        <p:spPr>
          <a:xfrm>
            <a:off x="41148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完工入库</a:t>
            </a:r>
          </a:p>
        </p:txBody>
      </p:sp>
      <p:sp>
        <p:nvSpPr>
          <p:cNvPr id="21" name="Rounded Rectangle 20"/>
          <p:cNvSpPr/>
          <p:nvPr/>
        </p:nvSpPr>
        <p:spPr>
          <a:xfrm>
            <a:off x="7772400" y="2103120"/>
            <a:ext cx="34747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质量管理</a:t>
            </a:r>
          </a:p>
        </p:txBody>
      </p:sp>
      <p:sp>
        <p:nvSpPr>
          <p:cNvPr id="22" name="Rounded Rectangle 21"/>
          <p:cNvSpPr/>
          <p:nvPr/>
        </p:nvSpPr>
        <p:spPr>
          <a:xfrm>
            <a:off x="7772400" y="248716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检验标准</a:t>
            </a:r>
          </a:p>
        </p:txBody>
      </p:sp>
      <p:sp>
        <p:nvSpPr>
          <p:cNvPr id="23" name="Rounded Rectangle 22"/>
          <p:cNvSpPr/>
          <p:nvPr/>
        </p:nvSpPr>
        <p:spPr>
          <a:xfrm>
            <a:off x="7772400" y="280720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过程检验</a:t>
            </a:r>
          </a:p>
        </p:txBody>
      </p:sp>
      <p:sp>
        <p:nvSpPr>
          <p:cNvPr id="24" name="Rounded Rectangle 23"/>
          <p:cNvSpPr/>
          <p:nvPr/>
        </p:nvSpPr>
        <p:spPr>
          <a:xfrm>
            <a:off x="7772400" y="3127248"/>
            <a:ext cx="34747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质量追溯</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数据分析解决方案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914400" cy="9144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数据应用层</a:t>
            </a:r>
          </a:p>
        </p:txBody>
      </p:sp>
      <p:sp>
        <p:nvSpPr>
          <p:cNvPr id="5" name="Rounded Rectangle 4"/>
          <p:cNvSpPr/>
          <p:nvPr/>
        </p:nvSpPr>
        <p:spPr>
          <a:xfrm>
            <a:off x="146304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管理驾驶舱</a:t>
            </a:r>
          </a:p>
        </p:txBody>
      </p:sp>
      <p:sp>
        <p:nvSpPr>
          <p:cNvPr id="6" name="Rounded Rectangle 5"/>
          <p:cNvSpPr/>
          <p:nvPr/>
        </p:nvSpPr>
        <p:spPr>
          <a:xfrm>
            <a:off x="393192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移动报表</a:t>
            </a:r>
          </a:p>
        </p:txBody>
      </p:sp>
      <p:sp>
        <p:nvSpPr>
          <p:cNvPr id="7" name="Rounded Rectangle 6"/>
          <p:cNvSpPr/>
          <p:nvPr/>
        </p:nvSpPr>
        <p:spPr>
          <a:xfrm>
            <a:off x="640080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自助分析</a:t>
            </a:r>
          </a:p>
        </p:txBody>
      </p:sp>
      <p:sp>
        <p:nvSpPr>
          <p:cNvPr id="8" name="Rounded Rectangle 7"/>
          <p:cNvSpPr/>
          <p:nvPr/>
        </p:nvSpPr>
        <p:spPr>
          <a:xfrm>
            <a:off x="886968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预警推送</a:t>
            </a:r>
          </a:p>
        </p:txBody>
      </p:sp>
      <p:sp>
        <p:nvSpPr>
          <p:cNvPr id="9" name="Rounded Rectangle 8"/>
          <p:cNvSpPr/>
          <p:nvPr/>
        </p:nvSpPr>
        <p:spPr>
          <a:xfrm>
            <a:off x="457200" y="2468880"/>
            <a:ext cx="914400" cy="91440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数据分析层</a:t>
            </a:r>
          </a:p>
        </p:txBody>
      </p:sp>
      <p:sp>
        <p:nvSpPr>
          <p:cNvPr id="10" name="Rounded Rectangle 9"/>
          <p:cNvSpPr/>
          <p:nvPr/>
        </p:nvSpPr>
        <p:spPr>
          <a:xfrm>
            <a:off x="146304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多维分析</a:t>
            </a:r>
          </a:p>
        </p:txBody>
      </p:sp>
      <p:sp>
        <p:nvSpPr>
          <p:cNvPr id="11" name="Rounded Rectangle 10"/>
          <p:cNvSpPr/>
          <p:nvPr/>
        </p:nvSpPr>
        <p:spPr>
          <a:xfrm>
            <a:off x="393192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数据挖掘</a:t>
            </a:r>
          </a:p>
        </p:txBody>
      </p:sp>
      <p:sp>
        <p:nvSpPr>
          <p:cNvPr id="12" name="Rounded Rectangle 11"/>
          <p:cNvSpPr/>
          <p:nvPr/>
        </p:nvSpPr>
        <p:spPr>
          <a:xfrm>
            <a:off x="640080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预测分析</a:t>
            </a:r>
          </a:p>
        </p:txBody>
      </p:sp>
      <p:sp>
        <p:nvSpPr>
          <p:cNvPr id="13" name="Rounded Rectangle 12"/>
          <p:cNvSpPr/>
          <p:nvPr/>
        </p:nvSpPr>
        <p:spPr>
          <a:xfrm>
            <a:off x="886968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智能推荐</a:t>
            </a:r>
          </a:p>
        </p:txBody>
      </p:sp>
      <p:sp>
        <p:nvSpPr>
          <p:cNvPr id="14" name="Rounded Rectangle 13"/>
          <p:cNvSpPr/>
          <p:nvPr/>
        </p:nvSpPr>
        <p:spPr>
          <a:xfrm>
            <a:off x="457200" y="3566160"/>
            <a:ext cx="914400" cy="914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数据服务层</a:t>
            </a:r>
          </a:p>
        </p:txBody>
      </p:sp>
      <p:sp>
        <p:nvSpPr>
          <p:cNvPr id="15" name="Rounded Rectangle 14"/>
          <p:cNvSpPr/>
          <p:nvPr/>
        </p:nvSpPr>
        <p:spPr>
          <a:xfrm>
            <a:off x="146304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数据仓库</a:t>
            </a:r>
          </a:p>
        </p:txBody>
      </p:sp>
      <p:sp>
        <p:nvSpPr>
          <p:cNvPr id="16" name="Rounded Rectangle 15"/>
          <p:cNvSpPr/>
          <p:nvPr/>
        </p:nvSpPr>
        <p:spPr>
          <a:xfrm>
            <a:off x="393192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数据湖</a:t>
            </a:r>
          </a:p>
        </p:txBody>
      </p:sp>
      <p:sp>
        <p:nvSpPr>
          <p:cNvPr id="17" name="Rounded Rectangle 16"/>
          <p:cNvSpPr/>
          <p:nvPr/>
        </p:nvSpPr>
        <p:spPr>
          <a:xfrm>
            <a:off x="640080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ETL处理</a:t>
            </a:r>
          </a:p>
        </p:txBody>
      </p:sp>
      <p:sp>
        <p:nvSpPr>
          <p:cNvPr id="18" name="Rounded Rectangle 17"/>
          <p:cNvSpPr/>
          <p:nvPr/>
        </p:nvSpPr>
        <p:spPr>
          <a:xfrm>
            <a:off x="886968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数据治理</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主数据管理解决方案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物料主数据</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分类管理</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属性定义</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编码规则</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客户主数据</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客户档案</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信用管理</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区域管理</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供应商主数据</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供应商档案</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资质管理</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评估体系</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组织主数据</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公司架构</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部门设置</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人员信息</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系统集成解决方案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914400" cy="9144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应用层</a:t>
            </a:r>
          </a:p>
        </p:txBody>
      </p:sp>
      <p:sp>
        <p:nvSpPr>
          <p:cNvPr id="5" name="Rounded Rectangle 4"/>
          <p:cNvSpPr/>
          <p:nvPr/>
        </p:nvSpPr>
        <p:spPr>
          <a:xfrm>
            <a:off x="146304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ERP</a:t>
            </a:r>
          </a:p>
        </p:txBody>
      </p:sp>
      <p:sp>
        <p:nvSpPr>
          <p:cNvPr id="6" name="Rounded Rectangle 5"/>
          <p:cNvSpPr/>
          <p:nvPr/>
        </p:nvSpPr>
        <p:spPr>
          <a:xfrm>
            <a:off x="393192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CRM</a:t>
            </a:r>
          </a:p>
        </p:txBody>
      </p:sp>
      <p:sp>
        <p:nvSpPr>
          <p:cNvPr id="7" name="Rounded Rectangle 6"/>
          <p:cNvSpPr/>
          <p:nvPr/>
        </p:nvSpPr>
        <p:spPr>
          <a:xfrm>
            <a:off x="640080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OA</a:t>
            </a:r>
          </a:p>
        </p:txBody>
      </p:sp>
      <p:sp>
        <p:nvSpPr>
          <p:cNvPr id="8" name="Rounded Rectangle 7"/>
          <p:cNvSpPr/>
          <p:nvPr/>
        </p:nvSpPr>
        <p:spPr>
          <a:xfrm>
            <a:off x="8869680" y="146304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HR</a:t>
            </a:r>
          </a:p>
        </p:txBody>
      </p:sp>
      <p:sp>
        <p:nvSpPr>
          <p:cNvPr id="9" name="Rounded Rectangle 8"/>
          <p:cNvSpPr/>
          <p:nvPr/>
        </p:nvSpPr>
        <p:spPr>
          <a:xfrm>
            <a:off x="457200" y="2468880"/>
            <a:ext cx="914400" cy="91440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集成平台</a:t>
            </a:r>
          </a:p>
        </p:txBody>
      </p:sp>
      <p:sp>
        <p:nvSpPr>
          <p:cNvPr id="10" name="Rounded Rectangle 9"/>
          <p:cNvSpPr/>
          <p:nvPr/>
        </p:nvSpPr>
        <p:spPr>
          <a:xfrm>
            <a:off x="146304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API网关</a:t>
            </a:r>
          </a:p>
        </p:txBody>
      </p:sp>
      <p:sp>
        <p:nvSpPr>
          <p:cNvPr id="11" name="Rounded Rectangle 10"/>
          <p:cNvSpPr/>
          <p:nvPr/>
        </p:nvSpPr>
        <p:spPr>
          <a:xfrm>
            <a:off x="393192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消息队列</a:t>
            </a:r>
          </a:p>
        </p:txBody>
      </p:sp>
      <p:sp>
        <p:nvSpPr>
          <p:cNvPr id="12" name="Rounded Rectangle 11"/>
          <p:cNvSpPr/>
          <p:nvPr/>
        </p:nvSpPr>
        <p:spPr>
          <a:xfrm>
            <a:off x="640080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数据同步</a:t>
            </a:r>
          </a:p>
        </p:txBody>
      </p:sp>
      <p:sp>
        <p:nvSpPr>
          <p:cNvPr id="13" name="Rounded Rectangle 12"/>
          <p:cNvSpPr/>
          <p:nvPr/>
        </p:nvSpPr>
        <p:spPr>
          <a:xfrm>
            <a:off x="8869680" y="256032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流程引擎</a:t>
            </a:r>
          </a:p>
        </p:txBody>
      </p:sp>
      <p:sp>
        <p:nvSpPr>
          <p:cNvPr id="14" name="Rounded Rectangle 13"/>
          <p:cNvSpPr/>
          <p:nvPr/>
        </p:nvSpPr>
        <p:spPr>
          <a:xfrm>
            <a:off x="457200" y="3566160"/>
            <a:ext cx="914400" cy="914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数据层</a:t>
            </a:r>
          </a:p>
        </p:txBody>
      </p:sp>
      <p:sp>
        <p:nvSpPr>
          <p:cNvPr id="15" name="Rounded Rectangle 14"/>
          <p:cNvSpPr/>
          <p:nvPr/>
        </p:nvSpPr>
        <p:spPr>
          <a:xfrm>
            <a:off x="146304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主数据</a:t>
            </a:r>
          </a:p>
        </p:txBody>
      </p:sp>
      <p:sp>
        <p:nvSpPr>
          <p:cNvPr id="16" name="Rounded Rectangle 15"/>
          <p:cNvSpPr/>
          <p:nvPr/>
        </p:nvSpPr>
        <p:spPr>
          <a:xfrm>
            <a:off x="393192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业务数据</a:t>
            </a:r>
          </a:p>
        </p:txBody>
      </p:sp>
      <p:sp>
        <p:nvSpPr>
          <p:cNvPr id="17" name="Rounded Rectangle 16"/>
          <p:cNvSpPr/>
          <p:nvPr/>
        </p:nvSpPr>
        <p:spPr>
          <a:xfrm>
            <a:off x="640080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日志数据</a:t>
            </a:r>
          </a:p>
        </p:txBody>
      </p:sp>
      <p:sp>
        <p:nvSpPr>
          <p:cNvPr id="18" name="Rounded Rectangle 17"/>
          <p:cNvSpPr/>
          <p:nvPr/>
        </p:nvSpPr>
        <p:spPr>
          <a:xfrm>
            <a:off x="8869680" y="3657600"/>
            <a:ext cx="237744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配置数据</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移动应用解决方案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移动审批</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待办事项</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流程审批</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消息通知</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移动报表</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数据查询</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图表展示</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预警推送</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移动作业</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扫码入库</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盘点作业</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巡检记录</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移动办公</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日程管理</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任务协作</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即时通讯</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智能分析解决方案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智能预测</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销售预测</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库存预测</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资金预测</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智能识别</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OCR识别</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发票识别</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合同识别</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智能推荐</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采购建议</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排产建议</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风控建议</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智能助手</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对话机器人</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智能问答</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知识库</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square">
            <a:spAutoFit/>
          </a:bodyPr>
          <a:lstStyle/>
          <a:p>
            <a:pPr algn="l">
              <a:defRPr sz="7200" b="1">
                <a:solidFill>
                  <a:srgbClr val="0886EC"/>
                </a:solidFill>
                <a:latin typeface="微软雅黑"/>
              </a:defRPr>
            </a:pPr>
            <a:r>
              <a:t>04</a:t>
            </a:r>
          </a:p>
        </p:txBody>
      </p:sp>
      <p:sp>
        <p:nvSpPr>
          <p:cNvPr id="21" name="TextBox 20"/>
          <p:cNvSpPr txBox="1"/>
          <p:nvPr/>
        </p:nvSpPr>
        <p:spPr>
          <a:xfrm>
            <a:off x="2286000" y="2560320"/>
            <a:ext cx="8229600" cy="914400"/>
          </a:xfrm>
          <a:prstGeom prst="rect">
            <a:avLst/>
          </a:prstGeom>
          <a:noFill/>
        </p:spPr>
        <p:txBody>
          <a:bodyPr wrap="square">
            <a:spAutoFit/>
          </a:bodyPr>
          <a:lstStyle/>
          <a:p>
            <a:pPr algn="l">
              <a:defRPr sz="3600" b="1">
                <a:solidFill>
                  <a:srgbClr val="003F56"/>
                </a:solidFill>
                <a:latin typeface="微软雅黑"/>
              </a:defRPr>
            </a:pPr>
            <a:r>
              <a:t>实施路线</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金蝶实施方法论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项目启动</a:t>
            </a:r>
          </a:p>
        </p:txBody>
      </p:sp>
      <p:sp>
        <p:nvSpPr>
          <p:cNvPr id="5" name="Right Arrow 4"/>
          <p:cNvSpPr/>
          <p:nvPr/>
        </p:nvSpPr>
        <p:spPr>
          <a:xfrm>
            <a:off x="160020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965960"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需求调研</a:t>
            </a:r>
          </a:p>
        </p:txBody>
      </p:sp>
      <p:sp>
        <p:nvSpPr>
          <p:cNvPr id="7" name="Right Arrow 6"/>
          <p:cNvSpPr/>
          <p:nvPr/>
        </p:nvSpPr>
        <p:spPr>
          <a:xfrm>
            <a:off x="3291839"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599"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方案设计</a:t>
            </a:r>
          </a:p>
        </p:txBody>
      </p:sp>
      <p:sp>
        <p:nvSpPr>
          <p:cNvPr id="9" name="Right Arrow 8"/>
          <p:cNvSpPr/>
          <p:nvPr/>
        </p:nvSpPr>
        <p:spPr>
          <a:xfrm>
            <a:off x="4983479"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49240"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系统配置</a:t>
            </a:r>
          </a:p>
        </p:txBody>
      </p:sp>
      <p:sp>
        <p:nvSpPr>
          <p:cNvPr id="11" name="Right Arrow 10"/>
          <p:cNvSpPr/>
          <p:nvPr/>
        </p:nvSpPr>
        <p:spPr>
          <a:xfrm>
            <a:off x="667512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79"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用户测试</a:t>
            </a:r>
          </a:p>
        </p:txBody>
      </p:sp>
      <p:sp>
        <p:nvSpPr>
          <p:cNvPr id="13" name="Right Arrow 12"/>
          <p:cNvSpPr/>
          <p:nvPr/>
        </p:nvSpPr>
        <p:spPr>
          <a:xfrm>
            <a:off x="836676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732520"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上线切换</a:t>
            </a:r>
          </a:p>
        </p:txBody>
      </p:sp>
      <p:sp>
        <p:nvSpPr>
          <p:cNvPr id="15" name="Right Arrow 14"/>
          <p:cNvSpPr/>
          <p:nvPr/>
        </p:nvSpPr>
        <p:spPr>
          <a:xfrm>
            <a:off x="10058400" y="1508760"/>
            <a:ext cx="22860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424160" y="1371600"/>
            <a:ext cx="128016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持续优化</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项目实施计划</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square">
            <a:spAutoFit/>
          </a:bodyPr>
          <a:lstStyle/>
          <a:p>
            <a:pPr algn="ctr">
              <a:defRPr sz="1200" b="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square">
            <a:spAutoFit/>
          </a:bodyPr>
          <a:lstStyle/>
          <a:p>
            <a:pPr algn="ctr">
              <a:defRPr sz="1000" b="0">
                <a:solidFill>
                  <a:srgbClr val="000000"/>
                </a:solidFill>
                <a:latin typeface="微软雅黑"/>
              </a:defRPr>
            </a:pPr>
            <a:r>
              <a:t>W1-W2</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项目启动</a:t>
            </a:r>
          </a:p>
        </p:txBody>
      </p:sp>
      <p:sp>
        <p:nvSpPr>
          <p:cNvPr id="9" name="Oval 8"/>
          <p:cNvSpPr/>
          <p:nvPr/>
        </p:nvSpPr>
        <p:spPr>
          <a:xfrm>
            <a:off x="251460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764792"/>
            <a:ext cx="182880" cy="228600"/>
          </a:xfrm>
          <a:prstGeom prst="rect">
            <a:avLst/>
          </a:prstGeom>
          <a:noFill/>
        </p:spPr>
        <p:txBody>
          <a:bodyPr wrap="square">
            <a:spAutoFit/>
          </a:bodyPr>
          <a:lstStyle/>
          <a:p>
            <a:pPr algn="ctr">
              <a:defRPr sz="1200" b="0">
                <a:solidFill>
                  <a:srgbClr val="FFFFFF"/>
                </a:solidFill>
                <a:latin typeface="微软雅黑"/>
              </a:defRPr>
            </a:pPr>
            <a:r>
              <a:t>2</a:t>
            </a:r>
          </a:p>
        </p:txBody>
      </p:sp>
      <p:sp>
        <p:nvSpPr>
          <p:cNvPr id="11" name="TextBox 10"/>
          <p:cNvSpPr txBox="1"/>
          <p:nvPr/>
        </p:nvSpPr>
        <p:spPr>
          <a:xfrm>
            <a:off x="2286000" y="2103120"/>
            <a:ext cx="731520" cy="274320"/>
          </a:xfrm>
          <a:prstGeom prst="rect">
            <a:avLst/>
          </a:prstGeom>
          <a:noFill/>
        </p:spPr>
        <p:txBody>
          <a:bodyPr wrap="square">
            <a:spAutoFit/>
          </a:bodyPr>
          <a:lstStyle/>
          <a:p>
            <a:pPr algn="ctr">
              <a:defRPr sz="1000" b="0">
                <a:solidFill>
                  <a:srgbClr val="000000"/>
                </a:solidFill>
                <a:latin typeface="微软雅黑"/>
              </a:defRPr>
            </a:pPr>
            <a:r>
              <a:t>W3-W6</a:t>
            </a:r>
          </a:p>
        </p:txBody>
      </p:sp>
      <p:sp>
        <p:nvSpPr>
          <p:cNvPr id="12" name="TextBox 11"/>
          <p:cNvSpPr txBox="1"/>
          <p:nvPr/>
        </p:nvSpPr>
        <p:spPr>
          <a:xfrm>
            <a:off x="2194560" y="2377440"/>
            <a:ext cx="914400" cy="365760"/>
          </a:xfrm>
          <a:prstGeom prst="rect">
            <a:avLst/>
          </a:prstGeom>
          <a:noFill/>
        </p:spPr>
        <p:txBody>
          <a:bodyPr wrap="square">
            <a:spAutoFit/>
          </a:bodyPr>
          <a:lstStyle/>
          <a:p>
            <a:pPr algn="ctr">
              <a:defRPr sz="1000">
                <a:solidFill>
                  <a:srgbClr val="000000"/>
                </a:solidFill>
                <a:latin typeface="微软雅黑"/>
              </a:defRPr>
            </a:pPr>
            <a:r>
              <a:t>需求调研</a:t>
            </a:r>
          </a:p>
        </p:txBody>
      </p:sp>
      <p:sp>
        <p:nvSpPr>
          <p:cNvPr id="13" name="Oval 12"/>
          <p:cNvSpPr/>
          <p:nvPr/>
        </p:nvSpPr>
        <p:spPr>
          <a:xfrm>
            <a:off x="470915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64792"/>
            <a:ext cx="182880" cy="228600"/>
          </a:xfrm>
          <a:prstGeom prst="rect">
            <a:avLst/>
          </a:prstGeom>
          <a:noFill/>
        </p:spPr>
        <p:txBody>
          <a:bodyPr wrap="square">
            <a:spAutoFit/>
          </a:bodyPr>
          <a:lstStyle/>
          <a:p>
            <a:pPr algn="ctr">
              <a:defRPr sz="1200" b="0">
                <a:solidFill>
                  <a:srgbClr val="FFFFFF"/>
                </a:solidFill>
                <a:latin typeface="微软雅黑"/>
              </a:defRPr>
            </a:pPr>
            <a:r>
              <a:t>3</a:t>
            </a:r>
          </a:p>
        </p:txBody>
      </p:sp>
      <p:sp>
        <p:nvSpPr>
          <p:cNvPr id="15" name="TextBox 14"/>
          <p:cNvSpPr txBox="1"/>
          <p:nvPr/>
        </p:nvSpPr>
        <p:spPr>
          <a:xfrm>
            <a:off x="4480559" y="2103120"/>
            <a:ext cx="731520" cy="274320"/>
          </a:xfrm>
          <a:prstGeom prst="rect">
            <a:avLst/>
          </a:prstGeom>
          <a:noFill/>
        </p:spPr>
        <p:txBody>
          <a:bodyPr wrap="square">
            <a:spAutoFit/>
          </a:bodyPr>
          <a:lstStyle/>
          <a:p>
            <a:pPr algn="ctr">
              <a:defRPr sz="1000" b="0">
                <a:solidFill>
                  <a:srgbClr val="000000"/>
                </a:solidFill>
                <a:latin typeface="微软雅黑"/>
              </a:defRPr>
            </a:pPr>
            <a:r>
              <a:t>W7-W10</a:t>
            </a:r>
          </a:p>
        </p:txBody>
      </p:sp>
      <p:sp>
        <p:nvSpPr>
          <p:cNvPr id="16" name="TextBox 15"/>
          <p:cNvSpPr txBox="1"/>
          <p:nvPr/>
        </p:nvSpPr>
        <p:spPr>
          <a:xfrm>
            <a:off x="4389120" y="2377440"/>
            <a:ext cx="914400" cy="365760"/>
          </a:xfrm>
          <a:prstGeom prst="rect">
            <a:avLst/>
          </a:prstGeom>
          <a:noFill/>
        </p:spPr>
        <p:txBody>
          <a:bodyPr wrap="square">
            <a:spAutoFit/>
          </a:bodyPr>
          <a:lstStyle/>
          <a:p>
            <a:pPr algn="ctr">
              <a:defRPr sz="1000">
                <a:solidFill>
                  <a:srgbClr val="000000"/>
                </a:solidFill>
                <a:latin typeface="微软雅黑"/>
              </a:defRPr>
            </a:pPr>
            <a:r>
              <a:t>方案设计</a:t>
            </a:r>
          </a:p>
        </p:txBody>
      </p:sp>
      <p:sp>
        <p:nvSpPr>
          <p:cNvPr id="17" name="Oval 16"/>
          <p:cNvSpPr/>
          <p:nvPr/>
        </p:nvSpPr>
        <p:spPr>
          <a:xfrm>
            <a:off x="690371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764792"/>
            <a:ext cx="182880" cy="228600"/>
          </a:xfrm>
          <a:prstGeom prst="rect">
            <a:avLst/>
          </a:prstGeom>
          <a:noFill/>
        </p:spPr>
        <p:txBody>
          <a:bodyPr wrap="square">
            <a:spAutoFit/>
          </a:bodyPr>
          <a:lstStyle/>
          <a:p>
            <a:pPr algn="ctr">
              <a:defRPr sz="1200" b="0">
                <a:solidFill>
                  <a:srgbClr val="FFFFFF"/>
                </a:solidFill>
                <a:latin typeface="微软雅黑"/>
              </a:defRPr>
            </a:pPr>
            <a:r>
              <a:t>4</a:t>
            </a:r>
          </a:p>
        </p:txBody>
      </p:sp>
      <p:sp>
        <p:nvSpPr>
          <p:cNvPr id="19" name="TextBox 18"/>
          <p:cNvSpPr txBox="1"/>
          <p:nvPr/>
        </p:nvSpPr>
        <p:spPr>
          <a:xfrm>
            <a:off x="6675119" y="2103120"/>
            <a:ext cx="731520" cy="274320"/>
          </a:xfrm>
          <a:prstGeom prst="rect">
            <a:avLst/>
          </a:prstGeom>
          <a:noFill/>
        </p:spPr>
        <p:txBody>
          <a:bodyPr wrap="square">
            <a:spAutoFit/>
          </a:bodyPr>
          <a:lstStyle/>
          <a:p>
            <a:pPr algn="ctr">
              <a:defRPr sz="1000" b="0">
                <a:solidFill>
                  <a:srgbClr val="000000"/>
                </a:solidFill>
                <a:latin typeface="微软雅黑"/>
              </a:defRPr>
            </a:pPr>
            <a:r>
              <a:t>W11-W16</a:t>
            </a:r>
          </a:p>
        </p:txBody>
      </p:sp>
      <p:sp>
        <p:nvSpPr>
          <p:cNvPr id="20" name="TextBox 19"/>
          <p:cNvSpPr txBox="1"/>
          <p:nvPr/>
        </p:nvSpPr>
        <p:spPr>
          <a:xfrm>
            <a:off x="6583679" y="2377440"/>
            <a:ext cx="914400" cy="365760"/>
          </a:xfrm>
          <a:prstGeom prst="rect">
            <a:avLst/>
          </a:prstGeom>
          <a:noFill/>
        </p:spPr>
        <p:txBody>
          <a:bodyPr wrap="square">
            <a:spAutoFit/>
          </a:bodyPr>
          <a:lstStyle/>
          <a:p>
            <a:pPr algn="ctr">
              <a:defRPr sz="1000">
                <a:solidFill>
                  <a:srgbClr val="000000"/>
                </a:solidFill>
                <a:latin typeface="微软雅黑"/>
              </a:defRPr>
            </a:pPr>
            <a:r>
              <a:t>系统配置</a:t>
            </a:r>
          </a:p>
        </p:txBody>
      </p:sp>
      <p:sp>
        <p:nvSpPr>
          <p:cNvPr id="21" name="Oval 20"/>
          <p:cNvSpPr/>
          <p:nvPr/>
        </p:nvSpPr>
        <p:spPr>
          <a:xfrm>
            <a:off x="909828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764792"/>
            <a:ext cx="182880" cy="228600"/>
          </a:xfrm>
          <a:prstGeom prst="rect">
            <a:avLst/>
          </a:prstGeom>
          <a:noFill/>
        </p:spPr>
        <p:txBody>
          <a:bodyPr wrap="square">
            <a:spAutoFit/>
          </a:bodyPr>
          <a:lstStyle/>
          <a:p>
            <a:pPr algn="ctr">
              <a:defRPr sz="1200" b="0">
                <a:solidFill>
                  <a:srgbClr val="FFFFFF"/>
                </a:solidFill>
                <a:latin typeface="微软雅黑"/>
              </a:defRPr>
            </a:pPr>
            <a:r>
              <a:t>5</a:t>
            </a:r>
          </a:p>
        </p:txBody>
      </p:sp>
      <p:sp>
        <p:nvSpPr>
          <p:cNvPr id="23" name="TextBox 22"/>
          <p:cNvSpPr txBox="1"/>
          <p:nvPr/>
        </p:nvSpPr>
        <p:spPr>
          <a:xfrm>
            <a:off x="8869680" y="2103120"/>
            <a:ext cx="731520" cy="274320"/>
          </a:xfrm>
          <a:prstGeom prst="rect">
            <a:avLst/>
          </a:prstGeom>
          <a:noFill/>
        </p:spPr>
        <p:txBody>
          <a:bodyPr wrap="square">
            <a:spAutoFit/>
          </a:bodyPr>
          <a:lstStyle/>
          <a:p>
            <a:pPr algn="ctr">
              <a:defRPr sz="1000" b="0">
                <a:solidFill>
                  <a:srgbClr val="000000"/>
                </a:solidFill>
                <a:latin typeface="微软雅黑"/>
              </a:defRPr>
            </a:pPr>
            <a:r>
              <a:t>W17-W20</a:t>
            </a:r>
          </a:p>
        </p:txBody>
      </p:sp>
      <p:sp>
        <p:nvSpPr>
          <p:cNvPr id="24" name="TextBox 23"/>
          <p:cNvSpPr txBox="1"/>
          <p:nvPr/>
        </p:nvSpPr>
        <p:spPr>
          <a:xfrm>
            <a:off x="8778240" y="2377440"/>
            <a:ext cx="914400" cy="365760"/>
          </a:xfrm>
          <a:prstGeom prst="rect">
            <a:avLst/>
          </a:prstGeom>
          <a:noFill/>
        </p:spPr>
        <p:txBody>
          <a:bodyPr wrap="square">
            <a:spAutoFit/>
          </a:bodyPr>
          <a:lstStyle/>
          <a:p>
            <a:pPr algn="ctr">
              <a:defRPr sz="1000">
                <a:solidFill>
                  <a:srgbClr val="000000"/>
                </a:solidFill>
                <a:latin typeface="微软雅黑"/>
              </a:defRPr>
            </a:pPr>
            <a:r>
              <a:t>用户测试</a:t>
            </a:r>
          </a:p>
        </p:txBody>
      </p:sp>
      <p:sp>
        <p:nvSpPr>
          <p:cNvPr id="25" name="Oval 24"/>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38560" y="1764792"/>
            <a:ext cx="182880" cy="228600"/>
          </a:xfrm>
          <a:prstGeom prst="rect">
            <a:avLst/>
          </a:prstGeom>
          <a:noFill/>
        </p:spPr>
        <p:txBody>
          <a:bodyPr wrap="square">
            <a:spAutoFit/>
          </a:bodyPr>
          <a:lstStyle/>
          <a:p>
            <a:pPr algn="ctr">
              <a:defRPr sz="1200" b="0">
                <a:solidFill>
                  <a:srgbClr val="FFFFFF"/>
                </a:solidFill>
                <a:latin typeface="微软雅黑"/>
              </a:defRPr>
            </a:pPr>
            <a:r>
              <a:t>6</a:t>
            </a:r>
          </a:p>
        </p:txBody>
      </p:sp>
      <p:sp>
        <p:nvSpPr>
          <p:cNvPr id="27" name="TextBox 26"/>
          <p:cNvSpPr txBox="1"/>
          <p:nvPr/>
        </p:nvSpPr>
        <p:spPr>
          <a:xfrm>
            <a:off x="11064240" y="2103120"/>
            <a:ext cx="731520" cy="274320"/>
          </a:xfrm>
          <a:prstGeom prst="rect">
            <a:avLst/>
          </a:prstGeom>
          <a:noFill/>
        </p:spPr>
        <p:txBody>
          <a:bodyPr wrap="square">
            <a:spAutoFit/>
          </a:bodyPr>
          <a:lstStyle/>
          <a:p>
            <a:pPr algn="ctr">
              <a:defRPr sz="1000" b="0">
                <a:solidFill>
                  <a:srgbClr val="000000"/>
                </a:solidFill>
                <a:latin typeface="微软雅黑"/>
              </a:defRPr>
            </a:pPr>
            <a:r>
              <a:t>W21-W22</a:t>
            </a:r>
          </a:p>
        </p:txBody>
      </p:sp>
      <p:sp>
        <p:nvSpPr>
          <p:cNvPr id="28" name="TextBox 27"/>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上线切换</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项目团队组织</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项目领导</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项目指导委员会</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项目管理办公室</a:t>
            </a:r>
          </a:p>
        </p:txBody>
      </p:sp>
      <p:sp>
        <p:nvSpPr>
          <p:cNvPr id="7" name="Rounded Rectangle 6"/>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金蝶团队</a:t>
            </a:r>
          </a:p>
        </p:txBody>
      </p:sp>
      <p:sp>
        <p:nvSpPr>
          <p:cNvPr id="8" name="Rounded Rectangle 7"/>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项目经理</a:t>
            </a:r>
          </a:p>
        </p:txBody>
      </p:sp>
      <p:sp>
        <p:nvSpPr>
          <p:cNvPr id="9" name="Rounded Rectangle 8"/>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业务顾问</a:t>
            </a:r>
          </a:p>
        </p:txBody>
      </p:sp>
      <p:sp>
        <p:nvSpPr>
          <p:cNvPr id="10" name="Rounded Rectangle 9"/>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技术顾问</a:t>
            </a:r>
          </a:p>
        </p:txBody>
      </p:sp>
      <p:sp>
        <p:nvSpPr>
          <p:cNvPr id="11" name="Rounded Rectangle 10"/>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客户团队</a:t>
            </a:r>
          </a:p>
        </p:txBody>
      </p:sp>
      <p:sp>
        <p:nvSpPr>
          <p:cNvPr id="12" name="Rounded Rectangle 11"/>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业务负责人</a:t>
            </a:r>
          </a:p>
        </p:txBody>
      </p:sp>
      <p:sp>
        <p:nvSpPr>
          <p:cNvPr id="13" name="Rounded Rectangle 12"/>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关键用户</a:t>
            </a:r>
          </a:p>
        </p:txBody>
      </p:sp>
      <p:sp>
        <p:nvSpPr>
          <p:cNvPr id="14" name="Rounded Rectangle 13"/>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IT支持</a:t>
            </a:r>
          </a:p>
        </p:txBody>
      </p:sp>
      <p:sp>
        <p:nvSpPr>
          <p:cNvPr id="15" name="Rounded Rectangle 14"/>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支持团队</a:t>
            </a:r>
          </a:p>
        </p:txBody>
      </p:sp>
      <p:sp>
        <p:nvSpPr>
          <p:cNvPr id="16" name="Rounded Rectangle 15"/>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开发团队</a:t>
            </a:r>
          </a:p>
        </p:txBody>
      </p:sp>
      <p:sp>
        <p:nvSpPr>
          <p:cNvPr id="17" name="Rounded Rectangle 16"/>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测试团队</a:t>
            </a:r>
          </a:p>
        </p:txBody>
      </p:sp>
      <p:sp>
        <p:nvSpPr>
          <p:cNvPr id="18" name="Rounded Rectangle 17"/>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运维团队</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风险管理</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需求风险</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需求变更控制</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需求确认流程</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需求文档管理</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进度风险</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里程碑管理</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进度监控</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资源协调</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质量风险</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测试管理</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质量评审</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问题跟踪</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人员风险</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知识转移</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文档管理</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备份机制</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质量保障</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需求覆盖率</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95%</a:t>
            </a:r>
            <a:r>
              <a:rPr sz="1400">
                <a:solidFill>
                  <a:srgbClr val="000000"/>
                </a:solidFill>
                <a:latin typeface="微软雅黑"/>
              </a:rPr>
              <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测试通过率</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0</a:t>
            </a:r>
            <a:r>
              <a:rPr sz="14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严重缺陷</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文档完整性</a:t>
            </a:r>
          </a:p>
        </p:txBody>
      </p:sp>
      <p:sp>
        <p:nvSpPr>
          <p:cNvPr id="16" name="TextBox 15"/>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金蝶实施团队严格执行质量管理体系，确保项目交付质量。每个阶段都有明确的验收标准和质量检查点。</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实施阶段详述</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55448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46304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0472"/>
            <a:ext cx="182880" cy="228600"/>
          </a:xfrm>
          <a:prstGeom prst="rect">
            <a:avLst/>
          </a:prstGeom>
          <a:noFill/>
        </p:spPr>
        <p:txBody>
          <a:bodyPr wrap="square">
            <a:spAutoFit/>
          </a:bodyPr>
          <a:lstStyle/>
          <a:p>
            <a:pPr algn="ctr">
              <a:defRPr sz="1200" b="0">
                <a:solidFill>
                  <a:srgbClr val="FFFFFF"/>
                </a:solidFill>
                <a:latin typeface="微软雅黑"/>
              </a:defRPr>
            </a:pPr>
            <a:r>
              <a:t>1</a:t>
            </a:r>
          </a:p>
        </p:txBody>
      </p:sp>
      <p:sp>
        <p:nvSpPr>
          <p:cNvPr id="7" name="TextBox 6"/>
          <p:cNvSpPr txBox="1"/>
          <p:nvPr/>
        </p:nvSpPr>
        <p:spPr>
          <a:xfrm>
            <a:off x="91439" y="1828800"/>
            <a:ext cx="731520" cy="274320"/>
          </a:xfrm>
          <a:prstGeom prst="rect">
            <a:avLst/>
          </a:prstGeom>
          <a:noFill/>
        </p:spPr>
        <p:txBody>
          <a:bodyPr wrap="square">
            <a:spAutoFit/>
          </a:bodyPr>
          <a:lstStyle/>
          <a:p>
            <a:pPr algn="ctr">
              <a:defRPr sz="1000" b="0">
                <a:solidFill>
                  <a:srgbClr val="000000"/>
                </a:solidFill>
                <a:latin typeface="微软雅黑"/>
              </a:defRPr>
            </a:pPr>
            <a:r>
              <a:t>启动</a:t>
            </a:r>
          </a:p>
        </p:txBody>
      </p:sp>
      <p:sp>
        <p:nvSpPr>
          <p:cNvPr id="8" name="TextBox 7"/>
          <p:cNvSpPr txBox="1"/>
          <p:nvPr/>
        </p:nvSpPr>
        <p:spPr>
          <a:xfrm>
            <a:off x="0" y="2103120"/>
            <a:ext cx="914400" cy="365760"/>
          </a:xfrm>
          <a:prstGeom prst="rect">
            <a:avLst/>
          </a:prstGeom>
          <a:noFill/>
        </p:spPr>
        <p:txBody>
          <a:bodyPr wrap="square">
            <a:spAutoFit/>
          </a:bodyPr>
          <a:lstStyle/>
          <a:p>
            <a:pPr algn="ctr">
              <a:defRPr sz="1000">
                <a:solidFill>
                  <a:srgbClr val="000000"/>
                </a:solidFill>
                <a:latin typeface="微软雅黑"/>
              </a:defRPr>
            </a:pPr>
            <a:r>
              <a:t>组建团队</a:t>
            </a:r>
            <a:br/>
            <a:r>
              <a:t>确定目标</a:t>
            </a:r>
          </a:p>
        </p:txBody>
      </p:sp>
      <p:sp>
        <p:nvSpPr>
          <p:cNvPr id="9" name="Oval 8"/>
          <p:cNvSpPr/>
          <p:nvPr/>
        </p:nvSpPr>
        <p:spPr>
          <a:xfrm>
            <a:off x="2514600" y="146304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490472"/>
            <a:ext cx="182880" cy="228600"/>
          </a:xfrm>
          <a:prstGeom prst="rect">
            <a:avLst/>
          </a:prstGeom>
          <a:noFill/>
        </p:spPr>
        <p:txBody>
          <a:bodyPr wrap="square">
            <a:spAutoFit/>
          </a:bodyPr>
          <a:lstStyle/>
          <a:p>
            <a:pPr algn="ctr">
              <a:defRPr sz="1200" b="0">
                <a:solidFill>
                  <a:srgbClr val="FFFFFF"/>
                </a:solidFill>
                <a:latin typeface="微软雅黑"/>
              </a:defRPr>
            </a:pPr>
            <a:r>
              <a:t>2</a:t>
            </a:r>
          </a:p>
        </p:txBody>
      </p:sp>
      <p:sp>
        <p:nvSpPr>
          <p:cNvPr id="11" name="TextBox 10"/>
          <p:cNvSpPr txBox="1"/>
          <p:nvPr/>
        </p:nvSpPr>
        <p:spPr>
          <a:xfrm>
            <a:off x="2286000" y="1828800"/>
            <a:ext cx="731520" cy="274320"/>
          </a:xfrm>
          <a:prstGeom prst="rect">
            <a:avLst/>
          </a:prstGeom>
          <a:noFill/>
        </p:spPr>
        <p:txBody>
          <a:bodyPr wrap="square">
            <a:spAutoFit/>
          </a:bodyPr>
          <a:lstStyle/>
          <a:p>
            <a:pPr algn="ctr">
              <a:defRPr sz="1000" b="0">
                <a:solidFill>
                  <a:srgbClr val="000000"/>
                </a:solidFill>
                <a:latin typeface="微软雅黑"/>
              </a:defRPr>
            </a:pPr>
            <a:r>
              <a:t>调研</a:t>
            </a:r>
          </a:p>
        </p:txBody>
      </p:sp>
      <p:sp>
        <p:nvSpPr>
          <p:cNvPr id="12" name="TextBox 11"/>
          <p:cNvSpPr txBox="1"/>
          <p:nvPr/>
        </p:nvSpPr>
        <p:spPr>
          <a:xfrm>
            <a:off x="2194560" y="2103120"/>
            <a:ext cx="914400" cy="365760"/>
          </a:xfrm>
          <a:prstGeom prst="rect">
            <a:avLst/>
          </a:prstGeom>
          <a:noFill/>
        </p:spPr>
        <p:txBody>
          <a:bodyPr wrap="square">
            <a:spAutoFit/>
          </a:bodyPr>
          <a:lstStyle/>
          <a:p>
            <a:pPr algn="ctr">
              <a:defRPr sz="1000">
                <a:solidFill>
                  <a:srgbClr val="000000"/>
                </a:solidFill>
                <a:latin typeface="微软雅黑"/>
              </a:defRPr>
            </a:pPr>
            <a:r>
              <a:t>需求分析</a:t>
            </a:r>
            <a:br/>
            <a:r>
              <a:t>现状诊断</a:t>
            </a:r>
          </a:p>
        </p:txBody>
      </p:sp>
      <p:sp>
        <p:nvSpPr>
          <p:cNvPr id="13" name="Oval 12"/>
          <p:cNvSpPr/>
          <p:nvPr/>
        </p:nvSpPr>
        <p:spPr>
          <a:xfrm>
            <a:off x="4709159" y="146304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490472"/>
            <a:ext cx="182880" cy="228600"/>
          </a:xfrm>
          <a:prstGeom prst="rect">
            <a:avLst/>
          </a:prstGeom>
          <a:noFill/>
        </p:spPr>
        <p:txBody>
          <a:bodyPr wrap="square">
            <a:spAutoFit/>
          </a:bodyPr>
          <a:lstStyle/>
          <a:p>
            <a:pPr algn="ctr">
              <a:defRPr sz="1200" b="0">
                <a:solidFill>
                  <a:srgbClr val="FFFFFF"/>
                </a:solidFill>
                <a:latin typeface="微软雅黑"/>
              </a:defRPr>
            </a:pPr>
            <a:r>
              <a:t>3</a:t>
            </a:r>
          </a:p>
        </p:txBody>
      </p:sp>
      <p:sp>
        <p:nvSpPr>
          <p:cNvPr id="15" name="TextBox 14"/>
          <p:cNvSpPr txBox="1"/>
          <p:nvPr/>
        </p:nvSpPr>
        <p:spPr>
          <a:xfrm>
            <a:off x="4480559" y="1828800"/>
            <a:ext cx="731520" cy="274320"/>
          </a:xfrm>
          <a:prstGeom prst="rect">
            <a:avLst/>
          </a:prstGeom>
          <a:noFill/>
        </p:spPr>
        <p:txBody>
          <a:bodyPr wrap="square">
            <a:spAutoFit/>
          </a:bodyPr>
          <a:lstStyle/>
          <a:p>
            <a:pPr algn="ctr">
              <a:defRPr sz="1000" b="0">
                <a:solidFill>
                  <a:srgbClr val="000000"/>
                </a:solidFill>
                <a:latin typeface="微软雅黑"/>
              </a:defRPr>
            </a:pPr>
            <a:r>
              <a:t>设计</a:t>
            </a:r>
          </a:p>
        </p:txBody>
      </p:sp>
      <p:sp>
        <p:nvSpPr>
          <p:cNvPr id="16" name="TextBox 15"/>
          <p:cNvSpPr txBox="1"/>
          <p:nvPr/>
        </p:nvSpPr>
        <p:spPr>
          <a:xfrm>
            <a:off x="4389120" y="2103120"/>
            <a:ext cx="914400" cy="365760"/>
          </a:xfrm>
          <a:prstGeom prst="rect">
            <a:avLst/>
          </a:prstGeom>
          <a:noFill/>
        </p:spPr>
        <p:txBody>
          <a:bodyPr wrap="square">
            <a:spAutoFit/>
          </a:bodyPr>
          <a:lstStyle/>
          <a:p>
            <a:pPr algn="ctr">
              <a:defRPr sz="1000">
                <a:solidFill>
                  <a:srgbClr val="000000"/>
                </a:solidFill>
                <a:latin typeface="微软雅黑"/>
              </a:defRPr>
            </a:pPr>
            <a:r>
              <a:t>蓝图设计</a:t>
            </a:r>
            <a:br/>
            <a:r>
              <a:t>方案确认</a:t>
            </a:r>
          </a:p>
        </p:txBody>
      </p:sp>
      <p:sp>
        <p:nvSpPr>
          <p:cNvPr id="17" name="Oval 16"/>
          <p:cNvSpPr/>
          <p:nvPr/>
        </p:nvSpPr>
        <p:spPr>
          <a:xfrm>
            <a:off x="6903719" y="146304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490472"/>
            <a:ext cx="182880" cy="228600"/>
          </a:xfrm>
          <a:prstGeom prst="rect">
            <a:avLst/>
          </a:prstGeom>
          <a:noFill/>
        </p:spPr>
        <p:txBody>
          <a:bodyPr wrap="square">
            <a:spAutoFit/>
          </a:bodyPr>
          <a:lstStyle/>
          <a:p>
            <a:pPr algn="ctr">
              <a:defRPr sz="1200" b="0">
                <a:solidFill>
                  <a:srgbClr val="FFFFFF"/>
                </a:solidFill>
                <a:latin typeface="微软雅黑"/>
              </a:defRPr>
            </a:pPr>
            <a:r>
              <a:t>4</a:t>
            </a:r>
          </a:p>
        </p:txBody>
      </p:sp>
      <p:sp>
        <p:nvSpPr>
          <p:cNvPr id="19" name="TextBox 18"/>
          <p:cNvSpPr txBox="1"/>
          <p:nvPr/>
        </p:nvSpPr>
        <p:spPr>
          <a:xfrm>
            <a:off x="6675119" y="1828800"/>
            <a:ext cx="731520" cy="274320"/>
          </a:xfrm>
          <a:prstGeom prst="rect">
            <a:avLst/>
          </a:prstGeom>
          <a:noFill/>
        </p:spPr>
        <p:txBody>
          <a:bodyPr wrap="square">
            <a:spAutoFit/>
          </a:bodyPr>
          <a:lstStyle/>
          <a:p>
            <a:pPr algn="ctr">
              <a:defRPr sz="1000" b="0">
                <a:solidFill>
                  <a:srgbClr val="000000"/>
                </a:solidFill>
                <a:latin typeface="微软雅黑"/>
              </a:defRPr>
            </a:pPr>
            <a:r>
              <a:t>配置</a:t>
            </a:r>
          </a:p>
        </p:txBody>
      </p:sp>
      <p:sp>
        <p:nvSpPr>
          <p:cNvPr id="20" name="TextBox 19"/>
          <p:cNvSpPr txBox="1"/>
          <p:nvPr/>
        </p:nvSpPr>
        <p:spPr>
          <a:xfrm>
            <a:off x="6583679" y="2103120"/>
            <a:ext cx="914400" cy="365760"/>
          </a:xfrm>
          <a:prstGeom prst="rect">
            <a:avLst/>
          </a:prstGeom>
          <a:noFill/>
        </p:spPr>
        <p:txBody>
          <a:bodyPr wrap="square">
            <a:spAutoFit/>
          </a:bodyPr>
          <a:lstStyle/>
          <a:p>
            <a:pPr algn="ctr">
              <a:defRPr sz="1000">
                <a:solidFill>
                  <a:srgbClr val="000000"/>
                </a:solidFill>
                <a:latin typeface="微软雅黑"/>
              </a:defRPr>
            </a:pPr>
            <a:r>
              <a:t>系统配置</a:t>
            </a:r>
            <a:br/>
            <a:r>
              <a:t>数据准备</a:t>
            </a:r>
          </a:p>
        </p:txBody>
      </p:sp>
      <p:sp>
        <p:nvSpPr>
          <p:cNvPr id="21" name="Oval 20"/>
          <p:cNvSpPr/>
          <p:nvPr/>
        </p:nvSpPr>
        <p:spPr>
          <a:xfrm>
            <a:off x="9098280" y="146304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490472"/>
            <a:ext cx="182880" cy="228600"/>
          </a:xfrm>
          <a:prstGeom prst="rect">
            <a:avLst/>
          </a:prstGeom>
          <a:noFill/>
        </p:spPr>
        <p:txBody>
          <a:bodyPr wrap="square">
            <a:spAutoFit/>
          </a:bodyPr>
          <a:lstStyle/>
          <a:p>
            <a:pPr algn="ctr">
              <a:defRPr sz="1200" b="0">
                <a:solidFill>
                  <a:srgbClr val="FFFFFF"/>
                </a:solidFill>
                <a:latin typeface="微软雅黑"/>
              </a:defRPr>
            </a:pPr>
            <a:r>
              <a:t>5</a:t>
            </a:r>
          </a:p>
        </p:txBody>
      </p:sp>
      <p:sp>
        <p:nvSpPr>
          <p:cNvPr id="23" name="TextBox 22"/>
          <p:cNvSpPr txBox="1"/>
          <p:nvPr/>
        </p:nvSpPr>
        <p:spPr>
          <a:xfrm>
            <a:off x="8869680" y="1828800"/>
            <a:ext cx="731520" cy="274320"/>
          </a:xfrm>
          <a:prstGeom prst="rect">
            <a:avLst/>
          </a:prstGeom>
          <a:noFill/>
        </p:spPr>
        <p:txBody>
          <a:bodyPr wrap="square">
            <a:spAutoFit/>
          </a:bodyPr>
          <a:lstStyle/>
          <a:p>
            <a:pPr algn="ctr">
              <a:defRPr sz="1000" b="0">
                <a:solidFill>
                  <a:srgbClr val="000000"/>
                </a:solidFill>
                <a:latin typeface="微软雅黑"/>
              </a:defRPr>
            </a:pPr>
            <a:r>
              <a:t>测试</a:t>
            </a:r>
          </a:p>
        </p:txBody>
      </p:sp>
      <p:sp>
        <p:nvSpPr>
          <p:cNvPr id="24" name="TextBox 23"/>
          <p:cNvSpPr txBox="1"/>
          <p:nvPr/>
        </p:nvSpPr>
        <p:spPr>
          <a:xfrm>
            <a:off x="8778240" y="2103120"/>
            <a:ext cx="914400" cy="365760"/>
          </a:xfrm>
          <a:prstGeom prst="rect">
            <a:avLst/>
          </a:prstGeom>
          <a:noFill/>
        </p:spPr>
        <p:txBody>
          <a:bodyPr wrap="square">
            <a:spAutoFit/>
          </a:bodyPr>
          <a:lstStyle/>
          <a:p>
            <a:pPr algn="ctr">
              <a:defRPr sz="1000">
                <a:solidFill>
                  <a:srgbClr val="000000"/>
                </a:solidFill>
                <a:latin typeface="微软雅黑"/>
              </a:defRPr>
            </a:pPr>
            <a:r>
              <a:t>UAT测试</a:t>
            </a:r>
            <a:br/>
            <a:r>
              <a:t>用户培训</a:t>
            </a:r>
          </a:p>
        </p:txBody>
      </p:sp>
      <p:sp>
        <p:nvSpPr>
          <p:cNvPr id="25" name="Oval 24"/>
          <p:cNvSpPr/>
          <p:nvPr/>
        </p:nvSpPr>
        <p:spPr>
          <a:xfrm>
            <a:off x="11292840" y="146304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38560" y="1490472"/>
            <a:ext cx="182880" cy="228600"/>
          </a:xfrm>
          <a:prstGeom prst="rect">
            <a:avLst/>
          </a:prstGeom>
          <a:noFill/>
        </p:spPr>
        <p:txBody>
          <a:bodyPr wrap="square">
            <a:spAutoFit/>
          </a:bodyPr>
          <a:lstStyle/>
          <a:p>
            <a:pPr algn="ctr">
              <a:defRPr sz="1200" b="0">
                <a:solidFill>
                  <a:srgbClr val="FFFFFF"/>
                </a:solidFill>
                <a:latin typeface="微软雅黑"/>
              </a:defRPr>
            </a:pPr>
            <a:r>
              <a:t>6</a:t>
            </a:r>
          </a:p>
        </p:txBody>
      </p:sp>
      <p:sp>
        <p:nvSpPr>
          <p:cNvPr id="27" name="TextBox 26"/>
          <p:cNvSpPr txBox="1"/>
          <p:nvPr/>
        </p:nvSpPr>
        <p:spPr>
          <a:xfrm>
            <a:off x="11064240" y="1828800"/>
            <a:ext cx="731520" cy="274320"/>
          </a:xfrm>
          <a:prstGeom prst="rect">
            <a:avLst/>
          </a:prstGeom>
          <a:noFill/>
        </p:spPr>
        <p:txBody>
          <a:bodyPr wrap="square">
            <a:spAutoFit/>
          </a:bodyPr>
          <a:lstStyle/>
          <a:p>
            <a:pPr algn="ctr">
              <a:defRPr sz="1000" b="0">
                <a:solidFill>
                  <a:srgbClr val="000000"/>
                </a:solidFill>
                <a:latin typeface="微软雅黑"/>
              </a:defRPr>
            </a:pPr>
            <a:r>
              <a:t>上线</a:t>
            </a:r>
          </a:p>
        </p:txBody>
      </p:sp>
      <p:sp>
        <p:nvSpPr>
          <p:cNvPr id="28" name="TextBox 27"/>
          <p:cNvSpPr txBox="1"/>
          <p:nvPr/>
        </p:nvSpPr>
        <p:spPr>
          <a:xfrm>
            <a:off x="10972800" y="2103120"/>
            <a:ext cx="914400" cy="365760"/>
          </a:xfrm>
          <a:prstGeom prst="rect">
            <a:avLst/>
          </a:prstGeom>
          <a:noFill/>
        </p:spPr>
        <p:txBody>
          <a:bodyPr wrap="square">
            <a:spAutoFit/>
          </a:bodyPr>
          <a:lstStyle/>
          <a:p>
            <a:pPr algn="ctr">
              <a:defRPr sz="1000">
                <a:solidFill>
                  <a:srgbClr val="000000"/>
                </a:solidFill>
                <a:latin typeface="微软雅黑"/>
              </a:defRPr>
            </a:pPr>
            <a:r>
              <a:t>系统切换</a:t>
            </a:r>
            <a:br/>
            <a:r>
              <a:t>运维保障</a:t>
            </a:r>
          </a:p>
        </p:txBody>
      </p:sp>
      <p:sp>
        <p:nvSpPr>
          <p:cNvPr id="29" name="TextBox 28"/>
          <p:cNvSpPr txBox="1"/>
          <p:nvPr/>
        </p:nvSpPr>
        <p:spPr>
          <a:xfrm>
            <a:off x="457200" y="3200400"/>
            <a:ext cx="10972800" cy="1371600"/>
          </a:xfrm>
          <a:prstGeom prst="rect">
            <a:avLst/>
          </a:prstGeom>
          <a:noFill/>
        </p:spPr>
        <p:txBody>
          <a:bodyPr wrap="square">
            <a:spAutoFit/>
          </a:bodyPr>
          <a:lstStyle/>
          <a:p>
            <a:pPr algn="l">
              <a:defRPr sz="1200" b="0">
                <a:solidFill>
                  <a:srgbClr val="000000"/>
                </a:solidFill>
                <a:latin typeface="微软雅黑"/>
              </a:defRPr>
            </a:pPr>
            <a:r>
              <a:t>金蝶实施方法论（Kingdee Way）采用六阶段实施模式，确保项目成功交付。每个阶段都有明确的里程碑和交付物，全程可控可追溯。</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项目交付物</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调研阶段</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调研报告</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需求清单</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现状分析</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设计阶段</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业务蓝图</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技术方案</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接口设计</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配置阶段</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系统配置</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测试用例</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操作手册</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上线阶段</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培训记录</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验收报告</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运维手册</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square">
            <a:spAutoFit/>
          </a:bodyPr>
          <a:lstStyle/>
          <a:p>
            <a:pPr algn="l">
              <a:defRPr sz="7200" b="1">
                <a:solidFill>
                  <a:srgbClr val="0886EC"/>
                </a:solidFill>
                <a:latin typeface="微软雅黑"/>
              </a:defRPr>
            </a:pPr>
            <a:r>
              <a:t>05</a:t>
            </a:r>
          </a:p>
        </p:txBody>
      </p:sp>
      <p:sp>
        <p:nvSpPr>
          <p:cNvPr id="21" name="TextBox 20"/>
          <p:cNvSpPr txBox="1"/>
          <p:nvPr/>
        </p:nvSpPr>
        <p:spPr>
          <a:xfrm>
            <a:off x="2286000" y="2560320"/>
            <a:ext cx="8229600" cy="914400"/>
          </a:xfrm>
          <a:prstGeom prst="rect">
            <a:avLst/>
          </a:prstGeom>
          <a:noFill/>
        </p:spPr>
        <p:txBody>
          <a:bodyPr wrap="square">
            <a:spAutoFit/>
          </a:bodyPr>
          <a:lstStyle/>
          <a:p>
            <a:pPr algn="l">
              <a:defRPr sz="3600" b="1">
                <a:solidFill>
                  <a:srgbClr val="003F56"/>
                </a:solidFill>
                <a:latin typeface="微软雅黑"/>
              </a:defRPr>
            </a:pPr>
            <a:r>
              <a:t>成功案例</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行业标杆客户</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制造业</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三一重工</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美的集团</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海信集团</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零售业</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永辉超市</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屈臣氏</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名创优品</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金融业</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招商银行</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太平洋保险</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华泰证券</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服务业</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万科物业</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新东方</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华大基因</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典型案例 - 制造业ERP替代</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188720"/>
            <a:ext cx="10972800" cy="731520"/>
          </a:xfrm>
          <a:prstGeom prst="rect">
            <a:avLst/>
          </a:prstGeom>
          <a:noFill/>
        </p:spPr>
        <p:txBody>
          <a:bodyPr wrap="square">
            <a:spAutoFit/>
          </a:bodyPr>
          <a:lstStyle/>
          <a:p>
            <a:pPr algn="l">
              <a:defRPr sz="1400" b="0">
                <a:solidFill>
                  <a:srgbClr val="000000"/>
                </a:solidFill>
                <a:latin typeface="微软雅黑"/>
              </a:defRPr>
            </a:pPr>
            <a:r>
              <a:t>项目背景：某大型制造企业，原有SAP系统老化，需要替换升级，同时实现国产化替代。</a:t>
            </a:r>
          </a:p>
        </p:txBody>
      </p:sp>
      <p:sp>
        <p:nvSpPr>
          <p:cNvPr id="5" name="Rounded Rectangle 4"/>
          <p:cNvSpPr/>
          <p:nvPr/>
        </p:nvSpPr>
        <p:spPr>
          <a:xfrm>
            <a:off x="457200"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2377439" cy="457200"/>
          </a:xfrm>
          <a:prstGeom prst="rect">
            <a:avLst/>
          </a:prstGeom>
          <a:noFill/>
        </p:spPr>
        <p:txBody>
          <a:bodyPr wrap="none">
            <a:spAutoFit/>
          </a:bodyPr>
          <a:lstStyle/>
          <a:p>
            <a:r>
              <a:rPr sz="2800" b="1">
                <a:solidFill>
                  <a:srgbClr val="0886EC"/>
                </a:solidFill>
                <a:latin typeface="微软雅黑"/>
              </a:rPr>
              <a:t>12</a:t>
            </a:r>
            <a:r>
              <a:rPr sz="1400">
                <a:solidFill>
                  <a:srgbClr val="000000"/>
                </a:solidFill>
                <a:latin typeface="微软雅黑"/>
              </a:rPr>
              <a:t>个月</a:t>
            </a:r>
          </a:p>
        </p:txBody>
      </p:sp>
      <p:sp>
        <p:nvSpPr>
          <p:cNvPr id="7" name="TextBox 6"/>
          <p:cNvSpPr txBox="1"/>
          <p:nvPr/>
        </p:nvSpPr>
        <p:spPr>
          <a:xfrm>
            <a:off x="548640" y="2788920"/>
            <a:ext cx="2377439" cy="274320"/>
          </a:xfrm>
          <a:prstGeom prst="rect">
            <a:avLst/>
          </a:prstGeom>
          <a:noFill/>
        </p:spPr>
        <p:txBody>
          <a:bodyPr wrap="none">
            <a:spAutoFit/>
          </a:bodyPr>
          <a:lstStyle/>
          <a:p>
            <a:pPr algn="ctr">
              <a:defRPr sz="1200">
                <a:solidFill>
                  <a:srgbClr val="000000"/>
                </a:solidFill>
                <a:latin typeface="微软雅黑"/>
              </a:defRPr>
            </a:pPr>
            <a:r>
              <a:t>实施周期</a:t>
            </a:r>
          </a:p>
        </p:txBody>
      </p:sp>
      <p:sp>
        <p:nvSpPr>
          <p:cNvPr id="8" name="Rounded Rectangle 7"/>
          <p:cNvSpPr/>
          <p:nvPr/>
        </p:nvSpPr>
        <p:spPr>
          <a:xfrm>
            <a:off x="329183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214884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10" name="TextBox 9"/>
          <p:cNvSpPr txBox="1"/>
          <p:nvPr/>
        </p:nvSpPr>
        <p:spPr>
          <a:xfrm>
            <a:off x="3383279" y="2788920"/>
            <a:ext cx="2377439" cy="274320"/>
          </a:xfrm>
          <a:prstGeom prst="rect">
            <a:avLst/>
          </a:prstGeom>
          <a:noFill/>
        </p:spPr>
        <p:txBody>
          <a:bodyPr wrap="none">
            <a:spAutoFit/>
          </a:bodyPr>
          <a:lstStyle/>
          <a:p>
            <a:pPr algn="ctr">
              <a:defRPr sz="1200">
                <a:solidFill>
                  <a:srgbClr val="000000"/>
                </a:solidFill>
                <a:latin typeface="微软雅黑"/>
              </a:defRPr>
            </a:pPr>
            <a:r>
              <a:t>功能替代</a:t>
            </a:r>
          </a:p>
        </p:txBody>
      </p:sp>
      <p:sp>
        <p:nvSpPr>
          <p:cNvPr id="11" name="Rounded Rectangle 10"/>
          <p:cNvSpPr/>
          <p:nvPr/>
        </p:nvSpPr>
        <p:spPr>
          <a:xfrm>
            <a:off x="612647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2148840"/>
            <a:ext cx="2377439" cy="457200"/>
          </a:xfrm>
          <a:prstGeom prst="rect">
            <a:avLst/>
          </a:prstGeom>
          <a:noFill/>
        </p:spPr>
        <p:txBody>
          <a:bodyPr wrap="none">
            <a:spAutoFit/>
          </a:bodyPr>
          <a:lstStyle/>
          <a:p>
            <a:r>
              <a:rPr sz="2800" b="1">
                <a:solidFill>
                  <a:srgbClr val="0886EC"/>
                </a:solidFill>
                <a:latin typeface="微软雅黑"/>
              </a:rPr>
              <a:t>5000+</a:t>
            </a:r>
            <a:r>
              <a:rPr sz="1400">
                <a:solidFill>
                  <a:srgbClr val="000000"/>
                </a:solidFill>
                <a:latin typeface="微软雅黑"/>
              </a:rPr>
              <a:t>万</a:t>
            </a:r>
          </a:p>
        </p:txBody>
      </p:sp>
      <p:sp>
        <p:nvSpPr>
          <p:cNvPr id="13" name="TextBox 12"/>
          <p:cNvSpPr txBox="1"/>
          <p:nvPr/>
        </p:nvSpPr>
        <p:spPr>
          <a:xfrm>
            <a:off x="6217919" y="2788920"/>
            <a:ext cx="2377439" cy="274320"/>
          </a:xfrm>
          <a:prstGeom prst="rect">
            <a:avLst/>
          </a:prstGeom>
          <a:noFill/>
        </p:spPr>
        <p:txBody>
          <a:bodyPr wrap="none">
            <a:spAutoFit/>
          </a:bodyPr>
          <a:lstStyle/>
          <a:p>
            <a:pPr algn="ctr">
              <a:defRPr sz="1200">
                <a:solidFill>
                  <a:srgbClr val="000000"/>
                </a:solidFill>
                <a:latin typeface="微软雅黑"/>
              </a:defRPr>
            </a:pPr>
            <a:r>
              <a:t>投资规模</a:t>
            </a:r>
          </a:p>
        </p:txBody>
      </p:sp>
      <p:sp>
        <p:nvSpPr>
          <p:cNvPr id="14" name="Rounded Rectangle 13"/>
          <p:cNvSpPr/>
          <p:nvPr/>
        </p:nvSpPr>
        <p:spPr>
          <a:xfrm>
            <a:off x="896111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2148840"/>
            <a:ext cx="2377439" cy="457200"/>
          </a:xfrm>
          <a:prstGeom prst="rect">
            <a:avLst/>
          </a:prstGeom>
          <a:noFill/>
        </p:spPr>
        <p:txBody>
          <a:bodyPr wrap="none">
            <a:spAutoFit/>
          </a:bodyPr>
          <a:lstStyle/>
          <a:p>
            <a:r>
              <a:rPr sz="2800" b="1">
                <a:solidFill>
                  <a:srgbClr val="0886EC"/>
                </a:solidFill>
                <a:latin typeface="微软雅黑"/>
              </a:rPr>
              <a:t>99.9%</a:t>
            </a:r>
            <a:r>
              <a:rPr sz="1400">
                <a:solidFill>
                  <a:srgbClr val="000000"/>
                </a:solidFill>
                <a:latin typeface="微软雅黑"/>
              </a:rPr>
              <a:t/>
            </a:r>
          </a:p>
        </p:txBody>
      </p:sp>
      <p:sp>
        <p:nvSpPr>
          <p:cNvPr id="16" name="TextBox 15"/>
          <p:cNvSpPr txBox="1"/>
          <p:nvPr/>
        </p:nvSpPr>
        <p:spPr>
          <a:xfrm>
            <a:off x="9052559" y="278892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典型案例 - 零售业全渠道</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188720"/>
            <a:ext cx="10972800" cy="731520"/>
          </a:xfrm>
          <a:prstGeom prst="rect">
            <a:avLst/>
          </a:prstGeom>
          <a:noFill/>
        </p:spPr>
        <p:txBody>
          <a:bodyPr wrap="square">
            <a:spAutoFit/>
          </a:bodyPr>
          <a:lstStyle/>
          <a:p>
            <a:pPr algn="l">
              <a:defRPr sz="1400" b="0">
                <a:solidFill>
                  <a:srgbClr val="000000"/>
                </a:solidFill>
                <a:latin typeface="微软雅黑"/>
              </a:defRPr>
            </a:pPr>
            <a:r>
              <a:t>项目背景：某连锁零售企业，门店超过1000家，需要实现全渠道一体化管理。</a:t>
            </a:r>
          </a:p>
        </p:txBody>
      </p:sp>
      <p:sp>
        <p:nvSpPr>
          <p:cNvPr id="5" name="Rounded Rectangle 4"/>
          <p:cNvSpPr/>
          <p:nvPr/>
        </p:nvSpPr>
        <p:spPr>
          <a:xfrm>
            <a:off x="457200"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2377439" cy="457200"/>
          </a:xfrm>
          <a:prstGeom prst="rect">
            <a:avLst/>
          </a:prstGeom>
          <a:noFill/>
        </p:spPr>
        <p:txBody>
          <a:bodyPr wrap="none">
            <a:spAutoFit/>
          </a:bodyPr>
          <a:lstStyle/>
          <a:p>
            <a:r>
              <a:rPr sz="2800" b="1">
                <a:solidFill>
                  <a:srgbClr val="0886EC"/>
                </a:solidFill>
                <a:latin typeface="微软雅黑"/>
              </a:rPr>
              <a:t>1000+</a:t>
            </a:r>
            <a:r>
              <a:rPr sz="1400">
                <a:solidFill>
                  <a:srgbClr val="000000"/>
                </a:solidFill>
                <a:latin typeface="微软雅黑"/>
              </a:rPr>
              <a:t>家</a:t>
            </a:r>
          </a:p>
        </p:txBody>
      </p:sp>
      <p:sp>
        <p:nvSpPr>
          <p:cNvPr id="7" name="TextBox 6"/>
          <p:cNvSpPr txBox="1"/>
          <p:nvPr/>
        </p:nvSpPr>
        <p:spPr>
          <a:xfrm>
            <a:off x="548640" y="2788920"/>
            <a:ext cx="2377439" cy="274320"/>
          </a:xfrm>
          <a:prstGeom prst="rect">
            <a:avLst/>
          </a:prstGeom>
          <a:noFill/>
        </p:spPr>
        <p:txBody>
          <a:bodyPr wrap="none">
            <a:spAutoFit/>
          </a:bodyPr>
          <a:lstStyle/>
          <a:p>
            <a:pPr algn="ctr">
              <a:defRPr sz="1200">
                <a:solidFill>
                  <a:srgbClr val="000000"/>
                </a:solidFill>
                <a:latin typeface="微软雅黑"/>
              </a:defRPr>
            </a:pPr>
            <a:r>
              <a:t>门店覆盖</a:t>
            </a:r>
          </a:p>
        </p:txBody>
      </p:sp>
      <p:sp>
        <p:nvSpPr>
          <p:cNvPr id="8" name="Rounded Rectangle 7"/>
          <p:cNvSpPr/>
          <p:nvPr/>
        </p:nvSpPr>
        <p:spPr>
          <a:xfrm>
            <a:off x="329183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2148840"/>
            <a:ext cx="2377439" cy="457200"/>
          </a:xfrm>
          <a:prstGeom prst="rect">
            <a:avLst/>
          </a:prstGeom>
          <a:noFill/>
        </p:spPr>
        <p:txBody>
          <a:bodyPr wrap="none">
            <a:spAutoFit/>
          </a:bodyPr>
          <a:lstStyle/>
          <a:p>
            <a:r>
              <a:rPr sz="2800" b="1">
                <a:solidFill>
                  <a:srgbClr val="0886EC"/>
                </a:solidFill>
                <a:latin typeface="微软雅黑"/>
              </a:rPr>
              <a:t>8</a:t>
            </a:r>
            <a:r>
              <a:rPr sz="1400">
                <a:solidFill>
                  <a:srgbClr val="000000"/>
                </a:solidFill>
                <a:latin typeface="微软雅黑"/>
              </a:rPr>
              <a:t>个月</a:t>
            </a:r>
          </a:p>
        </p:txBody>
      </p:sp>
      <p:sp>
        <p:nvSpPr>
          <p:cNvPr id="10" name="TextBox 9"/>
          <p:cNvSpPr txBox="1"/>
          <p:nvPr/>
        </p:nvSpPr>
        <p:spPr>
          <a:xfrm>
            <a:off x="3383279" y="2788920"/>
            <a:ext cx="2377439" cy="274320"/>
          </a:xfrm>
          <a:prstGeom prst="rect">
            <a:avLst/>
          </a:prstGeom>
          <a:noFill/>
        </p:spPr>
        <p:txBody>
          <a:bodyPr wrap="none">
            <a:spAutoFit/>
          </a:bodyPr>
          <a:lstStyle/>
          <a:p>
            <a:pPr algn="ctr">
              <a:defRPr sz="1200">
                <a:solidFill>
                  <a:srgbClr val="000000"/>
                </a:solidFill>
                <a:latin typeface="微软雅黑"/>
              </a:defRPr>
            </a:pPr>
            <a:r>
              <a:t>实施周期</a:t>
            </a:r>
          </a:p>
        </p:txBody>
      </p:sp>
      <p:sp>
        <p:nvSpPr>
          <p:cNvPr id="11" name="Rounded Rectangle 10"/>
          <p:cNvSpPr/>
          <p:nvPr/>
        </p:nvSpPr>
        <p:spPr>
          <a:xfrm>
            <a:off x="612647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2148840"/>
            <a:ext cx="2377439" cy="457200"/>
          </a:xfrm>
          <a:prstGeom prst="rect">
            <a:avLst/>
          </a:prstGeom>
          <a:noFill/>
        </p:spPr>
        <p:txBody>
          <a:bodyPr wrap="none">
            <a:spAutoFit/>
          </a:bodyPr>
          <a:lstStyle/>
          <a:p>
            <a:r>
              <a:rPr sz="2800" b="1">
                <a:solidFill>
                  <a:srgbClr val="0886EC"/>
                </a:solidFill>
                <a:latin typeface="微软雅黑"/>
              </a:rPr>
              <a:t>30%</a:t>
            </a:r>
            <a:r>
              <a:rPr sz="1400">
                <a:solidFill>
                  <a:srgbClr val="000000"/>
                </a:solidFill>
                <a:latin typeface="微软雅黑"/>
              </a:rPr>
              <a:t/>
            </a:r>
          </a:p>
        </p:txBody>
      </p:sp>
      <p:sp>
        <p:nvSpPr>
          <p:cNvPr id="13" name="TextBox 12"/>
          <p:cNvSpPr txBox="1"/>
          <p:nvPr/>
        </p:nvSpPr>
        <p:spPr>
          <a:xfrm>
            <a:off x="6217919" y="2788920"/>
            <a:ext cx="2377439" cy="274320"/>
          </a:xfrm>
          <a:prstGeom prst="rect">
            <a:avLst/>
          </a:prstGeom>
          <a:noFill/>
        </p:spPr>
        <p:txBody>
          <a:bodyPr wrap="none">
            <a:spAutoFit/>
          </a:bodyPr>
          <a:lstStyle/>
          <a:p>
            <a:pPr algn="ctr">
              <a:defRPr sz="1200">
                <a:solidFill>
                  <a:srgbClr val="000000"/>
                </a:solidFill>
                <a:latin typeface="微软雅黑"/>
              </a:defRPr>
            </a:pPr>
            <a:r>
              <a:t>效率提升</a:t>
            </a:r>
          </a:p>
        </p:txBody>
      </p:sp>
      <p:sp>
        <p:nvSpPr>
          <p:cNvPr id="14" name="Rounded Rectangle 13"/>
          <p:cNvSpPr/>
          <p:nvPr/>
        </p:nvSpPr>
        <p:spPr>
          <a:xfrm>
            <a:off x="896111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2148840"/>
            <a:ext cx="2377439" cy="457200"/>
          </a:xfrm>
          <a:prstGeom prst="rect">
            <a:avLst/>
          </a:prstGeom>
          <a:noFill/>
        </p:spPr>
        <p:txBody>
          <a:bodyPr wrap="none">
            <a:spAutoFit/>
          </a:bodyPr>
          <a:lstStyle/>
          <a:p>
            <a:r>
              <a:rPr sz="2800" b="1">
                <a:solidFill>
                  <a:srgbClr val="0886EC"/>
                </a:solidFill>
                <a:latin typeface="微软雅黑"/>
              </a:rPr>
              <a:t>98%</a:t>
            </a:r>
            <a:r>
              <a:rPr sz="1400">
                <a:solidFill>
                  <a:srgbClr val="000000"/>
                </a:solidFill>
                <a:latin typeface="微软雅黑"/>
              </a:rPr>
              <a:t/>
            </a:r>
          </a:p>
        </p:txBody>
      </p:sp>
      <p:sp>
        <p:nvSpPr>
          <p:cNvPr id="16" name="TextBox 15"/>
          <p:cNvSpPr txBox="1"/>
          <p:nvPr/>
        </p:nvSpPr>
        <p:spPr>
          <a:xfrm>
            <a:off x="9052559" y="2788920"/>
            <a:ext cx="2377439" cy="274320"/>
          </a:xfrm>
          <a:prstGeom prst="rect">
            <a:avLst/>
          </a:prstGeom>
          <a:noFill/>
        </p:spPr>
        <p:txBody>
          <a:bodyPr wrap="none">
            <a:spAutoFit/>
          </a:bodyPr>
          <a:lstStyle/>
          <a:p>
            <a:pPr algn="ctr">
              <a:defRPr sz="1200">
                <a:solidFill>
                  <a:srgbClr val="000000"/>
                </a:solidFill>
                <a:latin typeface="微软雅黑"/>
              </a:defRPr>
            </a:pPr>
            <a:r>
              <a:t>客户满意度</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典型案例 - 金融业财务共享</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188720"/>
            <a:ext cx="10972800" cy="731520"/>
          </a:xfrm>
          <a:prstGeom prst="rect">
            <a:avLst/>
          </a:prstGeom>
          <a:noFill/>
        </p:spPr>
        <p:txBody>
          <a:bodyPr wrap="square">
            <a:spAutoFit/>
          </a:bodyPr>
          <a:lstStyle/>
          <a:p>
            <a:pPr algn="l">
              <a:defRPr sz="1400" b="0">
                <a:solidFill>
                  <a:srgbClr val="000000"/>
                </a:solidFill>
                <a:latin typeface="微软雅黑"/>
              </a:defRPr>
            </a:pPr>
            <a:r>
              <a:t>项目背景：某金融企业，需要构建统一财务平台，实现集团财务集中管控。</a:t>
            </a:r>
          </a:p>
        </p:txBody>
      </p:sp>
      <p:sp>
        <p:nvSpPr>
          <p:cNvPr id="5" name="Rounded Rectangle 4"/>
          <p:cNvSpPr/>
          <p:nvPr/>
        </p:nvSpPr>
        <p:spPr>
          <a:xfrm>
            <a:off x="457200"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2377439" cy="457200"/>
          </a:xfrm>
          <a:prstGeom prst="rect">
            <a:avLst/>
          </a:prstGeom>
          <a:noFill/>
        </p:spPr>
        <p:txBody>
          <a:bodyPr wrap="none">
            <a:spAutoFit/>
          </a:bodyPr>
          <a:lstStyle/>
          <a:p>
            <a:r>
              <a:rPr sz="2800" b="1">
                <a:solidFill>
                  <a:srgbClr val="0886EC"/>
                </a:solidFill>
                <a:latin typeface="微软雅黑"/>
              </a:rPr>
              <a:t>50+</a:t>
            </a:r>
            <a:r>
              <a:rPr sz="1400">
                <a:solidFill>
                  <a:srgbClr val="000000"/>
                </a:solidFill>
                <a:latin typeface="微软雅黑"/>
              </a:rPr>
              <a:t>家</a:t>
            </a:r>
          </a:p>
        </p:txBody>
      </p:sp>
      <p:sp>
        <p:nvSpPr>
          <p:cNvPr id="7" name="TextBox 6"/>
          <p:cNvSpPr txBox="1"/>
          <p:nvPr/>
        </p:nvSpPr>
        <p:spPr>
          <a:xfrm>
            <a:off x="548640" y="2788920"/>
            <a:ext cx="2377439" cy="274320"/>
          </a:xfrm>
          <a:prstGeom prst="rect">
            <a:avLst/>
          </a:prstGeom>
          <a:noFill/>
        </p:spPr>
        <p:txBody>
          <a:bodyPr wrap="none">
            <a:spAutoFit/>
          </a:bodyPr>
          <a:lstStyle/>
          <a:p>
            <a:pPr algn="ctr">
              <a:defRPr sz="1200">
                <a:solidFill>
                  <a:srgbClr val="000000"/>
                </a:solidFill>
                <a:latin typeface="微软雅黑"/>
              </a:defRPr>
            </a:pPr>
            <a:r>
              <a:t>分子公司</a:t>
            </a:r>
          </a:p>
        </p:txBody>
      </p:sp>
      <p:sp>
        <p:nvSpPr>
          <p:cNvPr id="8" name="Rounded Rectangle 7"/>
          <p:cNvSpPr/>
          <p:nvPr/>
        </p:nvSpPr>
        <p:spPr>
          <a:xfrm>
            <a:off x="329183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2148840"/>
            <a:ext cx="2377439" cy="457200"/>
          </a:xfrm>
          <a:prstGeom prst="rect">
            <a:avLst/>
          </a:prstGeom>
          <a:noFill/>
        </p:spPr>
        <p:txBody>
          <a:bodyPr wrap="none">
            <a:spAutoFit/>
          </a:bodyPr>
          <a:lstStyle/>
          <a:p>
            <a:r>
              <a:rPr sz="2800" b="1">
                <a:solidFill>
                  <a:srgbClr val="0886EC"/>
                </a:solidFill>
                <a:latin typeface="微软雅黑"/>
              </a:rPr>
              <a:t>6</a:t>
            </a:r>
            <a:r>
              <a:rPr sz="1400">
                <a:solidFill>
                  <a:srgbClr val="000000"/>
                </a:solidFill>
                <a:latin typeface="微软雅黑"/>
              </a:rPr>
              <a:t>个月</a:t>
            </a:r>
          </a:p>
        </p:txBody>
      </p:sp>
      <p:sp>
        <p:nvSpPr>
          <p:cNvPr id="10" name="TextBox 9"/>
          <p:cNvSpPr txBox="1"/>
          <p:nvPr/>
        </p:nvSpPr>
        <p:spPr>
          <a:xfrm>
            <a:off x="3383279" y="2788920"/>
            <a:ext cx="2377439" cy="274320"/>
          </a:xfrm>
          <a:prstGeom prst="rect">
            <a:avLst/>
          </a:prstGeom>
          <a:noFill/>
        </p:spPr>
        <p:txBody>
          <a:bodyPr wrap="none">
            <a:spAutoFit/>
          </a:bodyPr>
          <a:lstStyle/>
          <a:p>
            <a:pPr algn="ctr">
              <a:defRPr sz="1200">
                <a:solidFill>
                  <a:srgbClr val="000000"/>
                </a:solidFill>
                <a:latin typeface="微软雅黑"/>
              </a:defRPr>
            </a:pPr>
            <a:r>
              <a:t>实施周期</a:t>
            </a:r>
          </a:p>
        </p:txBody>
      </p:sp>
      <p:sp>
        <p:nvSpPr>
          <p:cNvPr id="11" name="Rounded Rectangle 10"/>
          <p:cNvSpPr/>
          <p:nvPr/>
        </p:nvSpPr>
        <p:spPr>
          <a:xfrm>
            <a:off x="612647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2148840"/>
            <a:ext cx="2377439" cy="457200"/>
          </a:xfrm>
          <a:prstGeom prst="rect">
            <a:avLst/>
          </a:prstGeom>
          <a:noFill/>
        </p:spPr>
        <p:txBody>
          <a:bodyPr wrap="none">
            <a:spAutoFit/>
          </a:bodyPr>
          <a:lstStyle/>
          <a:p>
            <a:r>
              <a:rPr sz="2800" b="1">
                <a:solidFill>
                  <a:srgbClr val="0886EC"/>
                </a:solidFill>
                <a:latin typeface="微软雅黑"/>
              </a:rPr>
              <a:t>50%</a:t>
            </a:r>
            <a:r>
              <a:rPr sz="1400">
                <a:solidFill>
                  <a:srgbClr val="000000"/>
                </a:solidFill>
                <a:latin typeface="微软雅黑"/>
              </a:rPr>
              <a:t/>
            </a:r>
          </a:p>
        </p:txBody>
      </p:sp>
      <p:sp>
        <p:nvSpPr>
          <p:cNvPr id="13" name="TextBox 12"/>
          <p:cNvSpPr txBox="1"/>
          <p:nvPr/>
        </p:nvSpPr>
        <p:spPr>
          <a:xfrm>
            <a:off x="6217919" y="2788920"/>
            <a:ext cx="2377439" cy="274320"/>
          </a:xfrm>
          <a:prstGeom prst="rect">
            <a:avLst/>
          </a:prstGeom>
          <a:noFill/>
        </p:spPr>
        <p:txBody>
          <a:bodyPr wrap="none">
            <a:spAutoFit/>
          </a:bodyPr>
          <a:lstStyle/>
          <a:p>
            <a:pPr algn="ctr">
              <a:defRPr sz="1200">
                <a:solidFill>
                  <a:srgbClr val="000000"/>
                </a:solidFill>
                <a:latin typeface="微软雅黑"/>
              </a:defRPr>
            </a:pPr>
            <a:r>
              <a:t>核算效率提升</a:t>
            </a:r>
          </a:p>
        </p:txBody>
      </p:sp>
      <p:sp>
        <p:nvSpPr>
          <p:cNvPr id="14" name="Rounded Rectangle 13"/>
          <p:cNvSpPr/>
          <p:nvPr/>
        </p:nvSpPr>
        <p:spPr>
          <a:xfrm>
            <a:off x="8961119" y="201168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214884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16" name="TextBox 15"/>
          <p:cNvSpPr txBox="1"/>
          <p:nvPr/>
        </p:nvSpPr>
        <p:spPr>
          <a:xfrm>
            <a:off x="9052559" y="2788920"/>
            <a:ext cx="2377439" cy="274320"/>
          </a:xfrm>
          <a:prstGeom prst="rect">
            <a:avLst/>
          </a:prstGeom>
          <a:noFill/>
        </p:spPr>
        <p:txBody>
          <a:bodyPr wrap="none">
            <a:spAutoFit/>
          </a:bodyPr>
          <a:lstStyle/>
          <a:p>
            <a:pPr algn="ctr">
              <a:defRPr sz="1200">
                <a:solidFill>
                  <a:srgbClr val="000000"/>
                </a:solidFill>
                <a:latin typeface="微软雅黑"/>
              </a:defRPr>
            </a:pPr>
            <a:r>
              <a:t>合规达标</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实施效果</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客户实施效果统计</a:t>
            </a:r>
          </a:p>
        </p:txBody>
      </p:sp>
      <p:sp>
        <p:nvSpPr>
          <p:cNvPr id="5" name="Rounded Rectangle 4"/>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30%</a:t>
            </a:r>
            <a:r>
              <a:rPr sz="1400">
                <a:solidFill>
                  <a:srgbClr val="000000"/>
                </a:solidFill>
                <a:latin typeface="微软雅黑"/>
              </a:rPr>
              <a:t/>
            </a:r>
          </a:p>
        </p:txBody>
      </p:sp>
      <p:sp>
        <p:nvSpPr>
          <p:cNvPr id="7" name="TextBox 6"/>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平均效率提升</a:t>
            </a:r>
          </a:p>
        </p:txBody>
      </p:sp>
      <p:sp>
        <p:nvSpPr>
          <p:cNvPr id="8" name="Rounded Rectangle 7"/>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20%</a:t>
            </a:r>
            <a:r>
              <a:rPr sz="1400">
                <a:solidFill>
                  <a:srgbClr val="000000"/>
                </a:solidFill>
                <a:latin typeface="微软雅黑"/>
              </a:rPr>
              <a:t/>
            </a:r>
          </a:p>
        </p:txBody>
      </p:sp>
      <p:sp>
        <p:nvSpPr>
          <p:cNvPr id="10" name="TextBox 9"/>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成本降低</a:t>
            </a:r>
          </a:p>
        </p:txBody>
      </p:sp>
      <p:sp>
        <p:nvSpPr>
          <p:cNvPr id="11" name="Rounded Rectangle 10"/>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50%</a:t>
            </a:r>
            <a:r>
              <a:rPr sz="1400">
                <a:solidFill>
                  <a:srgbClr val="000000"/>
                </a:solidFill>
                <a:latin typeface="微软雅黑"/>
              </a:rPr>
              <a:t/>
            </a:r>
          </a:p>
        </p:txBody>
      </p:sp>
      <p:sp>
        <p:nvSpPr>
          <p:cNvPr id="13" name="TextBox 12"/>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决策速度提升</a:t>
            </a:r>
          </a:p>
        </p:txBody>
      </p:sp>
      <p:sp>
        <p:nvSpPr>
          <p:cNvPr id="14" name="Rounded Rectangle 13"/>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2年</a:t>
            </a:r>
            <a:r>
              <a:rPr sz="1400">
                <a:solidFill>
                  <a:srgbClr val="000000"/>
                </a:solidFill>
                <a:latin typeface="微软雅黑"/>
              </a:rPr>
              <a:t/>
            </a:r>
          </a:p>
        </p:txBody>
      </p:sp>
      <p:sp>
        <p:nvSpPr>
          <p:cNvPr id="16" name="TextBox 15"/>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平均回本周期</a:t>
            </a:r>
          </a:p>
        </p:txBody>
      </p:sp>
      <p:sp>
        <p:nvSpPr>
          <p:cNvPr id="17" name="TextBox 16"/>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基于金蝶750万+企业客户的数字化转型经验，企业通过金蝶云产品实施后，平均可实现效率提升30%，成本降低20%，投资回报周期约2年。</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客户评价</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客户评价</a:t>
            </a:r>
          </a:p>
        </p:txBody>
      </p:sp>
      <p:sp>
        <p:nvSpPr>
          <p:cNvPr id="5" name="Rounded Rectangle 4"/>
          <p:cNvSpPr/>
          <p:nvPr/>
        </p:nvSpPr>
        <p:spPr>
          <a:xfrm>
            <a:off x="457200" y="1371600"/>
            <a:ext cx="5303520" cy="13716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000000"/>
                </a:solidFill>
                <a:latin typeface="微软雅黑"/>
              </a:defRPr>
            </a:pPr>
            <a:r>
              <a:t>"金蝶系统帮助我们实现了财务业务的全面数字化，核算效率提升了50%以上。"</a:t>
            </a:r>
            <a:br/>
            <a:r>
              <a:t>——某制造企业财务总监</a:t>
            </a:r>
          </a:p>
        </p:txBody>
      </p:sp>
      <p:sp>
        <p:nvSpPr>
          <p:cNvPr id="6" name="Rounded Rectangle 5"/>
          <p:cNvSpPr/>
          <p:nvPr/>
        </p:nvSpPr>
        <p:spPr>
          <a:xfrm>
            <a:off x="457200" y="2926080"/>
            <a:ext cx="5303520" cy="13716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000000"/>
                </a:solidFill>
                <a:latin typeface="微软雅黑"/>
              </a:defRPr>
            </a:pPr>
            <a:r>
              <a:t>"供应链协同让我们从订单到交付的周期缩短了40%，库存周转率提升了25%。"</a:t>
            </a:r>
            <a:br/>
            <a:r>
              <a:t>——某零售企业运营总监</a:t>
            </a:r>
          </a:p>
        </p:txBody>
      </p:sp>
      <p:sp>
        <p:nvSpPr>
          <p:cNvPr id="7" name="Rounded Rectangle 6"/>
          <p:cNvSpPr/>
          <p:nvPr/>
        </p:nvSpPr>
        <p:spPr>
          <a:xfrm>
            <a:off x="6035040" y="1371600"/>
            <a:ext cx="5303520" cy="13716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000000"/>
                </a:solidFill>
                <a:latin typeface="微软雅黑"/>
              </a:defRPr>
            </a:pPr>
            <a:r>
              <a:t>"金蝶的实施团队非常专业，项目按期上线，没有任何重大问题。"</a:t>
            </a:r>
            <a:br/>
            <a:r>
              <a:t>——某金融企业IT总监</a:t>
            </a:r>
          </a:p>
        </p:txBody>
      </p:sp>
      <p:sp>
        <p:nvSpPr>
          <p:cNvPr id="8" name="Rounded Rectangle 7"/>
          <p:cNvSpPr/>
          <p:nvPr/>
        </p:nvSpPr>
        <p:spPr>
          <a:xfrm>
            <a:off x="6035040" y="2926080"/>
            <a:ext cx="5303520" cy="13716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000000"/>
                </a:solidFill>
                <a:latin typeface="微软雅黑"/>
              </a:defRPr>
            </a:pPr>
            <a:r>
              <a:t>"数据分析平台让我们的决策更加科学，报表生成时间从3天缩短到3分钟。"</a:t>
            </a:r>
            <a:br/>
            <a:r>
              <a:t>——某服务企业总经理</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投资回报分析</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投资回报分析</a:t>
            </a:r>
          </a:p>
        </p:txBody>
      </p:sp>
      <p:sp>
        <p:nvSpPr>
          <p:cNvPr id="5" name="Rounded Rectangle 4"/>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第1年</a:t>
            </a:r>
            <a:r>
              <a:rPr sz="1400">
                <a:solidFill>
                  <a:srgbClr val="000000"/>
                </a:solidFill>
                <a:latin typeface="微软雅黑"/>
              </a:rPr>
              <a:t/>
            </a:r>
          </a:p>
        </p:txBody>
      </p:sp>
      <p:sp>
        <p:nvSpPr>
          <p:cNvPr id="7" name="TextBox 6"/>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投入期</a:t>
            </a:r>
          </a:p>
        </p:txBody>
      </p:sp>
      <p:sp>
        <p:nvSpPr>
          <p:cNvPr id="8" name="Rounded Rectangle 7"/>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第2年</a:t>
            </a:r>
            <a:r>
              <a:rPr sz="1400">
                <a:solidFill>
                  <a:srgbClr val="000000"/>
                </a:solidFill>
                <a:latin typeface="微软雅黑"/>
              </a:rPr>
              <a:t/>
            </a:r>
          </a:p>
        </p:txBody>
      </p:sp>
      <p:sp>
        <p:nvSpPr>
          <p:cNvPr id="10" name="TextBox 9"/>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收益期</a:t>
            </a:r>
          </a:p>
        </p:txBody>
      </p:sp>
      <p:sp>
        <p:nvSpPr>
          <p:cNvPr id="11" name="Rounded Rectangle 10"/>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第3年</a:t>
            </a:r>
            <a:r>
              <a:rPr sz="1400">
                <a:solidFill>
                  <a:srgbClr val="000000"/>
                </a:solidFill>
                <a:latin typeface="微软雅黑"/>
              </a:rPr>
              <a:t/>
            </a:r>
          </a:p>
        </p:txBody>
      </p:sp>
      <p:sp>
        <p:nvSpPr>
          <p:cNvPr id="13" name="TextBox 12"/>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回报期</a:t>
            </a:r>
          </a:p>
        </p:txBody>
      </p:sp>
      <p:sp>
        <p:nvSpPr>
          <p:cNvPr id="14" name="Rounded Rectangle 13"/>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300%</a:t>
            </a:r>
            <a:r>
              <a:rPr sz="1400">
                <a:solidFill>
                  <a:srgbClr val="000000"/>
                </a:solidFill>
                <a:latin typeface="微软雅黑"/>
              </a:rPr>
              <a:t/>
            </a:r>
          </a:p>
        </p:txBody>
      </p:sp>
      <p:sp>
        <p:nvSpPr>
          <p:cNvPr id="16" name="TextBox 15"/>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三年ROI</a:t>
            </a:r>
          </a:p>
        </p:txBody>
      </p:sp>
      <p:sp>
        <p:nvSpPr>
          <p:cNvPr id="17" name="TextBox 16"/>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根据我们的项目经验，企业通常在实施后第2年开始获得显著收益，第3年实现投资回报，三年累计ROI可达300%以上。</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square">
            <a:spAutoFit/>
          </a:bodyPr>
          <a:lstStyle/>
          <a:p>
            <a:pPr algn="l">
              <a:defRPr sz="7200" b="1">
                <a:solidFill>
                  <a:srgbClr val="0886EC"/>
                </a:solidFill>
                <a:latin typeface="微软雅黑"/>
              </a:defRPr>
            </a:pPr>
            <a:r>
              <a:t>06</a:t>
            </a:r>
          </a:p>
        </p:txBody>
      </p:sp>
      <p:sp>
        <p:nvSpPr>
          <p:cNvPr id="21" name="TextBox 20"/>
          <p:cNvSpPr txBox="1"/>
          <p:nvPr/>
        </p:nvSpPr>
        <p:spPr>
          <a:xfrm>
            <a:off x="2286000" y="2560320"/>
            <a:ext cx="8229600" cy="914400"/>
          </a:xfrm>
          <a:prstGeom prst="rect">
            <a:avLst/>
          </a:prstGeom>
          <a:noFill/>
        </p:spPr>
        <p:txBody>
          <a:bodyPr wrap="square">
            <a:spAutoFit/>
          </a:bodyPr>
          <a:lstStyle/>
          <a:p>
            <a:pPr algn="l">
              <a:defRPr sz="3600" b="1">
                <a:solidFill>
                  <a:srgbClr val="003F56"/>
                </a:solidFill>
                <a:latin typeface="微软雅黑"/>
              </a:defRPr>
            </a:pPr>
            <a:r>
              <a:t>服务保障</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服务体系</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实施服务</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项目实施</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培训服务</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数据迁移</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运维服务</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系统运维</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安全保障</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性能优化</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升级服务</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版本升级</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功能扩展</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二次开发</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支持服务</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7×24热线</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在线客服</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现场支持</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服务承诺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7×24</a:t>
            </a:r>
            <a:r>
              <a:rPr sz="1400">
                <a:solidFill>
                  <a:srgbClr val="000000"/>
                </a:solidFill>
                <a:latin typeface="微软雅黑"/>
              </a:rPr>
              <a:t>小时</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服务热线</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2</a:t>
            </a:r>
            <a:r>
              <a:rPr sz="1400">
                <a:solidFill>
                  <a:srgbClr val="000000"/>
                </a:solidFill>
                <a:latin typeface="微软雅黑"/>
              </a:rPr>
              <a:t>小时</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响应时间</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99.9%</a:t>
            </a:r>
            <a:r>
              <a:rPr sz="14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客户满意度</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培训服务</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管理员培训</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系统配置</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权限管理</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日常维护</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关键用户培训</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业务操作</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流程审批</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问题处理</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最终用户培训</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日常操作</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报表查询</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数据录入</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培训资料</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操作手册</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视频教程</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在线帮助</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运维服务</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日常运维</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系统监控</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故障处理</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性能优化</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安全保障</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数据备份</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安全审计</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漏洞修复</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升级服务</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版本更新</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功能扩展</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兼容升级</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技术咨询</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架构咨询</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优化建议</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技术支持</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服务网络</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200+</a:t>
            </a:r>
            <a:r>
              <a:rPr sz="1400">
                <a:solidFill>
                  <a:srgbClr val="000000"/>
                </a:solidFill>
                <a:latin typeface="微软雅黑"/>
              </a:rPr>
              <a:t>个</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服务网点</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5000+</a:t>
            </a:r>
            <a:r>
              <a:rPr sz="1400">
                <a:solidFill>
                  <a:srgbClr val="000000"/>
                </a:solidFill>
                <a:latin typeface="微软雅黑"/>
              </a:rPr>
              <a:t>人</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服务团队</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家</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生态伙伴</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全国</a:t>
            </a:r>
            <a:r>
              <a:rPr sz="14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服务覆盖</a:t>
            </a:r>
          </a:p>
        </p:txBody>
      </p:sp>
      <p:sp>
        <p:nvSpPr>
          <p:cNvPr id="16" name="TextBox 15"/>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金蝶在全国设有200+服务网点，5000+专业服务团队，100+生态合作伙伴，为客户提供全方位、本地化的服务支持。</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合作模式</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标准实施</a:t>
            </a:r>
          </a:p>
        </p:txBody>
      </p:sp>
      <p:sp>
        <p:nvSpPr>
          <p:cNvPr id="5" name="Rounded Rectangle 4"/>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固定周期</a:t>
            </a:r>
          </a:p>
        </p:txBody>
      </p:sp>
      <p:sp>
        <p:nvSpPr>
          <p:cNvPr id="6" name="Rounded Rectangle 5"/>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固定价格</a:t>
            </a:r>
          </a:p>
        </p:txBody>
      </p:sp>
      <p:sp>
        <p:nvSpPr>
          <p:cNvPr id="7" name="Rounded Rectangle 6"/>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标准交付</a:t>
            </a:r>
          </a:p>
        </p:txBody>
      </p:sp>
      <p:sp>
        <p:nvSpPr>
          <p:cNvPr id="8" name="Rounded Rectangle 7"/>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人天计费</a:t>
            </a:r>
          </a:p>
        </p:txBody>
      </p:sp>
      <p:sp>
        <p:nvSpPr>
          <p:cNvPr id="9" name="Rounded Rectangle 8"/>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按需投入</a:t>
            </a:r>
          </a:p>
        </p:txBody>
      </p:sp>
      <p:sp>
        <p:nvSpPr>
          <p:cNvPr id="10" name="Rounded Rectangle 9"/>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灵活调整</a:t>
            </a:r>
          </a:p>
        </p:txBody>
      </p:sp>
      <p:sp>
        <p:nvSpPr>
          <p:cNvPr id="11" name="Rounded Rectangle 10"/>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按实结算</a:t>
            </a:r>
          </a:p>
        </p:txBody>
      </p:sp>
      <p:sp>
        <p:nvSpPr>
          <p:cNvPr id="12" name="Rounded Rectangle 11"/>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长期合作</a:t>
            </a:r>
          </a:p>
        </p:txBody>
      </p:sp>
      <p:sp>
        <p:nvSpPr>
          <p:cNvPr id="13" name="Rounded Rectangle 12"/>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年度服务</a:t>
            </a:r>
          </a:p>
        </p:txBody>
      </p:sp>
      <p:sp>
        <p:nvSpPr>
          <p:cNvPr id="14" name="Rounded Rectangle 13"/>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持续优化</a:t>
            </a:r>
          </a:p>
        </p:txBody>
      </p:sp>
      <p:sp>
        <p:nvSpPr>
          <p:cNvPr id="15" name="Rounded Rectangle 14"/>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优惠价格</a:t>
            </a:r>
          </a:p>
        </p:txBody>
      </p:sp>
      <p:sp>
        <p:nvSpPr>
          <p:cNvPr id="16" name="Rounded Rectangle 15"/>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云服务</a:t>
            </a:r>
          </a:p>
        </p:txBody>
      </p:sp>
      <p:sp>
        <p:nvSpPr>
          <p:cNvPr id="17" name="Rounded Rectangle 16"/>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订阅付费</a:t>
            </a:r>
          </a:p>
        </p:txBody>
      </p:sp>
      <p:sp>
        <p:nvSpPr>
          <p:cNvPr id="18" name="Rounded Rectangle 17"/>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按需扩展</a:t>
            </a:r>
          </a:p>
        </p:txBody>
      </p:sp>
      <p:sp>
        <p:nvSpPr>
          <p:cNvPr id="19" name="Rounded Rectangle 18"/>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持续升级</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成功保障</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项目成功率</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95%</a:t>
            </a:r>
            <a:r>
              <a:rPr sz="1400">
                <a:solidFill>
                  <a:srgbClr val="000000"/>
                </a:solidFill>
                <a:latin typeface="微软雅黑"/>
              </a:rPr>
              <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客户满意度</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98%</a:t>
            </a:r>
            <a:r>
              <a:rPr sz="14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按期交付率</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100%</a:t>
            </a:r>
            <a:r>
              <a:rPr sz="14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文档完整率</a:t>
            </a:r>
          </a:p>
        </p:txBody>
      </p:sp>
      <p:sp>
        <p:nvSpPr>
          <p:cNvPr id="16" name="TextBox 15"/>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金蝶拥有完善的项目管理体系和丰富的实施经验，确保每个项目成功交付。我们承诺：项目成功上线，客户满意验收。</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联系方式</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联系我们</a:t>
            </a:r>
          </a:p>
        </p:txBody>
      </p:sp>
      <p:sp>
        <p:nvSpPr>
          <p:cNvPr id="5" name="Rounded Rectangle 4"/>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400-883-8836</a:t>
            </a:r>
            <a:r>
              <a:rPr sz="1400">
                <a:solidFill>
                  <a:srgbClr val="000000"/>
                </a:solidFill>
                <a:latin typeface="微软雅黑"/>
              </a:rPr>
              <a:t/>
            </a:r>
          </a:p>
        </p:txBody>
      </p:sp>
      <p:sp>
        <p:nvSpPr>
          <p:cNvPr id="7" name="TextBox 6"/>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服务热线</a:t>
            </a:r>
          </a:p>
        </p:txBody>
      </p:sp>
      <p:sp>
        <p:nvSpPr>
          <p:cNvPr id="8" name="Rounded Rectangle 7"/>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www.kingdee.com</a:t>
            </a:r>
            <a:r>
              <a:rPr sz="1400">
                <a:solidFill>
                  <a:srgbClr val="000000"/>
                </a:solidFill>
                <a:latin typeface="微软雅黑"/>
              </a:rPr>
              <a:t/>
            </a:r>
          </a:p>
        </p:txBody>
      </p:sp>
      <p:sp>
        <p:nvSpPr>
          <p:cNvPr id="10" name="TextBox 9"/>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官方网站</a:t>
            </a:r>
          </a:p>
        </p:txBody>
      </p:sp>
      <p:sp>
        <p:nvSpPr>
          <p:cNvPr id="11" name="Rounded Rectangle 10"/>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service@kingdee.com</a:t>
            </a:r>
            <a:r>
              <a:rPr sz="1400">
                <a:solidFill>
                  <a:srgbClr val="000000"/>
                </a:solidFill>
                <a:latin typeface="微软雅黑"/>
              </a:rPr>
              <a:t/>
            </a:r>
          </a:p>
        </p:txBody>
      </p:sp>
      <p:sp>
        <p:nvSpPr>
          <p:cNvPr id="13" name="TextBox 12"/>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商务邮箱</a:t>
            </a:r>
          </a:p>
        </p:txBody>
      </p:sp>
      <p:sp>
        <p:nvSpPr>
          <p:cNvPr id="14" name="Rounded Rectangle 13"/>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全国200+城市</a:t>
            </a:r>
            <a:r>
              <a:rPr sz="1400">
                <a:solidFill>
                  <a:srgbClr val="000000"/>
                </a:solidFill>
                <a:latin typeface="微软雅黑"/>
              </a:rPr>
              <a:t/>
            </a:r>
          </a:p>
        </p:txBody>
      </p:sp>
      <p:sp>
        <p:nvSpPr>
          <p:cNvPr id="16" name="TextBox 15"/>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服务网络</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下一步行动</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下一步行动</a:t>
            </a:r>
          </a:p>
        </p:txBody>
      </p:sp>
      <p:sp>
        <p:nvSpPr>
          <p:cNvPr id="5" name="Rectangle 4"/>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764792"/>
            <a:ext cx="182880" cy="228600"/>
          </a:xfrm>
          <a:prstGeom prst="rect">
            <a:avLst/>
          </a:prstGeom>
          <a:noFill/>
        </p:spPr>
        <p:txBody>
          <a:bodyPr wrap="square">
            <a:spAutoFit/>
          </a:bodyPr>
          <a:lstStyle/>
          <a:p>
            <a:pPr algn="ctr">
              <a:defRPr sz="1200" b="0">
                <a:solidFill>
                  <a:srgbClr val="FFFFFF"/>
                </a:solidFill>
                <a:latin typeface="微软雅黑"/>
              </a:defRPr>
            </a:pPr>
            <a:r>
              <a:t>1</a:t>
            </a:r>
          </a:p>
        </p:txBody>
      </p:sp>
      <p:sp>
        <p:nvSpPr>
          <p:cNvPr id="8" name="TextBox 7"/>
          <p:cNvSpPr txBox="1"/>
          <p:nvPr/>
        </p:nvSpPr>
        <p:spPr>
          <a:xfrm>
            <a:off x="91439" y="2103120"/>
            <a:ext cx="731520" cy="274320"/>
          </a:xfrm>
          <a:prstGeom prst="rect">
            <a:avLst/>
          </a:prstGeom>
          <a:noFill/>
        </p:spPr>
        <p:txBody>
          <a:bodyPr wrap="square">
            <a:spAutoFit/>
          </a:bodyPr>
          <a:lstStyle/>
          <a:p>
            <a:pPr algn="ctr">
              <a:defRPr sz="1000" b="0">
                <a:solidFill>
                  <a:srgbClr val="000000"/>
                </a:solidFill>
                <a:latin typeface="微软雅黑"/>
              </a:defRPr>
            </a:pPr>
            <a:r>
              <a:t>步骤1</a:t>
            </a:r>
          </a:p>
        </p:txBody>
      </p:sp>
      <p:sp>
        <p:nvSpPr>
          <p:cNvPr id="9" name="TextBox 8"/>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商务洽谈</a:t>
            </a:r>
          </a:p>
        </p:txBody>
      </p:sp>
      <p:sp>
        <p:nvSpPr>
          <p:cNvPr id="10" name="Oval 9"/>
          <p:cNvSpPr/>
          <p:nvPr/>
        </p:nvSpPr>
        <p:spPr>
          <a:xfrm>
            <a:off x="30632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764792"/>
            <a:ext cx="182880" cy="228600"/>
          </a:xfrm>
          <a:prstGeom prst="rect">
            <a:avLst/>
          </a:prstGeom>
          <a:noFill/>
        </p:spPr>
        <p:txBody>
          <a:bodyPr wrap="square">
            <a:spAutoFit/>
          </a:bodyPr>
          <a:lstStyle/>
          <a:p>
            <a:pPr algn="ctr">
              <a:defRPr sz="1200" b="0">
                <a:solidFill>
                  <a:srgbClr val="FFFFFF"/>
                </a:solidFill>
                <a:latin typeface="微软雅黑"/>
              </a:defRPr>
            </a:pPr>
            <a:r>
              <a:t>2</a:t>
            </a:r>
          </a:p>
        </p:txBody>
      </p:sp>
      <p:sp>
        <p:nvSpPr>
          <p:cNvPr id="12" name="TextBox 11"/>
          <p:cNvSpPr txBox="1"/>
          <p:nvPr/>
        </p:nvSpPr>
        <p:spPr>
          <a:xfrm>
            <a:off x="2834640" y="2103120"/>
            <a:ext cx="731520" cy="274320"/>
          </a:xfrm>
          <a:prstGeom prst="rect">
            <a:avLst/>
          </a:prstGeom>
          <a:noFill/>
        </p:spPr>
        <p:txBody>
          <a:bodyPr wrap="square">
            <a:spAutoFit/>
          </a:bodyPr>
          <a:lstStyle/>
          <a:p>
            <a:pPr algn="ctr">
              <a:defRPr sz="1000" b="0">
                <a:solidFill>
                  <a:srgbClr val="000000"/>
                </a:solidFill>
                <a:latin typeface="微软雅黑"/>
              </a:defRPr>
            </a:pPr>
            <a:r>
              <a:t>步骤2</a:t>
            </a:r>
          </a:p>
        </p:txBody>
      </p:sp>
      <p:sp>
        <p:nvSpPr>
          <p:cNvPr id="13" name="TextBox 12"/>
          <p:cNvSpPr txBox="1"/>
          <p:nvPr/>
        </p:nvSpPr>
        <p:spPr>
          <a:xfrm>
            <a:off x="2743200" y="2377440"/>
            <a:ext cx="914400" cy="365760"/>
          </a:xfrm>
          <a:prstGeom prst="rect">
            <a:avLst/>
          </a:prstGeom>
          <a:noFill/>
        </p:spPr>
        <p:txBody>
          <a:bodyPr wrap="square">
            <a:spAutoFit/>
          </a:bodyPr>
          <a:lstStyle/>
          <a:p>
            <a:pPr algn="ctr">
              <a:defRPr sz="1000">
                <a:solidFill>
                  <a:srgbClr val="000000"/>
                </a:solidFill>
                <a:latin typeface="微软雅黑"/>
              </a:defRPr>
            </a:pPr>
            <a:r>
              <a:t>需求确认</a:t>
            </a:r>
          </a:p>
        </p:txBody>
      </p:sp>
      <p:sp>
        <p:nvSpPr>
          <p:cNvPr id="14" name="Oval 13"/>
          <p:cNvSpPr/>
          <p:nvPr/>
        </p:nvSpPr>
        <p:spPr>
          <a:xfrm>
            <a:off x="58064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1764792"/>
            <a:ext cx="182880" cy="228600"/>
          </a:xfrm>
          <a:prstGeom prst="rect">
            <a:avLst/>
          </a:prstGeom>
          <a:noFill/>
        </p:spPr>
        <p:txBody>
          <a:bodyPr wrap="square">
            <a:spAutoFit/>
          </a:bodyPr>
          <a:lstStyle/>
          <a:p>
            <a:pPr algn="ctr">
              <a:defRPr sz="1200" b="0">
                <a:solidFill>
                  <a:srgbClr val="FFFFFF"/>
                </a:solidFill>
                <a:latin typeface="微软雅黑"/>
              </a:defRPr>
            </a:pPr>
            <a:r>
              <a:t>3</a:t>
            </a:r>
          </a:p>
        </p:txBody>
      </p:sp>
      <p:sp>
        <p:nvSpPr>
          <p:cNvPr id="16" name="TextBox 15"/>
          <p:cNvSpPr txBox="1"/>
          <p:nvPr/>
        </p:nvSpPr>
        <p:spPr>
          <a:xfrm>
            <a:off x="5577840" y="2103120"/>
            <a:ext cx="731520" cy="274320"/>
          </a:xfrm>
          <a:prstGeom prst="rect">
            <a:avLst/>
          </a:prstGeom>
          <a:noFill/>
        </p:spPr>
        <p:txBody>
          <a:bodyPr wrap="square">
            <a:spAutoFit/>
          </a:bodyPr>
          <a:lstStyle/>
          <a:p>
            <a:pPr algn="ctr">
              <a:defRPr sz="1000" b="0">
                <a:solidFill>
                  <a:srgbClr val="000000"/>
                </a:solidFill>
                <a:latin typeface="微软雅黑"/>
              </a:defRPr>
            </a:pPr>
            <a:r>
              <a:t>步骤3</a:t>
            </a:r>
          </a:p>
        </p:txBody>
      </p:sp>
      <p:sp>
        <p:nvSpPr>
          <p:cNvPr id="17" name="TextBox 16"/>
          <p:cNvSpPr txBox="1"/>
          <p:nvPr/>
        </p:nvSpPr>
        <p:spPr>
          <a:xfrm>
            <a:off x="5486400" y="2377440"/>
            <a:ext cx="914400" cy="365760"/>
          </a:xfrm>
          <a:prstGeom prst="rect">
            <a:avLst/>
          </a:prstGeom>
          <a:noFill/>
        </p:spPr>
        <p:txBody>
          <a:bodyPr wrap="square">
            <a:spAutoFit/>
          </a:bodyPr>
          <a:lstStyle/>
          <a:p>
            <a:pPr algn="ctr">
              <a:defRPr sz="1000">
                <a:solidFill>
                  <a:srgbClr val="000000"/>
                </a:solidFill>
                <a:latin typeface="微软雅黑"/>
              </a:defRPr>
            </a:pPr>
            <a:r>
              <a:t>方案设计</a:t>
            </a:r>
          </a:p>
        </p:txBody>
      </p:sp>
      <p:sp>
        <p:nvSpPr>
          <p:cNvPr id="18" name="Oval 17"/>
          <p:cNvSpPr/>
          <p:nvPr/>
        </p:nvSpPr>
        <p:spPr>
          <a:xfrm>
            <a:off x="85496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764792"/>
            <a:ext cx="182880" cy="228600"/>
          </a:xfrm>
          <a:prstGeom prst="rect">
            <a:avLst/>
          </a:prstGeom>
          <a:noFill/>
        </p:spPr>
        <p:txBody>
          <a:bodyPr wrap="square">
            <a:spAutoFit/>
          </a:bodyPr>
          <a:lstStyle/>
          <a:p>
            <a:pPr algn="ctr">
              <a:defRPr sz="1200" b="0">
                <a:solidFill>
                  <a:srgbClr val="FFFFFF"/>
                </a:solidFill>
                <a:latin typeface="微软雅黑"/>
              </a:defRPr>
            </a:pPr>
            <a:r>
              <a:t>4</a:t>
            </a:r>
          </a:p>
        </p:txBody>
      </p:sp>
      <p:sp>
        <p:nvSpPr>
          <p:cNvPr id="20" name="TextBox 19"/>
          <p:cNvSpPr txBox="1"/>
          <p:nvPr/>
        </p:nvSpPr>
        <p:spPr>
          <a:xfrm>
            <a:off x="8321040" y="2103120"/>
            <a:ext cx="731520" cy="274320"/>
          </a:xfrm>
          <a:prstGeom prst="rect">
            <a:avLst/>
          </a:prstGeom>
          <a:noFill/>
        </p:spPr>
        <p:txBody>
          <a:bodyPr wrap="square">
            <a:spAutoFit/>
          </a:bodyPr>
          <a:lstStyle/>
          <a:p>
            <a:pPr algn="ctr">
              <a:defRPr sz="1000" b="0">
                <a:solidFill>
                  <a:srgbClr val="000000"/>
                </a:solidFill>
                <a:latin typeface="微软雅黑"/>
              </a:defRPr>
            </a:pPr>
            <a:r>
              <a:t>步骤4</a:t>
            </a:r>
          </a:p>
        </p:txBody>
      </p:sp>
      <p:sp>
        <p:nvSpPr>
          <p:cNvPr id="21" name="TextBox 20"/>
          <p:cNvSpPr txBox="1"/>
          <p:nvPr/>
        </p:nvSpPr>
        <p:spPr>
          <a:xfrm>
            <a:off x="8229600" y="2377440"/>
            <a:ext cx="914400" cy="365760"/>
          </a:xfrm>
          <a:prstGeom prst="rect">
            <a:avLst/>
          </a:prstGeom>
          <a:noFill/>
        </p:spPr>
        <p:txBody>
          <a:bodyPr wrap="square">
            <a:spAutoFit/>
          </a:bodyPr>
          <a:lstStyle/>
          <a:p>
            <a:pPr algn="ctr">
              <a:defRPr sz="1000">
                <a:solidFill>
                  <a:srgbClr val="000000"/>
                </a:solidFill>
                <a:latin typeface="微软雅黑"/>
              </a:defRPr>
            </a:pPr>
            <a:r>
              <a:t>合同签订</a:t>
            </a:r>
          </a:p>
        </p:txBody>
      </p:sp>
      <p:sp>
        <p:nvSpPr>
          <p:cNvPr id="22" name="Oval 21"/>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0" y="1764792"/>
            <a:ext cx="182880" cy="228600"/>
          </a:xfrm>
          <a:prstGeom prst="rect">
            <a:avLst/>
          </a:prstGeom>
          <a:noFill/>
        </p:spPr>
        <p:txBody>
          <a:bodyPr wrap="square">
            <a:spAutoFit/>
          </a:bodyPr>
          <a:lstStyle/>
          <a:p>
            <a:pPr algn="ctr">
              <a:defRPr sz="1200" b="0">
                <a:solidFill>
                  <a:srgbClr val="FFFFFF"/>
                </a:solidFill>
                <a:latin typeface="微软雅黑"/>
              </a:defRPr>
            </a:pPr>
            <a:r>
              <a:t>5</a:t>
            </a:r>
          </a:p>
        </p:txBody>
      </p:sp>
      <p:sp>
        <p:nvSpPr>
          <p:cNvPr id="24" name="TextBox 23"/>
          <p:cNvSpPr txBox="1"/>
          <p:nvPr/>
        </p:nvSpPr>
        <p:spPr>
          <a:xfrm>
            <a:off x="11064240" y="2103120"/>
            <a:ext cx="731520" cy="274320"/>
          </a:xfrm>
          <a:prstGeom prst="rect">
            <a:avLst/>
          </a:prstGeom>
          <a:noFill/>
        </p:spPr>
        <p:txBody>
          <a:bodyPr wrap="square">
            <a:spAutoFit/>
          </a:bodyPr>
          <a:lstStyle/>
          <a:p>
            <a:pPr algn="ctr">
              <a:defRPr sz="1000" b="0">
                <a:solidFill>
                  <a:srgbClr val="000000"/>
                </a:solidFill>
                <a:latin typeface="微软雅黑"/>
              </a:defRPr>
            </a:pPr>
            <a:r>
              <a:t>步骤5</a:t>
            </a:r>
          </a:p>
        </p:txBody>
      </p:sp>
      <p:sp>
        <p:nvSpPr>
          <p:cNvPr id="25" name="TextBox 24"/>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项目启动</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项目预期收益</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项目预期收益</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财务收益</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核算效率提升50%</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资金周转加快20%</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合规风险降低90%</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运营收益</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采购效率提升40%</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库存周转加快25%</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订单处理缩短50%</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管理收益</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决策速度提升50%</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数据实时性100%</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流程标准化100%</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战略收益</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数字化转型</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竞争力提升</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可持续发展</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项目保障</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项目保障</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团队保障</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资深项目经理</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专业顾问团队</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技术支持团队</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方法保障</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Kingdee Way</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项目管理规范</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质量管理体系</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技术保障</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成熟产品平台</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完善技术架构</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安全保障机制</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服务保障</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7×24服务</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定期回访</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持续优化</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数据安全保障</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数据安全保障</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网络安全</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防火墙</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入侵检测</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DDoS防护</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数据安全</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数据加密</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访问控制</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审计日志</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应用安全</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安全开发</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漏洞扫描</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渗透测试</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合规认证</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等保三级</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ISO27001</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SOC2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灾备方案</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灾备方案</a:t>
            </a:r>
          </a:p>
        </p:txBody>
      </p:sp>
      <p:sp>
        <p:nvSpPr>
          <p:cNvPr id="5" name="Rounded Rectangle 4"/>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双活</a:t>
            </a:r>
            <a:r>
              <a:rPr sz="1400">
                <a:solidFill>
                  <a:srgbClr val="000000"/>
                </a:solidFill>
                <a:latin typeface="微软雅黑"/>
              </a:rPr>
              <a:t/>
            </a:r>
          </a:p>
        </p:txBody>
      </p:sp>
      <p:sp>
        <p:nvSpPr>
          <p:cNvPr id="7" name="TextBox 6"/>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数据中心</a:t>
            </a:r>
          </a:p>
        </p:txBody>
      </p:sp>
      <p:sp>
        <p:nvSpPr>
          <p:cNvPr id="8" name="Rounded Rectangle 7"/>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秒级</a:t>
            </a:r>
            <a:r>
              <a:rPr sz="1400">
                <a:solidFill>
                  <a:srgbClr val="000000"/>
                </a:solidFill>
                <a:latin typeface="微软雅黑"/>
              </a:rPr>
              <a:t/>
            </a:r>
          </a:p>
        </p:txBody>
      </p:sp>
      <p:sp>
        <p:nvSpPr>
          <p:cNvPr id="10" name="TextBox 9"/>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故障切换</a:t>
            </a:r>
          </a:p>
        </p:txBody>
      </p:sp>
      <p:sp>
        <p:nvSpPr>
          <p:cNvPr id="11" name="Rounded Rectangle 10"/>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99.99%</a:t>
            </a:r>
            <a:r>
              <a:rPr sz="1400">
                <a:solidFill>
                  <a:srgbClr val="000000"/>
                </a:solidFill>
                <a:latin typeface="微软雅黑"/>
              </a:rPr>
              <a:t/>
            </a:r>
          </a:p>
        </p:txBody>
      </p:sp>
      <p:sp>
        <p:nvSpPr>
          <p:cNvPr id="13" name="TextBox 12"/>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可用性</a:t>
            </a:r>
          </a:p>
        </p:txBody>
      </p:sp>
      <p:sp>
        <p:nvSpPr>
          <p:cNvPr id="14" name="Rounded Rectangle 13"/>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4小时</a:t>
            </a:r>
            <a:r>
              <a:rPr sz="1400">
                <a:solidFill>
                  <a:srgbClr val="000000"/>
                </a:solidFill>
                <a:latin typeface="微软雅黑"/>
              </a:rPr>
              <a:t/>
            </a:r>
          </a:p>
        </p:txBody>
      </p:sp>
      <p:sp>
        <p:nvSpPr>
          <p:cNvPr id="16" name="TextBox 15"/>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恢复时间</a:t>
            </a:r>
          </a:p>
        </p:txBody>
      </p:sp>
      <p:sp>
        <p:nvSpPr>
          <p:cNvPr id="17" name="TextBox 16"/>
          <p:cNvSpPr txBox="1"/>
          <p:nvPr/>
        </p:nvSpPr>
        <p:spPr>
          <a:xfrm>
            <a:off x="457200" y="2743200"/>
            <a:ext cx="10972800" cy="1828800"/>
          </a:xfrm>
          <a:prstGeom prst="rect">
            <a:avLst/>
          </a:prstGeom>
          <a:noFill/>
        </p:spPr>
        <p:txBody>
          <a:bodyPr wrap="square">
            <a:spAutoFit/>
          </a:bodyPr>
          <a:lstStyle/>
          <a:p>
            <a:pPr algn="l">
              <a:defRPr sz="1200" b="0">
                <a:solidFill>
                  <a:srgbClr val="000000"/>
                </a:solidFill>
                <a:latin typeface="微软雅黑"/>
              </a:defRPr>
            </a:pPr>
            <a:r>
              <a:t>金蝶云采用双活数据中心架构，确保业务连续性。当主数据中心发生故障时，系统可在秒级切换到备数据中心，保障业务不中断。</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版本升级策略</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版本升级策略</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自动升级</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安全补丁</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性能优化</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Bug修复</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选择性升级</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功能增强</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新特性</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界面优化</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大版本升级</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架构升级</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重大变更</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数据迁移</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升级保障</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升级测试</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回滚机制</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技术支持</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合作伙伴生态</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合作伙伴生态</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技术伙伴</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华为</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阿里云</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腾讯云</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咨询伙伴</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德勤</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安永</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毕马威</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实施伙伴</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各地服务商</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行业专家</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技术团队</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行业伙伴</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行业协会</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研究院</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高校</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更多成功案例</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更多成功案例</a:t>
            </a:r>
          </a:p>
        </p:txBody>
      </p:sp>
      <p:sp>
        <p:nvSpPr>
          <p:cNvPr id="5" name="Rounded Rectangle 4"/>
          <p:cNvSpPr/>
          <p:nvPr/>
        </p:nvSpPr>
        <p:spPr>
          <a:xfrm>
            <a:off x="457200"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制造业</a:t>
            </a:r>
          </a:p>
        </p:txBody>
      </p:sp>
      <p:sp>
        <p:nvSpPr>
          <p:cNvPr id="6" name="Rounded Rectangle 5"/>
          <p:cNvSpPr/>
          <p:nvPr/>
        </p:nvSpPr>
        <p:spPr>
          <a:xfrm>
            <a:off x="457200"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三一重工</a:t>
            </a:r>
          </a:p>
        </p:txBody>
      </p:sp>
      <p:sp>
        <p:nvSpPr>
          <p:cNvPr id="7" name="Rounded Rectangle 6"/>
          <p:cNvSpPr/>
          <p:nvPr/>
        </p:nvSpPr>
        <p:spPr>
          <a:xfrm>
            <a:off x="457200"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美的集团</a:t>
            </a:r>
          </a:p>
        </p:txBody>
      </p:sp>
      <p:sp>
        <p:nvSpPr>
          <p:cNvPr id="8" name="Rounded Rectangle 7"/>
          <p:cNvSpPr/>
          <p:nvPr/>
        </p:nvSpPr>
        <p:spPr>
          <a:xfrm>
            <a:off x="457200"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海信集团</a:t>
            </a:r>
          </a:p>
        </p:txBody>
      </p:sp>
      <p:sp>
        <p:nvSpPr>
          <p:cNvPr id="9" name="Rounded Rectangle 8"/>
          <p:cNvSpPr/>
          <p:nvPr/>
        </p:nvSpPr>
        <p:spPr>
          <a:xfrm>
            <a:off x="329183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零售业</a:t>
            </a:r>
          </a:p>
        </p:txBody>
      </p:sp>
      <p:sp>
        <p:nvSpPr>
          <p:cNvPr id="10" name="Rounded Rectangle 9"/>
          <p:cNvSpPr/>
          <p:nvPr/>
        </p:nvSpPr>
        <p:spPr>
          <a:xfrm>
            <a:off x="329183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永辉超市</a:t>
            </a:r>
          </a:p>
        </p:txBody>
      </p:sp>
      <p:sp>
        <p:nvSpPr>
          <p:cNvPr id="11" name="Rounded Rectangle 10"/>
          <p:cNvSpPr/>
          <p:nvPr/>
        </p:nvSpPr>
        <p:spPr>
          <a:xfrm>
            <a:off x="329183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屈臣氏</a:t>
            </a:r>
          </a:p>
        </p:txBody>
      </p:sp>
      <p:sp>
        <p:nvSpPr>
          <p:cNvPr id="12" name="Rounded Rectangle 11"/>
          <p:cNvSpPr/>
          <p:nvPr/>
        </p:nvSpPr>
        <p:spPr>
          <a:xfrm>
            <a:off x="329183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名创优品</a:t>
            </a:r>
          </a:p>
        </p:txBody>
      </p:sp>
      <p:sp>
        <p:nvSpPr>
          <p:cNvPr id="13" name="Rounded Rectangle 12"/>
          <p:cNvSpPr/>
          <p:nvPr/>
        </p:nvSpPr>
        <p:spPr>
          <a:xfrm>
            <a:off x="6126479" y="1371600"/>
            <a:ext cx="2560320" cy="36576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金融业</a:t>
            </a:r>
          </a:p>
        </p:txBody>
      </p:sp>
      <p:sp>
        <p:nvSpPr>
          <p:cNvPr id="14" name="Rounded Rectangle 13"/>
          <p:cNvSpPr/>
          <p:nvPr/>
        </p:nvSpPr>
        <p:spPr>
          <a:xfrm>
            <a:off x="612647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招商银行</a:t>
            </a:r>
          </a:p>
        </p:txBody>
      </p:sp>
      <p:sp>
        <p:nvSpPr>
          <p:cNvPr id="15" name="Rounded Rectangle 14"/>
          <p:cNvSpPr/>
          <p:nvPr/>
        </p:nvSpPr>
        <p:spPr>
          <a:xfrm>
            <a:off x="612647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太平洋保险</a:t>
            </a:r>
          </a:p>
        </p:txBody>
      </p:sp>
      <p:sp>
        <p:nvSpPr>
          <p:cNvPr id="16" name="Rounded Rectangle 15"/>
          <p:cNvSpPr/>
          <p:nvPr/>
        </p:nvSpPr>
        <p:spPr>
          <a:xfrm>
            <a:off x="612647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华泰证券</a:t>
            </a:r>
          </a:p>
        </p:txBody>
      </p:sp>
      <p:sp>
        <p:nvSpPr>
          <p:cNvPr id="17" name="Rounded Rectangle 16"/>
          <p:cNvSpPr/>
          <p:nvPr/>
        </p:nvSpPr>
        <p:spPr>
          <a:xfrm>
            <a:off x="8961119" y="1371600"/>
            <a:ext cx="2560320" cy="36576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服务业</a:t>
            </a:r>
          </a:p>
        </p:txBody>
      </p:sp>
      <p:sp>
        <p:nvSpPr>
          <p:cNvPr id="18" name="Rounded Rectangle 17"/>
          <p:cNvSpPr/>
          <p:nvPr/>
        </p:nvSpPr>
        <p:spPr>
          <a:xfrm>
            <a:off x="8961119" y="175564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万科物业</a:t>
            </a:r>
          </a:p>
        </p:txBody>
      </p:sp>
      <p:sp>
        <p:nvSpPr>
          <p:cNvPr id="19" name="Rounded Rectangle 18"/>
          <p:cNvSpPr/>
          <p:nvPr/>
        </p:nvSpPr>
        <p:spPr>
          <a:xfrm>
            <a:off x="8961119" y="207568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新东方</a:t>
            </a:r>
          </a:p>
        </p:txBody>
      </p:sp>
      <p:sp>
        <p:nvSpPr>
          <p:cNvPr id="20" name="Rounded Rectangle 19"/>
          <p:cNvSpPr/>
          <p:nvPr/>
        </p:nvSpPr>
        <p:spPr>
          <a:xfrm>
            <a:off x="8961119" y="2395728"/>
            <a:ext cx="2560320" cy="301751"/>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00000"/>
                </a:solidFill>
                <a:latin typeface="微软雅黑"/>
              </a:defRPr>
            </a:pPr>
            <a:r>
              <a:t>华大基因</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行业价值</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行业价值</a:t>
            </a:r>
          </a:p>
        </p:txBody>
      </p:sp>
      <p:sp>
        <p:nvSpPr>
          <p:cNvPr id="5" name="Rounded Rectangle 4"/>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2377439" cy="457200"/>
          </a:xfrm>
          <a:prstGeom prst="rect">
            <a:avLst/>
          </a:prstGeom>
          <a:noFill/>
        </p:spPr>
        <p:txBody>
          <a:bodyPr wrap="none">
            <a:spAutoFit/>
          </a:bodyPr>
          <a:lstStyle/>
          <a:p>
            <a:r>
              <a:rPr sz="2800" b="1">
                <a:solidFill>
                  <a:srgbClr val="0886EC"/>
                </a:solidFill>
                <a:latin typeface="微软雅黑"/>
              </a:rPr>
              <a:t>500+</a:t>
            </a:r>
            <a:r>
              <a:rPr sz="1400">
                <a:solidFill>
                  <a:srgbClr val="000000"/>
                </a:solidFill>
                <a:latin typeface="微软雅黑"/>
              </a:rPr>
              <a:t>家</a:t>
            </a:r>
          </a:p>
        </p:txBody>
      </p:sp>
      <p:sp>
        <p:nvSpPr>
          <p:cNvPr id="7" name="TextBox 6"/>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制造业客户</a:t>
            </a:r>
          </a:p>
        </p:txBody>
      </p:sp>
      <p:sp>
        <p:nvSpPr>
          <p:cNvPr id="8" name="Rounded Rectangle 7"/>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1508760"/>
            <a:ext cx="2377439" cy="457200"/>
          </a:xfrm>
          <a:prstGeom prst="rect">
            <a:avLst/>
          </a:prstGeom>
          <a:noFill/>
        </p:spPr>
        <p:txBody>
          <a:bodyPr wrap="none">
            <a:spAutoFit/>
          </a:bodyPr>
          <a:lstStyle/>
          <a:p>
            <a:r>
              <a:rPr sz="2800" b="1">
                <a:solidFill>
                  <a:srgbClr val="0886EC"/>
                </a:solidFill>
                <a:latin typeface="微软雅黑"/>
              </a:rPr>
              <a:t>300+</a:t>
            </a:r>
            <a:r>
              <a:rPr sz="1400">
                <a:solidFill>
                  <a:srgbClr val="000000"/>
                </a:solidFill>
                <a:latin typeface="微软雅黑"/>
              </a:rPr>
              <a:t>家</a:t>
            </a:r>
          </a:p>
        </p:txBody>
      </p:sp>
      <p:sp>
        <p:nvSpPr>
          <p:cNvPr id="10" name="TextBox 9"/>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零售业客户</a:t>
            </a:r>
          </a:p>
        </p:txBody>
      </p:sp>
      <p:sp>
        <p:nvSpPr>
          <p:cNvPr id="11" name="Rounded Rectangle 10"/>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1508760"/>
            <a:ext cx="2377439" cy="457200"/>
          </a:xfrm>
          <a:prstGeom prst="rect">
            <a:avLst/>
          </a:prstGeom>
          <a:noFill/>
        </p:spPr>
        <p:txBody>
          <a:bodyPr wrap="none">
            <a:spAutoFit/>
          </a:bodyPr>
          <a:lstStyle/>
          <a:p>
            <a:r>
              <a:rPr sz="2800" b="1">
                <a:solidFill>
                  <a:srgbClr val="0886EC"/>
                </a:solidFill>
                <a:latin typeface="微软雅黑"/>
              </a:rPr>
              <a:t>150+</a:t>
            </a:r>
            <a:r>
              <a:rPr sz="1400">
                <a:solidFill>
                  <a:srgbClr val="000000"/>
                </a:solidFill>
                <a:latin typeface="微软雅黑"/>
              </a:rPr>
              <a:t>家</a:t>
            </a:r>
          </a:p>
        </p:txBody>
      </p:sp>
      <p:sp>
        <p:nvSpPr>
          <p:cNvPr id="13" name="TextBox 12"/>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金融业客户</a:t>
            </a:r>
          </a:p>
        </p:txBody>
      </p:sp>
      <p:sp>
        <p:nvSpPr>
          <p:cNvPr id="14" name="Rounded Rectangle 13"/>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1508760"/>
            <a:ext cx="2377439" cy="457200"/>
          </a:xfrm>
          <a:prstGeom prst="rect">
            <a:avLst/>
          </a:prstGeom>
          <a:noFill/>
        </p:spPr>
        <p:txBody>
          <a:bodyPr wrap="none">
            <a:spAutoFit/>
          </a:bodyPr>
          <a:lstStyle/>
          <a:p>
            <a:r>
              <a:rPr sz="2800" b="1">
                <a:solidFill>
                  <a:srgbClr val="0886EC"/>
                </a:solidFill>
                <a:latin typeface="微软雅黑"/>
              </a:rPr>
              <a:t>200+</a:t>
            </a:r>
            <a:r>
              <a:rPr sz="1400">
                <a:solidFill>
                  <a:srgbClr val="000000"/>
                </a:solidFill>
                <a:latin typeface="微软雅黑"/>
              </a:rPr>
              <a:t>家</a:t>
            </a:r>
          </a:p>
        </p:txBody>
      </p:sp>
      <p:sp>
        <p:nvSpPr>
          <p:cNvPr id="16" name="TextBox 15"/>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服务业客户</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方案总结</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731520"/>
            <a:ext cx="10972800" cy="548640"/>
          </a:xfrm>
          <a:prstGeom prst="rect">
            <a:avLst/>
          </a:prstGeom>
          <a:noFill/>
        </p:spPr>
        <p:txBody>
          <a:bodyPr wrap="square">
            <a:spAutoFit/>
          </a:bodyPr>
          <a:lstStyle/>
          <a:p>
            <a:pPr algn="l">
              <a:defRPr sz="2400" b="1">
                <a:solidFill>
                  <a:srgbClr val="003F56"/>
                </a:solidFill>
                <a:latin typeface="微软雅黑"/>
              </a:defRPr>
            </a:pPr>
            <a:r>
              <a:t>方案总结</a:t>
            </a:r>
          </a:p>
        </p:txBody>
      </p:sp>
      <p:sp>
        <p:nvSpPr>
          <p:cNvPr id="5" name="Rounded Rectangle 4"/>
          <p:cNvSpPr/>
          <p:nvPr/>
        </p:nvSpPr>
        <p:spPr>
          <a:xfrm>
            <a:off x="457200" y="1371600"/>
            <a:ext cx="10972800" cy="27432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000000"/>
                </a:solidFill>
                <a:latin typeface="微软雅黑"/>
              </a:defRPr>
            </a:pPr>
            <a:r>
              <a:t>金蝶云·星空是成长型企业数字化转型的理想选择：</a:t>
            </a:r>
            <a:br/>
            <a:br/>
            <a:r>
              <a:t>✓ 成熟稳定的产品平台，服务超过750万家企业客户</a:t>
            </a:r>
            <a:br/>
            <a:r>
              <a:t>✓ 完善的功能模块，覆盖财务、供应链、生产、人力等核心业务</a:t>
            </a:r>
            <a:br/>
            <a:r>
              <a:t>✓ 灵活的部署方式，支持公有云、私有云、混合云</a:t>
            </a:r>
            <a:br/>
            <a:r>
              <a:t>✓ 专业的实施团队，确保项目成功交付</a:t>
            </a:r>
            <a:br/>
            <a:r>
              <a:t>✓ 持续的升级服务，助力企业持续发展</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致谢</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371600"/>
            <a:ext cx="10972800" cy="914400"/>
          </a:xfrm>
          <a:prstGeom prst="rect">
            <a:avLst/>
          </a:prstGeom>
          <a:noFill/>
        </p:spPr>
        <p:txBody>
          <a:bodyPr wrap="square">
            <a:spAutoFit/>
          </a:bodyPr>
          <a:lstStyle/>
          <a:p>
            <a:pPr algn="l">
              <a:defRPr sz="3600" b="1">
                <a:solidFill>
                  <a:srgbClr val="003F56"/>
                </a:solidFill>
                <a:latin typeface="微软雅黑"/>
              </a:defRPr>
            </a:pPr>
            <a:r>
              <a:t>感谢聆听</a:t>
            </a:r>
          </a:p>
        </p:txBody>
      </p:sp>
      <p:sp>
        <p:nvSpPr>
          <p:cNvPr id="5" name="TextBox 4"/>
          <p:cNvSpPr txBox="1"/>
          <p:nvPr/>
        </p:nvSpPr>
        <p:spPr>
          <a:xfrm>
            <a:off x="457200" y="2560320"/>
            <a:ext cx="10972800" cy="548640"/>
          </a:xfrm>
          <a:prstGeom prst="rect">
            <a:avLst/>
          </a:prstGeom>
          <a:noFill/>
        </p:spPr>
        <p:txBody>
          <a:bodyPr wrap="square">
            <a:spAutoFit/>
          </a:bodyPr>
          <a:lstStyle/>
          <a:p>
            <a:pPr algn="l">
              <a:defRPr sz="2400" b="0">
                <a:solidFill>
                  <a:srgbClr val="0886EC"/>
                </a:solidFill>
                <a:latin typeface="微软雅黑"/>
              </a:defRPr>
            </a:pPr>
            <a:r>
              <a:t>期待与您合作</a:t>
            </a:r>
          </a:p>
        </p:txBody>
      </p:sp>
      <p:sp>
        <p:nvSpPr>
          <p:cNvPr id="6" name="TextBox 5"/>
          <p:cNvSpPr txBox="1"/>
          <p:nvPr/>
        </p:nvSpPr>
        <p:spPr>
          <a:xfrm>
            <a:off x="457200" y="3291840"/>
            <a:ext cx="10972800" cy="548640"/>
          </a:xfrm>
          <a:prstGeom prst="rect">
            <a:avLst/>
          </a:prstGeom>
          <a:noFill/>
        </p:spPr>
        <p:txBody>
          <a:bodyPr wrap="square">
            <a:spAutoFit/>
          </a:bodyPr>
          <a:lstStyle/>
          <a:p>
            <a:pPr algn="l">
              <a:defRPr sz="1600" b="0">
                <a:solidFill>
                  <a:srgbClr val="000000"/>
                </a:solidFill>
                <a:latin typeface="微软雅黑"/>
              </a:defRPr>
            </a:pPr>
            <a:r>
              <a:t>金蝶软件（中国）有限公司</a:t>
            </a:r>
          </a:p>
        </p:txBody>
      </p:sp>
      <p:sp>
        <p:nvSpPr>
          <p:cNvPr id="7" name="TextBox 6"/>
          <p:cNvSpPr txBox="1"/>
          <p:nvPr/>
        </p:nvSpPr>
        <p:spPr>
          <a:xfrm>
            <a:off x="457200" y="3840480"/>
            <a:ext cx="10972800" cy="548640"/>
          </a:xfrm>
          <a:prstGeom prst="rect">
            <a:avLst/>
          </a:prstGeom>
          <a:noFill/>
        </p:spPr>
        <p:txBody>
          <a:bodyPr wrap="square">
            <a:spAutoFit/>
          </a:bodyPr>
          <a:lstStyle/>
          <a:p>
            <a:pPr algn="l">
              <a:defRPr sz="1200" b="0">
                <a:solidFill>
                  <a:srgbClr val="000000"/>
                </a:solidFill>
                <a:latin typeface="微软雅黑"/>
              </a:defRPr>
            </a:pPr>
            <a:r>
              <a:t>服务热线：400-883-8836  |  官网：www.kingdee.com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0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0582fdee-2c63-4408-addb-b14e80bb163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45d6f7d4-fe36-40dc-b2f1-0390e229102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2858</Words>
  <Application>Microsoft Office PowerPoint</Application>
  <PresentationFormat>宽屏</PresentationFormat>
  <Paragraphs>477</Paragraphs>
  <Slides>13</Slides>
  <Notes>9</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13</vt:i4>
      </vt:variant>
    </vt:vector>
  </HeadingPairs>
  <TitlesOfParts>
    <vt:vector size="24" baseType="lpstr">
      <vt:lpstr>Heiti SC Medium</vt:lpstr>
      <vt:lpstr>Noto Sans SC</vt:lpstr>
      <vt:lpstr>等线</vt:lpstr>
      <vt:lpstr>微软雅黑</vt:lpstr>
      <vt:lpstr>微软雅黑</vt:lpstr>
      <vt:lpstr>Microsoft YaHei Light</vt:lpstr>
      <vt:lpstr>Microsoft YaHei Light</vt:lpstr>
      <vt:lpstr>Arial</vt:lpstr>
      <vt:lpstr>10_Office 主题​​</vt:lpstr>
      <vt:lpstr>1_Office 主题​​</vt:lpstr>
      <vt:lpstr>11_Office 主题​​</vt:lpstr>
      <vt:lpstr>PowerPoint 演示文稿</vt:lpstr>
      <vt:lpstr>洞察一：政策引领下的财务共享风控升级</vt:lpstr>
      <vt:lpstr>金蝶提出的“深化业财数智体系，落地穿透式监管能力”方案，已覆盖5条主要流程的业财风险</vt:lpstr>
      <vt:lpstr>金蝶监管实践：湖南矿业内控风险合规“三位一体” 融入业务过程</vt:lpstr>
      <vt:lpstr>洞察二：企业AI+行业内卷双重驱动下，对财务共享建设给予更高的期望</vt:lpstr>
      <vt:lpstr>搭建科学的价值指标体系：以财务共享指标体系（售前80个），驱动流程、场景变革</vt:lpstr>
      <vt:lpstr>价值可视化：提供标杆企业财务共享中心的40个指标参考数据</vt:lpstr>
      <vt:lpstr>流程变革预期价值（制造行业示例）</vt:lpstr>
      <vt:lpstr>流程变革预期价值（制造行业示例）</vt:lpstr>
      <vt:lpstr>流程变革预期价值（制造行业示例）</vt:lpstr>
      <vt:lpstr>财务共享服务中心五大端到端流程效能对标（部分指标）</vt:lpstr>
      <vt:lpstr>PowerPoint 演示文稿</vt:lpstr>
      <vt:lpstr>流程基础管控示例1：销售到收款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2026-03-05T10:31:54Z</dcterms:created>
  <dcterms:modified xsi:type="dcterms:W3CDTF">2026-03-05T10:34:39Z</dcterms:modified>
</cp:coreProperties>
</file>