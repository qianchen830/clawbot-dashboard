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848" r:id="rId2"/>
    <p:sldMasterId id="2147483859" r:id="rId3"/>
  </p:sldMasterIdLst>
  <p:notesMasterIdLst>
    <p:notesMasterId r:id="rId17"/>
  </p:notesMasterIdLst>
  <p:sldIdLst>
    <p:sldId id="256" r:id="rId4"/>
    <p:sldId id="2147481992" r:id="rId5"/>
    <p:sldId id="2147481987" r:id="rId6"/>
    <p:sldId id="16671577" r:id="rId7"/>
    <p:sldId id="2147481993" r:id="rId8"/>
    <p:sldId id="2147481989" r:id="rId9"/>
    <p:sldId id="259" r:id="rId10"/>
    <p:sldId id="330" r:id="rId11"/>
    <p:sldId id="16777188" r:id="rId12"/>
    <p:sldId id="329" r:id="rId13"/>
    <p:sldId id="2147481980" r:id="rId14"/>
    <p:sldId id="257" r:id="rId15"/>
    <p:sldId id="536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90D3A4A-7C84-4AAD-9A33-13706DC34725}">
          <p14:sldIdLst>
            <p14:sldId id="256"/>
          </p14:sldIdLst>
        </p14:section>
        <p14:section name="解决方案" id="{9AE2354C-5E84-4066-A42A-E61863B3ACDD}">
          <p14:sldIdLst>
            <p14:sldId id="2147481992"/>
            <p14:sldId id="2147481987"/>
            <p14:sldId id="16671577"/>
            <p14:sldId id="2147481993"/>
            <p14:sldId id="2147481989"/>
            <p14:sldId id="259"/>
            <p14:sldId id="330"/>
            <p14:sldId id="16777188"/>
            <p14:sldId id="329"/>
            <p14:sldId id="2147481980"/>
            <p14:sldId id="257"/>
            <p14:sldId id="5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2" name="作者" initials="A" lastIdx="0" clrIdx="14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72EF"/>
    <a:srgbClr val="FD3D3D"/>
    <a:srgbClr val="08C8C8"/>
    <a:srgbClr val="A06EFF"/>
    <a:srgbClr val="00CCFF"/>
    <a:srgbClr val="A16EFF"/>
    <a:srgbClr val="0098BF"/>
    <a:srgbClr val="A2C6F7"/>
    <a:srgbClr val="FFFFFF"/>
    <a:srgbClr val="297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2" autoAdjust="0"/>
    <p:restoredTop sz="78632" autoAdjust="0"/>
  </p:normalViewPr>
  <p:slideViewPr>
    <p:cSldViewPr snapToGrid="0">
      <p:cViewPr varScale="1">
        <p:scale>
          <a:sx n="60" d="100"/>
          <a:sy n="60" d="100"/>
        </p:scale>
        <p:origin x="86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#4">
  <dgm:title val=""/>
  <dgm:desc val=""/>
  <dgm:catLst>
    <dgm:cat type="accent1" pri="11300"/>
  </dgm:catLst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#5">
  <dgm:title val=""/>
  <dgm:desc val=""/>
  <dgm:catLst>
    <dgm:cat type="accent1" pri="11300"/>
  </dgm:catLst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#6">
  <dgm:title val=""/>
  <dgm:desc val=""/>
  <dgm:catLst>
    <dgm:cat type="accent1" pri="11300"/>
  </dgm:catLst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527559-FDD8-4274-B634-C7FBCF5BC573}" type="doc">
      <dgm:prSet loTypeId="urn:microsoft.com/office/officeart/2005/8/layout/hChevron3" loCatId="process" qsTypeId="urn:microsoft.com/office/officeart/2005/8/quickstyle/simple4#4" qsCatId="simple" csTypeId="urn:microsoft.com/office/officeart/2005/8/colors/accent1_3#4" csCatId="accent1" phldr="1"/>
      <dgm:spPr/>
    </dgm:pt>
    <dgm:pt modelId="{870E4F47-8CC4-4F59-B4C1-42B5AAA5CEFE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>
              <a:latin typeface="+mn-lt"/>
              <a:ea typeface="+mn-ea"/>
              <a:cs typeface="+mn-ea"/>
              <a:sym typeface="+mn-lt"/>
            </a:rPr>
            <a:t>业务对账</a:t>
          </a:r>
        </a:p>
      </dgm:t>
    </dgm:pt>
    <dgm:pt modelId="{3D1AB2CA-88A4-4E4C-9A8A-508DF0E06639}" type="parTrans" cxnId="{0A4C3A78-4E39-42BD-99E6-5204A9698D73}">
      <dgm:prSet/>
      <dgm:spPr/>
    </dgm:pt>
    <dgm:pt modelId="{856E2728-BF00-49C7-82BA-8F4DCB00940B}" type="sibTrans" cxnId="{0A4C3A78-4E39-42BD-99E6-5204A9698D73}">
      <dgm:prSet/>
      <dgm:spPr/>
    </dgm:pt>
    <dgm:pt modelId="{6F95AD19-5F38-4B54-9159-986C51CE9084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资金对账</a:t>
          </a:r>
        </a:p>
      </dgm:t>
    </dgm:pt>
    <dgm:pt modelId="{1B565CE3-CFBF-4898-BC1F-9D3078043EA2}" type="parTrans" cxnId="{7CD3488D-47A0-425E-8B64-360A8FFA9545}">
      <dgm:prSet/>
      <dgm:spPr/>
    </dgm:pt>
    <dgm:pt modelId="{52FB25FC-2990-4323-9A4B-CAFC00DAD326}" type="sibTrans" cxnId="{7CD3488D-47A0-425E-8B64-360A8FFA9545}">
      <dgm:prSet/>
      <dgm:spPr/>
    </dgm:pt>
    <dgm:pt modelId="{654FA620-B94B-45DE-A700-F351986F4348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固资对账</a:t>
          </a:r>
        </a:p>
      </dgm:t>
    </dgm:pt>
    <dgm:pt modelId="{8C430596-32F3-4CF9-9176-11E514A1AB42}" type="parTrans" cxnId="{F13385B5-21E1-4542-B92B-CFFA52EDFF6D}">
      <dgm:prSet/>
      <dgm:spPr/>
    </dgm:pt>
    <dgm:pt modelId="{9D4B24A6-9E83-4781-A61C-B92D8212DC57}" type="sibTrans" cxnId="{F13385B5-21E1-4542-B92B-CFFA52EDFF6D}">
      <dgm:prSet/>
      <dgm:spPr/>
    </dgm:pt>
    <dgm:pt modelId="{F74EBF1F-499A-422F-937A-A05495E46476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结账计划</a:t>
          </a:r>
        </a:p>
      </dgm:t>
    </dgm:pt>
    <dgm:pt modelId="{7CE2F9BC-EC9B-4619-916C-17F4A482A5F1}" type="parTrans" cxnId="{84DD27C4-2AF3-4759-BB66-84F992A20E1A}">
      <dgm:prSet/>
      <dgm:spPr/>
    </dgm:pt>
    <dgm:pt modelId="{A099E77C-FEAD-4134-988B-0AB4F476738C}" type="sibTrans" cxnId="{84DD27C4-2AF3-4759-BB66-84F992A20E1A}">
      <dgm:prSet/>
      <dgm:spPr/>
    </dgm:pt>
    <dgm:pt modelId="{DA3A4099-49C0-4622-BC6D-52525E6CCBA9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结账任务</a:t>
          </a:r>
        </a:p>
      </dgm:t>
    </dgm:pt>
    <dgm:pt modelId="{4AB327C9-C8D7-4EA0-8A03-BBBACBBEAE33}" type="parTrans" cxnId="{22FE44DF-FCD5-4DEB-81D0-F73E0F8C4ACD}">
      <dgm:prSet/>
      <dgm:spPr/>
    </dgm:pt>
    <dgm:pt modelId="{3193AF61-DEF0-495F-858E-5DDCBB55C9A7}" type="sibTrans" cxnId="{22FE44DF-FCD5-4DEB-81D0-F73E0F8C4ACD}">
      <dgm:prSet/>
      <dgm:spPr/>
    </dgm:pt>
    <dgm:pt modelId="{E991CD2F-9CB4-42CD-AC2E-52B3AF147566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结账工作台</a:t>
          </a:r>
        </a:p>
      </dgm:t>
    </dgm:pt>
    <dgm:pt modelId="{62F937C2-0C8D-4DD6-8A18-55C9166C5E16}" type="parTrans" cxnId="{F08ADAB0-2C96-4734-87FC-A2077D824E9C}">
      <dgm:prSet/>
      <dgm:spPr/>
    </dgm:pt>
    <dgm:pt modelId="{68C4C68A-BC48-496A-8EA9-8D1107000FE0}" type="sibTrans" cxnId="{F08ADAB0-2C96-4734-87FC-A2077D824E9C}">
      <dgm:prSet/>
      <dgm:spPr/>
    </dgm:pt>
    <dgm:pt modelId="{54D5A605-440A-43B7-999E-EA5DC97D1CF9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结账监控</a:t>
          </a:r>
        </a:p>
      </dgm:t>
    </dgm:pt>
    <dgm:pt modelId="{D8A59A7F-E947-4557-94F5-B8F054675A7B}" type="parTrans" cxnId="{F59CD431-7D2C-4ED7-AF5B-7942AA6B50C9}">
      <dgm:prSet/>
      <dgm:spPr/>
    </dgm:pt>
    <dgm:pt modelId="{80F770CE-0DFF-4EC1-9D82-894C5FE9234F}" type="sibTrans" cxnId="{F59CD431-7D2C-4ED7-AF5B-7942AA6B50C9}">
      <dgm:prSet/>
      <dgm:spPr/>
    </dgm:pt>
    <dgm:pt modelId="{1AA64000-5F0F-47A8-A435-2AF8D82F28B1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>
              <a:latin typeface="+mn-lt"/>
              <a:ea typeface="+mn-ea"/>
              <a:cs typeface="+mn-ea"/>
              <a:sym typeface="+mn-lt"/>
            </a:rPr>
            <a:t>结账预警</a:t>
          </a:r>
        </a:p>
      </dgm:t>
    </dgm:pt>
    <dgm:pt modelId="{845A32C3-0E8A-4EED-972E-FC6F9A8364F8}" type="parTrans" cxnId="{0748790D-9C05-4FA0-A97F-95827E3CA67F}">
      <dgm:prSet/>
      <dgm:spPr/>
    </dgm:pt>
    <dgm:pt modelId="{C0D86BAE-7711-4781-A574-7BE0EA273229}" type="sibTrans" cxnId="{0748790D-9C05-4FA0-A97F-95827E3CA67F}">
      <dgm:prSet/>
      <dgm:spPr/>
    </dgm:pt>
    <dgm:pt modelId="{9C12F5BE-AC2F-4662-8DFA-C79428950CF2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>
              <a:latin typeface="+mn-lt"/>
              <a:ea typeface="+mn-ea"/>
              <a:cs typeface="+mn-ea"/>
              <a:sym typeface="+mn-lt"/>
            </a:rPr>
            <a:t>结账分析</a:t>
          </a:r>
        </a:p>
      </dgm:t>
    </dgm:pt>
    <dgm:pt modelId="{E2B7565C-BEBF-47B7-AC71-10023CB96091}" type="parTrans" cxnId="{5F4AA986-F866-4995-9B3E-80D2BC813B7B}">
      <dgm:prSet/>
      <dgm:spPr/>
    </dgm:pt>
    <dgm:pt modelId="{BE48B07B-4C6F-4C50-9D7F-CE1D6590BF95}" type="sibTrans" cxnId="{5F4AA986-F866-4995-9B3E-80D2BC813B7B}">
      <dgm:prSet/>
      <dgm:spPr/>
    </dgm:pt>
    <dgm:pt modelId="{DD8D61C9-838D-4E36-8B79-D7FE15A75602}" type="pres">
      <dgm:prSet presAssocID="{9D527559-FDD8-4274-B634-C7FBCF5BC573}" presName="Name0" presStyleCnt="0">
        <dgm:presLayoutVars>
          <dgm:dir/>
          <dgm:resizeHandles val="exact"/>
        </dgm:presLayoutVars>
      </dgm:prSet>
      <dgm:spPr/>
    </dgm:pt>
    <dgm:pt modelId="{BC9ACFCB-089E-4CBB-A4FC-D58FE8C55942}" type="pres">
      <dgm:prSet presAssocID="{870E4F47-8CC4-4F59-B4C1-42B5AAA5CEFE}" presName="parTxOnly" presStyleLbl="node1" presStyleIdx="0" presStyleCnt="9">
        <dgm:presLayoutVars>
          <dgm:bulletEnabled val="1"/>
        </dgm:presLayoutVars>
      </dgm:prSet>
      <dgm:spPr/>
    </dgm:pt>
    <dgm:pt modelId="{CE99D2D1-1F6E-4790-9F0B-E98B9F5EDDBA}" type="pres">
      <dgm:prSet presAssocID="{856E2728-BF00-49C7-82BA-8F4DCB00940B}" presName="parSpace" presStyleCnt="0"/>
      <dgm:spPr/>
    </dgm:pt>
    <dgm:pt modelId="{F41FA5FA-0F34-4BF7-A1A1-4A6BFAFBDD6C}" type="pres">
      <dgm:prSet presAssocID="{6F95AD19-5F38-4B54-9159-986C51CE9084}" presName="parTxOnly" presStyleLbl="node1" presStyleIdx="1" presStyleCnt="9">
        <dgm:presLayoutVars>
          <dgm:bulletEnabled val="1"/>
        </dgm:presLayoutVars>
      </dgm:prSet>
      <dgm:spPr/>
    </dgm:pt>
    <dgm:pt modelId="{D8F01244-E943-4DA9-B41C-5FB1323884E9}" type="pres">
      <dgm:prSet presAssocID="{52FB25FC-2990-4323-9A4B-CAFC00DAD326}" presName="parSpace" presStyleCnt="0"/>
      <dgm:spPr/>
    </dgm:pt>
    <dgm:pt modelId="{D8A1B2F9-95F9-460A-B5DB-F32EE235B1DC}" type="pres">
      <dgm:prSet presAssocID="{654FA620-B94B-45DE-A700-F351986F4348}" presName="parTxOnly" presStyleLbl="node1" presStyleIdx="2" presStyleCnt="9">
        <dgm:presLayoutVars>
          <dgm:bulletEnabled val="1"/>
        </dgm:presLayoutVars>
      </dgm:prSet>
      <dgm:spPr/>
    </dgm:pt>
    <dgm:pt modelId="{FB04A669-45F7-4BFA-B80D-886141B3CC48}" type="pres">
      <dgm:prSet presAssocID="{9D4B24A6-9E83-4781-A61C-B92D8212DC57}" presName="parSpace" presStyleCnt="0"/>
      <dgm:spPr/>
    </dgm:pt>
    <dgm:pt modelId="{3FB26E2D-3570-49B6-89EA-01582F84FD4C}" type="pres">
      <dgm:prSet presAssocID="{F74EBF1F-499A-422F-937A-A05495E46476}" presName="parTxOnly" presStyleLbl="node1" presStyleIdx="3" presStyleCnt="9">
        <dgm:presLayoutVars>
          <dgm:bulletEnabled val="1"/>
        </dgm:presLayoutVars>
      </dgm:prSet>
      <dgm:spPr/>
    </dgm:pt>
    <dgm:pt modelId="{0EC8A004-B58B-4771-8323-666A6813D93D}" type="pres">
      <dgm:prSet presAssocID="{A099E77C-FEAD-4134-988B-0AB4F476738C}" presName="parSpace" presStyleCnt="0"/>
      <dgm:spPr/>
    </dgm:pt>
    <dgm:pt modelId="{4652B3B4-52CD-4880-A2E7-26155597CB3C}" type="pres">
      <dgm:prSet presAssocID="{DA3A4099-49C0-4622-BC6D-52525E6CCBA9}" presName="parTxOnly" presStyleLbl="node1" presStyleIdx="4" presStyleCnt="9">
        <dgm:presLayoutVars>
          <dgm:bulletEnabled val="1"/>
        </dgm:presLayoutVars>
      </dgm:prSet>
      <dgm:spPr/>
    </dgm:pt>
    <dgm:pt modelId="{642A5938-A159-4910-B8AE-C9D97014C398}" type="pres">
      <dgm:prSet presAssocID="{3193AF61-DEF0-495F-858E-5DDCBB55C9A7}" presName="parSpace" presStyleCnt="0"/>
      <dgm:spPr/>
    </dgm:pt>
    <dgm:pt modelId="{98DB7EC0-455D-4EBD-B380-A143A1DB299B}" type="pres">
      <dgm:prSet presAssocID="{E991CD2F-9CB4-42CD-AC2E-52B3AF147566}" presName="parTxOnly" presStyleLbl="node1" presStyleIdx="5" presStyleCnt="9">
        <dgm:presLayoutVars>
          <dgm:bulletEnabled val="1"/>
        </dgm:presLayoutVars>
      </dgm:prSet>
      <dgm:spPr/>
    </dgm:pt>
    <dgm:pt modelId="{C8E2BE3C-2A32-46E8-BBF0-FFE9CA9D7E45}" type="pres">
      <dgm:prSet presAssocID="{68C4C68A-BC48-496A-8EA9-8D1107000FE0}" presName="parSpace" presStyleCnt="0"/>
      <dgm:spPr/>
    </dgm:pt>
    <dgm:pt modelId="{04E8A274-B06E-4652-AEFB-43F73A50C66B}" type="pres">
      <dgm:prSet presAssocID="{54D5A605-440A-43B7-999E-EA5DC97D1CF9}" presName="parTxOnly" presStyleLbl="node1" presStyleIdx="6" presStyleCnt="9">
        <dgm:presLayoutVars>
          <dgm:bulletEnabled val="1"/>
        </dgm:presLayoutVars>
      </dgm:prSet>
      <dgm:spPr/>
    </dgm:pt>
    <dgm:pt modelId="{2D0FF3F9-7E48-4580-BE34-76EB9A1A508F}" type="pres">
      <dgm:prSet presAssocID="{80F770CE-0DFF-4EC1-9D82-894C5FE9234F}" presName="parSpace" presStyleCnt="0"/>
      <dgm:spPr/>
    </dgm:pt>
    <dgm:pt modelId="{F2389BAE-32B5-4FD0-A33C-D133129DAD41}" type="pres">
      <dgm:prSet presAssocID="{1AA64000-5F0F-47A8-A435-2AF8D82F28B1}" presName="parTxOnly" presStyleLbl="node1" presStyleIdx="7" presStyleCnt="9">
        <dgm:presLayoutVars>
          <dgm:bulletEnabled val="1"/>
        </dgm:presLayoutVars>
      </dgm:prSet>
      <dgm:spPr/>
    </dgm:pt>
    <dgm:pt modelId="{554F24BE-73FE-4A9D-BA33-8D31E989C038}" type="pres">
      <dgm:prSet presAssocID="{C0D86BAE-7711-4781-A574-7BE0EA273229}" presName="parSpace" presStyleCnt="0"/>
      <dgm:spPr/>
    </dgm:pt>
    <dgm:pt modelId="{B30B7416-33D0-4EBB-91FA-8248D1B1890D}" type="pres">
      <dgm:prSet presAssocID="{9C12F5BE-AC2F-4662-8DFA-C79428950CF2}" presName="parTxOnly" presStyleLbl="node1" presStyleIdx="8" presStyleCnt="9">
        <dgm:presLayoutVars>
          <dgm:bulletEnabled val="1"/>
        </dgm:presLayoutVars>
      </dgm:prSet>
      <dgm:spPr/>
    </dgm:pt>
  </dgm:ptLst>
  <dgm:cxnLst>
    <dgm:cxn modelId="{CB994502-6916-40EF-A710-C183742E7AE3}" type="presOf" srcId="{1AA64000-5F0F-47A8-A435-2AF8D82F28B1}" destId="{F2389BAE-32B5-4FD0-A33C-D133129DAD41}" srcOrd="0" destOrd="0" presId="urn:microsoft.com/office/officeart/2005/8/layout/hChevron3"/>
    <dgm:cxn modelId="{07041707-BFFA-4CB8-A5B0-FDF757901210}" type="presOf" srcId="{870E4F47-8CC4-4F59-B4C1-42B5AAA5CEFE}" destId="{BC9ACFCB-089E-4CBB-A4FC-D58FE8C55942}" srcOrd="0" destOrd="0" presId="urn:microsoft.com/office/officeart/2005/8/layout/hChevron3"/>
    <dgm:cxn modelId="{0748790D-9C05-4FA0-A97F-95827E3CA67F}" srcId="{9D527559-FDD8-4274-B634-C7FBCF5BC573}" destId="{1AA64000-5F0F-47A8-A435-2AF8D82F28B1}" srcOrd="7" destOrd="0" parTransId="{845A32C3-0E8A-4EED-972E-FC6F9A8364F8}" sibTransId="{C0D86BAE-7711-4781-A574-7BE0EA273229}"/>
    <dgm:cxn modelId="{3CB8F423-64B2-4743-9210-1CCE54C793F3}" type="presOf" srcId="{654FA620-B94B-45DE-A700-F351986F4348}" destId="{D8A1B2F9-95F9-460A-B5DB-F32EE235B1DC}" srcOrd="0" destOrd="0" presId="urn:microsoft.com/office/officeart/2005/8/layout/hChevron3"/>
    <dgm:cxn modelId="{F59CD431-7D2C-4ED7-AF5B-7942AA6B50C9}" srcId="{9D527559-FDD8-4274-B634-C7FBCF5BC573}" destId="{54D5A605-440A-43B7-999E-EA5DC97D1CF9}" srcOrd="6" destOrd="0" parTransId="{D8A59A7F-E947-4557-94F5-B8F054675A7B}" sibTransId="{80F770CE-0DFF-4EC1-9D82-894C5FE9234F}"/>
    <dgm:cxn modelId="{FFA35D38-1708-4266-A8B0-AA7063086F36}" type="presOf" srcId="{E991CD2F-9CB4-42CD-AC2E-52B3AF147566}" destId="{98DB7EC0-455D-4EBD-B380-A143A1DB299B}" srcOrd="0" destOrd="0" presId="urn:microsoft.com/office/officeart/2005/8/layout/hChevron3"/>
    <dgm:cxn modelId="{3A9DC039-22E5-4823-9741-F5A5D5E44747}" type="presOf" srcId="{6F95AD19-5F38-4B54-9159-986C51CE9084}" destId="{F41FA5FA-0F34-4BF7-A1A1-4A6BFAFBDD6C}" srcOrd="0" destOrd="0" presId="urn:microsoft.com/office/officeart/2005/8/layout/hChevron3"/>
    <dgm:cxn modelId="{75EB8550-38C7-4700-8894-D05DCDEBDD44}" type="presOf" srcId="{54D5A605-440A-43B7-999E-EA5DC97D1CF9}" destId="{04E8A274-B06E-4652-AEFB-43F73A50C66B}" srcOrd="0" destOrd="0" presId="urn:microsoft.com/office/officeart/2005/8/layout/hChevron3"/>
    <dgm:cxn modelId="{0A4C3A78-4E39-42BD-99E6-5204A9698D73}" srcId="{9D527559-FDD8-4274-B634-C7FBCF5BC573}" destId="{870E4F47-8CC4-4F59-B4C1-42B5AAA5CEFE}" srcOrd="0" destOrd="0" parTransId="{3D1AB2CA-88A4-4E4C-9A8A-508DF0E06639}" sibTransId="{856E2728-BF00-49C7-82BA-8F4DCB00940B}"/>
    <dgm:cxn modelId="{1FA1C078-8E4F-41F1-A6AC-EED65796E86C}" type="presOf" srcId="{F74EBF1F-499A-422F-937A-A05495E46476}" destId="{3FB26E2D-3570-49B6-89EA-01582F84FD4C}" srcOrd="0" destOrd="0" presId="urn:microsoft.com/office/officeart/2005/8/layout/hChevron3"/>
    <dgm:cxn modelId="{5F4AA986-F866-4995-9B3E-80D2BC813B7B}" srcId="{9D527559-FDD8-4274-B634-C7FBCF5BC573}" destId="{9C12F5BE-AC2F-4662-8DFA-C79428950CF2}" srcOrd="8" destOrd="0" parTransId="{E2B7565C-BEBF-47B7-AC71-10023CB96091}" sibTransId="{BE48B07B-4C6F-4C50-9D7F-CE1D6590BF95}"/>
    <dgm:cxn modelId="{465EB588-8BD0-448C-851E-0A9521CA035A}" type="presOf" srcId="{DA3A4099-49C0-4622-BC6D-52525E6CCBA9}" destId="{4652B3B4-52CD-4880-A2E7-26155597CB3C}" srcOrd="0" destOrd="0" presId="urn:microsoft.com/office/officeart/2005/8/layout/hChevron3"/>
    <dgm:cxn modelId="{7CD3488D-47A0-425E-8B64-360A8FFA9545}" srcId="{9D527559-FDD8-4274-B634-C7FBCF5BC573}" destId="{6F95AD19-5F38-4B54-9159-986C51CE9084}" srcOrd="1" destOrd="0" parTransId="{1B565CE3-CFBF-4898-BC1F-9D3078043EA2}" sibTransId="{52FB25FC-2990-4323-9A4B-CAFC00DAD326}"/>
    <dgm:cxn modelId="{16D6139E-44D4-48B1-90A6-8782240FE7BB}" type="presOf" srcId="{9C12F5BE-AC2F-4662-8DFA-C79428950CF2}" destId="{B30B7416-33D0-4EBB-91FA-8248D1B1890D}" srcOrd="0" destOrd="0" presId="urn:microsoft.com/office/officeart/2005/8/layout/hChevron3"/>
    <dgm:cxn modelId="{F08ADAB0-2C96-4734-87FC-A2077D824E9C}" srcId="{9D527559-FDD8-4274-B634-C7FBCF5BC573}" destId="{E991CD2F-9CB4-42CD-AC2E-52B3AF147566}" srcOrd="5" destOrd="0" parTransId="{62F937C2-0C8D-4DD6-8A18-55C9166C5E16}" sibTransId="{68C4C68A-BC48-496A-8EA9-8D1107000FE0}"/>
    <dgm:cxn modelId="{F13385B5-21E1-4542-B92B-CFFA52EDFF6D}" srcId="{9D527559-FDD8-4274-B634-C7FBCF5BC573}" destId="{654FA620-B94B-45DE-A700-F351986F4348}" srcOrd="2" destOrd="0" parTransId="{8C430596-32F3-4CF9-9176-11E514A1AB42}" sibTransId="{9D4B24A6-9E83-4781-A61C-B92D8212DC57}"/>
    <dgm:cxn modelId="{84DD27C4-2AF3-4759-BB66-84F992A20E1A}" srcId="{9D527559-FDD8-4274-B634-C7FBCF5BC573}" destId="{F74EBF1F-499A-422F-937A-A05495E46476}" srcOrd="3" destOrd="0" parTransId="{7CE2F9BC-EC9B-4619-916C-17F4A482A5F1}" sibTransId="{A099E77C-FEAD-4134-988B-0AB4F476738C}"/>
    <dgm:cxn modelId="{B4809BD8-0661-4930-9444-15B32175FB5B}" type="presOf" srcId="{9D527559-FDD8-4274-B634-C7FBCF5BC573}" destId="{DD8D61C9-838D-4E36-8B79-D7FE15A75602}" srcOrd="0" destOrd="0" presId="urn:microsoft.com/office/officeart/2005/8/layout/hChevron3"/>
    <dgm:cxn modelId="{22FE44DF-FCD5-4DEB-81D0-F73E0F8C4ACD}" srcId="{9D527559-FDD8-4274-B634-C7FBCF5BC573}" destId="{DA3A4099-49C0-4622-BC6D-52525E6CCBA9}" srcOrd="4" destOrd="0" parTransId="{4AB327C9-C8D7-4EA0-8A03-BBBACBBEAE33}" sibTransId="{3193AF61-DEF0-495F-858E-5DDCBB55C9A7}"/>
    <dgm:cxn modelId="{77E67384-00B1-4496-A598-FF7F224398E2}" type="presParOf" srcId="{DD8D61C9-838D-4E36-8B79-D7FE15A75602}" destId="{BC9ACFCB-089E-4CBB-A4FC-D58FE8C55942}" srcOrd="0" destOrd="0" presId="urn:microsoft.com/office/officeart/2005/8/layout/hChevron3"/>
    <dgm:cxn modelId="{4B5618BA-1C42-4425-9E82-828BDF781953}" type="presParOf" srcId="{DD8D61C9-838D-4E36-8B79-D7FE15A75602}" destId="{CE99D2D1-1F6E-4790-9F0B-E98B9F5EDDBA}" srcOrd="1" destOrd="0" presId="urn:microsoft.com/office/officeart/2005/8/layout/hChevron3"/>
    <dgm:cxn modelId="{439418CD-20BE-4BEF-880E-3C034736B14F}" type="presParOf" srcId="{DD8D61C9-838D-4E36-8B79-D7FE15A75602}" destId="{F41FA5FA-0F34-4BF7-A1A1-4A6BFAFBDD6C}" srcOrd="2" destOrd="0" presId="urn:microsoft.com/office/officeart/2005/8/layout/hChevron3"/>
    <dgm:cxn modelId="{0392A0D5-2CC5-41DB-A21C-79DAB59B66D4}" type="presParOf" srcId="{DD8D61C9-838D-4E36-8B79-D7FE15A75602}" destId="{D8F01244-E943-4DA9-B41C-5FB1323884E9}" srcOrd="3" destOrd="0" presId="urn:microsoft.com/office/officeart/2005/8/layout/hChevron3"/>
    <dgm:cxn modelId="{7F13C1B3-BA5E-4DFF-9DF3-BAF22ED32607}" type="presParOf" srcId="{DD8D61C9-838D-4E36-8B79-D7FE15A75602}" destId="{D8A1B2F9-95F9-460A-B5DB-F32EE235B1DC}" srcOrd="4" destOrd="0" presId="urn:microsoft.com/office/officeart/2005/8/layout/hChevron3"/>
    <dgm:cxn modelId="{100DE54F-1D3C-4E50-9258-070F81218881}" type="presParOf" srcId="{DD8D61C9-838D-4E36-8B79-D7FE15A75602}" destId="{FB04A669-45F7-4BFA-B80D-886141B3CC48}" srcOrd="5" destOrd="0" presId="urn:microsoft.com/office/officeart/2005/8/layout/hChevron3"/>
    <dgm:cxn modelId="{D14043CA-05EB-4AE4-AD20-76E3D9BDCD8E}" type="presParOf" srcId="{DD8D61C9-838D-4E36-8B79-D7FE15A75602}" destId="{3FB26E2D-3570-49B6-89EA-01582F84FD4C}" srcOrd="6" destOrd="0" presId="urn:microsoft.com/office/officeart/2005/8/layout/hChevron3"/>
    <dgm:cxn modelId="{DA940797-E820-4D25-9F9D-73D1AFACF966}" type="presParOf" srcId="{DD8D61C9-838D-4E36-8B79-D7FE15A75602}" destId="{0EC8A004-B58B-4771-8323-666A6813D93D}" srcOrd="7" destOrd="0" presId="urn:microsoft.com/office/officeart/2005/8/layout/hChevron3"/>
    <dgm:cxn modelId="{AF7CC7EB-FEF0-492D-9A18-2153939C7E05}" type="presParOf" srcId="{DD8D61C9-838D-4E36-8B79-D7FE15A75602}" destId="{4652B3B4-52CD-4880-A2E7-26155597CB3C}" srcOrd="8" destOrd="0" presId="urn:microsoft.com/office/officeart/2005/8/layout/hChevron3"/>
    <dgm:cxn modelId="{7838F606-6093-49B0-B40E-E72C0C2F9A66}" type="presParOf" srcId="{DD8D61C9-838D-4E36-8B79-D7FE15A75602}" destId="{642A5938-A159-4910-B8AE-C9D97014C398}" srcOrd="9" destOrd="0" presId="urn:microsoft.com/office/officeart/2005/8/layout/hChevron3"/>
    <dgm:cxn modelId="{3B946F8A-F9CF-40FB-A2C7-62A0289EF85B}" type="presParOf" srcId="{DD8D61C9-838D-4E36-8B79-D7FE15A75602}" destId="{98DB7EC0-455D-4EBD-B380-A143A1DB299B}" srcOrd="10" destOrd="0" presId="urn:microsoft.com/office/officeart/2005/8/layout/hChevron3"/>
    <dgm:cxn modelId="{E0AF19B0-2987-4DD3-8871-7B4A6948E164}" type="presParOf" srcId="{DD8D61C9-838D-4E36-8B79-D7FE15A75602}" destId="{C8E2BE3C-2A32-46E8-BBF0-FFE9CA9D7E45}" srcOrd="11" destOrd="0" presId="urn:microsoft.com/office/officeart/2005/8/layout/hChevron3"/>
    <dgm:cxn modelId="{A537A65C-3067-4AA3-A749-E386BE8EF2EE}" type="presParOf" srcId="{DD8D61C9-838D-4E36-8B79-D7FE15A75602}" destId="{04E8A274-B06E-4652-AEFB-43F73A50C66B}" srcOrd="12" destOrd="0" presId="urn:microsoft.com/office/officeart/2005/8/layout/hChevron3"/>
    <dgm:cxn modelId="{EC8B07C7-2BB6-412C-8CFE-9F17AB1F8B0F}" type="presParOf" srcId="{DD8D61C9-838D-4E36-8B79-D7FE15A75602}" destId="{2D0FF3F9-7E48-4580-BE34-76EB9A1A508F}" srcOrd="13" destOrd="0" presId="urn:microsoft.com/office/officeart/2005/8/layout/hChevron3"/>
    <dgm:cxn modelId="{54EE990F-9F53-4C87-9E6B-3EA52C16699C}" type="presParOf" srcId="{DD8D61C9-838D-4E36-8B79-D7FE15A75602}" destId="{F2389BAE-32B5-4FD0-A33C-D133129DAD41}" srcOrd="14" destOrd="0" presId="urn:microsoft.com/office/officeart/2005/8/layout/hChevron3"/>
    <dgm:cxn modelId="{0C88FF40-90B2-4E53-A91A-91D3007D8026}" type="presParOf" srcId="{DD8D61C9-838D-4E36-8B79-D7FE15A75602}" destId="{554F24BE-73FE-4A9D-BA33-8D31E989C038}" srcOrd="15" destOrd="0" presId="urn:microsoft.com/office/officeart/2005/8/layout/hChevron3"/>
    <dgm:cxn modelId="{4935D9BB-08E0-4E34-A0A6-4E5C3C717146}" type="presParOf" srcId="{DD8D61C9-838D-4E36-8B79-D7FE15A75602}" destId="{B30B7416-33D0-4EBB-91FA-8248D1B1890D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527559-FDD8-4274-B634-C7FBCF5BC573}" type="doc">
      <dgm:prSet loTypeId="urn:microsoft.com/office/officeart/2005/8/layout/hChevron3" loCatId="process" qsTypeId="urn:microsoft.com/office/officeart/2005/8/quickstyle/simple4#5" qsCatId="simple" csTypeId="urn:microsoft.com/office/officeart/2005/8/colors/accent1_3#5" csCatId="accent1" phldr="1"/>
      <dgm:spPr/>
    </dgm:pt>
    <dgm:pt modelId="{870E4F47-8CC4-4F59-B4C1-42B5AAA5CEFE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>
              <a:latin typeface="+mn-lt"/>
              <a:ea typeface="+mn-ea"/>
              <a:cs typeface="+mn-ea"/>
              <a:sym typeface="+mn-lt"/>
            </a:rPr>
            <a:t>事前业务管控</a:t>
          </a:r>
        </a:p>
      </dgm:t>
    </dgm:pt>
    <dgm:pt modelId="{3D1AB2CA-88A4-4E4C-9A8A-508DF0E06639}" type="parTrans" cxnId="{50A8BE3D-334E-4481-B425-1A3C3E3698A9}">
      <dgm:prSet/>
      <dgm:spPr/>
    </dgm:pt>
    <dgm:pt modelId="{856E2728-BF00-49C7-82BA-8F4DCB00940B}" type="sibTrans" cxnId="{50A8BE3D-334E-4481-B425-1A3C3E3698A9}">
      <dgm:prSet/>
      <dgm:spPr/>
    </dgm:pt>
    <dgm:pt modelId="{6F95AD19-5F38-4B54-9159-986C51CE9084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业务财务对账</a:t>
          </a:r>
        </a:p>
      </dgm:t>
    </dgm:pt>
    <dgm:pt modelId="{1B565CE3-CFBF-4898-BC1F-9D3078043EA2}" type="parTrans" cxnId="{020D6355-6226-4536-997F-03D7EFCEDF44}">
      <dgm:prSet/>
      <dgm:spPr/>
    </dgm:pt>
    <dgm:pt modelId="{52FB25FC-2990-4323-9A4B-CAFC00DAD326}" type="sibTrans" cxnId="{020D6355-6226-4536-997F-03D7EFCEDF44}">
      <dgm:prSet/>
      <dgm:spPr/>
    </dgm:pt>
    <dgm:pt modelId="{654FA620-B94B-45DE-A700-F351986F4348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应收应付管理</a:t>
          </a:r>
        </a:p>
      </dgm:t>
    </dgm:pt>
    <dgm:pt modelId="{8C430596-32F3-4CF9-9176-11E514A1AB42}" type="parTrans" cxnId="{4B0EB46F-A85E-4171-A386-C981E2EC1594}">
      <dgm:prSet/>
      <dgm:spPr/>
    </dgm:pt>
    <dgm:pt modelId="{9D4B24A6-9E83-4781-A61C-B92D8212DC57}" type="sibTrans" cxnId="{4B0EB46F-A85E-4171-A386-C981E2EC1594}">
      <dgm:prSet/>
      <dgm:spPr/>
    </dgm:pt>
    <dgm:pt modelId="{F74EBF1F-499A-422F-937A-A05495E46476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资金税务处理</a:t>
          </a:r>
        </a:p>
      </dgm:t>
    </dgm:pt>
    <dgm:pt modelId="{7CE2F9BC-EC9B-4619-916C-17F4A482A5F1}" type="parTrans" cxnId="{72121729-9144-4983-9B31-2D7E8EE356C0}">
      <dgm:prSet/>
      <dgm:spPr/>
    </dgm:pt>
    <dgm:pt modelId="{A099E77C-FEAD-4134-988B-0AB4F476738C}" type="sibTrans" cxnId="{72121729-9144-4983-9B31-2D7E8EE356C0}">
      <dgm:prSet/>
      <dgm:spPr/>
    </dgm:pt>
    <dgm:pt modelId="{54D5A605-440A-43B7-999E-EA5DC97D1CF9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结账检查</a:t>
          </a:r>
        </a:p>
      </dgm:t>
    </dgm:pt>
    <dgm:pt modelId="{D8A59A7F-E947-4557-94F5-B8F054675A7B}" type="parTrans" cxnId="{AC669B97-1F48-4050-AD72-0F8ED2E50DDB}">
      <dgm:prSet/>
      <dgm:spPr/>
    </dgm:pt>
    <dgm:pt modelId="{80F770CE-0DFF-4EC1-9D82-894C5FE9234F}" type="sibTrans" cxnId="{AC669B97-1F48-4050-AD72-0F8ED2E50DDB}">
      <dgm:prSet/>
      <dgm:spPr/>
    </dgm:pt>
    <dgm:pt modelId="{1AA64000-5F0F-47A8-A435-2AF8D82F28B1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>
              <a:latin typeface="+mn-lt"/>
              <a:ea typeface="+mn-ea"/>
              <a:cs typeface="+mn-ea"/>
              <a:sym typeface="+mn-lt"/>
            </a:rPr>
            <a:t>事后监控和分析</a:t>
          </a:r>
        </a:p>
      </dgm:t>
    </dgm:pt>
    <dgm:pt modelId="{845A32C3-0E8A-4EED-972E-FC6F9A8364F8}" type="parTrans" cxnId="{0C2D2787-5951-4087-8E8F-23786038FA93}">
      <dgm:prSet/>
      <dgm:spPr/>
    </dgm:pt>
    <dgm:pt modelId="{C0D86BAE-7711-4781-A574-7BE0EA273229}" type="sibTrans" cxnId="{0C2D2787-5951-4087-8E8F-23786038FA93}">
      <dgm:prSet/>
      <dgm:spPr/>
    </dgm:pt>
    <dgm:pt modelId="{DD8D61C9-838D-4E36-8B79-D7FE15A75602}" type="pres">
      <dgm:prSet presAssocID="{9D527559-FDD8-4274-B634-C7FBCF5BC573}" presName="Name0" presStyleCnt="0">
        <dgm:presLayoutVars>
          <dgm:dir/>
          <dgm:resizeHandles val="exact"/>
        </dgm:presLayoutVars>
      </dgm:prSet>
      <dgm:spPr/>
    </dgm:pt>
    <dgm:pt modelId="{BC9ACFCB-089E-4CBB-A4FC-D58FE8C55942}" type="pres">
      <dgm:prSet presAssocID="{870E4F47-8CC4-4F59-B4C1-42B5AAA5CEFE}" presName="parTxOnly" presStyleLbl="node1" presStyleIdx="0" presStyleCnt="6">
        <dgm:presLayoutVars>
          <dgm:bulletEnabled val="1"/>
        </dgm:presLayoutVars>
      </dgm:prSet>
      <dgm:spPr/>
    </dgm:pt>
    <dgm:pt modelId="{CE99D2D1-1F6E-4790-9F0B-E98B9F5EDDBA}" type="pres">
      <dgm:prSet presAssocID="{856E2728-BF00-49C7-82BA-8F4DCB00940B}" presName="parSpace" presStyleCnt="0"/>
      <dgm:spPr/>
    </dgm:pt>
    <dgm:pt modelId="{F41FA5FA-0F34-4BF7-A1A1-4A6BFAFBDD6C}" type="pres">
      <dgm:prSet presAssocID="{6F95AD19-5F38-4B54-9159-986C51CE9084}" presName="parTxOnly" presStyleLbl="node1" presStyleIdx="1" presStyleCnt="6">
        <dgm:presLayoutVars>
          <dgm:bulletEnabled val="1"/>
        </dgm:presLayoutVars>
      </dgm:prSet>
      <dgm:spPr/>
    </dgm:pt>
    <dgm:pt modelId="{D8F01244-E943-4DA9-B41C-5FB1323884E9}" type="pres">
      <dgm:prSet presAssocID="{52FB25FC-2990-4323-9A4B-CAFC00DAD326}" presName="parSpace" presStyleCnt="0"/>
      <dgm:spPr/>
    </dgm:pt>
    <dgm:pt modelId="{D8A1B2F9-95F9-460A-B5DB-F32EE235B1DC}" type="pres">
      <dgm:prSet presAssocID="{654FA620-B94B-45DE-A700-F351986F4348}" presName="parTxOnly" presStyleLbl="node1" presStyleIdx="2" presStyleCnt="6">
        <dgm:presLayoutVars>
          <dgm:bulletEnabled val="1"/>
        </dgm:presLayoutVars>
      </dgm:prSet>
      <dgm:spPr/>
    </dgm:pt>
    <dgm:pt modelId="{FB04A669-45F7-4BFA-B80D-886141B3CC48}" type="pres">
      <dgm:prSet presAssocID="{9D4B24A6-9E83-4781-A61C-B92D8212DC57}" presName="parSpace" presStyleCnt="0"/>
      <dgm:spPr/>
    </dgm:pt>
    <dgm:pt modelId="{3FB26E2D-3570-49B6-89EA-01582F84FD4C}" type="pres">
      <dgm:prSet presAssocID="{F74EBF1F-499A-422F-937A-A05495E46476}" presName="parTxOnly" presStyleLbl="node1" presStyleIdx="3" presStyleCnt="6">
        <dgm:presLayoutVars>
          <dgm:bulletEnabled val="1"/>
        </dgm:presLayoutVars>
      </dgm:prSet>
      <dgm:spPr/>
    </dgm:pt>
    <dgm:pt modelId="{0EC8A004-B58B-4771-8323-666A6813D93D}" type="pres">
      <dgm:prSet presAssocID="{A099E77C-FEAD-4134-988B-0AB4F476738C}" presName="parSpace" presStyleCnt="0"/>
      <dgm:spPr/>
    </dgm:pt>
    <dgm:pt modelId="{04E8A274-B06E-4652-AEFB-43F73A50C66B}" type="pres">
      <dgm:prSet presAssocID="{54D5A605-440A-43B7-999E-EA5DC97D1CF9}" presName="parTxOnly" presStyleLbl="node1" presStyleIdx="4" presStyleCnt="6">
        <dgm:presLayoutVars>
          <dgm:bulletEnabled val="1"/>
        </dgm:presLayoutVars>
      </dgm:prSet>
      <dgm:spPr/>
    </dgm:pt>
    <dgm:pt modelId="{2D0FF3F9-7E48-4580-BE34-76EB9A1A508F}" type="pres">
      <dgm:prSet presAssocID="{80F770CE-0DFF-4EC1-9D82-894C5FE9234F}" presName="parSpace" presStyleCnt="0"/>
      <dgm:spPr/>
    </dgm:pt>
    <dgm:pt modelId="{F2389BAE-32B5-4FD0-A33C-D133129DAD41}" type="pres">
      <dgm:prSet presAssocID="{1AA64000-5F0F-47A8-A435-2AF8D82F28B1}" presName="parTxOnly" presStyleLbl="node1" presStyleIdx="5" presStyleCnt="6">
        <dgm:presLayoutVars>
          <dgm:bulletEnabled val="1"/>
        </dgm:presLayoutVars>
      </dgm:prSet>
      <dgm:spPr/>
    </dgm:pt>
  </dgm:ptLst>
  <dgm:cxnLst>
    <dgm:cxn modelId="{F81EB60E-CE73-4531-AA1C-06E8EFA2CD82}" type="presOf" srcId="{9D527559-FDD8-4274-B634-C7FBCF5BC573}" destId="{DD8D61C9-838D-4E36-8B79-D7FE15A75602}" srcOrd="0" destOrd="0" presId="urn:microsoft.com/office/officeart/2005/8/layout/hChevron3"/>
    <dgm:cxn modelId="{72121729-9144-4983-9B31-2D7E8EE356C0}" srcId="{9D527559-FDD8-4274-B634-C7FBCF5BC573}" destId="{F74EBF1F-499A-422F-937A-A05495E46476}" srcOrd="3" destOrd="0" parTransId="{7CE2F9BC-EC9B-4619-916C-17F4A482A5F1}" sibTransId="{A099E77C-FEAD-4134-988B-0AB4F476738C}"/>
    <dgm:cxn modelId="{EB185134-90FD-4E58-8108-319F7698A64F}" type="presOf" srcId="{870E4F47-8CC4-4F59-B4C1-42B5AAA5CEFE}" destId="{BC9ACFCB-089E-4CBB-A4FC-D58FE8C55942}" srcOrd="0" destOrd="0" presId="urn:microsoft.com/office/officeart/2005/8/layout/hChevron3"/>
    <dgm:cxn modelId="{50A8BE3D-334E-4481-B425-1A3C3E3698A9}" srcId="{9D527559-FDD8-4274-B634-C7FBCF5BC573}" destId="{870E4F47-8CC4-4F59-B4C1-42B5AAA5CEFE}" srcOrd="0" destOrd="0" parTransId="{3D1AB2CA-88A4-4E4C-9A8A-508DF0E06639}" sibTransId="{856E2728-BF00-49C7-82BA-8F4DCB00940B}"/>
    <dgm:cxn modelId="{DD1A7642-C15B-4DCA-8972-B87E481CC211}" type="presOf" srcId="{6F95AD19-5F38-4B54-9159-986C51CE9084}" destId="{F41FA5FA-0F34-4BF7-A1A1-4A6BFAFBDD6C}" srcOrd="0" destOrd="0" presId="urn:microsoft.com/office/officeart/2005/8/layout/hChevron3"/>
    <dgm:cxn modelId="{4B0EB46F-A85E-4171-A386-C981E2EC1594}" srcId="{9D527559-FDD8-4274-B634-C7FBCF5BC573}" destId="{654FA620-B94B-45DE-A700-F351986F4348}" srcOrd="2" destOrd="0" parTransId="{8C430596-32F3-4CF9-9176-11E514A1AB42}" sibTransId="{9D4B24A6-9E83-4781-A61C-B92D8212DC57}"/>
    <dgm:cxn modelId="{020D6355-6226-4536-997F-03D7EFCEDF44}" srcId="{9D527559-FDD8-4274-B634-C7FBCF5BC573}" destId="{6F95AD19-5F38-4B54-9159-986C51CE9084}" srcOrd="1" destOrd="0" parTransId="{1B565CE3-CFBF-4898-BC1F-9D3078043EA2}" sibTransId="{52FB25FC-2990-4323-9A4B-CAFC00DAD326}"/>
    <dgm:cxn modelId="{0C2D2787-5951-4087-8E8F-23786038FA93}" srcId="{9D527559-FDD8-4274-B634-C7FBCF5BC573}" destId="{1AA64000-5F0F-47A8-A435-2AF8D82F28B1}" srcOrd="5" destOrd="0" parTransId="{845A32C3-0E8A-4EED-972E-FC6F9A8364F8}" sibTransId="{C0D86BAE-7711-4781-A574-7BE0EA273229}"/>
    <dgm:cxn modelId="{AC669B97-1F48-4050-AD72-0F8ED2E50DDB}" srcId="{9D527559-FDD8-4274-B634-C7FBCF5BC573}" destId="{54D5A605-440A-43B7-999E-EA5DC97D1CF9}" srcOrd="4" destOrd="0" parTransId="{D8A59A7F-E947-4557-94F5-B8F054675A7B}" sibTransId="{80F770CE-0DFF-4EC1-9D82-894C5FE9234F}"/>
    <dgm:cxn modelId="{D78A21AE-DCBA-41E6-B5A5-DCF4A81C4913}" type="presOf" srcId="{54D5A605-440A-43B7-999E-EA5DC97D1CF9}" destId="{04E8A274-B06E-4652-AEFB-43F73A50C66B}" srcOrd="0" destOrd="0" presId="urn:microsoft.com/office/officeart/2005/8/layout/hChevron3"/>
    <dgm:cxn modelId="{A7E8FBB8-84BA-427B-B3D4-F861109348E6}" type="presOf" srcId="{F74EBF1F-499A-422F-937A-A05495E46476}" destId="{3FB26E2D-3570-49B6-89EA-01582F84FD4C}" srcOrd="0" destOrd="0" presId="urn:microsoft.com/office/officeart/2005/8/layout/hChevron3"/>
    <dgm:cxn modelId="{1B1FE1BB-05A2-4248-9F06-1F8BFFFD97BD}" type="presOf" srcId="{1AA64000-5F0F-47A8-A435-2AF8D82F28B1}" destId="{F2389BAE-32B5-4FD0-A33C-D133129DAD41}" srcOrd="0" destOrd="0" presId="urn:microsoft.com/office/officeart/2005/8/layout/hChevron3"/>
    <dgm:cxn modelId="{45EB41F9-4155-4E81-A1C4-D6A21251BFB7}" type="presOf" srcId="{654FA620-B94B-45DE-A700-F351986F4348}" destId="{D8A1B2F9-95F9-460A-B5DB-F32EE235B1DC}" srcOrd="0" destOrd="0" presId="urn:microsoft.com/office/officeart/2005/8/layout/hChevron3"/>
    <dgm:cxn modelId="{99765624-3613-4875-BD08-E70419617B22}" type="presParOf" srcId="{DD8D61C9-838D-4E36-8B79-D7FE15A75602}" destId="{BC9ACFCB-089E-4CBB-A4FC-D58FE8C55942}" srcOrd="0" destOrd="0" presId="urn:microsoft.com/office/officeart/2005/8/layout/hChevron3"/>
    <dgm:cxn modelId="{BF99A60D-EC73-4897-BD1E-DB4949ADD5F5}" type="presParOf" srcId="{DD8D61C9-838D-4E36-8B79-D7FE15A75602}" destId="{CE99D2D1-1F6E-4790-9F0B-E98B9F5EDDBA}" srcOrd="1" destOrd="0" presId="urn:microsoft.com/office/officeart/2005/8/layout/hChevron3"/>
    <dgm:cxn modelId="{276AA5DA-F3F5-44A1-814F-677B5C3A1616}" type="presParOf" srcId="{DD8D61C9-838D-4E36-8B79-D7FE15A75602}" destId="{F41FA5FA-0F34-4BF7-A1A1-4A6BFAFBDD6C}" srcOrd="2" destOrd="0" presId="urn:microsoft.com/office/officeart/2005/8/layout/hChevron3"/>
    <dgm:cxn modelId="{AE962EA7-78A5-4371-B2C7-2B5118839C7F}" type="presParOf" srcId="{DD8D61C9-838D-4E36-8B79-D7FE15A75602}" destId="{D8F01244-E943-4DA9-B41C-5FB1323884E9}" srcOrd="3" destOrd="0" presId="urn:microsoft.com/office/officeart/2005/8/layout/hChevron3"/>
    <dgm:cxn modelId="{62E6A7BD-42B9-492A-A728-0BD3A3639808}" type="presParOf" srcId="{DD8D61C9-838D-4E36-8B79-D7FE15A75602}" destId="{D8A1B2F9-95F9-460A-B5DB-F32EE235B1DC}" srcOrd="4" destOrd="0" presId="urn:microsoft.com/office/officeart/2005/8/layout/hChevron3"/>
    <dgm:cxn modelId="{FA7D9498-DC0C-4BD4-A4E2-8D3F00613E36}" type="presParOf" srcId="{DD8D61C9-838D-4E36-8B79-D7FE15A75602}" destId="{FB04A669-45F7-4BFA-B80D-886141B3CC48}" srcOrd="5" destOrd="0" presId="urn:microsoft.com/office/officeart/2005/8/layout/hChevron3"/>
    <dgm:cxn modelId="{8AA12381-D351-45FB-988F-01DF6447B75B}" type="presParOf" srcId="{DD8D61C9-838D-4E36-8B79-D7FE15A75602}" destId="{3FB26E2D-3570-49B6-89EA-01582F84FD4C}" srcOrd="6" destOrd="0" presId="urn:microsoft.com/office/officeart/2005/8/layout/hChevron3"/>
    <dgm:cxn modelId="{D49F69AD-B8B2-419F-957E-80969344BBAA}" type="presParOf" srcId="{DD8D61C9-838D-4E36-8B79-D7FE15A75602}" destId="{0EC8A004-B58B-4771-8323-666A6813D93D}" srcOrd="7" destOrd="0" presId="urn:microsoft.com/office/officeart/2005/8/layout/hChevron3"/>
    <dgm:cxn modelId="{432FDB37-33E6-405B-B9D3-667C06F356A7}" type="presParOf" srcId="{DD8D61C9-838D-4E36-8B79-D7FE15A75602}" destId="{04E8A274-B06E-4652-AEFB-43F73A50C66B}" srcOrd="8" destOrd="0" presId="urn:microsoft.com/office/officeart/2005/8/layout/hChevron3"/>
    <dgm:cxn modelId="{3ED07DAF-C4CB-4A8A-9823-53CA79C30D92}" type="presParOf" srcId="{DD8D61C9-838D-4E36-8B79-D7FE15A75602}" destId="{2D0FF3F9-7E48-4580-BE34-76EB9A1A508F}" srcOrd="9" destOrd="0" presId="urn:microsoft.com/office/officeart/2005/8/layout/hChevron3"/>
    <dgm:cxn modelId="{2C918C5A-0933-47DD-BA85-190C730182C6}" type="presParOf" srcId="{DD8D61C9-838D-4E36-8B79-D7FE15A75602}" destId="{F2389BAE-32B5-4FD0-A33C-D133129DAD41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527559-FDD8-4274-B634-C7FBCF5BC573}" type="doc">
      <dgm:prSet loTypeId="urn:microsoft.com/office/officeart/2005/8/layout/hChevron3" loCatId="process" qsTypeId="urn:microsoft.com/office/officeart/2005/8/quickstyle/simple4#6" qsCatId="simple" csTypeId="urn:microsoft.com/office/officeart/2005/8/colors/accent1_3#6" csCatId="accent1" phldr="1"/>
      <dgm:spPr/>
    </dgm:pt>
    <dgm:pt modelId="{870E4F47-8CC4-4F59-B4C1-42B5AAA5CEFE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>
              <a:latin typeface="+mn-lt"/>
              <a:ea typeface="+mn-ea"/>
              <a:cs typeface="+mn-ea"/>
              <a:sym typeface="+mn-lt"/>
            </a:rPr>
            <a:t>业务对账</a:t>
          </a:r>
        </a:p>
      </dgm:t>
    </dgm:pt>
    <dgm:pt modelId="{3D1AB2CA-88A4-4E4C-9A8A-508DF0E06639}" type="parTrans" cxnId="{0A4C3A78-4E39-42BD-99E6-5204A9698D73}">
      <dgm:prSet/>
      <dgm:spPr/>
    </dgm:pt>
    <dgm:pt modelId="{856E2728-BF00-49C7-82BA-8F4DCB00940B}" type="sibTrans" cxnId="{0A4C3A78-4E39-42BD-99E6-5204A9698D73}">
      <dgm:prSet/>
      <dgm:spPr/>
    </dgm:pt>
    <dgm:pt modelId="{6F95AD19-5F38-4B54-9159-986C51CE9084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资金对账</a:t>
          </a:r>
        </a:p>
      </dgm:t>
    </dgm:pt>
    <dgm:pt modelId="{1B565CE3-CFBF-4898-BC1F-9D3078043EA2}" type="parTrans" cxnId="{7CD3488D-47A0-425E-8B64-360A8FFA9545}">
      <dgm:prSet/>
      <dgm:spPr/>
    </dgm:pt>
    <dgm:pt modelId="{52FB25FC-2990-4323-9A4B-CAFC00DAD326}" type="sibTrans" cxnId="{7CD3488D-47A0-425E-8B64-360A8FFA9545}">
      <dgm:prSet/>
      <dgm:spPr/>
    </dgm:pt>
    <dgm:pt modelId="{654FA620-B94B-45DE-A700-F351986F4348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固资对账</a:t>
          </a:r>
        </a:p>
      </dgm:t>
    </dgm:pt>
    <dgm:pt modelId="{8C430596-32F3-4CF9-9176-11E514A1AB42}" type="parTrans" cxnId="{F13385B5-21E1-4542-B92B-CFFA52EDFF6D}">
      <dgm:prSet/>
      <dgm:spPr/>
    </dgm:pt>
    <dgm:pt modelId="{9D4B24A6-9E83-4781-A61C-B92D8212DC57}" type="sibTrans" cxnId="{F13385B5-21E1-4542-B92B-CFFA52EDFF6D}">
      <dgm:prSet/>
      <dgm:spPr/>
    </dgm:pt>
    <dgm:pt modelId="{F74EBF1F-499A-422F-937A-A05495E46476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结账计划</a:t>
          </a:r>
        </a:p>
      </dgm:t>
    </dgm:pt>
    <dgm:pt modelId="{7CE2F9BC-EC9B-4619-916C-17F4A482A5F1}" type="parTrans" cxnId="{84DD27C4-2AF3-4759-BB66-84F992A20E1A}">
      <dgm:prSet/>
      <dgm:spPr/>
    </dgm:pt>
    <dgm:pt modelId="{A099E77C-FEAD-4134-988B-0AB4F476738C}" type="sibTrans" cxnId="{84DD27C4-2AF3-4759-BB66-84F992A20E1A}">
      <dgm:prSet/>
      <dgm:spPr/>
    </dgm:pt>
    <dgm:pt modelId="{DA3A4099-49C0-4622-BC6D-52525E6CCBA9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结账任务</a:t>
          </a:r>
        </a:p>
      </dgm:t>
    </dgm:pt>
    <dgm:pt modelId="{4AB327C9-C8D7-4EA0-8A03-BBBACBBEAE33}" type="parTrans" cxnId="{22FE44DF-FCD5-4DEB-81D0-F73E0F8C4ACD}">
      <dgm:prSet/>
      <dgm:spPr/>
    </dgm:pt>
    <dgm:pt modelId="{3193AF61-DEF0-495F-858E-5DDCBB55C9A7}" type="sibTrans" cxnId="{22FE44DF-FCD5-4DEB-81D0-F73E0F8C4ACD}">
      <dgm:prSet/>
      <dgm:spPr/>
    </dgm:pt>
    <dgm:pt modelId="{E991CD2F-9CB4-42CD-AC2E-52B3AF147566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结账工作台</a:t>
          </a:r>
        </a:p>
      </dgm:t>
    </dgm:pt>
    <dgm:pt modelId="{62F937C2-0C8D-4DD6-8A18-55C9166C5E16}" type="parTrans" cxnId="{F08ADAB0-2C96-4734-87FC-A2077D824E9C}">
      <dgm:prSet/>
      <dgm:spPr/>
    </dgm:pt>
    <dgm:pt modelId="{68C4C68A-BC48-496A-8EA9-8D1107000FE0}" type="sibTrans" cxnId="{F08ADAB0-2C96-4734-87FC-A2077D824E9C}">
      <dgm:prSet/>
      <dgm:spPr/>
    </dgm:pt>
    <dgm:pt modelId="{54D5A605-440A-43B7-999E-EA5DC97D1CF9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000">
              <a:latin typeface="+mn-lt"/>
              <a:ea typeface="+mn-ea"/>
              <a:cs typeface="+mn-ea"/>
              <a:sym typeface="+mn-lt"/>
            </a:rPr>
            <a:t>结账监控</a:t>
          </a:r>
        </a:p>
      </dgm:t>
    </dgm:pt>
    <dgm:pt modelId="{D8A59A7F-E947-4557-94F5-B8F054675A7B}" type="parTrans" cxnId="{F59CD431-7D2C-4ED7-AF5B-7942AA6B50C9}">
      <dgm:prSet/>
      <dgm:spPr/>
    </dgm:pt>
    <dgm:pt modelId="{80F770CE-0DFF-4EC1-9D82-894C5FE9234F}" type="sibTrans" cxnId="{F59CD431-7D2C-4ED7-AF5B-7942AA6B50C9}">
      <dgm:prSet/>
      <dgm:spPr/>
    </dgm:pt>
    <dgm:pt modelId="{1AA64000-5F0F-47A8-A435-2AF8D82F28B1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>
              <a:latin typeface="+mn-lt"/>
              <a:ea typeface="+mn-ea"/>
              <a:cs typeface="+mn-ea"/>
              <a:sym typeface="+mn-lt"/>
            </a:rPr>
            <a:t>结账预警</a:t>
          </a:r>
        </a:p>
      </dgm:t>
    </dgm:pt>
    <dgm:pt modelId="{845A32C3-0E8A-4EED-972E-FC6F9A8364F8}" type="parTrans" cxnId="{0748790D-9C05-4FA0-A97F-95827E3CA67F}">
      <dgm:prSet/>
      <dgm:spPr/>
    </dgm:pt>
    <dgm:pt modelId="{C0D86BAE-7711-4781-A574-7BE0EA273229}" type="sibTrans" cxnId="{0748790D-9C05-4FA0-A97F-95827E3CA67F}">
      <dgm:prSet/>
      <dgm:spPr/>
    </dgm:pt>
    <dgm:pt modelId="{9C12F5BE-AC2F-4662-8DFA-C79428950CF2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>
              <a:latin typeface="+mn-lt"/>
              <a:ea typeface="+mn-ea"/>
              <a:cs typeface="+mn-ea"/>
              <a:sym typeface="+mn-lt"/>
            </a:rPr>
            <a:t>结账分析</a:t>
          </a:r>
        </a:p>
      </dgm:t>
    </dgm:pt>
    <dgm:pt modelId="{E2B7565C-BEBF-47B7-AC71-10023CB96091}" type="parTrans" cxnId="{5F4AA986-F866-4995-9B3E-80D2BC813B7B}">
      <dgm:prSet/>
      <dgm:spPr/>
    </dgm:pt>
    <dgm:pt modelId="{BE48B07B-4C6F-4C50-9D7F-CE1D6590BF95}" type="sibTrans" cxnId="{5F4AA986-F866-4995-9B3E-80D2BC813B7B}">
      <dgm:prSet/>
      <dgm:spPr/>
    </dgm:pt>
    <dgm:pt modelId="{DD8D61C9-838D-4E36-8B79-D7FE15A75602}" type="pres">
      <dgm:prSet presAssocID="{9D527559-FDD8-4274-B634-C7FBCF5BC573}" presName="Name0" presStyleCnt="0">
        <dgm:presLayoutVars>
          <dgm:dir/>
          <dgm:resizeHandles val="exact"/>
        </dgm:presLayoutVars>
      </dgm:prSet>
      <dgm:spPr/>
    </dgm:pt>
    <dgm:pt modelId="{BC9ACFCB-089E-4CBB-A4FC-D58FE8C55942}" type="pres">
      <dgm:prSet presAssocID="{870E4F47-8CC4-4F59-B4C1-42B5AAA5CEFE}" presName="parTxOnly" presStyleLbl="node1" presStyleIdx="0" presStyleCnt="9">
        <dgm:presLayoutVars>
          <dgm:bulletEnabled val="1"/>
        </dgm:presLayoutVars>
      </dgm:prSet>
      <dgm:spPr/>
    </dgm:pt>
    <dgm:pt modelId="{CE99D2D1-1F6E-4790-9F0B-E98B9F5EDDBA}" type="pres">
      <dgm:prSet presAssocID="{856E2728-BF00-49C7-82BA-8F4DCB00940B}" presName="parSpace" presStyleCnt="0"/>
      <dgm:spPr/>
    </dgm:pt>
    <dgm:pt modelId="{F41FA5FA-0F34-4BF7-A1A1-4A6BFAFBDD6C}" type="pres">
      <dgm:prSet presAssocID="{6F95AD19-5F38-4B54-9159-986C51CE9084}" presName="parTxOnly" presStyleLbl="node1" presStyleIdx="1" presStyleCnt="9">
        <dgm:presLayoutVars>
          <dgm:bulletEnabled val="1"/>
        </dgm:presLayoutVars>
      </dgm:prSet>
      <dgm:spPr/>
    </dgm:pt>
    <dgm:pt modelId="{D8F01244-E943-4DA9-B41C-5FB1323884E9}" type="pres">
      <dgm:prSet presAssocID="{52FB25FC-2990-4323-9A4B-CAFC00DAD326}" presName="parSpace" presStyleCnt="0"/>
      <dgm:spPr/>
    </dgm:pt>
    <dgm:pt modelId="{D8A1B2F9-95F9-460A-B5DB-F32EE235B1DC}" type="pres">
      <dgm:prSet presAssocID="{654FA620-B94B-45DE-A700-F351986F4348}" presName="parTxOnly" presStyleLbl="node1" presStyleIdx="2" presStyleCnt="9">
        <dgm:presLayoutVars>
          <dgm:bulletEnabled val="1"/>
        </dgm:presLayoutVars>
      </dgm:prSet>
      <dgm:spPr/>
    </dgm:pt>
    <dgm:pt modelId="{FB04A669-45F7-4BFA-B80D-886141B3CC48}" type="pres">
      <dgm:prSet presAssocID="{9D4B24A6-9E83-4781-A61C-B92D8212DC57}" presName="parSpace" presStyleCnt="0"/>
      <dgm:spPr/>
    </dgm:pt>
    <dgm:pt modelId="{3FB26E2D-3570-49B6-89EA-01582F84FD4C}" type="pres">
      <dgm:prSet presAssocID="{F74EBF1F-499A-422F-937A-A05495E46476}" presName="parTxOnly" presStyleLbl="node1" presStyleIdx="3" presStyleCnt="9">
        <dgm:presLayoutVars>
          <dgm:bulletEnabled val="1"/>
        </dgm:presLayoutVars>
      </dgm:prSet>
      <dgm:spPr/>
    </dgm:pt>
    <dgm:pt modelId="{0EC8A004-B58B-4771-8323-666A6813D93D}" type="pres">
      <dgm:prSet presAssocID="{A099E77C-FEAD-4134-988B-0AB4F476738C}" presName="parSpace" presStyleCnt="0"/>
      <dgm:spPr/>
    </dgm:pt>
    <dgm:pt modelId="{4652B3B4-52CD-4880-A2E7-26155597CB3C}" type="pres">
      <dgm:prSet presAssocID="{DA3A4099-49C0-4622-BC6D-52525E6CCBA9}" presName="parTxOnly" presStyleLbl="node1" presStyleIdx="4" presStyleCnt="9">
        <dgm:presLayoutVars>
          <dgm:bulletEnabled val="1"/>
        </dgm:presLayoutVars>
      </dgm:prSet>
      <dgm:spPr/>
    </dgm:pt>
    <dgm:pt modelId="{642A5938-A159-4910-B8AE-C9D97014C398}" type="pres">
      <dgm:prSet presAssocID="{3193AF61-DEF0-495F-858E-5DDCBB55C9A7}" presName="parSpace" presStyleCnt="0"/>
      <dgm:spPr/>
    </dgm:pt>
    <dgm:pt modelId="{98DB7EC0-455D-4EBD-B380-A143A1DB299B}" type="pres">
      <dgm:prSet presAssocID="{E991CD2F-9CB4-42CD-AC2E-52B3AF147566}" presName="parTxOnly" presStyleLbl="node1" presStyleIdx="5" presStyleCnt="9">
        <dgm:presLayoutVars>
          <dgm:bulletEnabled val="1"/>
        </dgm:presLayoutVars>
      </dgm:prSet>
      <dgm:spPr/>
    </dgm:pt>
    <dgm:pt modelId="{C8E2BE3C-2A32-46E8-BBF0-FFE9CA9D7E45}" type="pres">
      <dgm:prSet presAssocID="{68C4C68A-BC48-496A-8EA9-8D1107000FE0}" presName="parSpace" presStyleCnt="0"/>
      <dgm:spPr/>
    </dgm:pt>
    <dgm:pt modelId="{04E8A274-B06E-4652-AEFB-43F73A50C66B}" type="pres">
      <dgm:prSet presAssocID="{54D5A605-440A-43B7-999E-EA5DC97D1CF9}" presName="parTxOnly" presStyleLbl="node1" presStyleIdx="6" presStyleCnt="9">
        <dgm:presLayoutVars>
          <dgm:bulletEnabled val="1"/>
        </dgm:presLayoutVars>
      </dgm:prSet>
      <dgm:spPr/>
    </dgm:pt>
    <dgm:pt modelId="{2D0FF3F9-7E48-4580-BE34-76EB9A1A508F}" type="pres">
      <dgm:prSet presAssocID="{80F770CE-0DFF-4EC1-9D82-894C5FE9234F}" presName="parSpace" presStyleCnt="0"/>
      <dgm:spPr/>
    </dgm:pt>
    <dgm:pt modelId="{F2389BAE-32B5-4FD0-A33C-D133129DAD41}" type="pres">
      <dgm:prSet presAssocID="{1AA64000-5F0F-47A8-A435-2AF8D82F28B1}" presName="parTxOnly" presStyleLbl="node1" presStyleIdx="7" presStyleCnt="9">
        <dgm:presLayoutVars>
          <dgm:bulletEnabled val="1"/>
        </dgm:presLayoutVars>
      </dgm:prSet>
      <dgm:spPr/>
    </dgm:pt>
    <dgm:pt modelId="{554F24BE-73FE-4A9D-BA33-8D31E989C038}" type="pres">
      <dgm:prSet presAssocID="{C0D86BAE-7711-4781-A574-7BE0EA273229}" presName="parSpace" presStyleCnt="0"/>
      <dgm:spPr/>
    </dgm:pt>
    <dgm:pt modelId="{B30B7416-33D0-4EBB-91FA-8248D1B1890D}" type="pres">
      <dgm:prSet presAssocID="{9C12F5BE-AC2F-4662-8DFA-C79428950CF2}" presName="parTxOnly" presStyleLbl="node1" presStyleIdx="8" presStyleCnt="9">
        <dgm:presLayoutVars>
          <dgm:bulletEnabled val="1"/>
        </dgm:presLayoutVars>
      </dgm:prSet>
      <dgm:spPr/>
    </dgm:pt>
  </dgm:ptLst>
  <dgm:cxnLst>
    <dgm:cxn modelId="{CB994502-6916-40EF-A710-C183742E7AE3}" type="presOf" srcId="{1AA64000-5F0F-47A8-A435-2AF8D82F28B1}" destId="{F2389BAE-32B5-4FD0-A33C-D133129DAD41}" srcOrd="0" destOrd="0" presId="urn:microsoft.com/office/officeart/2005/8/layout/hChevron3"/>
    <dgm:cxn modelId="{07041707-BFFA-4CB8-A5B0-FDF757901210}" type="presOf" srcId="{870E4F47-8CC4-4F59-B4C1-42B5AAA5CEFE}" destId="{BC9ACFCB-089E-4CBB-A4FC-D58FE8C55942}" srcOrd="0" destOrd="0" presId="urn:microsoft.com/office/officeart/2005/8/layout/hChevron3"/>
    <dgm:cxn modelId="{0748790D-9C05-4FA0-A97F-95827E3CA67F}" srcId="{9D527559-FDD8-4274-B634-C7FBCF5BC573}" destId="{1AA64000-5F0F-47A8-A435-2AF8D82F28B1}" srcOrd="7" destOrd="0" parTransId="{845A32C3-0E8A-4EED-972E-FC6F9A8364F8}" sibTransId="{C0D86BAE-7711-4781-A574-7BE0EA273229}"/>
    <dgm:cxn modelId="{3CB8F423-64B2-4743-9210-1CCE54C793F3}" type="presOf" srcId="{654FA620-B94B-45DE-A700-F351986F4348}" destId="{D8A1B2F9-95F9-460A-B5DB-F32EE235B1DC}" srcOrd="0" destOrd="0" presId="urn:microsoft.com/office/officeart/2005/8/layout/hChevron3"/>
    <dgm:cxn modelId="{F59CD431-7D2C-4ED7-AF5B-7942AA6B50C9}" srcId="{9D527559-FDD8-4274-B634-C7FBCF5BC573}" destId="{54D5A605-440A-43B7-999E-EA5DC97D1CF9}" srcOrd="6" destOrd="0" parTransId="{D8A59A7F-E947-4557-94F5-B8F054675A7B}" sibTransId="{80F770CE-0DFF-4EC1-9D82-894C5FE9234F}"/>
    <dgm:cxn modelId="{FFA35D38-1708-4266-A8B0-AA7063086F36}" type="presOf" srcId="{E991CD2F-9CB4-42CD-AC2E-52B3AF147566}" destId="{98DB7EC0-455D-4EBD-B380-A143A1DB299B}" srcOrd="0" destOrd="0" presId="urn:microsoft.com/office/officeart/2005/8/layout/hChevron3"/>
    <dgm:cxn modelId="{3A9DC039-22E5-4823-9741-F5A5D5E44747}" type="presOf" srcId="{6F95AD19-5F38-4B54-9159-986C51CE9084}" destId="{F41FA5FA-0F34-4BF7-A1A1-4A6BFAFBDD6C}" srcOrd="0" destOrd="0" presId="urn:microsoft.com/office/officeart/2005/8/layout/hChevron3"/>
    <dgm:cxn modelId="{75EB8550-38C7-4700-8894-D05DCDEBDD44}" type="presOf" srcId="{54D5A605-440A-43B7-999E-EA5DC97D1CF9}" destId="{04E8A274-B06E-4652-AEFB-43F73A50C66B}" srcOrd="0" destOrd="0" presId="urn:microsoft.com/office/officeart/2005/8/layout/hChevron3"/>
    <dgm:cxn modelId="{0A4C3A78-4E39-42BD-99E6-5204A9698D73}" srcId="{9D527559-FDD8-4274-B634-C7FBCF5BC573}" destId="{870E4F47-8CC4-4F59-B4C1-42B5AAA5CEFE}" srcOrd="0" destOrd="0" parTransId="{3D1AB2CA-88A4-4E4C-9A8A-508DF0E06639}" sibTransId="{856E2728-BF00-49C7-82BA-8F4DCB00940B}"/>
    <dgm:cxn modelId="{1FA1C078-8E4F-41F1-A6AC-EED65796E86C}" type="presOf" srcId="{F74EBF1F-499A-422F-937A-A05495E46476}" destId="{3FB26E2D-3570-49B6-89EA-01582F84FD4C}" srcOrd="0" destOrd="0" presId="urn:microsoft.com/office/officeart/2005/8/layout/hChevron3"/>
    <dgm:cxn modelId="{5F4AA986-F866-4995-9B3E-80D2BC813B7B}" srcId="{9D527559-FDD8-4274-B634-C7FBCF5BC573}" destId="{9C12F5BE-AC2F-4662-8DFA-C79428950CF2}" srcOrd="8" destOrd="0" parTransId="{E2B7565C-BEBF-47B7-AC71-10023CB96091}" sibTransId="{BE48B07B-4C6F-4C50-9D7F-CE1D6590BF95}"/>
    <dgm:cxn modelId="{465EB588-8BD0-448C-851E-0A9521CA035A}" type="presOf" srcId="{DA3A4099-49C0-4622-BC6D-52525E6CCBA9}" destId="{4652B3B4-52CD-4880-A2E7-26155597CB3C}" srcOrd="0" destOrd="0" presId="urn:microsoft.com/office/officeart/2005/8/layout/hChevron3"/>
    <dgm:cxn modelId="{7CD3488D-47A0-425E-8B64-360A8FFA9545}" srcId="{9D527559-FDD8-4274-B634-C7FBCF5BC573}" destId="{6F95AD19-5F38-4B54-9159-986C51CE9084}" srcOrd="1" destOrd="0" parTransId="{1B565CE3-CFBF-4898-BC1F-9D3078043EA2}" sibTransId="{52FB25FC-2990-4323-9A4B-CAFC00DAD326}"/>
    <dgm:cxn modelId="{16D6139E-44D4-48B1-90A6-8782240FE7BB}" type="presOf" srcId="{9C12F5BE-AC2F-4662-8DFA-C79428950CF2}" destId="{B30B7416-33D0-4EBB-91FA-8248D1B1890D}" srcOrd="0" destOrd="0" presId="urn:microsoft.com/office/officeart/2005/8/layout/hChevron3"/>
    <dgm:cxn modelId="{F08ADAB0-2C96-4734-87FC-A2077D824E9C}" srcId="{9D527559-FDD8-4274-B634-C7FBCF5BC573}" destId="{E991CD2F-9CB4-42CD-AC2E-52B3AF147566}" srcOrd="5" destOrd="0" parTransId="{62F937C2-0C8D-4DD6-8A18-55C9166C5E16}" sibTransId="{68C4C68A-BC48-496A-8EA9-8D1107000FE0}"/>
    <dgm:cxn modelId="{F13385B5-21E1-4542-B92B-CFFA52EDFF6D}" srcId="{9D527559-FDD8-4274-B634-C7FBCF5BC573}" destId="{654FA620-B94B-45DE-A700-F351986F4348}" srcOrd="2" destOrd="0" parTransId="{8C430596-32F3-4CF9-9176-11E514A1AB42}" sibTransId="{9D4B24A6-9E83-4781-A61C-B92D8212DC57}"/>
    <dgm:cxn modelId="{84DD27C4-2AF3-4759-BB66-84F992A20E1A}" srcId="{9D527559-FDD8-4274-B634-C7FBCF5BC573}" destId="{F74EBF1F-499A-422F-937A-A05495E46476}" srcOrd="3" destOrd="0" parTransId="{7CE2F9BC-EC9B-4619-916C-17F4A482A5F1}" sibTransId="{A099E77C-FEAD-4134-988B-0AB4F476738C}"/>
    <dgm:cxn modelId="{B4809BD8-0661-4930-9444-15B32175FB5B}" type="presOf" srcId="{9D527559-FDD8-4274-B634-C7FBCF5BC573}" destId="{DD8D61C9-838D-4E36-8B79-D7FE15A75602}" srcOrd="0" destOrd="0" presId="urn:microsoft.com/office/officeart/2005/8/layout/hChevron3"/>
    <dgm:cxn modelId="{22FE44DF-FCD5-4DEB-81D0-F73E0F8C4ACD}" srcId="{9D527559-FDD8-4274-B634-C7FBCF5BC573}" destId="{DA3A4099-49C0-4622-BC6D-52525E6CCBA9}" srcOrd="4" destOrd="0" parTransId="{4AB327C9-C8D7-4EA0-8A03-BBBACBBEAE33}" sibTransId="{3193AF61-DEF0-495F-858E-5DDCBB55C9A7}"/>
    <dgm:cxn modelId="{77E67384-00B1-4496-A598-FF7F224398E2}" type="presParOf" srcId="{DD8D61C9-838D-4E36-8B79-D7FE15A75602}" destId="{BC9ACFCB-089E-4CBB-A4FC-D58FE8C55942}" srcOrd="0" destOrd="0" presId="urn:microsoft.com/office/officeart/2005/8/layout/hChevron3"/>
    <dgm:cxn modelId="{4B5618BA-1C42-4425-9E82-828BDF781953}" type="presParOf" srcId="{DD8D61C9-838D-4E36-8B79-D7FE15A75602}" destId="{CE99D2D1-1F6E-4790-9F0B-E98B9F5EDDBA}" srcOrd="1" destOrd="0" presId="urn:microsoft.com/office/officeart/2005/8/layout/hChevron3"/>
    <dgm:cxn modelId="{439418CD-20BE-4BEF-880E-3C034736B14F}" type="presParOf" srcId="{DD8D61C9-838D-4E36-8B79-D7FE15A75602}" destId="{F41FA5FA-0F34-4BF7-A1A1-4A6BFAFBDD6C}" srcOrd="2" destOrd="0" presId="urn:microsoft.com/office/officeart/2005/8/layout/hChevron3"/>
    <dgm:cxn modelId="{0392A0D5-2CC5-41DB-A21C-79DAB59B66D4}" type="presParOf" srcId="{DD8D61C9-838D-4E36-8B79-D7FE15A75602}" destId="{D8F01244-E943-4DA9-B41C-5FB1323884E9}" srcOrd="3" destOrd="0" presId="urn:microsoft.com/office/officeart/2005/8/layout/hChevron3"/>
    <dgm:cxn modelId="{7F13C1B3-BA5E-4DFF-9DF3-BAF22ED32607}" type="presParOf" srcId="{DD8D61C9-838D-4E36-8B79-D7FE15A75602}" destId="{D8A1B2F9-95F9-460A-B5DB-F32EE235B1DC}" srcOrd="4" destOrd="0" presId="urn:microsoft.com/office/officeart/2005/8/layout/hChevron3"/>
    <dgm:cxn modelId="{100DE54F-1D3C-4E50-9258-070F81218881}" type="presParOf" srcId="{DD8D61C9-838D-4E36-8B79-D7FE15A75602}" destId="{FB04A669-45F7-4BFA-B80D-886141B3CC48}" srcOrd="5" destOrd="0" presId="urn:microsoft.com/office/officeart/2005/8/layout/hChevron3"/>
    <dgm:cxn modelId="{D14043CA-05EB-4AE4-AD20-76E3D9BDCD8E}" type="presParOf" srcId="{DD8D61C9-838D-4E36-8B79-D7FE15A75602}" destId="{3FB26E2D-3570-49B6-89EA-01582F84FD4C}" srcOrd="6" destOrd="0" presId="urn:microsoft.com/office/officeart/2005/8/layout/hChevron3"/>
    <dgm:cxn modelId="{DA940797-E820-4D25-9F9D-73D1AFACF966}" type="presParOf" srcId="{DD8D61C9-838D-4E36-8B79-D7FE15A75602}" destId="{0EC8A004-B58B-4771-8323-666A6813D93D}" srcOrd="7" destOrd="0" presId="urn:microsoft.com/office/officeart/2005/8/layout/hChevron3"/>
    <dgm:cxn modelId="{AF7CC7EB-FEF0-492D-9A18-2153939C7E05}" type="presParOf" srcId="{DD8D61C9-838D-4E36-8B79-D7FE15A75602}" destId="{4652B3B4-52CD-4880-A2E7-26155597CB3C}" srcOrd="8" destOrd="0" presId="urn:microsoft.com/office/officeart/2005/8/layout/hChevron3"/>
    <dgm:cxn modelId="{7838F606-6093-49B0-B40E-E72C0C2F9A66}" type="presParOf" srcId="{DD8D61C9-838D-4E36-8B79-D7FE15A75602}" destId="{642A5938-A159-4910-B8AE-C9D97014C398}" srcOrd="9" destOrd="0" presId="urn:microsoft.com/office/officeart/2005/8/layout/hChevron3"/>
    <dgm:cxn modelId="{3B946F8A-F9CF-40FB-A2C7-62A0289EF85B}" type="presParOf" srcId="{DD8D61C9-838D-4E36-8B79-D7FE15A75602}" destId="{98DB7EC0-455D-4EBD-B380-A143A1DB299B}" srcOrd="10" destOrd="0" presId="urn:microsoft.com/office/officeart/2005/8/layout/hChevron3"/>
    <dgm:cxn modelId="{E0AF19B0-2987-4DD3-8871-7B4A6948E164}" type="presParOf" srcId="{DD8D61C9-838D-4E36-8B79-D7FE15A75602}" destId="{C8E2BE3C-2A32-46E8-BBF0-FFE9CA9D7E45}" srcOrd="11" destOrd="0" presId="urn:microsoft.com/office/officeart/2005/8/layout/hChevron3"/>
    <dgm:cxn modelId="{A537A65C-3067-4AA3-A749-E386BE8EF2EE}" type="presParOf" srcId="{DD8D61C9-838D-4E36-8B79-D7FE15A75602}" destId="{04E8A274-B06E-4652-AEFB-43F73A50C66B}" srcOrd="12" destOrd="0" presId="urn:microsoft.com/office/officeart/2005/8/layout/hChevron3"/>
    <dgm:cxn modelId="{EC8B07C7-2BB6-412C-8CFE-9F17AB1F8B0F}" type="presParOf" srcId="{DD8D61C9-838D-4E36-8B79-D7FE15A75602}" destId="{2D0FF3F9-7E48-4580-BE34-76EB9A1A508F}" srcOrd="13" destOrd="0" presId="urn:microsoft.com/office/officeart/2005/8/layout/hChevron3"/>
    <dgm:cxn modelId="{54EE990F-9F53-4C87-9E6B-3EA52C16699C}" type="presParOf" srcId="{DD8D61C9-838D-4E36-8B79-D7FE15A75602}" destId="{F2389BAE-32B5-4FD0-A33C-D133129DAD41}" srcOrd="14" destOrd="0" presId="urn:microsoft.com/office/officeart/2005/8/layout/hChevron3"/>
    <dgm:cxn modelId="{0C88FF40-90B2-4E53-A91A-91D3007D8026}" type="presParOf" srcId="{DD8D61C9-838D-4E36-8B79-D7FE15A75602}" destId="{554F24BE-73FE-4A9D-BA33-8D31E989C038}" srcOrd="15" destOrd="0" presId="urn:microsoft.com/office/officeart/2005/8/layout/hChevron3"/>
    <dgm:cxn modelId="{4935D9BB-08E0-4E34-A0A6-4E5C3C717146}" type="presParOf" srcId="{DD8D61C9-838D-4E36-8B79-D7FE15A75602}" destId="{B30B7416-33D0-4EBB-91FA-8248D1B1890D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ACFCB-089E-4CBB-A4FC-D58FE8C55942}">
      <dsp:nvSpPr>
        <dsp:cNvPr id="0" name=""/>
        <dsp:cNvSpPr/>
      </dsp:nvSpPr>
      <dsp:spPr bwMode="white">
        <a:xfrm>
          <a:off x="4459" y="0"/>
          <a:ext cx="1298056" cy="252095"/>
        </a:xfrm>
        <a:prstGeom prst="homePlate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>
              <a:latin typeface="+mn-lt"/>
              <a:ea typeface="+mn-ea"/>
              <a:cs typeface="+mn-ea"/>
              <a:sym typeface="+mn-lt"/>
            </a:rPr>
            <a:t>业务对账</a:t>
          </a:r>
        </a:p>
      </dsp:txBody>
      <dsp:txXfrm>
        <a:off x="4459" y="0"/>
        <a:ext cx="1235032" cy="252095"/>
      </dsp:txXfrm>
    </dsp:sp>
    <dsp:sp modelId="{F41FA5FA-0F34-4BF7-A1A1-4A6BFAFBDD6C}">
      <dsp:nvSpPr>
        <dsp:cNvPr id="0" name=""/>
        <dsp:cNvSpPr/>
      </dsp:nvSpPr>
      <dsp:spPr bwMode="white">
        <a:xfrm>
          <a:off x="1042904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80501"/>
                <a:satOff val="-901"/>
                <a:lumOff val="389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80501"/>
                <a:satOff val="-901"/>
                <a:lumOff val="389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80501"/>
                <a:satOff val="-901"/>
                <a:lumOff val="389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资金对账</a:t>
          </a:r>
        </a:p>
      </dsp:txBody>
      <dsp:txXfrm>
        <a:off x="1168952" y="0"/>
        <a:ext cx="1045961" cy="252095"/>
      </dsp:txXfrm>
    </dsp:sp>
    <dsp:sp modelId="{D8A1B2F9-95F9-460A-B5DB-F32EE235B1DC}">
      <dsp:nvSpPr>
        <dsp:cNvPr id="0" name=""/>
        <dsp:cNvSpPr/>
      </dsp:nvSpPr>
      <dsp:spPr bwMode="white">
        <a:xfrm>
          <a:off x="2081349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161003"/>
                <a:satOff val="-1802"/>
                <a:lumOff val="779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61003"/>
                <a:satOff val="-1802"/>
                <a:lumOff val="779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61003"/>
                <a:satOff val="-1802"/>
                <a:lumOff val="779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固资对账</a:t>
          </a:r>
        </a:p>
      </dsp:txBody>
      <dsp:txXfrm>
        <a:off x="2207397" y="0"/>
        <a:ext cx="1045961" cy="252095"/>
      </dsp:txXfrm>
    </dsp:sp>
    <dsp:sp modelId="{3FB26E2D-3570-49B6-89EA-01582F84FD4C}">
      <dsp:nvSpPr>
        <dsp:cNvPr id="0" name=""/>
        <dsp:cNvSpPr/>
      </dsp:nvSpPr>
      <dsp:spPr bwMode="white">
        <a:xfrm>
          <a:off x="3119794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241504"/>
                <a:satOff val="-2703"/>
                <a:lumOff val="1169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41504"/>
                <a:satOff val="-2703"/>
                <a:lumOff val="1169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41504"/>
                <a:satOff val="-2703"/>
                <a:lumOff val="1169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结账计划</a:t>
          </a:r>
        </a:p>
      </dsp:txBody>
      <dsp:txXfrm>
        <a:off x="3245842" y="0"/>
        <a:ext cx="1045961" cy="252095"/>
      </dsp:txXfrm>
    </dsp:sp>
    <dsp:sp modelId="{4652B3B4-52CD-4880-A2E7-26155597CB3C}">
      <dsp:nvSpPr>
        <dsp:cNvPr id="0" name=""/>
        <dsp:cNvSpPr/>
      </dsp:nvSpPr>
      <dsp:spPr bwMode="white">
        <a:xfrm>
          <a:off x="4158239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322006"/>
                <a:satOff val="-3604"/>
                <a:lumOff val="1559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322006"/>
                <a:satOff val="-3604"/>
                <a:lumOff val="1559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322006"/>
                <a:satOff val="-3604"/>
                <a:lumOff val="1559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结账任务</a:t>
          </a:r>
        </a:p>
      </dsp:txBody>
      <dsp:txXfrm>
        <a:off x="4284287" y="0"/>
        <a:ext cx="1045961" cy="252095"/>
      </dsp:txXfrm>
    </dsp:sp>
    <dsp:sp modelId="{98DB7EC0-455D-4EBD-B380-A143A1DB299B}">
      <dsp:nvSpPr>
        <dsp:cNvPr id="0" name=""/>
        <dsp:cNvSpPr/>
      </dsp:nvSpPr>
      <dsp:spPr bwMode="white">
        <a:xfrm>
          <a:off x="5196684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402507"/>
                <a:satOff val="-4504"/>
                <a:lumOff val="1949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402507"/>
                <a:satOff val="-4504"/>
                <a:lumOff val="1949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402507"/>
                <a:satOff val="-4504"/>
                <a:lumOff val="1949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结账工作台</a:t>
          </a:r>
        </a:p>
      </dsp:txBody>
      <dsp:txXfrm>
        <a:off x="5322732" y="0"/>
        <a:ext cx="1045961" cy="252095"/>
      </dsp:txXfrm>
    </dsp:sp>
    <dsp:sp modelId="{04E8A274-B06E-4652-AEFB-43F73A50C66B}">
      <dsp:nvSpPr>
        <dsp:cNvPr id="0" name=""/>
        <dsp:cNvSpPr/>
      </dsp:nvSpPr>
      <dsp:spPr bwMode="white">
        <a:xfrm>
          <a:off x="6235129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483008"/>
                <a:satOff val="-5405"/>
                <a:lumOff val="233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483008"/>
                <a:satOff val="-5405"/>
                <a:lumOff val="233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483008"/>
                <a:satOff val="-5405"/>
                <a:lumOff val="233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结账监控</a:t>
          </a:r>
        </a:p>
      </dsp:txBody>
      <dsp:txXfrm>
        <a:off x="6361177" y="0"/>
        <a:ext cx="1045961" cy="252095"/>
      </dsp:txXfrm>
    </dsp:sp>
    <dsp:sp modelId="{F2389BAE-32B5-4FD0-A33C-D133129DAD41}">
      <dsp:nvSpPr>
        <dsp:cNvPr id="0" name=""/>
        <dsp:cNvSpPr/>
      </dsp:nvSpPr>
      <dsp:spPr bwMode="white">
        <a:xfrm>
          <a:off x="7273574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563510"/>
                <a:satOff val="-6306"/>
                <a:lumOff val="2729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563510"/>
                <a:satOff val="-6306"/>
                <a:lumOff val="2729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563510"/>
                <a:satOff val="-6306"/>
                <a:lumOff val="2729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>
              <a:latin typeface="+mn-lt"/>
              <a:ea typeface="+mn-ea"/>
              <a:cs typeface="+mn-ea"/>
              <a:sym typeface="+mn-lt"/>
            </a:rPr>
            <a:t>结账预警</a:t>
          </a:r>
        </a:p>
      </dsp:txBody>
      <dsp:txXfrm>
        <a:off x="7399622" y="0"/>
        <a:ext cx="1045961" cy="252095"/>
      </dsp:txXfrm>
    </dsp:sp>
    <dsp:sp modelId="{B30B7416-33D0-4EBB-91FA-8248D1B1890D}">
      <dsp:nvSpPr>
        <dsp:cNvPr id="0" name=""/>
        <dsp:cNvSpPr/>
      </dsp:nvSpPr>
      <dsp:spPr bwMode="white">
        <a:xfrm>
          <a:off x="8312019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644011"/>
                <a:satOff val="-7207"/>
                <a:lumOff val="311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644011"/>
                <a:satOff val="-7207"/>
                <a:lumOff val="311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644011"/>
                <a:satOff val="-7207"/>
                <a:lumOff val="311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>
              <a:latin typeface="+mn-lt"/>
              <a:ea typeface="+mn-ea"/>
              <a:cs typeface="+mn-ea"/>
              <a:sym typeface="+mn-lt"/>
            </a:rPr>
            <a:t>结账分析</a:t>
          </a:r>
        </a:p>
      </dsp:txBody>
      <dsp:txXfrm>
        <a:off x="8438067" y="0"/>
        <a:ext cx="1045961" cy="2520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ACFCB-089E-4CBB-A4FC-D58FE8C55942}">
      <dsp:nvSpPr>
        <dsp:cNvPr id="0" name=""/>
        <dsp:cNvSpPr/>
      </dsp:nvSpPr>
      <dsp:spPr bwMode="white">
        <a:xfrm>
          <a:off x="1168" y="0"/>
          <a:ext cx="1914732" cy="252095"/>
        </a:xfrm>
        <a:prstGeom prst="homePlate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>
              <a:latin typeface="+mn-lt"/>
              <a:ea typeface="+mn-ea"/>
              <a:cs typeface="+mn-ea"/>
              <a:sym typeface="+mn-lt"/>
            </a:rPr>
            <a:t>事前业务管控</a:t>
          </a:r>
        </a:p>
      </dsp:txBody>
      <dsp:txXfrm>
        <a:off x="1168" y="0"/>
        <a:ext cx="1851708" cy="252095"/>
      </dsp:txXfrm>
    </dsp:sp>
    <dsp:sp modelId="{F41FA5FA-0F34-4BF7-A1A1-4A6BFAFBDD6C}">
      <dsp:nvSpPr>
        <dsp:cNvPr id="0" name=""/>
        <dsp:cNvSpPr/>
      </dsp:nvSpPr>
      <dsp:spPr bwMode="white">
        <a:xfrm>
          <a:off x="1532954" y="0"/>
          <a:ext cx="1914732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128802"/>
                <a:satOff val="-1441"/>
                <a:lumOff val="623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28802"/>
                <a:satOff val="-1441"/>
                <a:lumOff val="623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28802"/>
                <a:satOff val="-1441"/>
                <a:lumOff val="623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业务财务对账</a:t>
          </a:r>
        </a:p>
      </dsp:txBody>
      <dsp:txXfrm>
        <a:off x="1659002" y="0"/>
        <a:ext cx="1662637" cy="252095"/>
      </dsp:txXfrm>
    </dsp:sp>
    <dsp:sp modelId="{D8A1B2F9-95F9-460A-B5DB-F32EE235B1DC}">
      <dsp:nvSpPr>
        <dsp:cNvPr id="0" name=""/>
        <dsp:cNvSpPr/>
      </dsp:nvSpPr>
      <dsp:spPr bwMode="white">
        <a:xfrm>
          <a:off x="3064740" y="0"/>
          <a:ext cx="1914732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257605"/>
                <a:satOff val="-2883"/>
                <a:lumOff val="124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57605"/>
                <a:satOff val="-2883"/>
                <a:lumOff val="124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57605"/>
                <a:satOff val="-2883"/>
                <a:lumOff val="124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应收应付管理</a:t>
          </a:r>
        </a:p>
      </dsp:txBody>
      <dsp:txXfrm>
        <a:off x="3190788" y="0"/>
        <a:ext cx="1662637" cy="252095"/>
      </dsp:txXfrm>
    </dsp:sp>
    <dsp:sp modelId="{3FB26E2D-3570-49B6-89EA-01582F84FD4C}">
      <dsp:nvSpPr>
        <dsp:cNvPr id="0" name=""/>
        <dsp:cNvSpPr/>
      </dsp:nvSpPr>
      <dsp:spPr bwMode="white">
        <a:xfrm>
          <a:off x="4596526" y="0"/>
          <a:ext cx="1914732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386407"/>
                <a:satOff val="-4324"/>
                <a:lumOff val="187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386407"/>
                <a:satOff val="-4324"/>
                <a:lumOff val="187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386407"/>
                <a:satOff val="-4324"/>
                <a:lumOff val="187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资金税务处理</a:t>
          </a:r>
        </a:p>
      </dsp:txBody>
      <dsp:txXfrm>
        <a:off x="4722574" y="0"/>
        <a:ext cx="1662637" cy="252095"/>
      </dsp:txXfrm>
    </dsp:sp>
    <dsp:sp modelId="{04E8A274-B06E-4652-AEFB-43F73A50C66B}">
      <dsp:nvSpPr>
        <dsp:cNvPr id="0" name=""/>
        <dsp:cNvSpPr/>
      </dsp:nvSpPr>
      <dsp:spPr bwMode="white">
        <a:xfrm>
          <a:off x="6128312" y="0"/>
          <a:ext cx="1914732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515209"/>
                <a:satOff val="-5766"/>
                <a:lumOff val="249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515209"/>
                <a:satOff val="-5766"/>
                <a:lumOff val="249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515209"/>
                <a:satOff val="-5766"/>
                <a:lumOff val="249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结账检查</a:t>
          </a:r>
        </a:p>
      </dsp:txBody>
      <dsp:txXfrm>
        <a:off x="6254360" y="0"/>
        <a:ext cx="1662637" cy="252095"/>
      </dsp:txXfrm>
    </dsp:sp>
    <dsp:sp modelId="{F2389BAE-32B5-4FD0-A33C-D133129DAD41}">
      <dsp:nvSpPr>
        <dsp:cNvPr id="0" name=""/>
        <dsp:cNvSpPr/>
      </dsp:nvSpPr>
      <dsp:spPr bwMode="white">
        <a:xfrm>
          <a:off x="7660098" y="0"/>
          <a:ext cx="1914732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644011"/>
                <a:satOff val="-7207"/>
                <a:lumOff val="311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644011"/>
                <a:satOff val="-7207"/>
                <a:lumOff val="311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644011"/>
                <a:satOff val="-7207"/>
                <a:lumOff val="311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>
              <a:latin typeface="+mn-lt"/>
              <a:ea typeface="+mn-ea"/>
              <a:cs typeface="+mn-ea"/>
              <a:sym typeface="+mn-lt"/>
            </a:rPr>
            <a:t>事后监控和分析</a:t>
          </a:r>
        </a:p>
      </dsp:txBody>
      <dsp:txXfrm>
        <a:off x="7786146" y="0"/>
        <a:ext cx="1662637" cy="2520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ACFCB-089E-4CBB-A4FC-D58FE8C55942}">
      <dsp:nvSpPr>
        <dsp:cNvPr id="0" name=""/>
        <dsp:cNvSpPr/>
      </dsp:nvSpPr>
      <dsp:spPr bwMode="white">
        <a:xfrm>
          <a:off x="4459" y="0"/>
          <a:ext cx="1298056" cy="252095"/>
        </a:xfrm>
        <a:prstGeom prst="homePlate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>
              <a:latin typeface="+mn-lt"/>
              <a:ea typeface="+mn-ea"/>
              <a:cs typeface="+mn-ea"/>
              <a:sym typeface="+mn-lt"/>
            </a:rPr>
            <a:t>业务对账</a:t>
          </a:r>
        </a:p>
      </dsp:txBody>
      <dsp:txXfrm>
        <a:off x="4459" y="0"/>
        <a:ext cx="1235032" cy="252095"/>
      </dsp:txXfrm>
    </dsp:sp>
    <dsp:sp modelId="{F41FA5FA-0F34-4BF7-A1A1-4A6BFAFBDD6C}">
      <dsp:nvSpPr>
        <dsp:cNvPr id="0" name=""/>
        <dsp:cNvSpPr/>
      </dsp:nvSpPr>
      <dsp:spPr bwMode="white">
        <a:xfrm>
          <a:off x="1042904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80501"/>
                <a:satOff val="-901"/>
                <a:lumOff val="389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80501"/>
                <a:satOff val="-901"/>
                <a:lumOff val="389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80501"/>
                <a:satOff val="-901"/>
                <a:lumOff val="389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资金对账</a:t>
          </a:r>
        </a:p>
      </dsp:txBody>
      <dsp:txXfrm>
        <a:off x="1168952" y="0"/>
        <a:ext cx="1045961" cy="252095"/>
      </dsp:txXfrm>
    </dsp:sp>
    <dsp:sp modelId="{D8A1B2F9-95F9-460A-B5DB-F32EE235B1DC}">
      <dsp:nvSpPr>
        <dsp:cNvPr id="0" name=""/>
        <dsp:cNvSpPr/>
      </dsp:nvSpPr>
      <dsp:spPr bwMode="white">
        <a:xfrm>
          <a:off x="2081349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161003"/>
                <a:satOff val="-1802"/>
                <a:lumOff val="779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61003"/>
                <a:satOff val="-1802"/>
                <a:lumOff val="779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61003"/>
                <a:satOff val="-1802"/>
                <a:lumOff val="779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固资对账</a:t>
          </a:r>
        </a:p>
      </dsp:txBody>
      <dsp:txXfrm>
        <a:off x="2207397" y="0"/>
        <a:ext cx="1045961" cy="252095"/>
      </dsp:txXfrm>
    </dsp:sp>
    <dsp:sp modelId="{3FB26E2D-3570-49B6-89EA-01582F84FD4C}">
      <dsp:nvSpPr>
        <dsp:cNvPr id="0" name=""/>
        <dsp:cNvSpPr/>
      </dsp:nvSpPr>
      <dsp:spPr bwMode="white">
        <a:xfrm>
          <a:off x="3119794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241504"/>
                <a:satOff val="-2703"/>
                <a:lumOff val="1169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41504"/>
                <a:satOff val="-2703"/>
                <a:lumOff val="1169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41504"/>
                <a:satOff val="-2703"/>
                <a:lumOff val="1169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结账计划</a:t>
          </a:r>
        </a:p>
      </dsp:txBody>
      <dsp:txXfrm>
        <a:off x="3245842" y="0"/>
        <a:ext cx="1045961" cy="252095"/>
      </dsp:txXfrm>
    </dsp:sp>
    <dsp:sp modelId="{4652B3B4-52CD-4880-A2E7-26155597CB3C}">
      <dsp:nvSpPr>
        <dsp:cNvPr id="0" name=""/>
        <dsp:cNvSpPr/>
      </dsp:nvSpPr>
      <dsp:spPr bwMode="white">
        <a:xfrm>
          <a:off x="4158239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322006"/>
                <a:satOff val="-3604"/>
                <a:lumOff val="1559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322006"/>
                <a:satOff val="-3604"/>
                <a:lumOff val="1559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322006"/>
                <a:satOff val="-3604"/>
                <a:lumOff val="1559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结账任务</a:t>
          </a:r>
        </a:p>
      </dsp:txBody>
      <dsp:txXfrm>
        <a:off x="4284287" y="0"/>
        <a:ext cx="1045961" cy="252095"/>
      </dsp:txXfrm>
    </dsp:sp>
    <dsp:sp modelId="{98DB7EC0-455D-4EBD-B380-A143A1DB299B}">
      <dsp:nvSpPr>
        <dsp:cNvPr id="0" name=""/>
        <dsp:cNvSpPr/>
      </dsp:nvSpPr>
      <dsp:spPr bwMode="white">
        <a:xfrm>
          <a:off x="5196684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402507"/>
                <a:satOff val="-4504"/>
                <a:lumOff val="1949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402507"/>
                <a:satOff val="-4504"/>
                <a:lumOff val="1949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402507"/>
                <a:satOff val="-4504"/>
                <a:lumOff val="1949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结账工作台</a:t>
          </a:r>
        </a:p>
      </dsp:txBody>
      <dsp:txXfrm>
        <a:off x="5322732" y="0"/>
        <a:ext cx="1045961" cy="252095"/>
      </dsp:txXfrm>
    </dsp:sp>
    <dsp:sp modelId="{04E8A274-B06E-4652-AEFB-43F73A50C66B}">
      <dsp:nvSpPr>
        <dsp:cNvPr id="0" name=""/>
        <dsp:cNvSpPr/>
      </dsp:nvSpPr>
      <dsp:spPr bwMode="white">
        <a:xfrm>
          <a:off x="6235129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483008"/>
                <a:satOff val="-5405"/>
                <a:lumOff val="233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483008"/>
                <a:satOff val="-5405"/>
                <a:lumOff val="233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483008"/>
                <a:satOff val="-5405"/>
                <a:lumOff val="233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>
              <a:latin typeface="+mn-lt"/>
              <a:ea typeface="+mn-ea"/>
              <a:cs typeface="+mn-ea"/>
              <a:sym typeface="+mn-lt"/>
            </a:rPr>
            <a:t>结账监控</a:t>
          </a:r>
        </a:p>
      </dsp:txBody>
      <dsp:txXfrm>
        <a:off x="6361177" y="0"/>
        <a:ext cx="1045961" cy="252095"/>
      </dsp:txXfrm>
    </dsp:sp>
    <dsp:sp modelId="{F2389BAE-32B5-4FD0-A33C-D133129DAD41}">
      <dsp:nvSpPr>
        <dsp:cNvPr id="0" name=""/>
        <dsp:cNvSpPr/>
      </dsp:nvSpPr>
      <dsp:spPr bwMode="white">
        <a:xfrm>
          <a:off x="7273574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563510"/>
                <a:satOff val="-6306"/>
                <a:lumOff val="2729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563510"/>
                <a:satOff val="-6306"/>
                <a:lumOff val="2729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563510"/>
                <a:satOff val="-6306"/>
                <a:lumOff val="2729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>
              <a:latin typeface="+mn-lt"/>
              <a:ea typeface="+mn-ea"/>
              <a:cs typeface="+mn-ea"/>
              <a:sym typeface="+mn-lt"/>
            </a:rPr>
            <a:t>结账预警</a:t>
          </a:r>
        </a:p>
      </dsp:txBody>
      <dsp:txXfrm>
        <a:off x="7399622" y="0"/>
        <a:ext cx="1045961" cy="252095"/>
      </dsp:txXfrm>
    </dsp:sp>
    <dsp:sp modelId="{B30B7416-33D0-4EBB-91FA-8248D1B1890D}">
      <dsp:nvSpPr>
        <dsp:cNvPr id="0" name=""/>
        <dsp:cNvSpPr/>
      </dsp:nvSpPr>
      <dsp:spPr bwMode="white">
        <a:xfrm>
          <a:off x="8312019" y="0"/>
          <a:ext cx="1298056" cy="252095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644011"/>
                <a:satOff val="-7207"/>
                <a:lumOff val="311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644011"/>
                <a:satOff val="-7207"/>
                <a:lumOff val="311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644011"/>
                <a:satOff val="-7207"/>
                <a:lumOff val="311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>
              <a:latin typeface="+mn-lt"/>
              <a:ea typeface="+mn-ea"/>
              <a:cs typeface="+mn-ea"/>
              <a:sym typeface="+mn-lt"/>
            </a:rPr>
            <a:t>结账分析</a:t>
          </a:r>
        </a:p>
      </dsp:txBody>
      <dsp:txXfrm>
        <a:off x="8438067" y="0"/>
        <a:ext cx="1045961" cy="252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4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5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#6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D4E06-FAFC-4C59-B109-8F4B8746390D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39CAE-762F-45B3-B32D-38597EC2FB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39CAE-762F-45B3-B32D-38597EC2FB8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431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8C749-58BC-51AC-25B5-0D4E41954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783785-EFEB-2C5B-0AE9-1AE942C10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C85B5C-7A0E-8411-BB2F-F587FF3B0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290233-AF65-E549-0D9B-45E20DB1B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539CAE-762F-45B3-B32D-38597EC2FB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3813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39CAE-762F-45B3-B32D-38597EC2FB8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164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39CAE-762F-45B3-B32D-38597EC2FB8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057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67D8E-ADFD-5C34-A07E-F079DB268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B0F625-EAF2-FE4C-94A9-DA9D89862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C8ADF0-D991-5FB2-5462-4A28B33C6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3812C6-5EA4-9AB6-0213-B6CA29137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539CAE-762F-45B3-B32D-38597EC2FB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413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39CAE-762F-45B3-B32D-38597EC2FB8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864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39CAE-762F-45B3-B32D-38597EC2FB8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58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47241-413F-F6AE-9686-D6C0725DF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A65600-8743-EF9F-E19D-0A2145B24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CA5B0D-4902-3A59-121F-2FCCA34ED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C3C2D0-B8C8-C2B5-098F-E6098AC116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539CAE-762F-45B3-B32D-38597EC2FB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578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5308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GI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GI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67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5" y="85356"/>
            <a:ext cx="2319274" cy="1304422"/>
          </a:xfrm>
          <a:prstGeom prst="rect">
            <a:avLst/>
          </a:prstGeom>
        </p:spPr>
      </p:pic>
      <p:sp>
        <p:nvSpPr>
          <p:cNvPr id="9" name="Rectangle 37"/>
          <p:cNvSpPr/>
          <p:nvPr userDrawn="1"/>
        </p:nvSpPr>
        <p:spPr bwMode="auto">
          <a:xfrm>
            <a:off x="920344" y="6421913"/>
            <a:ext cx="3123019" cy="1519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版权所有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©1993-2022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 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金蝶国际软件集团有限公司</a:t>
            </a:r>
          </a:p>
        </p:txBody>
      </p:sp>
      <p:sp>
        <p:nvSpPr>
          <p:cNvPr id="5" name="标题占位符 1"/>
          <p:cNvSpPr>
            <a:spLocks noGrp="1"/>
          </p:cNvSpPr>
          <p:nvPr>
            <p:ph type="title" hasCustomPrompt="1"/>
          </p:nvPr>
        </p:nvSpPr>
        <p:spPr>
          <a:xfrm>
            <a:off x="838200" y="20543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单击此处编辑标题（</a:t>
            </a:r>
            <a:r>
              <a:rPr kumimoji="1" lang="en-US" altLang="zh-CN" dirty="0"/>
              <a:t>54</a:t>
            </a:r>
            <a:r>
              <a:rPr kumimoji="1" lang="zh-CN" altLang="en-US" dirty="0"/>
              <a:t>磅）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838200" y="4804913"/>
            <a:ext cx="2750820" cy="405442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撰稿人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838200" y="5226226"/>
            <a:ext cx="2745334" cy="432701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撰稿部门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832714" y="5667554"/>
            <a:ext cx="2750820" cy="301924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2022.01.01</a:t>
            </a:r>
            <a:endParaRPr lang="zh-CN" altLang="en-US" dirty="0"/>
          </a:p>
        </p:txBody>
      </p:sp>
      <p:sp>
        <p:nvSpPr>
          <p:cNvPr id="13" name="Text Box 2"/>
          <p:cNvSpPr txBox="1"/>
          <p:nvPr userDrawn="1"/>
        </p:nvSpPr>
        <p:spPr>
          <a:xfrm>
            <a:off x="3440894" y="6414581"/>
            <a:ext cx="1462116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srgbClr val="1770EA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70EA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770EA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70EA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绝密信息 严禁泄露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70EA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、提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0" y="0"/>
            <a:ext cx="12186080" cy="6858000"/>
          </a:xfrm>
          <a:prstGeom prst="rect">
            <a:avLst/>
          </a:prstGeom>
        </p:spPr>
      </p:pic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11585878" y="6432188"/>
            <a:ext cx="20988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3086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6AD7C7-DE3F-5E43-A3A8-CA80750AE375}" type="slidenum">
              <a:rPr kumimoji="0" lang="en-US" altLang="zh-CN" sz="1000" b="0" i="0" u="none" strike="noStrike" kern="0" cap="none" spc="0" normalizeH="0" baseline="0" noProof="0" smtClean="0">
                <a:ln>
                  <a:noFill/>
                </a:ln>
                <a:solidFill>
                  <a:srgbClr val="2A71E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rPr>
              <a:t>‹#›</a:t>
            </a:fld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2A71E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3" hasCustomPrompt="1"/>
          </p:nvPr>
        </p:nvSpPr>
        <p:spPr>
          <a:xfrm>
            <a:off x="408475" y="2809762"/>
            <a:ext cx="1052336" cy="7514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20" name="文本占位符 18"/>
          <p:cNvSpPr>
            <a:spLocks noGrp="1"/>
          </p:cNvSpPr>
          <p:nvPr>
            <p:ph type="body" sz="quarter" idx="14" hasCustomPrompt="1"/>
          </p:nvPr>
        </p:nvSpPr>
        <p:spPr>
          <a:xfrm>
            <a:off x="408475" y="3889909"/>
            <a:ext cx="1052336" cy="673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5" hasCustomPrompt="1"/>
          </p:nvPr>
        </p:nvSpPr>
        <p:spPr>
          <a:xfrm>
            <a:off x="1637847" y="1688799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1637847" y="2142501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1-1.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1-2.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1-3.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18" hasCustomPrompt="1"/>
          </p:nvPr>
        </p:nvSpPr>
        <p:spPr>
          <a:xfrm>
            <a:off x="1637847" y="3209303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2-1.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2-2.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2-3.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27" name="文本占位符 21"/>
          <p:cNvSpPr>
            <a:spLocks noGrp="1"/>
          </p:cNvSpPr>
          <p:nvPr>
            <p:ph type="body" sz="quarter" idx="20" hasCustomPrompt="1"/>
          </p:nvPr>
        </p:nvSpPr>
        <p:spPr>
          <a:xfrm>
            <a:off x="1637847" y="4278565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3-1.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3-2.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3-3.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28" name="文本占位符 18"/>
          <p:cNvSpPr>
            <a:spLocks noGrp="1"/>
          </p:cNvSpPr>
          <p:nvPr>
            <p:ph type="body" sz="quarter" idx="21" hasCustomPrompt="1"/>
          </p:nvPr>
        </p:nvSpPr>
        <p:spPr>
          <a:xfrm>
            <a:off x="408475" y="4957146"/>
            <a:ext cx="1052336" cy="673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637847" y="5345802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4-1.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4-2.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4-3.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31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10065781" y="1737455"/>
            <a:ext cx="1213281" cy="405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0065782" y="2816557"/>
            <a:ext cx="1213281" cy="405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26" hasCustomPrompt="1"/>
          </p:nvPr>
        </p:nvSpPr>
        <p:spPr>
          <a:xfrm>
            <a:off x="10065782" y="3896705"/>
            <a:ext cx="1213281" cy="405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10065782" y="4974828"/>
            <a:ext cx="1213281" cy="405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5" name="Text Box 2"/>
          <p:cNvSpPr txBox="1"/>
          <p:nvPr userDrawn="1"/>
        </p:nvSpPr>
        <p:spPr>
          <a:xfrm>
            <a:off x="10174753" y="6416764"/>
            <a:ext cx="1213281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no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① 绝密信息 严禁泄露</a:t>
            </a:r>
          </a:p>
        </p:txBody>
      </p:sp>
      <p:sp>
        <p:nvSpPr>
          <p:cNvPr id="37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36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1637847" y="2799142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38" name="文本占位符 21"/>
          <p:cNvSpPr>
            <a:spLocks noGrp="1"/>
          </p:cNvSpPr>
          <p:nvPr>
            <p:ph type="body" sz="quarter" idx="30" hasCustomPrompt="1"/>
          </p:nvPr>
        </p:nvSpPr>
        <p:spPr>
          <a:xfrm>
            <a:off x="1637847" y="3876827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39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1637847" y="4938184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9693760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42" name="文本占位符 18"/>
          <p:cNvSpPr>
            <a:spLocks noGrp="1"/>
          </p:cNvSpPr>
          <p:nvPr>
            <p:ph type="body" sz="quarter" idx="32" hasCustomPrompt="1"/>
          </p:nvPr>
        </p:nvSpPr>
        <p:spPr>
          <a:xfrm>
            <a:off x="392146" y="1650434"/>
            <a:ext cx="1052336" cy="830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pic>
        <p:nvPicPr>
          <p:cNvPr id="4" name="图片 3" descr="图片包含 徽标&#10;&#10;AI 生成的内容可能不正确。">
            <a:extLst>
              <a:ext uri="{FF2B5EF4-FFF2-40B4-BE49-F238E27FC236}">
                <a16:creationId xmlns:a16="http://schemas.microsoft.com/office/drawing/2014/main" id="{BF2800A9-BBFA-8B66-D0E0-455A794F2C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4857" y="210672"/>
            <a:ext cx="1066353" cy="4798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白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11585878" y="6450042"/>
            <a:ext cx="20988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3086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6AD7C7-DE3F-5E43-A3A8-CA80750AE375}" type="slidenum">
              <a:rPr kumimoji="0" lang="en-US" altLang="zh-CN" sz="900" b="0" i="0" u="none" strike="noStrike" kern="0" cap="none" spc="0" normalizeH="0" baseline="0" noProof="0" smtClean="0">
                <a:ln>
                  <a:noFill/>
                </a:ln>
                <a:solidFill>
                  <a:srgbClr val="2A71E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rPr>
              <a:t>‹#›</a:t>
            </a:fld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2A71E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"/>
            </a:endParaRP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9693760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11" name="Text Box 2"/>
          <p:cNvSpPr txBox="1"/>
          <p:nvPr userDrawn="1"/>
        </p:nvSpPr>
        <p:spPr>
          <a:xfrm>
            <a:off x="10174753" y="6416764"/>
            <a:ext cx="1213281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no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① 绝密信息 严禁泄露</a:t>
            </a:r>
          </a:p>
        </p:txBody>
      </p:sp>
      <p:sp>
        <p:nvSpPr>
          <p:cNvPr id="2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97213" y="1374180"/>
            <a:ext cx="11206475" cy="4890199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单击此处编辑文本样式，内文行距</a:t>
            </a:r>
            <a:r>
              <a:rPr lang="en-US" altLang="zh-CN" dirty="0"/>
              <a:t>1.3</a:t>
            </a:r>
          </a:p>
          <a:p>
            <a:pPr lvl="0"/>
            <a:endParaRPr lang="en-US" altLang="zh-CN" dirty="0"/>
          </a:p>
          <a:p>
            <a:pPr lvl="0"/>
            <a:endParaRPr lang="zh-CN" altLang="en-US" dirty="0"/>
          </a:p>
        </p:txBody>
      </p:sp>
      <p:pic>
        <p:nvPicPr>
          <p:cNvPr id="3" name="图片 2" descr="图片包含 徽标&#10;&#10;AI 生成的内容可能不正确。">
            <a:extLst>
              <a:ext uri="{FF2B5EF4-FFF2-40B4-BE49-F238E27FC236}">
                <a16:creationId xmlns:a16="http://schemas.microsoft.com/office/drawing/2014/main" id="{30378215-72B5-6BF3-6448-8F7C6C9ED1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4857" y="210672"/>
            <a:ext cx="1066353" cy="4798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" y="-8055"/>
            <a:ext cx="12202160" cy="68660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46" y="2021376"/>
            <a:ext cx="6012403" cy="3202537"/>
          </a:xfrm>
          <a:prstGeom prst="rect">
            <a:avLst/>
          </a:prstGeom>
        </p:spPr>
      </p:pic>
      <p:sp>
        <p:nvSpPr>
          <p:cNvPr id="4" name="Rectangle 37"/>
          <p:cNvSpPr/>
          <p:nvPr userDrawn="1"/>
        </p:nvSpPr>
        <p:spPr bwMode="auto">
          <a:xfrm>
            <a:off x="1001663" y="6364968"/>
            <a:ext cx="2711022" cy="1714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版权所有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©1993-2022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金蝶国际软件集团有限公司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Microsoft YaHei Bold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5" y="85356"/>
            <a:ext cx="2319274" cy="1304422"/>
          </a:xfrm>
          <a:prstGeom prst="rect">
            <a:avLst/>
          </a:prstGeom>
        </p:spPr>
      </p:pic>
      <p:sp>
        <p:nvSpPr>
          <p:cNvPr id="6" name="Text Box 2"/>
          <p:cNvSpPr txBox="1"/>
          <p:nvPr userDrawn="1"/>
        </p:nvSpPr>
        <p:spPr>
          <a:xfrm>
            <a:off x="4786041" y="6290346"/>
            <a:ext cx="1252234" cy="171459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00">
                <a:solidFill>
                  <a:srgbClr val="FFFFFF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kumimoji="0" sz="935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Text Box 2"/>
          <p:cNvSpPr txBox="1"/>
          <p:nvPr userDrawn="1"/>
        </p:nvSpPr>
        <p:spPr>
          <a:xfrm>
            <a:off x="3323925" y="6290346"/>
            <a:ext cx="1462116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④ 内部公开 请勿外传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Comparison">
    <p:bg>
      <p:bgPr>
        <a:solidFill>
          <a:srgbClr val="177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 63"/>
          <p:cNvGrpSpPr/>
          <p:nvPr/>
        </p:nvGrpSpPr>
        <p:grpSpPr>
          <a:xfrm>
            <a:off x="606010" y="-295890"/>
            <a:ext cx="10977237" cy="225780"/>
            <a:chOff x="0" y="0"/>
            <a:chExt cx="8232927" cy="169333"/>
          </a:xfrm>
        </p:grpSpPr>
        <p:grpSp>
          <p:nvGrpSpPr>
            <p:cNvPr id="525" name="Group 12"/>
            <p:cNvGrpSpPr/>
            <p:nvPr/>
          </p:nvGrpSpPr>
          <p:grpSpPr>
            <a:xfrm>
              <a:off x="2742292" y="15394"/>
              <a:ext cx="690489" cy="153940"/>
              <a:chOff x="0" y="0"/>
              <a:chExt cx="690487" cy="153939"/>
            </a:xfrm>
          </p:grpSpPr>
          <p:grpSp>
            <p:nvGrpSpPr>
              <p:cNvPr id="523" name="Group 13"/>
              <p:cNvGrpSpPr/>
              <p:nvPr/>
            </p:nvGrpSpPr>
            <p:grpSpPr>
              <a:xfrm>
                <a:off x="0" y="0"/>
                <a:ext cx="342044" cy="153940"/>
                <a:chOff x="0" y="0"/>
                <a:chExt cx="342043" cy="153939"/>
              </a:xfrm>
            </p:grpSpPr>
            <p:sp>
              <p:nvSpPr>
                <p:cNvPr id="521" name="Straight Connector 15"/>
                <p:cNvSpPr/>
                <p:nvPr/>
              </p:nvSpPr>
              <p:spPr>
                <a:xfrm flipV="1">
                  <a:off x="-1" y="0"/>
                  <a:ext cx="2" cy="153940"/>
                </a:xfrm>
                <a:prstGeom prst="line">
                  <a:avLst/>
                </a:prstGeom>
                <a:noFill/>
                <a:ln w="6350" cap="flat">
                  <a:solidFill>
                    <a:srgbClr val="FFFFFF"/>
                  </a:solidFill>
                  <a:prstDash val="sysDash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22" name="Straight Connector 16"/>
                <p:cNvSpPr/>
                <p:nvPr/>
              </p:nvSpPr>
              <p:spPr>
                <a:xfrm flipV="1">
                  <a:off x="342043" y="0"/>
                  <a:ext cx="1" cy="153940"/>
                </a:xfrm>
                <a:prstGeom prst="line">
                  <a:avLst/>
                </a:prstGeom>
                <a:noFill/>
                <a:ln w="6350" cap="flat">
                  <a:solidFill>
                    <a:srgbClr val="FFFFFF"/>
                  </a:solidFill>
                  <a:prstDash val="sysDash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charset="-122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24" name="Straight Connector 14"/>
              <p:cNvSpPr/>
              <p:nvPr/>
            </p:nvSpPr>
            <p:spPr>
              <a:xfrm flipV="1">
                <a:off x="690487" y="0"/>
                <a:ext cx="1" cy="153940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526" name="Straight Connector 22"/>
            <p:cNvSpPr/>
            <p:nvPr/>
          </p:nvSpPr>
          <p:spPr>
            <a:xfrm flipV="1">
              <a:off x="-1" y="0"/>
              <a:ext cx="2" cy="153940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527" name="Straight Connector 36"/>
            <p:cNvSpPr/>
            <p:nvPr/>
          </p:nvSpPr>
          <p:spPr>
            <a:xfrm flipV="1">
              <a:off x="8232927" y="0"/>
              <a:ext cx="1" cy="153940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</p:grpSp>
      <p:grpSp>
        <p:nvGrpSpPr>
          <p:cNvPr id="531" name="Group 41"/>
          <p:cNvGrpSpPr/>
          <p:nvPr/>
        </p:nvGrpSpPr>
        <p:grpSpPr>
          <a:xfrm>
            <a:off x="-1441786" y="-70962"/>
            <a:ext cx="861723" cy="861723"/>
            <a:chOff x="-1" y="-1"/>
            <a:chExt cx="646290" cy="646290"/>
          </a:xfrm>
        </p:grpSpPr>
        <p:sp>
          <p:nvSpPr>
            <p:cNvPr id="529" name="Rectangle 42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24215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530" name="TextBox 43"/>
            <p:cNvSpPr txBox="1"/>
            <p:nvPr/>
          </p:nvSpPr>
          <p:spPr>
            <a:xfrm>
              <a:off x="0" y="0"/>
              <a:ext cx="270024" cy="438723"/>
            </a:xfrm>
            <a:prstGeom prst="rect">
              <a:avLst/>
            </a:prstGeom>
            <a:solidFill>
              <a:srgbClr val="24215F"/>
            </a:solidFill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R:36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G:33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B:95</a:t>
              </a:r>
            </a:p>
          </p:txBody>
        </p:sp>
      </p:grpSp>
      <p:grpSp>
        <p:nvGrpSpPr>
          <p:cNvPr id="534" name="Group 44"/>
          <p:cNvGrpSpPr/>
          <p:nvPr/>
        </p:nvGrpSpPr>
        <p:grpSpPr>
          <a:xfrm>
            <a:off x="-1441786" y="878955"/>
            <a:ext cx="861723" cy="861723"/>
            <a:chOff x="-1" y="-1"/>
            <a:chExt cx="646290" cy="646290"/>
          </a:xfrm>
        </p:grpSpPr>
        <p:sp>
          <p:nvSpPr>
            <p:cNvPr id="532" name="Rectangle 45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1771E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533" name="TextBox 46"/>
            <p:cNvSpPr txBox="1"/>
            <p:nvPr/>
          </p:nvSpPr>
          <p:spPr>
            <a:xfrm>
              <a:off x="0" y="0"/>
              <a:ext cx="324125" cy="4387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R:23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G:136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B:238</a:t>
              </a:r>
            </a:p>
          </p:txBody>
        </p:sp>
      </p:grpSp>
      <p:grpSp>
        <p:nvGrpSpPr>
          <p:cNvPr id="537" name="Group 47"/>
          <p:cNvGrpSpPr/>
          <p:nvPr/>
        </p:nvGrpSpPr>
        <p:grpSpPr>
          <a:xfrm>
            <a:off x="-1441786" y="1828873"/>
            <a:ext cx="861723" cy="861721"/>
            <a:chOff x="-1" y="-1"/>
            <a:chExt cx="646290" cy="646290"/>
          </a:xfrm>
        </p:grpSpPr>
        <p:sp>
          <p:nvSpPr>
            <p:cNvPr id="535" name="Rectangle 48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25C1F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536" name="TextBox 49"/>
            <p:cNvSpPr txBox="1"/>
            <p:nvPr/>
          </p:nvSpPr>
          <p:spPr>
            <a:xfrm>
              <a:off x="0" y="0"/>
              <a:ext cx="324125" cy="438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/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R:35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/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G:204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/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B:252</a:t>
              </a:r>
            </a:p>
          </p:txBody>
        </p:sp>
      </p:grpSp>
      <p:grpSp>
        <p:nvGrpSpPr>
          <p:cNvPr id="540" name="Group 50"/>
          <p:cNvGrpSpPr/>
          <p:nvPr/>
        </p:nvGrpSpPr>
        <p:grpSpPr>
          <a:xfrm>
            <a:off x="-1441786" y="2778788"/>
            <a:ext cx="861723" cy="861721"/>
            <a:chOff x="-1" y="-1"/>
            <a:chExt cx="646290" cy="646290"/>
          </a:xfrm>
        </p:grpSpPr>
        <p:sp>
          <p:nvSpPr>
            <p:cNvPr id="538" name="Rectangle 51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24BEB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539" name="TextBox 52"/>
            <p:cNvSpPr txBox="1"/>
            <p:nvPr/>
          </p:nvSpPr>
          <p:spPr>
            <a:xfrm>
              <a:off x="0" y="0"/>
              <a:ext cx="324125" cy="438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R:33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G:200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B:200</a:t>
              </a:r>
            </a:p>
          </p:txBody>
        </p:sp>
      </p:grpSp>
      <p:sp>
        <p:nvSpPr>
          <p:cNvPr id="541" name="TextBox 58"/>
          <p:cNvSpPr txBox="1"/>
          <p:nvPr/>
        </p:nvSpPr>
        <p:spPr>
          <a:xfrm>
            <a:off x="-1460597" y="4946796"/>
            <a:ext cx="861719" cy="523220"/>
          </a:xfrm>
          <a:prstGeom prst="rect">
            <a:avLst/>
          </a:prstGeom>
          <a:ln w="12700">
            <a:miter lim="400000"/>
          </a:ln>
        </p:spPr>
        <p:txBody>
          <a:bodyPr lIns="60959" rIns="60959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00">
                <a:solidFill>
                  <a:srgbClr val="FFFFFF"/>
                </a:solidFill>
              </a:defRPr>
            </a:pPr>
            <a:r>
              <a:rPr kumimoji="0" sz="93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t>中文字体：</a:t>
            </a:r>
            <a:endParaRPr kumimoji="0" sz="935" b="0" i="0" u="none" strike="noStrike" kern="1200" cap="none" spc="0" normalizeH="0" baseline="0" noProof="0">
              <a:ln>
                <a:noFill/>
              </a:ln>
              <a:solidFill>
                <a:srgbClr val="1EA19F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rgbClr val="FFFFFF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pPr>
            <a:r>
              <a:rPr kumimoji="0" sz="18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iti SC Medium"/>
                <a:ea typeface="Heiti SC Medium"/>
                <a:sym typeface="Heiti SC Medium"/>
              </a:rPr>
              <a:t>黑体</a:t>
            </a:r>
          </a:p>
        </p:txBody>
      </p:sp>
      <p:grpSp>
        <p:nvGrpSpPr>
          <p:cNvPr id="544" name="Group 59"/>
          <p:cNvGrpSpPr/>
          <p:nvPr/>
        </p:nvGrpSpPr>
        <p:grpSpPr>
          <a:xfrm>
            <a:off x="-1441786" y="3728701"/>
            <a:ext cx="861723" cy="861721"/>
            <a:chOff x="-1" y="-1"/>
            <a:chExt cx="646290" cy="646290"/>
          </a:xfrm>
        </p:grpSpPr>
        <p:sp>
          <p:nvSpPr>
            <p:cNvPr id="542" name="Rectangle 60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9F55F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543" name="TextBox 61"/>
            <p:cNvSpPr txBox="1"/>
            <p:nvPr/>
          </p:nvSpPr>
          <p:spPr>
            <a:xfrm>
              <a:off x="0" y="0"/>
              <a:ext cx="324125" cy="438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R:176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G:115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B:252</a:t>
              </a:r>
            </a:p>
          </p:txBody>
        </p:sp>
      </p:grpSp>
      <p:sp>
        <p:nvSpPr>
          <p:cNvPr id="545" name="Rectangle 62"/>
          <p:cNvSpPr txBox="1"/>
          <p:nvPr/>
        </p:nvSpPr>
        <p:spPr>
          <a:xfrm>
            <a:off x="-1460598" y="5545253"/>
            <a:ext cx="1027859" cy="564129"/>
          </a:xfrm>
          <a:prstGeom prst="rect">
            <a:avLst/>
          </a:prstGeom>
          <a:ln w="12700">
            <a:miter lim="400000"/>
          </a:ln>
        </p:spPr>
        <p:txBody>
          <a:bodyPr lIns="60959" rIns="60959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00">
                <a:solidFill>
                  <a:srgbClr val="FFFFFF"/>
                </a:solidFill>
              </a:defRPr>
            </a:pPr>
            <a:r>
              <a:rPr kumimoji="0" sz="93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t>英文字体：</a:t>
            </a:r>
            <a:endParaRPr kumimoji="0" sz="93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kumimoji="0" sz="213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Arial</a:t>
            </a:r>
          </a:p>
        </p:txBody>
      </p:sp>
      <p:grpSp>
        <p:nvGrpSpPr>
          <p:cNvPr id="554" name="Group 75"/>
          <p:cNvGrpSpPr/>
          <p:nvPr/>
        </p:nvGrpSpPr>
        <p:grpSpPr>
          <a:xfrm>
            <a:off x="-268113" y="278021"/>
            <a:ext cx="182440" cy="5851111"/>
            <a:chOff x="0" y="0"/>
            <a:chExt cx="136829" cy="4388332"/>
          </a:xfrm>
        </p:grpSpPr>
        <p:sp>
          <p:nvSpPr>
            <p:cNvPr id="546" name="Straight Connector 76"/>
            <p:cNvSpPr/>
            <p:nvPr/>
          </p:nvSpPr>
          <p:spPr>
            <a:xfrm flipH="1">
              <a:off x="0" y="1206199"/>
              <a:ext cx="136830" cy="1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grpSp>
          <p:nvGrpSpPr>
            <p:cNvPr id="549" name="Group 77"/>
            <p:cNvGrpSpPr/>
            <p:nvPr/>
          </p:nvGrpSpPr>
          <p:grpSpPr>
            <a:xfrm>
              <a:off x="0" y="4046288"/>
              <a:ext cx="136830" cy="342045"/>
              <a:chOff x="0" y="0"/>
              <a:chExt cx="136829" cy="342044"/>
            </a:xfrm>
          </p:grpSpPr>
          <p:sp>
            <p:nvSpPr>
              <p:cNvPr id="547" name="Straight Connector 81"/>
              <p:cNvSpPr/>
              <p:nvPr/>
            </p:nvSpPr>
            <p:spPr>
              <a:xfrm flipH="1">
                <a:off x="0" y="342043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  <p:sp>
            <p:nvSpPr>
              <p:cNvPr id="548" name="Straight Connector 82"/>
              <p:cNvSpPr/>
              <p:nvPr/>
            </p:nvSpPr>
            <p:spPr>
              <a:xfrm flipH="1" flipV="1">
                <a:off x="0" y="-1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552" name="Group 78"/>
            <p:cNvGrpSpPr/>
            <p:nvPr/>
          </p:nvGrpSpPr>
          <p:grpSpPr>
            <a:xfrm>
              <a:off x="0" y="0"/>
              <a:ext cx="136830" cy="864156"/>
              <a:chOff x="0" y="0"/>
              <a:chExt cx="136829" cy="864155"/>
            </a:xfrm>
          </p:grpSpPr>
          <p:sp>
            <p:nvSpPr>
              <p:cNvPr id="550" name="Straight Connector 79"/>
              <p:cNvSpPr/>
              <p:nvPr/>
            </p:nvSpPr>
            <p:spPr>
              <a:xfrm flipH="1">
                <a:off x="0" y="864155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  <p:sp>
            <p:nvSpPr>
              <p:cNvPr id="551" name="Straight Connector 80"/>
              <p:cNvSpPr/>
              <p:nvPr/>
            </p:nvSpPr>
            <p:spPr>
              <a:xfrm flipH="1" flipV="1">
                <a:off x="0" y="-1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553" name="Straight Connector 93"/>
            <p:cNvSpPr/>
            <p:nvPr/>
          </p:nvSpPr>
          <p:spPr>
            <a:xfrm flipH="1">
              <a:off x="0" y="342044"/>
              <a:ext cx="136830" cy="1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</p:grpSp>
      <p:grpSp>
        <p:nvGrpSpPr>
          <p:cNvPr id="563" name="Group 95"/>
          <p:cNvGrpSpPr/>
          <p:nvPr/>
        </p:nvGrpSpPr>
        <p:grpSpPr>
          <a:xfrm>
            <a:off x="12262553" y="278021"/>
            <a:ext cx="182440" cy="5851111"/>
            <a:chOff x="0" y="0"/>
            <a:chExt cx="136829" cy="4388332"/>
          </a:xfrm>
        </p:grpSpPr>
        <p:sp>
          <p:nvSpPr>
            <p:cNvPr id="555" name="Straight Connector 96"/>
            <p:cNvSpPr/>
            <p:nvPr/>
          </p:nvSpPr>
          <p:spPr>
            <a:xfrm flipH="1">
              <a:off x="0" y="1206199"/>
              <a:ext cx="136830" cy="1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grpSp>
          <p:nvGrpSpPr>
            <p:cNvPr id="558" name="Group 97"/>
            <p:cNvGrpSpPr/>
            <p:nvPr/>
          </p:nvGrpSpPr>
          <p:grpSpPr>
            <a:xfrm>
              <a:off x="0" y="4046288"/>
              <a:ext cx="136830" cy="342045"/>
              <a:chOff x="0" y="0"/>
              <a:chExt cx="136829" cy="342044"/>
            </a:xfrm>
          </p:grpSpPr>
          <p:sp>
            <p:nvSpPr>
              <p:cNvPr id="556" name="Straight Connector 102"/>
              <p:cNvSpPr/>
              <p:nvPr/>
            </p:nvSpPr>
            <p:spPr>
              <a:xfrm flipH="1">
                <a:off x="0" y="342043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  <p:sp>
            <p:nvSpPr>
              <p:cNvPr id="557" name="Straight Connector 103"/>
              <p:cNvSpPr/>
              <p:nvPr/>
            </p:nvSpPr>
            <p:spPr>
              <a:xfrm flipH="1" flipV="1">
                <a:off x="0" y="-1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561" name="Group 98"/>
            <p:cNvGrpSpPr/>
            <p:nvPr/>
          </p:nvGrpSpPr>
          <p:grpSpPr>
            <a:xfrm>
              <a:off x="0" y="0"/>
              <a:ext cx="136830" cy="864156"/>
              <a:chOff x="0" y="0"/>
              <a:chExt cx="136829" cy="864155"/>
            </a:xfrm>
          </p:grpSpPr>
          <p:sp>
            <p:nvSpPr>
              <p:cNvPr id="559" name="Straight Connector 100"/>
              <p:cNvSpPr/>
              <p:nvPr/>
            </p:nvSpPr>
            <p:spPr>
              <a:xfrm flipH="1">
                <a:off x="0" y="864155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  <p:sp>
            <p:nvSpPr>
              <p:cNvPr id="560" name="Straight Connector 101"/>
              <p:cNvSpPr/>
              <p:nvPr/>
            </p:nvSpPr>
            <p:spPr>
              <a:xfrm flipH="1" flipV="1">
                <a:off x="0" y="-1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562" name="Straight Connector 99"/>
            <p:cNvSpPr/>
            <p:nvPr/>
          </p:nvSpPr>
          <p:spPr>
            <a:xfrm flipH="1">
              <a:off x="0" y="342044"/>
              <a:ext cx="136830" cy="1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</p:grpSp>
      <p:sp>
        <p:nvSpPr>
          <p:cNvPr id="48" name="Text Box 5"/>
          <p:cNvSpPr txBox="1">
            <a:spLocks noChangeArrowheads="1"/>
          </p:cNvSpPr>
          <p:nvPr userDrawn="1"/>
        </p:nvSpPr>
        <p:spPr bwMode="auto">
          <a:xfrm>
            <a:off x="11576584" y="6558512"/>
            <a:ext cx="615416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41148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6AD7C7-DE3F-5E43-A3A8-CA80750AE375}" type="slidenum">
              <a:rPr kumimoji="0" lang="en-US" altLang="zh-CN" sz="11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Arial" panose="020B0604020202020204"/>
                <a:sym typeface="Helvetica Neue"/>
              </a:rPr>
              <a:t>‹#›</a:t>
            </a:fld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Arial" panose="020B0604020202020204"/>
              <a:sym typeface="Helvetica Neue"/>
            </a:endParaRPr>
          </a:p>
        </p:txBody>
      </p:sp>
      <p:sp>
        <p:nvSpPr>
          <p:cNvPr id="49" name="Text Box 2"/>
          <p:cNvSpPr txBox="1"/>
          <p:nvPr userDrawn="1"/>
        </p:nvSpPr>
        <p:spPr>
          <a:xfrm>
            <a:off x="9251147" y="6545284"/>
            <a:ext cx="2163235" cy="171459"/>
          </a:xfrm>
          <a:prstGeom prst="rect">
            <a:avLst/>
          </a:prstGeom>
          <a:ln w="12700">
            <a:miter lim="400000"/>
          </a:ln>
        </p:spPr>
        <p:txBody>
          <a:bodyPr lIns="8891" tIns="8891" rIns="8891" bIns="8891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00">
                <a:solidFill>
                  <a:srgbClr val="FFFFFF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① </a:t>
            </a:r>
            <a:r>
              <a:rPr kumimoji="0" sz="935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绝密信息</a:t>
            </a: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0" sz="935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严禁泄露</a:t>
            </a:r>
            <a:endParaRPr kumimoji="0" sz="93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885" y="267724"/>
            <a:ext cx="896585" cy="416027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740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背景图案&#10;&#10;AI 生成的内容可能不正确。">
            <a:extLst>
              <a:ext uri="{FF2B5EF4-FFF2-40B4-BE49-F238E27FC236}">
                <a16:creationId xmlns:a16="http://schemas.microsoft.com/office/drawing/2014/main" id="{05636E91-381C-DC0C-8869-3FCAEDD9F0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9918" y="-39329"/>
            <a:ext cx="12331836" cy="6936658"/>
          </a:xfrm>
          <a:prstGeom prst="rect">
            <a:avLst/>
          </a:prstGeom>
        </p:spPr>
      </p:pic>
      <p:pic>
        <p:nvPicPr>
          <p:cNvPr id="12" name="图片 11" descr="徽标&#10;&#10;AI 生成的内容可能不正确。">
            <a:extLst>
              <a:ext uri="{FF2B5EF4-FFF2-40B4-BE49-F238E27FC236}">
                <a16:creationId xmlns:a16="http://schemas.microsoft.com/office/drawing/2014/main" id="{E4F366D5-5466-E5EB-3C64-02F176C69B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4465" y="587729"/>
            <a:ext cx="2038236" cy="788756"/>
          </a:xfrm>
          <a:prstGeom prst="rect">
            <a:avLst/>
          </a:prstGeom>
        </p:spPr>
      </p:pic>
      <p:sp>
        <p:nvSpPr>
          <p:cNvPr id="5" name="标题占位符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2071830"/>
            <a:ext cx="10515600" cy="78875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单击此处编辑标题（</a:t>
            </a:r>
            <a:r>
              <a:rPr kumimoji="1" lang="en-US" altLang="zh-CN" dirty="0"/>
              <a:t>54</a:t>
            </a:r>
            <a:r>
              <a:rPr kumimoji="1" lang="zh-CN" altLang="en-US" dirty="0"/>
              <a:t>磅）</a:t>
            </a:r>
          </a:p>
        </p:txBody>
      </p:sp>
      <p:sp>
        <p:nvSpPr>
          <p:cNvPr id="6" name="Content Placeholder 5"/>
          <p:cNvSpPr>
            <a:spLocks noGrp="1"/>
          </p:cNvSpPr>
          <p:nvPr userDrawn="1">
            <p:ph sz="quarter" idx="12" hasCustomPrompt="1"/>
          </p:nvPr>
        </p:nvSpPr>
        <p:spPr>
          <a:xfrm>
            <a:off x="838200" y="4804913"/>
            <a:ext cx="2750820" cy="4054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撰稿人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838200" y="5226227"/>
            <a:ext cx="2745334" cy="30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600" b="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</a:lstStyle>
          <a:p>
            <a:r>
              <a:rPr lang="zh-CN" altLang="en-US" dirty="0"/>
              <a:t>职属公司 部门 岗位</a:t>
            </a:r>
          </a:p>
        </p:txBody>
      </p:sp>
      <p:sp>
        <p:nvSpPr>
          <p:cNvPr id="11" name="Content Placeholder 5"/>
          <p:cNvSpPr>
            <a:spLocks noGrp="1"/>
          </p:cNvSpPr>
          <p:nvPr userDrawn="1">
            <p:ph sz="quarter" idx="14" hasCustomPrompt="1"/>
          </p:nvPr>
        </p:nvSpPr>
        <p:spPr>
          <a:xfrm>
            <a:off x="832714" y="5589497"/>
            <a:ext cx="2750820" cy="30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</a:lstStyle>
          <a:p>
            <a:pPr lvl="0"/>
            <a:r>
              <a:rPr lang="en-US" altLang="zh-CN" dirty="0"/>
              <a:t>2025.02.27</a:t>
            </a:r>
            <a:endParaRPr lang="zh-CN" altLang="en-US" dirty="0"/>
          </a:p>
        </p:txBody>
      </p: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3159BF06-A660-1C7C-B849-B0CACAF46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714" y="2977195"/>
            <a:ext cx="10521086" cy="5798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zh-CN" altLang="en-US" dirty="0"/>
              <a:t>单击此处编辑副标题（</a:t>
            </a:r>
            <a:r>
              <a:rPr kumimoji="1" lang="en-US" altLang="zh-CN" dirty="0"/>
              <a:t>40</a:t>
            </a:r>
            <a:r>
              <a:rPr kumimoji="1" lang="zh-CN" altLang="en-US" dirty="0"/>
              <a:t>磅）</a:t>
            </a:r>
          </a:p>
        </p:txBody>
      </p:sp>
    </p:spTree>
    <p:extLst>
      <p:ext uri="{BB962C8B-B14F-4D97-AF65-F5344CB8AC3E}">
        <p14:creationId xmlns:p14="http://schemas.microsoft.com/office/powerpoint/2010/main" val="201634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、提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>
            <a:extLst>
              <a:ext uri="{FF2B5EF4-FFF2-40B4-BE49-F238E27FC236}">
                <a16:creationId xmlns:a16="http://schemas.microsoft.com/office/drawing/2014/main" id="{A1A3EFBA-1016-8ADA-B0E7-090B26587D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85878" y="6432188"/>
            <a:ext cx="20988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577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i="0" kern="0" smtClean="0">
                <a:solidFill>
                  <a:srgbClr val="2A71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  <a:sym typeface="Helvetica Neue"/>
              </a:rPr>
              <a:pPr defTabSz="308577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0" lang="en-US" altLang="zh-CN" sz="1000" b="0" i="0" kern="0" dirty="0">
              <a:solidFill>
                <a:srgbClr val="2A71E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charset="-122"/>
              <a:sym typeface="Helvetica Neue"/>
            </a:endParaRP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AFF46488-F2D1-B220-25EE-EF90F85CF6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475" y="2799141"/>
            <a:ext cx="1052336" cy="69527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20" name="文本占位符 18">
            <a:extLst>
              <a:ext uri="{FF2B5EF4-FFF2-40B4-BE49-F238E27FC236}">
                <a16:creationId xmlns:a16="http://schemas.microsoft.com/office/drawing/2014/main" id="{4233BE88-6ADA-C7F2-6EA9-6679E37090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475" y="3868402"/>
            <a:ext cx="1052336" cy="69273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9B279FEB-4074-721E-1B9D-930369333B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7847" y="1688799"/>
            <a:ext cx="7783244" cy="41083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23" name="文本占位符 21">
            <a:extLst>
              <a:ext uri="{FF2B5EF4-FFF2-40B4-BE49-F238E27FC236}">
                <a16:creationId xmlns:a16="http://schemas.microsoft.com/office/drawing/2014/main" id="{CF1CB295-3FA2-9753-9AB4-707AECB101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37847" y="2142501"/>
            <a:ext cx="7783244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1-1.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1-2.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1-3.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CN" dirty="0"/>
          </a:p>
        </p:txBody>
      </p:sp>
      <p:sp>
        <p:nvSpPr>
          <p:cNvPr id="25" name="文本占位符 21">
            <a:extLst>
              <a:ext uri="{FF2B5EF4-FFF2-40B4-BE49-F238E27FC236}">
                <a16:creationId xmlns:a16="http://schemas.microsoft.com/office/drawing/2014/main" id="{E6832088-D9DD-9FF2-3E3C-B3269A0152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37847" y="3209303"/>
            <a:ext cx="7783244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2-1.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2-2.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2-3.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CN" dirty="0"/>
          </a:p>
        </p:txBody>
      </p:sp>
      <p:sp>
        <p:nvSpPr>
          <p:cNvPr id="27" name="文本占位符 21">
            <a:extLst>
              <a:ext uri="{FF2B5EF4-FFF2-40B4-BE49-F238E27FC236}">
                <a16:creationId xmlns:a16="http://schemas.microsoft.com/office/drawing/2014/main" id="{DC6B80E5-912E-8E5A-78A1-9401A6A93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37847" y="4278565"/>
            <a:ext cx="7783244" cy="28511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3-1.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3-2.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3-3.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CN" dirty="0"/>
          </a:p>
        </p:txBody>
      </p:sp>
      <p:sp>
        <p:nvSpPr>
          <p:cNvPr id="28" name="文本占位符 18">
            <a:extLst>
              <a:ext uri="{FF2B5EF4-FFF2-40B4-BE49-F238E27FC236}">
                <a16:creationId xmlns:a16="http://schemas.microsoft.com/office/drawing/2014/main" id="{96BB1BBF-DB43-FBB4-5E65-19D27068EA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8475" y="4935120"/>
            <a:ext cx="1052336" cy="69273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0" name="文本占位符 21">
            <a:extLst>
              <a:ext uri="{FF2B5EF4-FFF2-40B4-BE49-F238E27FC236}">
                <a16:creationId xmlns:a16="http://schemas.microsoft.com/office/drawing/2014/main" id="{70CAFCFC-79EC-91A9-7781-0E0FC92AAC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37847" y="5345802"/>
            <a:ext cx="7783244" cy="28511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4-1.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4-2.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4-3.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CN" dirty="0"/>
          </a:p>
        </p:txBody>
      </p:sp>
      <p:sp>
        <p:nvSpPr>
          <p:cNvPr id="31" name="文本占位符 21">
            <a:extLst>
              <a:ext uri="{FF2B5EF4-FFF2-40B4-BE49-F238E27FC236}">
                <a16:creationId xmlns:a16="http://schemas.microsoft.com/office/drawing/2014/main" id="{E9C41FC0-F9FD-2D5E-7348-C9F85EBEFC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65781" y="1737455"/>
            <a:ext cx="1213281" cy="40504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2" name="文本占位符 21">
            <a:extLst>
              <a:ext uri="{FF2B5EF4-FFF2-40B4-BE49-F238E27FC236}">
                <a16:creationId xmlns:a16="http://schemas.microsoft.com/office/drawing/2014/main" id="{89243ADB-A2B6-DEB0-47DF-8CE3A5B5722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065782" y="2816557"/>
            <a:ext cx="1213281" cy="40504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3" name="文本占位符 21">
            <a:extLst>
              <a:ext uri="{FF2B5EF4-FFF2-40B4-BE49-F238E27FC236}">
                <a16:creationId xmlns:a16="http://schemas.microsoft.com/office/drawing/2014/main" id="{0787CD33-AD0A-BC08-12D4-893AC1BFE19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65782" y="3896705"/>
            <a:ext cx="1213281" cy="40504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4" name="文本占位符 21">
            <a:extLst>
              <a:ext uri="{FF2B5EF4-FFF2-40B4-BE49-F238E27FC236}">
                <a16:creationId xmlns:a16="http://schemas.microsoft.com/office/drawing/2014/main" id="{2900C711-C415-FA8B-E3C7-6B1BD92DAD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5782" y="4974828"/>
            <a:ext cx="1213281" cy="40504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7" name="文本占位符 5">
            <a:extLst>
              <a:ext uri="{FF2B5EF4-FFF2-40B4-BE49-F238E27FC236}">
                <a16:creationId xmlns:a16="http://schemas.microsoft.com/office/drawing/2014/main" id="{D2F22406-298F-C824-2A6C-0EA7EFAC9E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8093" y="696480"/>
            <a:ext cx="10671687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zh-CN" altLang="en-US" dirty="0"/>
              <a:t>副标题，微软雅黑常规</a:t>
            </a:r>
            <a:r>
              <a:rPr lang="en-US" altLang="zh-CN" dirty="0"/>
              <a:t>16</a:t>
            </a:r>
            <a:r>
              <a:rPr lang="zh-CN" altLang="en-US" dirty="0"/>
              <a:t>磅，标题无须标点符号结尾（无内容此行可删除）</a:t>
            </a:r>
          </a:p>
        </p:txBody>
      </p:sp>
      <p:sp>
        <p:nvSpPr>
          <p:cNvPr id="36" name="文本占位符 21">
            <a:extLst>
              <a:ext uri="{FF2B5EF4-FFF2-40B4-BE49-F238E27FC236}">
                <a16:creationId xmlns:a16="http://schemas.microsoft.com/office/drawing/2014/main" id="{434B7ACD-DC3F-C170-A683-3D44630F016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37847" y="2799142"/>
            <a:ext cx="7783244" cy="41083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38" name="文本占位符 21">
            <a:extLst>
              <a:ext uri="{FF2B5EF4-FFF2-40B4-BE49-F238E27FC236}">
                <a16:creationId xmlns:a16="http://schemas.microsoft.com/office/drawing/2014/main" id="{52455111-126E-0C3A-354A-588D7856FF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37847" y="3876827"/>
            <a:ext cx="7783244" cy="41083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39" name="文本占位符 21">
            <a:extLst>
              <a:ext uri="{FF2B5EF4-FFF2-40B4-BE49-F238E27FC236}">
                <a16:creationId xmlns:a16="http://schemas.microsoft.com/office/drawing/2014/main" id="{4A07643C-8FE9-7106-FF48-8EF54E7EACE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37847" y="4938184"/>
            <a:ext cx="7783244" cy="41083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20325E-DDC4-0E14-B4B3-20A1B668B9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10671688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42" name="文本占位符 18">
            <a:extLst>
              <a:ext uri="{FF2B5EF4-FFF2-40B4-BE49-F238E27FC236}">
                <a16:creationId xmlns:a16="http://schemas.microsoft.com/office/drawing/2014/main" id="{A89A013E-4895-7FD2-2A71-1FB9930B52F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2146" y="1688798"/>
            <a:ext cx="1052336" cy="73635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61CCE4-FB7F-558D-DBC9-67712B7203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988" t="19235" r="10455" b="18199"/>
          <a:stretch/>
        </p:blipFill>
        <p:spPr>
          <a:xfrm>
            <a:off x="11201401" y="171073"/>
            <a:ext cx="776376" cy="41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89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11585878" y="6478600"/>
            <a:ext cx="33369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‹#›</a:t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96727" y="1374180"/>
            <a:ext cx="11398547" cy="4890199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单击此处编辑文本样式，内文行距</a:t>
            </a:r>
            <a:r>
              <a:rPr lang="en-US" altLang="zh-CN" dirty="0"/>
              <a:t>1.3</a:t>
            </a:r>
          </a:p>
          <a:p>
            <a:pPr lvl="0"/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id="{3E01A188-6C28-5444-8D4D-6EA834A94C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8094" y="696480"/>
            <a:ext cx="10803306" cy="2733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6D29CA3-60B7-594B-A2F8-C9AF28F2AC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10803307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6DD7D54-E600-788A-4CAF-5EDBDEC2AB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988" t="19235" r="10455" b="18199"/>
          <a:stretch/>
        </p:blipFill>
        <p:spPr>
          <a:xfrm>
            <a:off x="11201401" y="171073"/>
            <a:ext cx="776376" cy="41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8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蓝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"/>
          <p:cNvSpPr/>
          <p:nvPr userDrawn="1"/>
        </p:nvSpPr>
        <p:spPr>
          <a:xfrm>
            <a:off x="0" y="0"/>
            <a:ext cx="12193588" cy="6858000"/>
          </a:xfrm>
          <a:prstGeom prst="rect">
            <a:avLst/>
          </a:prstGeom>
          <a:solidFill>
            <a:srgbClr val="2A71EC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3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20" b="0" i="0" dirty="0">
              <a:solidFill>
                <a:srgbClr val="FFC000"/>
              </a:solidFill>
              <a:latin typeface="微软雅黑" panose="020B0503020204020204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11585878" y="6442348"/>
            <a:ext cx="20988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‹#›</a:t>
            </a:fld>
            <a:endParaRPr kumimoji="0" lang="en-US" altLang="zh-CN" sz="1000" b="0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97213" y="1374180"/>
            <a:ext cx="11398547" cy="4890199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单击此处编辑文本样式，内文行距</a:t>
            </a:r>
            <a:r>
              <a:rPr lang="en-US" altLang="zh-CN" dirty="0"/>
              <a:t>1.3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24AA33A4-6B20-CB15-C038-537E5C3ABC48}"/>
              </a:ext>
            </a:extLst>
          </p:cNvPr>
          <p:cNvSpPr txBox="1"/>
          <p:nvPr userDrawn="1"/>
        </p:nvSpPr>
        <p:spPr>
          <a:xfrm>
            <a:off x="9909245" y="6416764"/>
            <a:ext cx="1462116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④ 内部公开 请勿外传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143FDF21-B21A-EF8C-7A76-AE0667F730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8094" y="710335"/>
            <a:ext cx="10699396" cy="3149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副标题，微软雅黑粗体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81C9B93-24A2-1B07-1ABF-445A268CE9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093" y="210672"/>
            <a:ext cx="10699397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3599CB-9386-2861-BE21-CF82735AC7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biLevel thresh="25000"/>
          </a:blip>
          <a:srcRect l="5988" t="19235" r="10455" b="18199"/>
          <a:stretch/>
        </p:blipFill>
        <p:spPr>
          <a:xfrm>
            <a:off x="11201401" y="171073"/>
            <a:ext cx="776376" cy="41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931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D8B7CFE-0A14-2D74-5619-1E787035A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8491" y="-23436"/>
            <a:ext cx="12288983" cy="6904872"/>
          </a:xfrm>
          <a:prstGeom prst="rect">
            <a:avLst/>
          </a:prstGeom>
        </p:spPr>
      </p:pic>
      <p:sp>
        <p:nvSpPr>
          <p:cNvPr id="6" name="Text Box 2"/>
          <p:cNvSpPr txBox="1"/>
          <p:nvPr userDrawn="1"/>
        </p:nvSpPr>
        <p:spPr>
          <a:xfrm>
            <a:off x="4786041" y="6290346"/>
            <a:ext cx="1252234" cy="171459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/>
          <a:p>
            <a:pPr algn="r">
              <a:lnSpc>
                <a:spcPts val="1335"/>
              </a:lnSpc>
              <a:defRPr sz="70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sz="935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FD17D8-E13E-9F75-C4EC-A6AC3C9307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4525" y="1995130"/>
            <a:ext cx="5766397" cy="2915183"/>
          </a:xfrm>
          <a:prstGeom prst="rect">
            <a:avLst/>
          </a:prstGeom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0E83A7F-146B-4099-47EC-75273A2C49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4465" y="587729"/>
            <a:ext cx="2038236" cy="78875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F484F78-8292-292E-FC0B-68945FA64E4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727925" y="4072255"/>
            <a:ext cx="714525" cy="70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1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7F3C9530-8861-41EE-99A4-AAA13E3D7C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321" b="21995"/>
          <a:stretch/>
        </p:blipFill>
        <p:spPr>
          <a:xfrm>
            <a:off x="10514743" y="76455"/>
            <a:ext cx="1261448" cy="727645"/>
          </a:xfrm>
          <a:prstGeom prst="rect">
            <a:avLst/>
          </a:prstGeom>
        </p:spPr>
      </p:pic>
      <p:grpSp>
        <p:nvGrpSpPr>
          <p:cNvPr id="11" name="Group 10"/>
          <p:cNvGrpSpPr/>
          <p:nvPr userDrawn="1"/>
        </p:nvGrpSpPr>
        <p:grpSpPr>
          <a:xfrm>
            <a:off x="-268113" y="278020"/>
            <a:ext cx="182439" cy="5851109"/>
            <a:chOff x="-279703" y="208515"/>
            <a:chExt cx="243417" cy="4388332"/>
          </a:xfrm>
        </p:grpSpPr>
        <p:cxnSp>
          <p:nvCxnSpPr>
            <p:cNvPr id="19" name="Straight Connector 18"/>
            <p:cNvCxnSpPr/>
            <p:nvPr userDrawn="1"/>
          </p:nvCxnSpPr>
          <p:spPr>
            <a:xfrm flipH="1">
              <a:off x="-279703" y="1414714"/>
              <a:ext cx="243417" cy="0"/>
            </a:xfrm>
            <a:prstGeom prst="line">
              <a:avLst/>
            </a:prstGeom>
            <a:ln w="6350" cmpd="sng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 userDrawn="1"/>
          </p:nvGrpSpPr>
          <p:grpSpPr>
            <a:xfrm>
              <a:off x="-279703" y="4254803"/>
              <a:ext cx="243417" cy="342044"/>
              <a:chOff x="-243418" y="1063625"/>
              <a:chExt cx="243417" cy="342044"/>
            </a:xfrm>
          </p:grpSpPr>
          <p:cxnSp>
            <p:nvCxnSpPr>
              <p:cNvPr id="17" name="Straight Connector 16"/>
              <p:cNvCxnSpPr/>
              <p:nvPr userDrawn="1"/>
            </p:nvCxnSpPr>
            <p:spPr>
              <a:xfrm flipH="1">
                <a:off x="-243418" y="1405669"/>
                <a:ext cx="243417" cy="0"/>
              </a:xfrm>
              <a:prstGeom prst="line">
                <a:avLst/>
              </a:prstGeom>
              <a:ln w="6350" cmpd="sng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 userDrawn="1"/>
            </p:nvCxnSpPr>
            <p:spPr>
              <a:xfrm flipH="1">
                <a:off x="-243418" y="1063625"/>
                <a:ext cx="243417" cy="0"/>
              </a:xfrm>
              <a:prstGeom prst="line">
                <a:avLst/>
              </a:prstGeom>
              <a:ln w="6350" cmpd="sng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/>
            <p:cNvGrpSpPr/>
            <p:nvPr userDrawn="1"/>
          </p:nvGrpSpPr>
          <p:grpSpPr>
            <a:xfrm>
              <a:off x="-279703" y="208515"/>
              <a:ext cx="243417" cy="864155"/>
              <a:chOff x="-243418" y="1063625"/>
              <a:chExt cx="243417" cy="864155"/>
            </a:xfrm>
          </p:grpSpPr>
          <p:cxnSp>
            <p:nvCxnSpPr>
              <p:cNvPr id="15" name="Straight Connector 14"/>
              <p:cNvCxnSpPr/>
              <p:nvPr userDrawn="1"/>
            </p:nvCxnSpPr>
            <p:spPr>
              <a:xfrm flipH="1">
                <a:off x="-243418" y="1927780"/>
                <a:ext cx="243417" cy="0"/>
              </a:xfrm>
              <a:prstGeom prst="line">
                <a:avLst/>
              </a:prstGeom>
              <a:ln w="6350" cmpd="sng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 userDrawn="1"/>
            </p:nvCxnSpPr>
            <p:spPr>
              <a:xfrm flipH="1">
                <a:off x="-243418" y="1063625"/>
                <a:ext cx="243417" cy="0"/>
              </a:xfrm>
              <a:prstGeom prst="line">
                <a:avLst/>
              </a:prstGeom>
              <a:ln w="6350" cmpd="sng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Content Placeholder 5"/>
          <p:cNvSpPr>
            <a:spLocks noGrp="1"/>
          </p:cNvSpPr>
          <p:nvPr>
            <p:ph sz="quarter" idx="12"/>
          </p:nvPr>
        </p:nvSpPr>
        <p:spPr>
          <a:xfrm>
            <a:off x="591825" y="1439342"/>
            <a:ext cx="11206475" cy="4890199"/>
          </a:xfrm>
        </p:spPr>
        <p:txBody>
          <a:bodyPr/>
          <a:lstStyle>
            <a:lvl1pPr>
              <a:spcBef>
                <a:spcPts val="1333"/>
              </a:spcBef>
              <a:defRPr sz="1600" baseline="0">
                <a:solidFill>
                  <a:srgbClr val="646464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  <a:lvl2pPr marL="230712" indent="-158747">
              <a:defRPr sz="1600">
                <a:solidFill>
                  <a:srgbClr val="646464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2pPr>
            <a:lvl3pPr marL="491054" indent="-205312">
              <a:defRPr sz="1600">
                <a:solidFill>
                  <a:srgbClr val="646464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3pPr>
            <a:lvl4pPr marL="711182" indent="-165096">
              <a:tabLst/>
              <a:defRPr sz="1600">
                <a:solidFill>
                  <a:srgbClr val="646464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4pPr>
            <a:lvl5pPr marL="973642" indent="-213779">
              <a:defRPr sz="1600">
                <a:solidFill>
                  <a:srgbClr val="646464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591826" y="296787"/>
            <a:ext cx="11204359" cy="700704"/>
          </a:xfrm>
        </p:spPr>
        <p:txBody>
          <a:bodyPr/>
          <a:lstStyle>
            <a:lvl1pPr>
              <a:defRPr sz="3200" baseline="0">
                <a:solidFill>
                  <a:srgbClr val="1771EA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66B87493-C003-6B48-80CC-99817ED7BD7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393586" y="6520116"/>
            <a:ext cx="79841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411426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100" b="0" kern="0" smtClean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  <a:sym typeface="Helvetica Neue"/>
              </a:rPr>
              <a:pPr defTabSz="411426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0" lang="en-US" altLang="zh-CN" sz="1100" b="0" kern="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67256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白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813" y="267725"/>
            <a:ext cx="896585" cy="416026"/>
          </a:xfrm>
          <a:prstGeom prst="rect">
            <a:avLst/>
          </a:prstGeom>
        </p:spPr>
      </p:pic>
      <p:sp>
        <p:nvSpPr>
          <p:cNvPr id="5" name="Text Box 2"/>
          <p:cNvSpPr txBox="1"/>
          <p:nvPr userDrawn="1"/>
        </p:nvSpPr>
        <p:spPr>
          <a:xfrm>
            <a:off x="9909245" y="6416764"/>
            <a:ext cx="1462116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dirty="0"/>
              <a:t> </a:t>
            </a:r>
            <a:r>
              <a:rPr lang="zh-CN" altLang="en-US" dirty="0"/>
              <a:t>④ 内部公开 请勿外传</a:t>
            </a:r>
            <a:endParaRPr dirty="0"/>
          </a:p>
        </p:txBody>
      </p:sp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11443374" y="6498377"/>
            <a:ext cx="613759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‹#›</a:t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 panose="02000503000000020004"/>
            </a:endParaRP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9693760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3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4" y="682625"/>
            <a:ext cx="10420534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2958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文-单图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图片占位符 6"/>
          <p:cNvSpPr>
            <a:spLocks noGrp="1"/>
          </p:cNvSpPr>
          <p:nvPr>
            <p:ph type="pic" sz="quarter" idx="11" hasCustomPrompt="1"/>
          </p:nvPr>
        </p:nvSpPr>
        <p:spPr>
          <a:xfrm>
            <a:off x="504846" y="1185038"/>
            <a:ext cx="11158547" cy="3726207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</a:p>
        </p:txBody>
      </p:sp>
      <p:sp>
        <p:nvSpPr>
          <p:cNvPr id="208" name="文本占位符 3"/>
          <p:cNvSpPr>
            <a:spLocks noGrp="1"/>
          </p:cNvSpPr>
          <p:nvPr>
            <p:ph type="body" sz="quarter" idx="23" hasCustomPrompt="1"/>
          </p:nvPr>
        </p:nvSpPr>
        <p:spPr>
          <a:xfrm>
            <a:off x="416646" y="5173428"/>
            <a:ext cx="2525485" cy="36280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</a:p>
        </p:txBody>
      </p:sp>
      <p:sp>
        <p:nvSpPr>
          <p:cNvPr id="209" name="文本占位符 3"/>
          <p:cNvSpPr>
            <a:spLocks noGrp="1"/>
          </p:cNvSpPr>
          <p:nvPr>
            <p:ph type="body" sz="quarter" idx="24" hasCustomPrompt="1"/>
          </p:nvPr>
        </p:nvSpPr>
        <p:spPr>
          <a:xfrm>
            <a:off x="416645" y="5530554"/>
            <a:ext cx="2525484" cy="84184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</a:p>
          <a:p>
            <a:pPr lvl="0"/>
            <a:endParaRPr kumimoji="1" lang="zh-CN" altLang="en-US" dirty="0"/>
          </a:p>
        </p:txBody>
      </p:sp>
      <p:sp>
        <p:nvSpPr>
          <p:cNvPr id="210" name="文本占位符 3"/>
          <p:cNvSpPr>
            <a:spLocks noGrp="1"/>
          </p:cNvSpPr>
          <p:nvPr>
            <p:ph type="body" sz="quarter" idx="25" hasCustomPrompt="1"/>
          </p:nvPr>
        </p:nvSpPr>
        <p:spPr>
          <a:xfrm>
            <a:off x="4788828" y="5173428"/>
            <a:ext cx="2525484" cy="36280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</a:p>
        </p:txBody>
      </p:sp>
      <p:sp>
        <p:nvSpPr>
          <p:cNvPr id="211" name="文本占位符 3"/>
          <p:cNvSpPr>
            <a:spLocks noGrp="1"/>
          </p:cNvSpPr>
          <p:nvPr>
            <p:ph type="body" sz="quarter" idx="26" hasCustomPrompt="1"/>
          </p:nvPr>
        </p:nvSpPr>
        <p:spPr>
          <a:xfrm>
            <a:off x="4788828" y="5530554"/>
            <a:ext cx="2525484" cy="84184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</a:p>
          <a:p>
            <a:pPr lvl="0"/>
            <a:endParaRPr kumimoji="1" lang="zh-CN" altLang="en-US" dirty="0"/>
          </a:p>
        </p:txBody>
      </p:sp>
      <p:sp>
        <p:nvSpPr>
          <p:cNvPr id="212" name="文本占位符 3"/>
          <p:cNvSpPr>
            <a:spLocks noGrp="1"/>
          </p:cNvSpPr>
          <p:nvPr>
            <p:ph type="body" sz="quarter" idx="28" hasCustomPrompt="1"/>
          </p:nvPr>
        </p:nvSpPr>
        <p:spPr>
          <a:xfrm>
            <a:off x="9159097" y="5530554"/>
            <a:ext cx="2525484" cy="84184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</a:p>
          <a:p>
            <a:pPr lvl="0"/>
            <a:endParaRPr kumimoji="1" lang="zh-CN" altLang="en-US" dirty="0"/>
          </a:p>
        </p:txBody>
      </p:sp>
      <p:sp>
        <p:nvSpPr>
          <p:cNvPr id="213" name="文本占位符 3"/>
          <p:cNvSpPr>
            <a:spLocks noGrp="1"/>
          </p:cNvSpPr>
          <p:nvPr>
            <p:ph type="body" sz="quarter" idx="29" hasCustomPrompt="1"/>
          </p:nvPr>
        </p:nvSpPr>
        <p:spPr>
          <a:xfrm>
            <a:off x="9159097" y="5173428"/>
            <a:ext cx="2525484" cy="36280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</a:p>
        </p:txBody>
      </p:sp>
      <p:sp>
        <p:nvSpPr>
          <p:cNvPr id="214" name="Text Box 2"/>
          <p:cNvSpPr txBox="1"/>
          <p:nvPr userDrawn="1"/>
        </p:nvSpPr>
        <p:spPr>
          <a:xfrm>
            <a:off x="9909245" y="6416764"/>
            <a:ext cx="1462116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0" lang="zh-CN" altLang="en-US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④ 内部公开 请勿外传</a:t>
            </a:r>
            <a:endParaRPr kumimoji="0" sz="935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Text Box 5"/>
          <p:cNvSpPr txBox="1">
            <a:spLocks noChangeArrowheads="1"/>
          </p:cNvSpPr>
          <p:nvPr userDrawn="1"/>
        </p:nvSpPr>
        <p:spPr bwMode="auto">
          <a:xfrm>
            <a:off x="11585878" y="6508994"/>
            <a:ext cx="285138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3086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6AD7C7-DE3F-5E43-A3A8-CA80750AE375}" type="slidenum">
              <a:rPr kumimoji="0" lang="en-US" altLang="zh-CN" sz="1000" b="0" i="0" u="none" strike="noStrike" kern="0" cap="none" spc="0" normalizeH="0" baseline="0" noProof="0" smtClean="0">
                <a:ln>
                  <a:noFill/>
                </a:ln>
                <a:solidFill>
                  <a:srgbClr val="2A71E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‹#›</a:t>
            </a:fld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2A71E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pic>
        <p:nvPicPr>
          <p:cNvPr id="216" name="图片 15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912813" y="267725"/>
            <a:ext cx="896585" cy="416026"/>
          </a:xfrm>
          <a:prstGeom prst="rect">
            <a:avLst/>
          </a:prstGeom>
        </p:spPr>
      </p:pic>
      <p:sp>
        <p:nvSpPr>
          <p:cNvPr id="217" name="文本占位符 5"/>
          <p:cNvSpPr>
            <a:spLocks noGrp="1"/>
          </p:cNvSpPr>
          <p:nvPr>
            <p:ph type="body" sz="quarter" idx="30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218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9693760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429694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白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813" y="267725"/>
            <a:ext cx="896585" cy="416026"/>
          </a:xfrm>
          <a:prstGeom prst="rect">
            <a:avLst/>
          </a:prstGeom>
        </p:spPr>
      </p:pic>
      <p:sp>
        <p:nvSpPr>
          <p:cNvPr id="5" name="Text Box 2"/>
          <p:cNvSpPr txBox="1"/>
          <p:nvPr userDrawn="1"/>
        </p:nvSpPr>
        <p:spPr>
          <a:xfrm>
            <a:off x="9909245" y="6416764"/>
            <a:ext cx="1462116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dirty="0"/>
              <a:t> </a:t>
            </a:r>
            <a:r>
              <a:rPr lang="zh-CN" altLang="en-US" dirty="0"/>
              <a:t>④ 内部公开 请勿外传</a:t>
            </a:r>
            <a:endParaRPr dirty="0"/>
          </a:p>
        </p:txBody>
      </p:sp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11585877" y="6498377"/>
            <a:ext cx="455071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‹#›</a:t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6D29CA3-60B7-594B-A2F8-C9AF28F2AC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947" y="210672"/>
            <a:ext cx="9693760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8459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白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/>
          <p:nvPr userDrawn="1"/>
        </p:nvSpPr>
        <p:spPr>
          <a:xfrm>
            <a:off x="9909245" y="6409222"/>
            <a:ext cx="1462116" cy="188595"/>
          </a:xfrm>
          <a:prstGeom prst="rect">
            <a:avLst/>
          </a:prstGeom>
          <a:ln w="12700">
            <a:miter lim="400000"/>
          </a:ln>
        </p:spPr>
        <p:txBody>
          <a:bodyPr wrap="square" lIns="8890" tIns="8890" rIns="8890" bIns="8890" anchor="ctr">
            <a:sp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0" lang="zh-CN" altLang="en-US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④ 内部公开 请勿外传</a:t>
            </a:r>
            <a:endParaRPr kumimoji="0" sz="935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11585879" y="6459810"/>
            <a:ext cx="398425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3086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6AD7C7-DE3F-5E43-A3A8-CA80750AE375}" type="slidenum">
              <a:rPr kumimoji="0" lang="en-US" altLang="zh-CN" sz="1000" b="0" i="0" u="none" strike="noStrike" kern="0" cap="none" spc="0" normalizeH="0" baseline="0" noProof="0" smtClean="0">
                <a:ln>
                  <a:noFill/>
                </a:ln>
                <a:solidFill>
                  <a:srgbClr val="2A71E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pPr marL="0" marR="0" lvl="0" indent="0" algn="l" defTabSz="30861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2A71E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 panose="02000503000000020004"/>
            </a:endParaRPr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5" y="682625"/>
            <a:ext cx="7793672" cy="2850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>
          <a:xfrm>
            <a:off x="398095" y="210672"/>
            <a:ext cx="9693760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813" y="267725"/>
            <a:ext cx="896585" cy="41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88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67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5" y="85356"/>
            <a:ext cx="2319274" cy="1304422"/>
          </a:xfrm>
          <a:prstGeom prst="rect">
            <a:avLst/>
          </a:prstGeom>
        </p:spPr>
      </p:pic>
      <p:sp>
        <p:nvSpPr>
          <p:cNvPr id="9" name="Rectangle 37"/>
          <p:cNvSpPr/>
          <p:nvPr userDrawn="1"/>
        </p:nvSpPr>
        <p:spPr bwMode="auto">
          <a:xfrm>
            <a:off x="920344" y="6421913"/>
            <a:ext cx="3123019" cy="1519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版权所有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©1993-2022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 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金蝶国际软件集团有限公司</a:t>
            </a:r>
          </a:p>
        </p:txBody>
      </p:sp>
      <p:sp>
        <p:nvSpPr>
          <p:cNvPr id="5" name="标题占位符 1"/>
          <p:cNvSpPr>
            <a:spLocks noGrp="1"/>
          </p:cNvSpPr>
          <p:nvPr>
            <p:ph type="title" hasCustomPrompt="1"/>
          </p:nvPr>
        </p:nvSpPr>
        <p:spPr>
          <a:xfrm>
            <a:off x="838200" y="20543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单击此处编辑标题（</a:t>
            </a:r>
            <a:r>
              <a:rPr kumimoji="1" lang="en-US" altLang="zh-CN" dirty="0"/>
              <a:t>54</a:t>
            </a:r>
            <a:r>
              <a:rPr kumimoji="1" lang="zh-CN" altLang="en-US" dirty="0"/>
              <a:t>磅）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838200" y="4804913"/>
            <a:ext cx="2750820" cy="405442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撰稿人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838200" y="5226226"/>
            <a:ext cx="2745334" cy="432701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撰稿部门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832714" y="5667554"/>
            <a:ext cx="2750820" cy="301924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2022.01.01</a:t>
            </a:r>
            <a:endParaRPr lang="zh-CN" altLang="en-US" dirty="0"/>
          </a:p>
        </p:txBody>
      </p:sp>
      <p:sp>
        <p:nvSpPr>
          <p:cNvPr id="13" name="Text Box 2"/>
          <p:cNvSpPr txBox="1"/>
          <p:nvPr userDrawn="1"/>
        </p:nvSpPr>
        <p:spPr>
          <a:xfrm>
            <a:off x="3440894" y="6414581"/>
            <a:ext cx="1462116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srgbClr val="1770EA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70EA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770EA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70EA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绝密信息 严禁泄露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70EA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6621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、提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0" y="0"/>
            <a:ext cx="12186080" cy="6858000"/>
          </a:xfrm>
          <a:prstGeom prst="rect">
            <a:avLst/>
          </a:prstGeom>
        </p:spPr>
      </p:pic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11585878" y="6432188"/>
            <a:ext cx="20988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3086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6AD7C7-DE3F-5E43-A3A8-CA80750AE375}" type="slidenum">
              <a:rPr kumimoji="0" lang="en-US" altLang="zh-CN" sz="1000" b="0" i="0" u="none" strike="noStrike" kern="0" cap="none" spc="0" normalizeH="0" baseline="0" noProof="0" smtClean="0">
                <a:ln>
                  <a:noFill/>
                </a:ln>
                <a:solidFill>
                  <a:srgbClr val="2A71E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rPr>
              <a:t>‹#›</a:t>
            </a:fld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2A71E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3" hasCustomPrompt="1"/>
          </p:nvPr>
        </p:nvSpPr>
        <p:spPr>
          <a:xfrm>
            <a:off x="408475" y="2809762"/>
            <a:ext cx="1052336" cy="7514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20" name="文本占位符 18"/>
          <p:cNvSpPr>
            <a:spLocks noGrp="1"/>
          </p:cNvSpPr>
          <p:nvPr>
            <p:ph type="body" sz="quarter" idx="14" hasCustomPrompt="1"/>
          </p:nvPr>
        </p:nvSpPr>
        <p:spPr>
          <a:xfrm>
            <a:off x="408475" y="3889909"/>
            <a:ext cx="1052336" cy="673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5" hasCustomPrompt="1"/>
          </p:nvPr>
        </p:nvSpPr>
        <p:spPr>
          <a:xfrm>
            <a:off x="1637847" y="1688799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1637847" y="2142501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1-1.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1-2.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1-3.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18" hasCustomPrompt="1"/>
          </p:nvPr>
        </p:nvSpPr>
        <p:spPr>
          <a:xfrm>
            <a:off x="1637847" y="3209303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2-1.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2-2.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2-3.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27" name="文本占位符 21"/>
          <p:cNvSpPr>
            <a:spLocks noGrp="1"/>
          </p:cNvSpPr>
          <p:nvPr>
            <p:ph type="body" sz="quarter" idx="20" hasCustomPrompt="1"/>
          </p:nvPr>
        </p:nvSpPr>
        <p:spPr>
          <a:xfrm>
            <a:off x="1637847" y="4278565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3-1.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3-2.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3-3.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28" name="文本占位符 18"/>
          <p:cNvSpPr>
            <a:spLocks noGrp="1"/>
          </p:cNvSpPr>
          <p:nvPr>
            <p:ph type="body" sz="quarter" idx="21" hasCustomPrompt="1"/>
          </p:nvPr>
        </p:nvSpPr>
        <p:spPr>
          <a:xfrm>
            <a:off x="408475" y="4957146"/>
            <a:ext cx="1052336" cy="673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637847" y="5345802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4-1.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4-2.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4-3.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31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10065781" y="1737455"/>
            <a:ext cx="1213281" cy="405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0065782" y="2816557"/>
            <a:ext cx="1213281" cy="405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26" hasCustomPrompt="1"/>
          </p:nvPr>
        </p:nvSpPr>
        <p:spPr>
          <a:xfrm>
            <a:off x="10065782" y="3896705"/>
            <a:ext cx="1213281" cy="405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10065782" y="4974828"/>
            <a:ext cx="1213281" cy="405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5" name="Text Box 2"/>
          <p:cNvSpPr txBox="1"/>
          <p:nvPr userDrawn="1"/>
        </p:nvSpPr>
        <p:spPr>
          <a:xfrm>
            <a:off x="10174753" y="6416764"/>
            <a:ext cx="1213281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no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① 绝密信息 严禁泄露</a:t>
            </a:r>
          </a:p>
        </p:txBody>
      </p:sp>
      <p:sp>
        <p:nvSpPr>
          <p:cNvPr id="37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36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1637847" y="2799142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38" name="文本占位符 21"/>
          <p:cNvSpPr>
            <a:spLocks noGrp="1"/>
          </p:cNvSpPr>
          <p:nvPr>
            <p:ph type="body" sz="quarter" idx="30" hasCustomPrompt="1"/>
          </p:nvPr>
        </p:nvSpPr>
        <p:spPr>
          <a:xfrm>
            <a:off x="1637847" y="3876827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39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1637847" y="4938184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9693760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42" name="文本占位符 18"/>
          <p:cNvSpPr>
            <a:spLocks noGrp="1"/>
          </p:cNvSpPr>
          <p:nvPr>
            <p:ph type="body" sz="quarter" idx="32" hasCustomPrompt="1"/>
          </p:nvPr>
        </p:nvSpPr>
        <p:spPr>
          <a:xfrm>
            <a:off x="392146" y="1650434"/>
            <a:ext cx="1052336" cy="830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pic>
        <p:nvPicPr>
          <p:cNvPr id="4" name="图片 3" descr="图片包含 徽标&#10;&#10;AI 生成的内容可能不正确。">
            <a:extLst>
              <a:ext uri="{FF2B5EF4-FFF2-40B4-BE49-F238E27FC236}">
                <a16:creationId xmlns:a16="http://schemas.microsoft.com/office/drawing/2014/main" id="{BF2800A9-BBFA-8B66-D0E0-455A794F2C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4857" y="210672"/>
            <a:ext cx="1066353" cy="47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56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白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11585878" y="6450042"/>
            <a:ext cx="20988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3086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6AD7C7-DE3F-5E43-A3A8-CA80750AE375}" type="slidenum">
              <a:rPr kumimoji="0" lang="en-US" altLang="zh-CN" sz="900" b="0" i="0" u="none" strike="noStrike" kern="0" cap="none" spc="0" normalizeH="0" baseline="0" noProof="0" smtClean="0">
                <a:ln>
                  <a:noFill/>
                </a:ln>
                <a:solidFill>
                  <a:srgbClr val="2A71E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rPr>
              <a:t>‹#›</a:t>
            </a:fld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2A71E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"/>
            </a:endParaRP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9693760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11" name="Text Box 2"/>
          <p:cNvSpPr txBox="1"/>
          <p:nvPr userDrawn="1"/>
        </p:nvSpPr>
        <p:spPr>
          <a:xfrm>
            <a:off x="10174753" y="6416764"/>
            <a:ext cx="1213281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no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① 绝密信息 严禁泄露</a:t>
            </a:r>
          </a:p>
        </p:txBody>
      </p:sp>
      <p:sp>
        <p:nvSpPr>
          <p:cNvPr id="2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97213" y="1374180"/>
            <a:ext cx="11206475" cy="4890199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单击此处编辑文本样式，内文行距</a:t>
            </a:r>
            <a:r>
              <a:rPr lang="en-US" altLang="zh-CN" dirty="0"/>
              <a:t>1.3</a:t>
            </a:r>
          </a:p>
          <a:p>
            <a:pPr lvl="0"/>
            <a:endParaRPr lang="en-US" altLang="zh-CN" dirty="0"/>
          </a:p>
          <a:p>
            <a:pPr lvl="0"/>
            <a:endParaRPr lang="zh-CN" altLang="en-US" dirty="0"/>
          </a:p>
        </p:txBody>
      </p:sp>
      <p:pic>
        <p:nvPicPr>
          <p:cNvPr id="3" name="图片 2" descr="图片包含 徽标&#10;&#10;AI 生成的内容可能不正确。">
            <a:extLst>
              <a:ext uri="{FF2B5EF4-FFF2-40B4-BE49-F238E27FC236}">
                <a16:creationId xmlns:a16="http://schemas.microsoft.com/office/drawing/2014/main" id="{30378215-72B5-6BF3-6448-8F7C6C9ED1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4857" y="210672"/>
            <a:ext cx="1066353" cy="47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442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" y="-8055"/>
            <a:ext cx="12202160" cy="68660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46" y="2021376"/>
            <a:ext cx="6012403" cy="3202537"/>
          </a:xfrm>
          <a:prstGeom prst="rect">
            <a:avLst/>
          </a:prstGeom>
        </p:spPr>
      </p:pic>
      <p:sp>
        <p:nvSpPr>
          <p:cNvPr id="4" name="Rectangle 37"/>
          <p:cNvSpPr/>
          <p:nvPr userDrawn="1"/>
        </p:nvSpPr>
        <p:spPr bwMode="auto">
          <a:xfrm>
            <a:off x="1001663" y="6364968"/>
            <a:ext cx="2711022" cy="1714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版权所有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©1993-2022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金蝶国际软件集团有限公司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Microsoft YaHei Bold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5" y="85356"/>
            <a:ext cx="2319274" cy="1304422"/>
          </a:xfrm>
          <a:prstGeom prst="rect">
            <a:avLst/>
          </a:prstGeom>
        </p:spPr>
      </p:pic>
      <p:sp>
        <p:nvSpPr>
          <p:cNvPr id="6" name="Text Box 2"/>
          <p:cNvSpPr txBox="1"/>
          <p:nvPr userDrawn="1"/>
        </p:nvSpPr>
        <p:spPr>
          <a:xfrm>
            <a:off x="4786041" y="6290346"/>
            <a:ext cx="1252234" cy="171459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00">
                <a:solidFill>
                  <a:srgbClr val="FFFFFF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kumimoji="0" sz="935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Text Box 2"/>
          <p:cNvSpPr txBox="1"/>
          <p:nvPr userDrawn="1"/>
        </p:nvSpPr>
        <p:spPr>
          <a:xfrm>
            <a:off x="3323925" y="6290346"/>
            <a:ext cx="1462116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④ 内部公开 请勿外传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76486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Comparison">
    <p:bg>
      <p:bgPr>
        <a:solidFill>
          <a:srgbClr val="177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 63"/>
          <p:cNvGrpSpPr/>
          <p:nvPr/>
        </p:nvGrpSpPr>
        <p:grpSpPr>
          <a:xfrm>
            <a:off x="606010" y="-295890"/>
            <a:ext cx="10977237" cy="225780"/>
            <a:chOff x="0" y="0"/>
            <a:chExt cx="8232927" cy="169333"/>
          </a:xfrm>
        </p:grpSpPr>
        <p:grpSp>
          <p:nvGrpSpPr>
            <p:cNvPr id="525" name="Group 12"/>
            <p:cNvGrpSpPr/>
            <p:nvPr/>
          </p:nvGrpSpPr>
          <p:grpSpPr>
            <a:xfrm>
              <a:off x="2742292" y="15394"/>
              <a:ext cx="690489" cy="153940"/>
              <a:chOff x="0" y="0"/>
              <a:chExt cx="690487" cy="153939"/>
            </a:xfrm>
          </p:grpSpPr>
          <p:grpSp>
            <p:nvGrpSpPr>
              <p:cNvPr id="523" name="Group 13"/>
              <p:cNvGrpSpPr/>
              <p:nvPr/>
            </p:nvGrpSpPr>
            <p:grpSpPr>
              <a:xfrm>
                <a:off x="0" y="0"/>
                <a:ext cx="342044" cy="153940"/>
                <a:chOff x="0" y="0"/>
                <a:chExt cx="342043" cy="153939"/>
              </a:xfrm>
            </p:grpSpPr>
            <p:sp>
              <p:nvSpPr>
                <p:cNvPr id="521" name="Straight Connector 15"/>
                <p:cNvSpPr/>
                <p:nvPr/>
              </p:nvSpPr>
              <p:spPr>
                <a:xfrm flipV="1">
                  <a:off x="-1" y="0"/>
                  <a:ext cx="2" cy="153940"/>
                </a:xfrm>
                <a:prstGeom prst="line">
                  <a:avLst/>
                </a:prstGeom>
                <a:noFill/>
                <a:ln w="6350" cap="flat">
                  <a:solidFill>
                    <a:srgbClr val="FFFFFF"/>
                  </a:solidFill>
                  <a:prstDash val="sysDash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22" name="Straight Connector 16"/>
                <p:cNvSpPr/>
                <p:nvPr/>
              </p:nvSpPr>
              <p:spPr>
                <a:xfrm flipV="1">
                  <a:off x="342043" y="0"/>
                  <a:ext cx="1" cy="153940"/>
                </a:xfrm>
                <a:prstGeom prst="line">
                  <a:avLst/>
                </a:prstGeom>
                <a:noFill/>
                <a:ln w="6350" cap="flat">
                  <a:solidFill>
                    <a:srgbClr val="FFFFFF"/>
                  </a:solidFill>
                  <a:prstDash val="sysDash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charset="-122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24" name="Straight Connector 14"/>
              <p:cNvSpPr/>
              <p:nvPr/>
            </p:nvSpPr>
            <p:spPr>
              <a:xfrm flipV="1">
                <a:off x="690487" y="0"/>
                <a:ext cx="1" cy="153940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526" name="Straight Connector 22"/>
            <p:cNvSpPr/>
            <p:nvPr/>
          </p:nvSpPr>
          <p:spPr>
            <a:xfrm flipV="1">
              <a:off x="-1" y="0"/>
              <a:ext cx="2" cy="153940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527" name="Straight Connector 36"/>
            <p:cNvSpPr/>
            <p:nvPr/>
          </p:nvSpPr>
          <p:spPr>
            <a:xfrm flipV="1">
              <a:off x="8232927" y="0"/>
              <a:ext cx="1" cy="153940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</p:grpSp>
      <p:grpSp>
        <p:nvGrpSpPr>
          <p:cNvPr id="531" name="Group 41"/>
          <p:cNvGrpSpPr/>
          <p:nvPr/>
        </p:nvGrpSpPr>
        <p:grpSpPr>
          <a:xfrm>
            <a:off x="-1441786" y="-70962"/>
            <a:ext cx="861723" cy="861723"/>
            <a:chOff x="-1" y="-1"/>
            <a:chExt cx="646290" cy="646290"/>
          </a:xfrm>
        </p:grpSpPr>
        <p:sp>
          <p:nvSpPr>
            <p:cNvPr id="529" name="Rectangle 42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24215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530" name="TextBox 43"/>
            <p:cNvSpPr txBox="1"/>
            <p:nvPr/>
          </p:nvSpPr>
          <p:spPr>
            <a:xfrm>
              <a:off x="0" y="0"/>
              <a:ext cx="270024" cy="438723"/>
            </a:xfrm>
            <a:prstGeom prst="rect">
              <a:avLst/>
            </a:prstGeom>
            <a:solidFill>
              <a:srgbClr val="24215F"/>
            </a:solidFill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R:36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G:33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B:95</a:t>
              </a:r>
            </a:p>
          </p:txBody>
        </p:sp>
      </p:grpSp>
      <p:grpSp>
        <p:nvGrpSpPr>
          <p:cNvPr id="534" name="Group 44"/>
          <p:cNvGrpSpPr/>
          <p:nvPr/>
        </p:nvGrpSpPr>
        <p:grpSpPr>
          <a:xfrm>
            <a:off x="-1441786" y="878955"/>
            <a:ext cx="861723" cy="861723"/>
            <a:chOff x="-1" y="-1"/>
            <a:chExt cx="646290" cy="646290"/>
          </a:xfrm>
        </p:grpSpPr>
        <p:sp>
          <p:nvSpPr>
            <p:cNvPr id="532" name="Rectangle 45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1771E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533" name="TextBox 46"/>
            <p:cNvSpPr txBox="1"/>
            <p:nvPr/>
          </p:nvSpPr>
          <p:spPr>
            <a:xfrm>
              <a:off x="0" y="0"/>
              <a:ext cx="324125" cy="4387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R:23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G:136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B:238</a:t>
              </a:r>
            </a:p>
          </p:txBody>
        </p:sp>
      </p:grpSp>
      <p:grpSp>
        <p:nvGrpSpPr>
          <p:cNvPr id="537" name="Group 47"/>
          <p:cNvGrpSpPr/>
          <p:nvPr/>
        </p:nvGrpSpPr>
        <p:grpSpPr>
          <a:xfrm>
            <a:off x="-1441786" y="1828873"/>
            <a:ext cx="861723" cy="861721"/>
            <a:chOff x="-1" y="-1"/>
            <a:chExt cx="646290" cy="646290"/>
          </a:xfrm>
        </p:grpSpPr>
        <p:sp>
          <p:nvSpPr>
            <p:cNvPr id="535" name="Rectangle 48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25C1F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536" name="TextBox 49"/>
            <p:cNvSpPr txBox="1"/>
            <p:nvPr/>
          </p:nvSpPr>
          <p:spPr>
            <a:xfrm>
              <a:off x="0" y="0"/>
              <a:ext cx="324125" cy="438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/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R:35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/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G:204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/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B:252</a:t>
              </a:r>
            </a:p>
          </p:txBody>
        </p:sp>
      </p:grpSp>
      <p:grpSp>
        <p:nvGrpSpPr>
          <p:cNvPr id="540" name="Group 50"/>
          <p:cNvGrpSpPr/>
          <p:nvPr/>
        </p:nvGrpSpPr>
        <p:grpSpPr>
          <a:xfrm>
            <a:off x="-1441786" y="2778788"/>
            <a:ext cx="861723" cy="861721"/>
            <a:chOff x="-1" y="-1"/>
            <a:chExt cx="646290" cy="646290"/>
          </a:xfrm>
        </p:grpSpPr>
        <p:sp>
          <p:nvSpPr>
            <p:cNvPr id="538" name="Rectangle 51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24BEB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539" name="TextBox 52"/>
            <p:cNvSpPr txBox="1"/>
            <p:nvPr/>
          </p:nvSpPr>
          <p:spPr>
            <a:xfrm>
              <a:off x="0" y="0"/>
              <a:ext cx="324125" cy="438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R:33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G:200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B:200</a:t>
              </a:r>
            </a:p>
          </p:txBody>
        </p:sp>
      </p:grpSp>
      <p:sp>
        <p:nvSpPr>
          <p:cNvPr id="541" name="TextBox 58"/>
          <p:cNvSpPr txBox="1"/>
          <p:nvPr/>
        </p:nvSpPr>
        <p:spPr>
          <a:xfrm>
            <a:off x="-1460597" y="4946796"/>
            <a:ext cx="861719" cy="523220"/>
          </a:xfrm>
          <a:prstGeom prst="rect">
            <a:avLst/>
          </a:prstGeom>
          <a:ln w="12700">
            <a:miter lim="400000"/>
          </a:ln>
        </p:spPr>
        <p:txBody>
          <a:bodyPr lIns="60959" rIns="60959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00">
                <a:solidFill>
                  <a:srgbClr val="FFFFFF"/>
                </a:solidFill>
              </a:defRPr>
            </a:pPr>
            <a:r>
              <a:rPr kumimoji="0" sz="93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t>中文字体：</a:t>
            </a:r>
            <a:endParaRPr kumimoji="0" sz="935" b="0" i="0" u="none" strike="noStrike" kern="1200" cap="none" spc="0" normalizeH="0" baseline="0" noProof="0">
              <a:ln>
                <a:noFill/>
              </a:ln>
              <a:solidFill>
                <a:srgbClr val="1EA19F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rgbClr val="FFFFFF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pPr>
            <a:r>
              <a:rPr kumimoji="0" sz="18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iti SC Medium"/>
                <a:ea typeface="Heiti SC Medium"/>
                <a:sym typeface="Heiti SC Medium"/>
              </a:rPr>
              <a:t>黑体</a:t>
            </a:r>
          </a:p>
        </p:txBody>
      </p:sp>
      <p:grpSp>
        <p:nvGrpSpPr>
          <p:cNvPr id="544" name="Group 59"/>
          <p:cNvGrpSpPr/>
          <p:nvPr/>
        </p:nvGrpSpPr>
        <p:grpSpPr>
          <a:xfrm>
            <a:off x="-1441786" y="3728701"/>
            <a:ext cx="861723" cy="861721"/>
            <a:chOff x="-1" y="-1"/>
            <a:chExt cx="646290" cy="646290"/>
          </a:xfrm>
        </p:grpSpPr>
        <p:sp>
          <p:nvSpPr>
            <p:cNvPr id="542" name="Rectangle 60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9F55F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543" name="TextBox 61"/>
            <p:cNvSpPr txBox="1"/>
            <p:nvPr/>
          </p:nvSpPr>
          <p:spPr>
            <a:xfrm>
              <a:off x="0" y="0"/>
              <a:ext cx="324125" cy="438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R:176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G:115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rPr>
                <a:t>B:252</a:t>
              </a:r>
            </a:p>
          </p:txBody>
        </p:sp>
      </p:grpSp>
      <p:sp>
        <p:nvSpPr>
          <p:cNvPr id="545" name="Rectangle 62"/>
          <p:cNvSpPr txBox="1"/>
          <p:nvPr/>
        </p:nvSpPr>
        <p:spPr>
          <a:xfrm>
            <a:off x="-1460598" y="5545253"/>
            <a:ext cx="1027859" cy="564129"/>
          </a:xfrm>
          <a:prstGeom prst="rect">
            <a:avLst/>
          </a:prstGeom>
          <a:ln w="12700">
            <a:miter lim="400000"/>
          </a:ln>
        </p:spPr>
        <p:txBody>
          <a:bodyPr lIns="60959" rIns="60959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00">
                <a:solidFill>
                  <a:srgbClr val="FFFFFF"/>
                </a:solidFill>
              </a:defRPr>
            </a:pPr>
            <a:r>
              <a:rPr kumimoji="0" sz="93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t>英文字体：</a:t>
            </a:r>
            <a:endParaRPr kumimoji="0" sz="93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kumimoji="0" sz="213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Arial</a:t>
            </a:r>
          </a:p>
        </p:txBody>
      </p:sp>
      <p:grpSp>
        <p:nvGrpSpPr>
          <p:cNvPr id="554" name="Group 75"/>
          <p:cNvGrpSpPr/>
          <p:nvPr/>
        </p:nvGrpSpPr>
        <p:grpSpPr>
          <a:xfrm>
            <a:off x="-268113" y="278021"/>
            <a:ext cx="182440" cy="5851111"/>
            <a:chOff x="0" y="0"/>
            <a:chExt cx="136829" cy="4388332"/>
          </a:xfrm>
        </p:grpSpPr>
        <p:sp>
          <p:nvSpPr>
            <p:cNvPr id="546" name="Straight Connector 76"/>
            <p:cNvSpPr/>
            <p:nvPr/>
          </p:nvSpPr>
          <p:spPr>
            <a:xfrm flipH="1">
              <a:off x="0" y="1206199"/>
              <a:ext cx="136830" cy="1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grpSp>
          <p:nvGrpSpPr>
            <p:cNvPr id="549" name="Group 77"/>
            <p:cNvGrpSpPr/>
            <p:nvPr/>
          </p:nvGrpSpPr>
          <p:grpSpPr>
            <a:xfrm>
              <a:off x="0" y="4046288"/>
              <a:ext cx="136830" cy="342045"/>
              <a:chOff x="0" y="0"/>
              <a:chExt cx="136829" cy="342044"/>
            </a:xfrm>
          </p:grpSpPr>
          <p:sp>
            <p:nvSpPr>
              <p:cNvPr id="547" name="Straight Connector 81"/>
              <p:cNvSpPr/>
              <p:nvPr/>
            </p:nvSpPr>
            <p:spPr>
              <a:xfrm flipH="1">
                <a:off x="0" y="342043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  <p:sp>
            <p:nvSpPr>
              <p:cNvPr id="548" name="Straight Connector 82"/>
              <p:cNvSpPr/>
              <p:nvPr/>
            </p:nvSpPr>
            <p:spPr>
              <a:xfrm flipH="1" flipV="1">
                <a:off x="0" y="-1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552" name="Group 78"/>
            <p:cNvGrpSpPr/>
            <p:nvPr/>
          </p:nvGrpSpPr>
          <p:grpSpPr>
            <a:xfrm>
              <a:off x="0" y="0"/>
              <a:ext cx="136830" cy="864156"/>
              <a:chOff x="0" y="0"/>
              <a:chExt cx="136829" cy="864155"/>
            </a:xfrm>
          </p:grpSpPr>
          <p:sp>
            <p:nvSpPr>
              <p:cNvPr id="550" name="Straight Connector 79"/>
              <p:cNvSpPr/>
              <p:nvPr/>
            </p:nvSpPr>
            <p:spPr>
              <a:xfrm flipH="1">
                <a:off x="0" y="864155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  <p:sp>
            <p:nvSpPr>
              <p:cNvPr id="551" name="Straight Connector 80"/>
              <p:cNvSpPr/>
              <p:nvPr/>
            </p:nvSpPr>
            <p:spPr>
              <a:xfrm flipH="1" flipV="1">
                <a:off x="0" y="-1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553" name="Straight Connector 93"/>
            <p:cNvSpPr/>
            <p:nvPr/>
          </p:nvSpPr>
          <p:spPr>
            <a:xfrm flipH="1">
              <a:off x="0" y="342044"/>
              <a:ext cx="136830" cy="1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</p:grpSp>
      <p:grpSp>
        <p:nvGrpSpPr>
          <p:cNvPr id="563" name="Group 95"/>
          <p:cNvGrpSpPr/>
          <p:nvPr/>
        </p:nvGrpSpPr>
        <p:grpSpPr>
          <a:xfrm>
            <a:off x="12262553" y="278021"/>
            <a:ext cx="182440" cy="5851111"/>
            <a:chOff x="0" y="0"/>
            <a:chExt cx="136829" cy="4388332"/>
          </a:xfrm>
        </p:grpSpPr>
        <p:sp>
          <p:nvSpPr>
            <p:cNvPr id="555" name="Straight Connector 96"/>
            <p:cNvSpPr/>
            <p:nvPr/>
          </p:nvSpPr>
          <p:spPr>
            <a:xfrm flipH="1">
              <a:off x="0" y="1206199"/>
              <a:ext cx="136830" cy="1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grpSp>
          <p:nvGrpSpPr>
            <p:cNvPr id="558" name="Group 97"/>
            <p:cNvGrpSpPr/>
            <p:nvPr/>
          </p:nvGrpSpPr>
          <p:grpSpPr>
            <a:xfrm>
              <a:off x="0" y="4046288"/>
              <a:ext cx="136830" cy="342045"/>
              <a:chOff x="0" y="0"/>
              <a:chExt cx="136829" cy="342044"/>
            </a:xfrm>
          </p:grpSpPr>
          <p:sp>
            <p:nvSpPr>
              <p:cNvPr id="556" name="Straight Connector 102"/>
              <p:cNvSpPr/>
              <p:nvPr/>
            </p:nvSpPr>
            <p:spPr>
              <a:xfrm flipH="1">
                <a:off x="0" y="342043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  <p:sp>
            <p:nvSpPr>
              <p:cNvPr id="557" name="Straight Connector 103"/>
              <p:cNvSpPr/>
              <p:nvPr/>
            </p:nvSpPr>
            <p:spPr>
              <a:xfrm flipH="1" flipV="1">
                <a:off x="0" y="-1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561" name="Group 98"/>
            <p:cNvGrpSpPr/>
            <p:nvPr/>
          </p:nvGrpSpPr>
          <p:grpSpPr>
            <a:xfrm>
              <a:off x="0" y="0"/>
              <a:ext cx="136830" cy="864156"/>
              <a:chOff x="0" y="0"/>
              <a:chExt cx="136829" cy="864155"/>
            </a:xfrm>
          </p:grpSpPr>
          <p:sp>
            <p:nvSpPr>
              <p:cNvPr id="559" name="Straight Connector 100"/>
              <p:cNvSpPr/>
              <p:nvPr/>
            </p:nvSpPr>
            <p:spPr>
              <a:xfrm flipH="1">
                <a:off x="0" y="864155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  <p:sp>
            <p:nvSpPr>
              <p:cNvPr id="560" name="Straight Connector 101"/>
              <p:cNvSpPr/>
              <p:nvPr/>
            </p:nvSpPr>
            <p:spPr>
              <a:xfrm flipH="1" flipV="1">
                <a:off x="0" y="-1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562" name="Straight Connector 99"/>
            <p:cNvSpPr/>
            <p:nvPr/>
          </p:nvSpPr>
          <p:spPr>
            <a:xfrm flipH="1">
              <a:off x="0" y="342044"/>
              <a:ext cx="136830" cy="1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</p:grpSp>
      <p:sp>
        <p:nvSpPr>
          <p:cNvPr id="48" name="Text Box 5"/>
          <p:cNvSpPr txBox="1">
            <a:spLocks noChangeArrowheads="1"/>
          </p:cNvSpPr>
          <p:nvPr userDrawn="1"/>
        </p:nvSpPr>
        <p:spPr bwMode="auto">
          <a:xfrm>
            <a:off x="11576584" y="6558512"/>
            <a:ext cx="615416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41148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6AD7C7-DE3F-5E43-A3A8-CA80750AE375}" type="slidenum">
              <a:rPr kumimoji="0" lang="en-US" altLang="zh-CN" sz="11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Arial" panose="020B0604020202020204"/>
                <a:sym typeface="Helvetica Neue"/>
              </a:rPr>
              <a:t>‹#›</a:t>
            </a:fld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Arial" panose="020B0604020202020204"/>
              <a:sym typeface="Helvetica Neue"/>
            </a:endParaRPr>
          </a:p>
        </p:txBody>
      </p:sp>
      <p:sp>
        <p:nvSpPr>
          <p:cNvPr id="49" name="Text Box 2"/>
          <p:cNvSpPr txBox="1"/>
          <p:nvPr userDrawn="1"/>
        </p:nvSpPr>
        <p:spPr>
          <a:xfrm>
            <a:off x="9251147" y="6545284"/>
            <a:ext cx="2163235" cy="171459"/>
          </a:xfrm>
          <a:prstGeom prst="rect">
            <a:avLst/>
          </a:prstGeom>
          <a:ln w="12700">
            <a:miter lim="400000"/>
          </a:ln>
        </p:spPr>
        <p:txBody>
          <a:bodyPr lIns="8891" tIns="8891" rIns="8891" bIns="8891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00">
                <a:solidFill>
                  <a:srgbClr val="FFFFFF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① </a:t>
            </a:r>
            <a:r>
              <a:rPr kumimoji="0" sz="935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绝密信息</a:t>
            </a: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0" sz="935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严禁泄露</a:t>
            </a:r>
            <a:endParaRPr kumimoji="0" sz="93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885" y="267724"/>
            <a:ext cx="896585" cy="41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4202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813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圆形"/>
          <p:cNvSpPr/>
          <p:nvPr userDrawn="1"/>
        </p:nvSpPr>
        <p:spPr>
          <a:xfrm>
            <a:off x="-806775" y="3292324"/>
            <a:ext cx="412720" cy="412720"/>
          </a:xfrm>
          <a:prstGeom prst="ellipse">
            <a:avLst/>
          </a:prstGeom>
          <a:solidFill>
            <a:srgbClr val="2971EB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2386E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7" name="圆形"/>
          <p:cNvSpPr/>
          <p:nvPr userDrawn="1"/>
        </p:nvSpPr>
        <p:spPr>
          <a:xfrm>
            <a:off x="-804772" y="4806477"/>
            <a:ext cx="412721" cy="412720"/>
          </a:xfrm>
          <a:prstGeom prst="ellipse">
            <a:avLst/>
          </a:prstGeom>
          <a:solidFill>
            <a:srgbClr val="00CCFE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05C8C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8" name="圆形"/>
          <p:cNvSpPr/>
          <p:nvPr userDrawn="1"/>
        </p:nvSpPr>
        <p:spPr>
          <a:xfrm>
            <a:off x="-1348384" y="4790261"/>
            <a:ext cx="412721" cy="41272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9" name="圆形"/>
          <p:cNvSpPr/>
          <p:nvPr userDrawn="1"/>
        </p:nvSpPr>
        <p:spPr>
          <a:xfrm>
            <a:off x="-1348384" y="5304965"/>
            <a:ext cx="412721" cy="4127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0" name="圆形"/>
          <p:cNvSpPr/>
          <p:nvPr userDrawn="1"/>
        </p:nvSpPr>
        <p:spPr>
          <a:xfrm>
            <a:off x="-804772" y="5872245"/>
            <a:ext cx="412721" cy="412720"/>
          </a:xfrm>
          <a:prstGeom prst="ellipse">
            <a:avLst/>
          </a:prstGeom>
          <a:solidFill>
            <a:srgbClr val="A06EFF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A06E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1" name="圆形"/>
          <p:cNvSpPr/>
          <p:nvPr userDrawn="1"/>
        </p:nvSpPr>
        <p:spPr>
          <a:xfrm>
            <a:off x="-804772" y="5345152"/>
            <a:ext cx="412721" cy="412720"/>
          </a:xfrm>
          <a:prstGeom prst="ellipse">
            <a:avLst/>
          </a:prstGeom>
          <a:solidFill>
            <a:srgbClr val="05C8C8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05C8C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2" name="圆形"/>
          <p:cNvSpPr/>
          <p:nvPr userDrawn="1"/>
        </p:nvSpPr>
        <p:spPr>
          <a:xfrm>
            <a:off x="-1337419" y="3282897"/>
            <a:ext cx="412720" cy="412720"/>
          </a:xfrm>
          <a:prstGeom prst="ellipse">
            <a:avLst/>
          </a:prstGeom>
          <a:gradFill flip="none" rotWithShape="1">
            <a:gsLst>
              <a:gs pos="50000">
                <a:srgbClr val="238EF7"/>
              </a:gs>
              <a:gs pos="0">
                <a:srgbClr val="2372EF"/>
              </a:gs>
              <a:gs pos="100000">
                <a:srgbClr val="22AAFE"/>
              </a:gs>
            </a:gsLst>
            <a:lin ang="0" scaled="0"/>
            <a:tileRect/>
          </a:gra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2386E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3" name="圆形"/>
          <p:cNvSpPr/>
          <p:nvPr userDrawn="1"/>
        </p:nvSpPr>
        <p:spPr>
          <a:xfrm>
            <a:off x="-813916" y="6408704"/>
            <a:ext cx="412721" cy="412720"/>
          </a:xfrm>
          <a:prstGeom prst="ellipse">
            <a:avLst/>
          </a:prstGeom>
          <a:solidFill>
            <a:srgbClr val="FFB61A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4" name="圆形"/>
          <p:cNvSpPr/>
          <p:nvPr userDrawn="1"/>
        </p:nvSpPr>
        <p:spPr>
          <a:xfrm>
            <a:off x="-1348384" y="5806412"/>
            <a:ext cx="412721" cy="412720"/>
          </a:xfrm>
          <a:prstGeom prst="ellipse">
            <a:avLst/>
          </a:prstGeom>
          <a:solidFill>
            <a:srgbClr val="E7F1FF"/>
          </a:solidFill>
          <a:ln w="3175">
            <a:solidFill>
              <a:schemeClr val="bg1">
                <a:lumMod val="85000"/>
              </a:schemeClr>
            </a:solidFill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5" name="圆形"/>
          <p:cNvSpPr/>
          <p:nvPr userDrawn="1"/>
        </p:nvSpPr>
        <p:spPr>
          <a:xfrm>
            <a:off x="-804772" y="4251104"/>
            <a:ext cx="412721" cy="412720"/>
          </a:xfrm>
          <a:prstGeom prst="ellipse">
            <a:avLst/>
          </a:prstGeom>
          <a:solidFill>
            <a:srgbClr val="22AAFE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2386E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6" name="圆形"/>
          <p:cNvSpPr/>
          <p:nvPr userDrawn="1"/>
        </p:nvSpPr>
        <p:spPr>
          <a:xfrm>
            <a:off x="-1348384" y="4279866"/>
            <a:ext cx="412721" cy="412720"/>
          </a:xfrm>
          <a:prstGeom prst="ellipse">
            <a:avLst/>
          </a:prstGeom>
          <a:solidFill>
            <a:srgbClr val="28235F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-1395167" y="2953343"/>
            <a:ext cx="744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主色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-1395167" y="3959257"/>
            <a:ext cx="650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辅助色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395167" y="2125202"/>
            <a:ext cx="744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字体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395167" y="2384599"/>
            <a:ext cx="1338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微软雅黑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8" r:id="rId4"/>
    <p:sldLayoutId id="2147483669" r:id="rId5"/>
    <p:sldLayoutId id="214748384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477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5" name="圆形">
            <a:extLst>
              <a:ext uri="{FF2B5EF4-FFF2-40B4-BE49-F238E27FC236}">
                <a16:creationId xmlns:a16="http://schemas.microsoft.com/office/drawing/2014/main" id="{B43FB5CF-3873-54F9-30BB-4C9D980DECAF}"/>
              </a:ext>
            </a:extLst>
          </p:cNvPr>
          <p:cNvSpPr/>
          <p:nvPr userDrawn="1"/>
        </p:nvSpPr>
        <p:spPr>
          <a:xfrm>
            <a:off x="-806775" y="3292324"/>
            <a:ext cx="412720" cy="412720"/>
          </a:xfrm>
          <a:prstGeom prst="ellipse">
            <a:avLst/>
          </a:prstGeom>
          <a:solidFill>
            <a:srgbClr val="2971EB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456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rgbClr val="2386E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圆形">
            <a:extLst>
              <a:ext uri="{FF2B5EF4-FFF2-40B4-BE49-F238E27FC236}">
                <a16:creationId xmlns:a16="http://schemas.microsoft.com/office/drawing/2014/main" id="{DCA22901-6DD1-ACAE-A501-CA7AC2751F06}"/>
              </a:ext>
            </a:extLst>
          </p:cNvPr>
          <p:cNvSpPr/>
          <p:nvPr userDrawn="1"/>
        </p:nvSpPr>
        <p:spPr>
          <a:xfrm>
            <a:off x="-804772" y="4806477"/>
            <a:ext cx="412721" cy="412720"/>
          </a:xfrm>
          <a:prstGeom prst="ellipse">
            <a:avLst/>
          </a:prstGeom>
          <a:solidFill>
            <a:srgbClr val="00CCFE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456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rgbClr val="05C8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圆形">
            <a:extLst>
              <a:ext uri="{FF2B5EF4-FFF2-40B4-BE49-F238E27FC236}">
                <a16:creationId xmlns:a16="http://schemas.microsoft.com/office/drawing/2014/main" id="{5F4F8B7E-CD4E-B781-3BAF-F210C328E45E}"/>
              </a:ext>
            </a:extLst>
          </p:cNvPr>
          <p:cNvSpPr/>
          <p:nvPr userDrawn="1"/>
        </p:nvSpPr>
        <p:spPr>
          <a:xfrm>
            <a:off x="-1348384" y="4790261"/>
            <a:ext cx="412721" cy="41272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456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圆形">
            <a:extLst>
              <a:ext uri="{FF2B5EF4-FFF2-40B4-BE49-F238E27FC236}">
                <a16:creationId xmlns:a16="http://schemas.microsoft.com/office/drawing/2014/main" id="{B28AD342-2143-D156-7C3B-B88FB9059849}"/>
              </a:ext>
            </a:extLst>
          </p:cNvPr>
          <p:cNvSpPr/>
          <p:nvPr userDrawn="1"/>
        </p:nvSpPr>
        <p:spPr>
          <a:xfrm>
            <a:off x="-1348384" y="5304965"/>
            <a:ext cx="412721" cy="4127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456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圆形">
            <a:extLst>
              <a:ext uri="{FF2B5EF4-FFF2-40B4-BE49-F238E27FC236}">
                <a16:creationId xmlns:a16="http://schemas.microsoft.com/office/drawing/2014/main" id="{2DA1DADF-5E20-59BB-798D-67D095974B15}"/>
              </a:ext>
            </a:extLst>
          </p:cNvPr>
          <p:cNvSpPr/>
          <p:nvPr userDrawn="1"/>
        </p:nvSpPr>
        <p:spPr>
          <a:xfrm>
            <a:off x="-804772" y="5872245"/>
            <a:ext cx="412721" cy="412720"/>
          </a:xfrm>
          <a:prstGeom prst="ellipse">
            <a:avLst/>
          </a:prstGeom>
          <a:solidFill>
            <a:srgbClr val="A06EFF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456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rgbClr val="A06E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圆形">
            <a:extLst>
              <a:ext uri="{FF2B5EF4-FFF2-40B4-BE49-F238E27FC236}">
                <a16:creationId xmlns:a16="http://schemas.microsoft.com/office/drawing/2014/main" id="{9488ADE2-4415-972E-7285-DCFB5D0C754B}"/>
              </a:ext>
            </a:extLst>
          </p:cNvPr>
          <p:cNvSpPr/>
          <p:nvPr userDrawn="1"/>
        </p:nvSpPr>
        <p:spPr>
          <a:xfrm>
            <a:off x="-804772" y="5345152"/>
            <a:ext cx="412721" cy="412720"/>
          </a:xfrm>
          <a:prstGeom prst="ellipse">
            <a:avLst/>
          </a:prstGeom>
          <a:solidFill>
            <a:srgbClr val="05C8C8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456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rgbClr val="05C8C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圆形">
            <a:extLst>
              <a:ext uri="{FF2B5EF4-FFF2-40B4-BE49-F238E27FC236}">
                <a16:creationId xmlns:a16="http://schemas.microsoft.com/office/drawing/2014/main" id="{DA7ABE9B-7E45-758C-F0CF-3B50C67BBBAC}"/>
              </a:ext>
            </a:extLst>
          </p:cNvPr>
          <p:cNvSpPr/>
          <p:nvPr userDrawn="1"/>
        </p:nvSpPr>
        <p:spPr>
          <a:xfrm>
            <a:off x="-1337419" y="3282897"/>
            <a:ext cx="412720" cy="412720"/>
          </a:xfrm>
          <a:prstGeom prst="ellipse">
            <a:avLst/>
          </a:prstGeom>
          <a:gradFill flip="none" rotWithShape="1">
            <a:gsLst>
              <a:gs pos="50000">
                <a:srgbClr val="238EF7"/>
              </a:gs>
              <a:gs pos="0">
                <a:srgbClr val="2372EF"/>
              </a:gs>
              <a:gs pos="100000">
                <a:srgbClr val="22AAFE"/>
              </a:gs>
            </a:gsLst>
            <a:lin ang="0" scaled="0"/>
            <a:tileRect/>
          </a:gra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456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rgbClr val="2386E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圆形">
            <a:extLst>
              <a:ext uri="{FF2B5EF4-FFF2-40B4-BE49-F238E27FC236}">
                <a16:creationId xmlns:a16="http://schemas.microsoft.com/office/drawing/2014/main" id="{4860ADE8-8BD9-CCFC-9678-41C557B78E0C}"/>
              </a:ext>
            </a:extLst>
          </p:cNvPr>
          <p:cNvSpPr/>
          <p:nvPr userDrawn="1"/>
        </p:nvSpPr>
        <p:spPr>
          <a:xfrm>
            <a:off x="-813916" y="6408704"/>
            <a:ext cx="412721" cy="412720"/>
          </a:xfrm>
          <a:prstGeom prst="ellipse">
            <a:avLst/>
          </a:prstGeom>
          <a:solidFill>
            <a:srgbClr val="FFB61A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456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圆形">
            <a:extLst>
              <a:ext uri="{FF2B5EF4-FFF2-40B4-BE49-F238E27FC236}">
                <a16:creationId xmlns:a16="http://schemas.microsoft.com/office/drawing/2014/main" id="{9CAB3B3A-B784-3583-E457-79E4F34C21A5}"/>
              </a:ext>
            </a:extLst>
          </p:cNvPr>
          <p:cNvSpPr/>
          <p:nvPr userDrawn="1"/>
        </p:nvSpPr>
        <p:spPr>
          <a:xfrm>
            <a:off x="-1348384" y="5806412"/>
            <a:ext cx="412721" cy="412720"/>
          </a:xfrm>
          <a:prstGeom prst="ellipse">
            <a:avLst/>
          </a:prstGeom>
          <a:solidFill>
            <a:srgbClr val="E7F1FF"/>
          </a:solidFill>
          <a:ln w="3175">
            <a:solidFill>
              <a:schemeClr val="bg1">
                <a:lumMod val="85000"/>
              </a:schemeClr>
            </a:solidFill>
            <a:miter lim="400000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lIns="38489" tIns="38489" rIns="38489" bIns="38489" anchor="ctr"/>
          <a:lstStyle/>
          <a:p>
            <a:pPr defTabSz="602456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圆形">
            <a:extLst>
              <a:ext uri="{FF2B5EF4-FFF2-40B4-BE49-F238E27FC236}">
                <a16:creationId xmlns:a16="http://schemas.microsoft.com/office/drawing/2014/main" id="{5F3A1133-BFA7-44F5-B18E-1E0CBCF0FD41}"/>
              </a:ext>
            </a:extLst>
          </p:cNvPr>
          <p:cNvSpPr/>
          <p:nvPr userDrawn="1"/>
        </p:nvSpPr>
        <p:spPr>
          <a:xfrm>
            <a:off x="-804772" y="4251104"/>
            <a:ext cx="412721" cy="412720"/>
          </a:xfrm>
          <a:prstGeom prst="ellipse">
            <a:avLst/>
          </a:prstGeom>
          <a:solidFill>
            <a:srgbClr val="22AAFE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456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rgbClr val="2386E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圆形">
            <a:extLst>
              <a:ext uri="{FF2B5EF4-FFF2-40B4-BE49-F238E27FC236}">
                <a16:creationId xmlns:a16="http://schemas.microsoft.com/office/drawing/2014/main" id="{D02A4316-51EE-0D91-7BAB-E6EEFD702EFA}"/>
              </a:ext>
            </a:extLst>
          </p:cNvPr>
          <p:cNvSpPr/>
          <p:nvPr userDrawn="1"/>
        </p:nvSpPr>
        <p:spPr>
          <a:xfrm>
            <a:off x="-1348384" y="4279866"/>
            <a:ext cx="412721" cy="412720"/>
          </a:xfrm>
          <a:prstGeom prst="ellipse">
            <a:avLst/>
          </a:prstGeom>
          <a:solidFill>
            <a:srgbClr val="28235F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456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94AB39-6F8B-0AD8-8C32-39B0E6264D99}"/>
              </a:ext>
            </a:extLst>
          </p:cNvPr>
          <p:cNvSpPr txBox="1"/>
          <p:nvPr userDrawn="1"/>
        </p:nvSpPr>
        <p:spPr>
          <a:xfrm>
            <a:off x="-1395167" y="2953343"/>
            <a:ext cx="744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0" i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主色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2AD5A6-4A89-4F08-12C2-C1C4ABF70437}"/>
              </a:ext>
            </a:extLst>
          </p:cNvPr>
          <p:cNvSpPr txBox="1"/>
          <p:nvPr userDrawn="1"/>
        </p:nvSpPr>
        <p:spPr>
          <a:xfrm>
            <a:off x="-1395167" y="3959257"/>
            <a:ext cx="650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0" i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辅助色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5C45B83-D145-A5FA-B2B2-62D46CD9D522}"/>
              </a:ext>
            </a:extLst>
          </p:cNvPr>
          <p:cNvSpPr txBox="1"/>
          <p:nvPr userDrawn="1"/>
        </p:nvSpPr>
        <p:spPr>
          <a:xfrm>
            <a:off x="-1395167" y="2125202"/>
            <a:ext cx="744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0" i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字体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C64452-2A0E-6315-C898-FE11BF4F5014}"/>
              </a:ext>
            </a:extLst>
          </p:cNvPr>
          <p:cNvSpPr txBox="1"/>
          <p:nvPr userDrawn="1"/>
        </p:nvSpPr>
        <p:spPr>
          <a:xfrm>
            <a:off x="-1395167" y="2384599"/>
            <a:ext cx="1338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0" i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微软雅黑</a:t>
            </a:r>
          </a:p>
        </p:txBody>
      </p:sp>
    </p:spTree>
    <p:extLst>
      <p:ext uri="{BB962C8B-B14F-4D97-AF65-F5344CB8AC3E}">
        <p14:creationId xmlns:p14="http://schemas.microsoft.com/office/powerpoint/2010/main" val="114854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圆形"/>
          <p:cNvSpPr/>
          <p:nvPr userDrawn="1"/>
        </p:nvSpPr>
        <p:spPr>
          <a:xfrm>
            <a:off x="-806775" y="3292324"/>
            <a:ext cx="412720" cy="412720"/>
          </a:xfrm>
          <a:prstGeom prst="ellipse">
            <a:avLst/>
          </a:prstGeom>
          <a:solidFill>
            <a:srgbClr val="2971EB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2386E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7" name="圆形"/>
          <p:cNvSpPr/>
          <p:nvPr userDrawn="1"/>
        </p:nvSpPr>
        <p:spPr>
          <a:xfrm>
            <a:off x="-804772" y="4806477"/>
            <a:ext cx="412721" cy="412720"/>
          </a:xfrm>
          <a:prstGeom prst="ellipse">
            <a:avLst/>
          </a:prstGeom>
          <a:solidFill>
            <a:srgbClr val="00CCFE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05C8C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8" name="圆形"/>
          <p:cNvSpPr/>
          <p:nvPr userDrawn="1"/>
        </p:nvSpPr>
        <p:spPr>
          <a:xfrm>
            <a:off x="-1348384" y="4790261"/>
            <a:ext cx="412721" cy="41272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9" name="圆形"/>
          <p:cNvSpPr/>
          <p:nvPr userDrawn="1"/>
        </p:nvSpPr>
        <p:spPr>
          <a:xfrm>
            <a:off x="-1348384" y="5304965"/>
            <a:ext cx="412721" cy="4127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0" name="圆形"/>
          <p:cNvSpPr/>
          <p:nvPr userDrawn="1"/>
        </p:nvSpPr>
        <p:spPr>
          <a:xfrm>
            <a:off x="-804772" y="5872245"/>
            <a:ext cx="412721" cy="412720"/>
          </a:xfrm>
          <a:prstGeom prst="ellipse">
            <a:avLst/>
          </a:prstGeom>
          <a:solidFill>
            <a:srgbClr val="A06EFF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A06E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1" name="圆形"/>
          <p:cNvSpPr/>
          <p:nvPr userDrawn="1"/>
        </p:nvSpPr>
        <p:spPr>
          <a:xfrm>
            <a:off x="-804772" y="5345152"/>
            <a:ext cx="412721" cy="412720"/>
          </a:xfrm>
          <a:prstGeom prst="ellipse">
            <a:avLst/>
          </a:prstGeom>
          <a:solidFill>
            <a:srgbClr val="05C8C8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05C8C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2" name="圆形"/>
          <p:cNvSpPr/>
          <p:nvPr userDrawn="1"/>
        </p:nvSpPr>
        <p:spPr>
          <a:xfrm>
            <a:off x="-1337419" y="3282897"/>
            <a:ext cx="412720" cy="412720"/>
          </a:xfrm>
          <a:prstGeom prst="ellipse">
            <a:avLst/>
          </a:prstGeom>
          <a:gradFill flip="none" rotWithShape="1">
            <a:gsLst>
              <a:gs pos="50000">
                <a:srgbClr val="238EF7"/>
              </a:gs>
              <a:gs pos="0">
                <a:srgbClr val="2372EF"/>
              </a:gs>
              <a:gs pos="100000">
                <a:srgbClr val="22AAFE"/>
              </a:gs>
            </a:gsLst>
            <a:lin ang="0" scaled="0"/>
            <a:tileRect/>
          </a:gra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2386E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3" name="圆形"/>
          <p:cNvSpPr/>
          <p:nvPr userDrawn="1"/>
        </p:nvSpPr>
        <p:spPr>
          <a:xfrm>
            <a:off x="-813916" y="6408704"/>
            <a:ext cx="412721" cy="412720"/>
          </a:xfrm>
          <a:prstGeom prst="ellipse">
            <a:avLst/>
          </a:prstGeom>
          <a:solidFill>
            <a:srgbClr val="FFB61A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4" name="圆形"/>
          <p:cNvSpPr/>
          <p:nvPr userDrawn="1"/>
        </p:nvSpPr>
        <p:spPr>
          <a:xfrm>
            <a:off x="-1348384" y="5806412"/>
            <a:ext cx="412721" cy="412720"/>
          </a:xfrm>
          <a:prstGeom prst="ellipse">
            <a:avLst/>
          </a:prstGeom>
          <a:solidFill>
            <a:srgbClr val="E7F1FF"/>
          </a:solidFill>
          <a:ln w="3175">
            <a:solidFill>
              <a:schemeClr val="bg1">
                <a:lumMod val="85000"/>
              </a:schemeClr>
            </a:solidFill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5" name="圆形"/>
          <p:cNvSpPr/>
          <p:nvPr userDrawn="1"/>
        </p:nvSpPr>
        <p:spPr>
          <a:xfrm>
            <a:off x="-804772" y="4251104"/>
            <a:ext cx="412721" cy="412720"/>
          </a:xfrm>
          <a:prstGeom prst="ellipse">
            <a:avLst/>
          </a:prstGeom>
          <a:solidFill>
            <a:srgbClr val="22AAFE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2386E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6" name="圆形"/>
          <p:cNvSpPr/>
          <p:nvPr userDrawn="1"/>
        </p:nvSpPr>
        <p:spPr>
          <a:xfrm>
            <a:off x="-1348384" y="4279866"/>
            <a:ext cx="412721" cy="412720"/>
          </a:xfrm>
          <a:prstGeom prst="ellipse">
            <a:avLst/>
          </a:prstGeom>
          <a:solidFill>
            <a:srgbClr val="28235F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marL="0" marR="0" lvl="0" indent="0" algn="l" defTabSz="602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232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-1395167" y="2953343"/>
            <a:ext cx="744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主色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-1395167" y="3959257"/>
            <a:ext cx="650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辅助色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395167" y="2125202"/>
            <a:ext cx="744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字体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395167" y="2384599"/>
            <a:ext cx="1338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微软雅黑</a:t>
            </a:r>
          </a:p>
        </p:txBody>
      </p:sp>
    </p:spTree>
    <p:extLst>
      <p:ext uri="{BB962C8B-B14F-4D97-AF65-F5344CB8AC3E}">
        <p14:creationId xmlns:p14="http://schemas.microsoft.com/office/powerpoint/2010/main" val="398430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70.png"/><Relationship Id="rId4" Type="http://schemas.openxmlformats.org/officeDocument/2006/relationships/image" Target="../media/image33.png"/><Relationship Id="rId9" Type="http://schemas.openxmlformats.org/officeDocument/2006/relationships/slide" Target="slide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Relationship Id="rId9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notesSlide" Target="../notesSlides/notesSlide7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6.sv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tags" Target="../tags/tag30.xml"/><Relationship Id="rId21" Type="http://schemas.openxmlformats.org/officeDocument/2006/relationships/tags" Target="../tags/tag25.xml"/><Relationship Id="rId42" Type="http://schemas.openxmlformats.org/officeDocument/2006/relationships/tags" Target="../tags/tag46.xml"/><Relationship Id="rId47" Type="http://schemas.openxmlformats.org/officeDocument/2006/relationships/tags" Target="../tags/tag51.xml"/><Relationship Id="rId63" Type="http://schemas.openxmlformats.org/officeDocument/2006/relationships/tags" Target="../tags/tag67.xml"/><Relationship Id="rId68" Type="http://schemas.openxmlformats.org/officeDocument/2006/relationships/tags" Target="../tags/tag72.xml"/><Relationship Id="rId84" Type="http://schemas.openxmlformats.org/officeDocument/2006/relationships/tags" Target="../tags/tag88.xml"/><Relationship Id="rId89" Type="http://schemas.openxmlformats.org/officeDocument/2006/relationships/tags" Target="../tags/tag93.xml"/><Relationship Id="rId16" Type="http://schemas.openxmlformats.org/officeDocument/2006/relationships/tags" Target="../tags/tag20.xml"/><Relationship Id="rId11" Type="http://schemas.openxmlformats.org/officeDocument/2006/relationships/tags" Target="../tags/tag15.xml"/><Relationship Id="rId32" Type="http://schemas.openxmlformats.org/officeDocument/2006/relationships/tags" Target="../tags/tag36.xml"/><Relationship Id="rId37" Type="http://schemas.openxmlformats.org/officeDocument/2006/relationships/tags" Target="../tags/tag41.xml"/><Relationship Id="rId53" Type="http://schemas.openxmlformats.org/officeDocument/2006/relationships/tags" Target="../tags/tag57.xml"/><Relationship Id="rId58" Type="http://schemas.openxmlformats.org/officeDocument/2006/relationships/tags" Target="../tags/tag62.xml"/><Relationship Id="rId74" Type="http://schemas.openxmlformats.org/officeDocument/2006/relationships/tags" Target="../tags/tag78.xml"/><Relationship Id="rId79" Type="http://schemas.openxmlformats.org/officeDocument/2006/relationships/tags" Target="../tags/tag83.xml"/><Relationship Id="rId5" Type="http://schemas.openxmlformats.org/officeDocument/2006/relationships/tags" Target="../tags/tag9.xml"/><Relationship Id="rId90" Type="http://schemas.openxmlformats.org/officeDocument/2006/relationships/slideLayout" Target="../slideLayouts/slideLayout15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Relationship Id="rId30" Type="http://schemas.openxmlformats.org/officeDocument/2006/relationships/tags" Target="../tags/tag34.xml"/><Relationship Id="rId35" Type="http://schemas.openxmlformats.org/officeDocument/2006/relationships/tags" Target="../tags/tag39.xml"/><Relationship Id="rId43" Type="http://schemas.openxmlformats.org/officeDocument/2006/relationships/tags" Target="../tags/tag47.xml"/><Relationship Id="rId48" Type="http://schemas.openxmlformats.org/officeDocument/2006/relationships/tags" Target="../tags/tag52.xml"/><Relationship Id="rId56" Type="http://schemas.openxmlformats.org/officeDocument/2006/relationships/tags" Target="../tags/tag60.xml"/><Relationship Id="rId64" Type="http://schemas.openxmlformats.org/officeDocument/2006/relationships/tags" Target="../tags/tag68.xml"/><Relationship Id="rId69" Type="http://schemas.openxmlformats.org/officeDocument/2006/relationships/tags" Target="../tags/tag73.xml"/><Relationship Id="rId77" Type="http://schemas.openxmlformats.org/officeDocument/2006/relationships/tags" Target="../tags/tag81.xml"/><Relationship Id="rId8" Type="http://schemas.openxmlformats.org/officeDocument/2006/relationships/tags" Target="../tags/tag12.xml"/><Relationship Id="rId51" Type="http://schemas.openxmlformats.org/officeDocument/2006/relationships/tags" Target="../tags/tag55.xml"/><Relationship Id="rId72" Type="http://schemas.openxmlformats.org/officeDocument/2006/relationships/tags" Target="../tags/tag76.xml"/><Relationship Id="rId80" Type="http://schemas.openxmlformats.org/officeDocument/2006/relationships/tags" Target="../tags/tag84.xml"/><Relationship Id="rId85" Type="http://schemas.openxmlformats.org/officeDocument/2006/relationships/tags" Target="../tags/tag89.xml"/><Relationship Id="rId3" Type="http://schemas.openxmlformats.org/officeDocument/2006/relationships/tags" Target="../tags/tag7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33" Type="http://schemas.openxmlformats.org/officeDocument/2006/relationships/tags" Target="../tags/tag37.xml"/><Relationship Id="rId38" Type="http://schemas.openxmlformats.org/officeDocument/2006/relationships/tags" Target="../tags/tag42.xml"/><Relationship Id="rId46" Type="http://schemas.openxmlformats.org/officeDocument/2006/relationships/tags" Target="../tags/tag50.xml"/><Relationship Id="rId59" Type="http://schemas.openxmlformats.org/officeDocument/2006/relationships/tags" Target="../tags/tag63.xml"/><Relationship Id="rId67" Type="http://schemas.openxmlformats.org/officeDocument/2006/relationships/tags" Target="../tags/tag71.xml"/><Relationship Id="rId20" Type="http://schemas.openxmlformats.org/officeDocument/2006/relationships/tags" Target="../tags/tag24.xml"/><Relationship Id="rId41" Type="http://schemas.openxmlformats.org/officeDocument/2006/relationships/tags" Target="../tags/tag45.xml"/><Relationship Id="rId54" Type="http://schemas.openxmlformats.org/officeDocument/2006/relationships/tags" Target="../tags/tag58.xml"/><Relationship Id="rId62" Type="http://schemas.openxmlformats.org/officeDocument/2006/relationships/tags" Target="../tags/tag66.xml"/><Relationship Id="rId70" Type="http://schemas.openxmlformats.org/officeDocument/2006/relationships/tags" Target="../tags/tag74.xml"/><Relationship Id="rId75" Type="http://schemas.openxmlformats.org/officeDocument/2006/relationships/tags" Target="../tags/tag79.xml"/><Relationship Id="rId83" Type="http://schemas.openxmlformats.org/officeDocument/2006/relationships/tags" Target="../tags/tag87.xml"/><Relationship Id="rId88" Type="http://schemas.openxmlformats.org/officeDocument/2006/relationships/tags" Target="../tags/tag92.xml"/><Relationship Id="rId91" Type="http://schemas.openxmlformats.org/officeDocument/2006/relationships/notesSlide" Target="../notesSlides/notesSlide9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36" Type="http://schemas.openxmlformats.org/officeDocument/2006/relationships/tags" Target="../tags/tag40.xml"/><Relationship Id="rId49" Type="http://schemas.openxmlformats.org/officeDocument/2006/relationships/tags" Target="../tags/tag53.xml"/><Relationship Id="rId57" Type="http://schemas.openxmlformats.org/officeDocument/2006/relationships/tags" Target="../tags/tag61.xml"/><Relationship Id="rId10" Type="http://schemas.openxmlformats.org/officeDocument/2006/relationships/tags" Target="../tags/tag14.xml"/><Relationship Id="rId31" Type="http://schemas.openxmlformats.org/officeDocument/2006/relationships/tags" Target="../tags/tag35.xml"/><Relationship Id="rId44" Type="http://schemas.openxmlformats.org/officeDocument/2006/relationships/tags" Target="../tags/tag48.xml"/><Relationship Id="rId52" Type="http://schemas.openxmlformats.org/officeDocument/2006/relationships/tags" Target="../tags/tag56.xml"/><Relationship Id="rId60" Type="http://schemas.openxmlformats.org/officeDocument/2006/relationships/tags" Target="../tags/tag64.xml"/><Relationship Id="rId65" Type="http://schemas.openxmlformats.org/officeDocument/2006/relationships/tags" Target="../tags/tag69.xml"/><Relationship Id="rId73" Type="http://schemas.openxmlformats.org/officeDocument/2006/relationships/tags" Target="../tags/tag77.xml"/><Relationship Id="rId78" Type="http://schemas.openxmlformats.org/officeDocument/2006/relationships/tags" Target="../tags/tag82.xml"/><Relationship Id="rId81" Type="http://schemas.openxmlformats.org/officeDocument/2006/relationships/tags" Target="../tags/tag85.xml"/><Relationship Id="rId86" Type="http://schemas.openxmlformats.org/officeDocument/2006/relationships/tags" Target="../tags/tag90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39" Type="http://schemas.openxmlformats.org/officeDocument/2006/relationships/tags" Target="../tags/tag43.xml"/><Relationship Id="rId34" Type="http://schemas.openxmlformats.org/officeDocument/2006/relationships/tags" Target="../tags/tag38.xml"/><Relationship Id="rId50" Type="http://schemas.openxmlformats.org/officeDocument/2006/relationships/tags" Target="../tags/tag54.xml"/><Relationship Id="rId55" Type="http://schemas.openxmlformats.org/officeDocument/2006/relationships/tags" Target="../tags/tag59.xml"/><Relationship Id="rId76" Type="http://schemas.openxmlformats.org/officeDocument/2006/relationships/tags" Target="../tags/tag80.xml"/><Relationship Id="rId7" Type="http://schemas.openxmlformats.org/officeDocument/2006/relationships/tags" Target="../tags/tag11.xml"/><Relationship Id="rId71" Type="http://schemas.openxmlformats.org/officeDocument/2006/relationships/tags" Target="../tags/tag75.xml"/><Relationship Id="rId2" Type="http://schemas.openxmlformats.org/officeDocument/2006/relationships/tags" Target="../tags/tag6.xml"/><Relationship Id="rId29" Type="http://schemas.openxmlformats.org/officeDocument/2006/relationships/tags" Target="../tags/tag33.xml"/><Relationship Id="rId24" Type="http://schemas.openxmlformats.org/officeDocument/2006/relationships/tags" Target="../tags/tag28.xml"/><Relationship Id="rId40" Type="http://schemas.openxmlformats.org/officeDocument/2006/relationships/tags" Target="../tags/tag44.xml"/><Relationship Id="rId45" Type="http://schemas.openxmlformats.org/officeDocument/2006/relationships/tags" Target="../tags/tag49.xml"/><Relationship Id="rId66" Type="http://schemas.openxmlformats.org/officeDocument/2006/relationships/tags" Target="../tags/tag70.xml"/><Relationship Id="rId87" Type="http://schemas.openxmlformats.org/officeDocument/2006/relationships/tags" Target="../tags/tag91.xml"/><Relationship Id="rId61" Type="http://schemas.openxmlformats.org/officeDocument/2006/relationships/tags" Target="../tags/tag65.xml"/><Relationship Id="rId82" Type="http://schemas.openxmlformats.org/officeDocument/2006/relationships/tags" Target="../tags/tag86.xml"/><Relationship Id="rId19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AI 生成的内容可能不正确。">
            <a:extLst>
              <a:ext uri="{FF2B5EF4-FFF2-40B4-BE49-F238E27FC236}">
                <a16:creationId xmlns:a16="http://schemas.microsoft.com/office/drawing/2014/main" id="{AE5A28E3-F194-2D4D-4C14-79B5571C84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63"/>
          <a:stretch>
            <a:fillRect/>
          </a:stretch>
        </p:blipFill>
        <p:spPr>
          <a:xfrm>
            <a:off x="4432643" y="447"/>
            <a:ext cx="7771388" cy="618132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28691" y="4678190"/>
            <a:ext cx="4185761" cy="582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2386EE"/>
                </a:solidFill>
                <a:cs typeface="+mn-ea"/>
                <a:sym typeface="+mn-lt"/>
              </a:rPr>
              <a:t>经营中心价值工程部：李向华</a:t>
            </a:r>
            <a:endParaRPr lang="en-US" altLang="zh-CN" dirty="0">
              <a:solidFill>
                <a:srgbClr val="2386EE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3478" y="1885086"/>
            <a:ext cx="11539411" cy="1815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99" b="1" dirty="0">
                <a:solidFill>
                  <a:srgbClr val="4170FF"/>
                </a:solidFill>
                <a:cs typeface="+mn-ea"/>
                <a:sym typeface="+mn-lt"/>
              </a:rPr>
              <a:t>211</a:t>
            </a:r>
            <a:r>
              <a:rPr lang="zh-CN" altLang="en-US" sz="5599" b="1" dirty="0">
                <a:solidFill>
                  <a:srgbClr val="4170FF"/>
                </a:solidFill>
                <a:cs typeface="+mn-ea"/>
                <a:sym typeface="+mn-lt"/>
              </a:rPr>
              <a:t>赋能工程</a:t>
            </a:r>
            <a:endParaRPr lang="en-US" altLang="zh-CN" sz="5599" b="1" dirty="0">
              <a:solidFill>
                <a:srgbClr val="4170FF"/>
              </a:solidFill>
              <a:cs typeface="+mn-ea"/>
              <a:sym typeface="+mn-lt"/>
            </a:endParaRPr>
          </a:p>
          <a:p>
            <a:r>
              <a:rPr kumimoji="1" lang="en-US" altLang="zh-CN" sz="5599" b="1" dirty="0">
                <a:solidFill>
                  <a:srgbClr val="4170FF"/>
                </a:solidFill>
                <a:cs typeface="+mn-ea"/>
                <a:sym typeface="+mn-lt"/>
              </a:rPr>
              <a:t>       —</a:t>
            </a:r>
            <a:r>
              <a:rPr kumimoji="1" lang="zh-CN" altLang="en-US" sz="3200" b="1" dirty="0">
                <a:solidFill>
                  <a:srgbClr val="4170FF"/>
                </a:solidFill>
                <a:cs typeface="+mn-ea"/>
                <a:sym typeface="+mn-lt"/>
              </a:rPr>
              <a:t>价值型财务共享指标体系研讨</a:t>
            </a:r>
          </a:p>
        </p:txBody>
      </p:sp>
      <p:pic>
        <p:nvPicPr>
          <p:cNvPr id="3" name="图片 2" descr="图片包含 徽标&#10;&#10;AI 生成的内容可能不正确。">
            <a:extLst>
              <a:ext uri="{FF2B5EF4-FFF2-40B4-BE49-F238E27FC236}">
                <a16:creationId xmlns:a16="http://schemas.microsoft.com/office/drawing/2014/main" id="{D7C40085-D64A-3A42-1A5F-64F46D237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53" y="372898"/>
            <a:ext cx="1757783" cy="79100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20C60CD-28E9-0841-89AE-7897FE910A22}"/>
              </a:ext>
            </a:extLst>
          </p:cNvPr>
          <p:cNvSpPr txBox="1"/>
          <p:nvPr/>
        </p:nvSpPr>
        <p:spPr>
          <a:xfrm>
            <a:off x="628692" y="5273539"/>
            <a:ext cx="1646605" cy="458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386EE"/>
                </a:solidFill>
                <a:cs typeface="+mn-ea"/>
                <a:sym typeface="+mn-lt"/>
              </a:rPr>
              <a:t>2026</a:t>
            </a:r>
            <a:r>
              <a:rPr lang="zh-CN" altLang="en-US" b="1" dirty="0">
                <a:solidFill>
                  <a:srgbClr val="2386EE"/>
                </a:solidFill>
                <a:cs typeface="+mn-ea"/>
                <a:sym typeface="+mn-lt"/>
              </a:rPr>
              <a:t>年</a:t>
            </a:r>
            <a:r>
              <a:rPr lang="en-US" altLang="zh-CN" b="1" dirty="0">
                <a:solidFill>
                  <a:srgbClr val="2386EE"/>
                </a:solidFill>
                <a:cs typeface="+mn-ea"/>
                <a:sym typeface="+mn-lt"/>
              </a:rPr>
              <a:t>3</a:t>
            </a:r>
            <a:r>
              <a:rPr lang="zh-CN" altLang="en-US" b="1" dirty="0">
                <a:solidFill>
                  <a:srgbClr val="2386EE"/>
                </a:solidFill>
                <a:cs typeface="+mn-ea"/>
                <a:sym typeface="+mn-lt"/>
              </a:rPr>
              <a:t>月</a:t>
            </a:r>
            <a:r>
              <a:rPr lang="en-US" altLang="zh-CN" b="1" dirty="0">
                <a:solidFill>
                  <a:srgbClr val="2386EE"/>
                </a:solidFill>
                <a:cs typeface="+mn-ea"/>
                <a:sym typeface="+mn-lt"/>
              </a:rPr>
              <a:t>5</a:t>
            </a:r>
            <a:r>
              <a:rPr lang="zh-CN" altLang="en-US" b="1" dirty="0">
                <a:solidFill>
                  <a:srgbClr val="2386EE"/>
                </a:solidFill>
                <a:cs typeface="+mn-ea"/>
                <a:sym typeface="+mn-lt"/>
              </a:rPr>
              <a:t>日</a:t>
            </a:r>
            <a:endParaRPr lang="en-US" altLang="zh-CN" b="1" dirty="0">
              <a:solidFill>
                <a:srgbClr val="2386E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8A0FC-4BF0-E9AA-B97B-E8D3A5980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45309-D7B3-2467-BA0F-DCCE2B456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094" y="210672"/>
            <a:ext cx="10574706" cy="469413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洞察一：政策引领下的财务共享风控升级</a:t>
            </a:r>
          </a:p>
        </p:txBody>
      </p:sp>
      <p:sp>
        <p:nvSpPr>
          <p:cNvPr id="3" name="AutoShape 3"/>
          <p:cNvSpPr/>
          <p:nvPr/>
        </p:nvSpPr>
        <p:spPr>
          <a:xfrm>
            <a:off x="508000" y="952500"/>
            <a:ext cx="5461000" cy="2264833"/>
          </a:xfrm>
          <a:prstGeom prst="roundRect">
            <a:avLst>
              <a:gd name="adj" fmla="val 4651"/>
            </a:avLst>
          </a:prstGeom>
          <a:solidFill>
            <a:srgbClr val="F7F9FC">
              <a:alpha val="100000"/>
            </a:srgbClr>
          </a:solidFill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952500"/>
            <a:ext cx="5461000" cy="457200"/>
          </a:xfrm>
          <a:prstGeom prst="roundRect">
            <a:avLst>
              <a:gd name="adj" fmla="val 27777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635000" y="9906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政策驱动：财政部指引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 (2026)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635000" y="1498600"/>
            <a:ext cx="3556000" cy="16452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0">
              <a:lnSpc>
                <a:spcPct val="125000"/>
              </a:lnSpc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《管理会计应用指引第804号</a:t>
            </a:r>
            <a:r>
              <a:rPr lang="en-US" sz="1300" b="1" dirty="0">
                <a:solidFill>
                  <a:srgbClr val="4A4A4A"/>
                </a:solidFill>
                <a:cs typeface="+mn-ea"/>
                <a:sym typeface="+mn-lt"/>
              </a:rPr>
              <a:t>-</a:t>
            </a:r>
            <a:r>
              <a:rPr lang="zh-CN" altLang="en-US" sz="1300" b="1" dirty="0">
                <a:solidFill>
                  <a:srgbClr val="4A4A4A"/>
                </a:solidFill>
                <a:cs typeface="+mn-ea"/>
              </a:rPr>
              <a:t>财务共享服务征求意见稿</a:t>
            </a:r>
            <a:r>
              <a:rPr lang="en-US" sz="1300" b="1" dirty="0">
                <a:solidFill>
                  <a:srgbClr val="4A4A4A"/>
                </a:solidFill>
                <a:cs typeface="+mn-ea"/>
                <a:sym typeface="+mn-lt"/>
              </a:rPr>
              <a:t>》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cs typeface="+mn-ea"/>
                <a:sym typeface="+mn-lt"/>
              </a:rPr>
              <a:t>第三十条明确要求建立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2372EF"/>
                </a:solidFill>
                <a:effectLst/>
                <a:uLnTx/>
                <a:uFillTx/>
                <a:cs typeface="+mn-ea"/>
                <a:sym typeface="+mn-lt"/>
              </a:rPr>
              <a:t>全流程智能化监控与风险预警体系，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cs typeface="+mn-ea"/>
                <a:sym typeface="+mn-lt"/>
              </a:rPr>
              <a:t>实现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cs typeface="+mn-ea"/>
                <a:sym typeface="+mn-lt"/>
              </a:rPr>
              <a:t>：</a:t>
            </a: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服务效能与合规执行动态监测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A4A4A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异常情况自动预警与原因分析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A4A4A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提升风险主动防控与干预能力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A4A4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8000" y="1651000"/>
            <a:ext cx="1397000" cy="1397000"/>
          </a:xfrm>
          <a:prstGeom prst="rect">
            <a:avLst/>
          </a:prstGeom>
        </p:spPr>
      </p:pic>
      <p:sp>
        <p:nvSpPr>
          <p:cNvPr id="17" name="AutoShape 8"/>
          <p:cNvSpPr/>
          <p:nvPr/>
        </p:nvSpPr>
        <p:spPr>
          <a:xfrm>
            <a:off x="6223000" y="952500"/>
            <a:ext cx="5461000" cy="2264833"/>
          </a:xfrm>
          <a:prstGeom prst="roundRect">
            <a:avLst>
              <a:gd name="adj" fmla="val 4651"/>
            </a:avLst>
          </a:prstGeom>
          <a:solidFill>
            <a:srgbClr val="F7F9FC">
              <a:alpha val="100000"/>
            </a:srgbClr>
          </a:solidFill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AutoShape 9"/>
          <p:cNvSpPr/>
          <p:nvPr/>
        </p:nvSpPr>
        <p:spPr>
          <a:xfrm>
            <a:off x="6223000" y="952500"/>
            <a:ext cx="5461000" cy="457200"/>
          </a:xfrm>
          <a:prstGeom prst="roundRect">
            <a:avLst>
              <a:gd name="adj" fmla="val 27777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AutoShape 10"/>
          <p:cNvSpPr/>
          <p:nvPr/>
        </p:nvSpPr>
        <p:spPr>
          <a:xfrm>
            <a:off x="6350000" y="9906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国内同行：用友解决方案 (2025)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AutoShape 11"/>
          <p:cNvSpPr/>
          <p:nvPr/>
        </p:nvSpPr>
        <p:spPr>
          <a:xfrm>
            <a:off x="6350000" y="1473198"/>
            <a:ext cx="2812134" cy="16452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300" b="1" dirty="0">
                <a:solidFill>
                  <a:srgbClr val="4A4A4A"/>
                </a:solidFill>
                <a:cs typeface="+mn-ea"/>
              </a:rPr>
              <a:t>全级次总分一体化财务共享解决方案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全域洞察，穿透管控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cs typeface="+mn-ea"/>
                <a:sym typeface="+mn-lt"/>
              </a:rPr>
              <a:t>核心关键词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cs typeface="+mn-ea"/>
                <a:sym typeface="+mn-lt"/>
              </a:rPr>
              <a:t>：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cs typeface="+mn-ea"/>
                <a:sym typeface="+mn-lt"/>
              </a:rPr>
              <a:t>规模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cs typeface="+mn-ea"/>
                <a:sym typeface="+mn-lt"/>
              </a:rPr>
              <a:t>、 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cs typeface="+mn-ea"/>
                <a:sym typeface="+mn-lt"/>
              </a:rPr>
              <a:t>智能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cs typeface="+mn-ea"/>
                <a:sym typeface="+mn-lt"/>
              </a:rPr>
              <a:t>、 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cs typeface="+mn-ea"/>
                <a:sym typeface="+mn-lt"/>
              </a:rPr>
              <a:t>协同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AutoShape 13"/>
          <p:cNvSpPr/>
          <p:nvPr/>
        </p:nvSpPr>
        <p:spPr>
          <a:xfrm>
            <a:off x="508000" y="3433237"/>
            <a:ext cx="11176000" cy="2950630"/>
          </a:xfrm>
          <a:prstGeom prst="roundRect">
            <a:avLst>
              <a:gd name="adj" fmla="val 4651"/>
            </a:avLst>
          </a:prstGeom>
          <a:solidFill>
            <a:srgbClr val="F7F9FC">
              <a:alpha val="100000"/>
            </a:srgbClr>
          </a:solidFill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8" name="AutoShape 14"/>
          <p:cNvSpPr/>
          <p:nvPr/>
        </p:nvSpPr>
        <p:spPr>
          <a:xfrm>
            <a:off x="508000" y="3433237"/>
            <a:ext cx="11176000" cy="457200"/>
          </a:xfrm>
          <a:prstGeom prst="roundRect">
            <a:avLst>
              <a:gd name="adj" fmla="val 27777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" name="AutoShape 15"/>
          <p:cNvSpPr/>
          <p:nvPr/>
        </p:nvSpPr>
        <p:spPr>
          <a:xfrm>
            <a:off x="635000" y="3471337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国外同行：EXL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财务控制塔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 (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可视化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/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智能化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/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一体化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9BACF9F4-0893-C6FD-FC74-D2D88EFEA01C}"/>
              </a:ext>
            </a:extLst>
          </p:cNvPr>
          <p:cNvGrpSpPr/>
          <p:nvPr/>
        </p:nvGrpSpPr>
        <p:grpSpPr>
          <a:xfrm>
            <a:off x="753533" y="4547779"/>
            <a:ext cx="2626360" cy="1727200"/>
            <a:chOff x="635000" y="4793311"/>
            <a:chExt cx="2626360" cy="1727200"/>
          </a:xfrm>
        </p:grpSpPr>
        <p:pic>
          <p:nvPicPr>
            <p:cNvPr id="30" name="Picture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5000" y="4818711"/>
              <a:ext cx="254000" cy="254000"/>
            </a:xfrm>
            <a:prstGeom prst="rect">
              <a:avLst/>
            </a:prstGeom>
          </p:spPr>
        </p:pic>
        <p:sp>
          <p:nvSpPr>
            <p:cNvPr id="31" name="AutoShape 17"/>
            <p:cNvSpPr/>
            <p:nvPr/>
          </p:nvSpPr>
          <p:spPr>
            <a:xfrm>
              <a:off x="952500" y="4793311"/>
              <a:ext cx="230886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A4A4A"/>
                  </a:solidFill>
                  <a:effectLst/>
                  <a:uLnTx/>
                  <a:uFillTx/>
                  <a:cs typeface="+mn-ea"/>
                  <a:sym typeface="+mn-lt"/>
                </a:rPr>
                <a:t>端到端流程可视化与全景监控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pic>
          <p:nvPicPr>
            <p:cNvPr id="32" name="Picture 1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5000" y="5174311"/>
              <a:ext cx="254000" cy="254000"/>
            </a:xfrm>
            <a:prstGeom prst="rect">
              <a:avLst/>
            </a:prstGeom>
          </p:spPr>
        </p:pic>
        <p:sp>
          <p:nvSpPr>
            <p:cNvPr id="33" name="AutoShape 19"/>
            <p:cNvSpPr/>
            <p:nvPr/>
          </p:nvSpPr>
          <p:spPr>
            <a:xfrm>
              <a:off x="952500" y="5148911"/>
              <a:ext cx="230886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A4A4A"/>
                  </a:solidFill>
                  <a:effectLst/>
                  <a:uLnTx/>
                  <a:uFillTx/>
                  <a:cs typeface="+mn-ea"/>
                  <a:sym typeface="+mn-lt"/>
                </a:rPr>
                <a:t>智能化异常预警与风险管控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pic>
          <p:nvPicPr>
            <p:cNvPr id="34" name="Picture 20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35000" y="5529911"/>
              <a:ext cx="254000" cy="254000"/>
            </a:xfrm>
            <a:prstGeom prst="rect">
              <a:avLst/>
            </a:prstGeom>
          </p:spPr>
        </p:pic>
        <p:sp>
          <p:nvSpPr>
            <p:cNvPr id="35" name="AutoShape 21"/>
            <p:cNvSpPr/>
            <p:nvPr/>
          </p:nvSpPr>
          <p:spPr>
            <a:xfrm>
              <a:off x="952500" y="5504511"/>
              <a:ext cx="230886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A4A4A"/>
                  </a:solidFill>
                  <a:effectLst/>
                  <a:uLnTx/>
                  <a:uFillTx/>
                  <a:cs typeface="+mn-ea"/>
                  <a:sym typeface="+mn-lt"/>
                </a:rPr>
                <a:t>流程自动化协同与效率提升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pic>
          <p:nvPicPr>
            <p:cNvPr id="36" name="Picture 22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35000" y="5885511"/>
              <a:ext cx="254000" cy="254000"/>
            </a:xfrm>
            <a:prstGeom prst="rect">
              <a:avLst/>
            </a:prstGeom>
          </p:spPr>
        </p:pic>
        <p:sp>
          <p:nvSpPr>
            <p:cNvPr id="37" name="AutoShape 23"/>
            <p:cNvSpPr/>
            <p:nvPr/>
          </p:nvSpPr>
          <p:spPr>
            <a:xfrm>
              <a:off x="952500" y="5860111"/>
              <a:ext cx="230886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4A4A4A"/>
                  </a:solidFill>
                  <a:effectLst/>
                  <a:uLnTx/>
                  <a:uFillTx/>
                  <a:cs typeface="+mn-ea"/>
                  <a:sym typeface="+mn-lt"/>
                </a:rPr>
                <a:t>数据洞察与绩效优化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pic>
          <p:nvPicPr>
            <p:cNvPr id="38" name="Picture 24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35000" y="6241111"/>
              <a:ext cx="254000" cy="254000"/>
            </a:xfrm>
            <a:prstGeom prst="rect">
              <a:avLst/>
            </a:prstGeom>
          </p:spPr>
        </p:pic>
        <p:sp>
          <p:nvSpPr>
            <p:cNvPr id="39" name="AutoShape 25"/>
            <p:cNvSpPr/>
            <p:nvPr/>
          </p:nvSpPr>
          <p:spPr>
            <a:xfrm>
              <a:off x="952500" y="6215711"/>
              <a:ext cx="230886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4A4A4A"/>
                  </a:solidFill>
                  <a:effectLst/>
                  <a:uLnTx/>
                  <a:uFillTx/>
                  <a:cs typeface="+mn-ea"/>
                  <a:sym typeface="+mn-lt"/>
                </a:rPr>
                <a:t>合规追溯与审计支持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43" name="Picture 40">
            <a:extLst>
              <a:ext uri="{FF2B5EF4-FFF2-40B4-BE49-F238E27FC236}">
                <a16:creationId xmlns:a16="http://schemas.microsoft.com/office/drawing/2014/main" id="{7393990C-43EF-E682-7257-ADC714A7689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2134" y="1517864"/>
            <a:ext cx="2267866" cy="1591305"/>
          </a:xfrm>
          <a:prstGeom prst="rect">
            <a:avLst/>
          </a:prstGeom>
        </p:spPr>
      </p:pic>
      <p:sp>
        <p:nvSpPr>
          <p:cNvPr id="44" name="AutoShape 11">
            <a:extLst>
              <a:ext uri="{FF2B5EF4-FFF2-40B4-BE49-F238E27FC236}">
                <a16:creationId xmlns:a16="http://schemas.microsoft.com/office/drawing/2014/main" id="{CB27C0FB-424A-3196-5B1D-33E7A9CCEE9D}"/>
              </a:ext>
            </a:extLst>
          </p:cNvPr>
          <p:cNvSpPr/>
          <p:nvPr/>
        </p:nvSpPr>
        <p:spPr>
          <a:xfrm>
            <a:off x="753533" y="3890437"/>
            <a:ext cx="3725334" cy="6573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0">
              <a:lnSpc>
                <a:spcPct val="125000"/>
              </a:lnSpc>
              <a:defRPr/>
            </a:pP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领导者厂商</a:t>
            </a:r>
            <a:r>
              <a:rPr kumimoji="0" lang="en-US" altLang="zh-CN" sz="13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EXL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（</a:t>
            </a:r>
            <a:r>
              <a:rPr lang="zh-CN" altLang="en-US" sz="1300" b="1" dirty="0">
                <a:solidFill>
                  <a:srgbClr val="4A4A4A"/>
                </a:solidFill>
                <a:cs typeface="+mn-ea"/>
                <a:sym typeface="+mn-lt"/>
              </a:rPr>
              <a:t>伊克赛尔）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财务控制塔以 “可视化、智能化、一体化” 为核心，具备五大核心能力：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784705AF-81CC-571B-DF96-56134E44240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57200" y="4461572"/>
            <a:ext cx="3330332" cy="1771794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E8FB256D-CBF4-F248-2407-CA9A1C82074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93240" y="4081071"/>
            <a:ext cx="4185052" cy="2042590"/>
          </a:xfrm>
          <a:prstGeom prst="rect">
            <a:avLst/>
          </a:prstGeom>
        </p:spPr>
      </p:pic>
      <p:sp>
        <p:nvSpPr>
          <p:cNvPr id="48" name="Shape 26">
            <a:extLst>
              <a:ext uri="{FF2B5EF4-FFF2-40B4-BE49-F238E27FC236}">
                <a16:creationId xmlns:a16="http://schemas.microsoft.com/office/drawing/2014/main" id="{96AA8C28-8F06-3123-8477-4503F44416B7}"/>
              </a:ext>
            </a:extLst>
          </p:cNvPr>
          <p:cNvSpPr/>
          <p:nvPr/>
        </p:nvSpPr>
        <p:spPr>
          <a:xfrm>
            <a:off x="6513189" y="2666063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84432" y="168864"/>
                </a:moveTo>
                <a:cubicBezTo>
                  <a:pt x="131031" y="168864"/>
                  <a:pt x="168864" y="131031"/>
                  <a:pt x="168864" y="84432"/>
                </a:cubicBezTo>
                <a:cubicBezTo>
                  <a:pt x="168864" y="37833"/>
                  <a:pt x="131031" y="0"/>
                  <a:pt x="84432" y="0"/>
                </a:cubicBezTo>
                <a:cubicBezTo>
                  <a:pt x="37833" y="0"/>
                  <a:pt x="0" y="37833"/>
                  <a:pt x="0" y="84432"/>
                </a:cubicBezTo>
                <a:cubicBezTo>
                  <a:pt x="0" y="131031"/>
                  <a:pt x="37833" y="168864"/>
                  <a:pt x="84432" y="168864"/>
                </a:cubicBezTo>
                <a:close/>
                <a:moveTo>
                  <a:pt x="112268" y="70151"/>
                </a:moveTo>
                <a:lnTo>
                  <a:pt x="85883" y="112367"/>
                </a:lnTo>
                <a:cubicBezTo>
                  <a:pt x="84498" y="114577"/>
                  <a:pt x="82123" y="115962"/>
                  <a:pt x="79518" y="116094"/>
                </a:cubicBezTo>
                <a:cubicBezTo>
                  <a:pt x="76912" y="116226"/>
                  <a:pt x="74406" y="115039"/>
                  <a:pt x="72856" y="112928"/>
                </a:cubicBezTo>
                <a:lnTo>
                  <a:pt x="57025" y="91820"/>
                </a:lnTo>
                <a:cubicBezTo>
                  <a:pt x="54386" y="88324"/>
                  <a:pt x="55112" y="83377"/>
                  <a:pt x="58608" y="80738"/>
                </a:cubicBezTo>
                <a:cubicBezTo>
                  <a:pt x="62104" y="78100"/>
                  <a:pt x="67051" y="78825"/>
                  <a:pt x="69689" y="82321"/>
                </a:cubicBezTo>
                <a:lnTo>
                  <a:pt x="78594" y="94195"/>
                </a:lnTo>
                <a:lnTo>
                  <a:pt x="98845" y="61774"/>
                </a:lnTo>
                <a:cubicBezTo>
                  <a:pt x="101154" y="58080"/>
                  <a:pt x="106035" y="56926"/>
                  <a:pt x="109762" y="59267"/>
                </a:cubicBezTo>
                <a:cubicBezTo>
                  <a:pt x="113489" y="61609"/>
                  <a:pt x="114610" y="66457"/>
                  <a:pt x="112268" y="70184"/>
                </a:cubicBezTo>
                <a:close/>
              </a:path>
            </a:pathLst>
          </a:custGeom>
          <a:solidFill>
            <a:schemeClr val="accent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8276F99C-6026-EFFC-3707-C3C0341F4A4C}"/>
              </a:ext>
            </a:extLst>
          </p:cNvPr>
          <p:cNvSpPr/>
          <p:nvPr/>
        </p:nvSpPr>
        <p:spPr>
          <a:xfrm>
            <a:off x="7276424" y="2666063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84432" y="168864"/>
                </a:moveTo>
                <a:cubicBezTo>
                  <a:pt x="131031" y="168864"/>
                  <a:pt x="168864" y="131031"/>
                  <a:pt x="168864" y="84432"/>
                </a:cubicBezTo>
                <a:cubicBezTo>
                  <a:pt x="168864" y="37833"/>
                  <a:pt x="131031" y="0"/>
                  <a:pt x="84432" y="0"/>
                </a:cubicBezTo>
                <a:cubicBezTo>
                  <a:pt x="37833" y="0"/>
                  <a:pt x="0" y="37833"/>
                  <a:pt x="0" y="84432"/>
                </a:cubicBezTo>
                <a:cubicBezTo>
                  <a:pt x="0" y="131031"/>
                  <a:pt x="37833" y="168864"/>
                  <a:pt x="84432" y="168864"/>
                </a:cubicBezTo>
                <a:close/>
                <a:moveTo>
                  <a:pt x="112268" y="70151"/>
                </a:moveTo>
                <a:lnTo>
                  <a:pt x="85883" y="112367"/>
                </a:lnTo>
                <a:cubicBezTo>
                  <a:pt x="84498" y="114577"/>
                  <a:pt x="82123" y="115962"/>
                  <a:pt x="79518" y="116094"/>
                </a:cubicBezTo>
                <a:cubicBezTo>
                  <a:pt x="76912" y="116226"/>
                  <a:pt x="74406" y="115039"/>
                  <a:pt x="72856" y="112928"/>
                </a:cubicBezTo>
                <a:lnTo>
                  <a:pt x="57025" y="91820"/>
                </a:lnTo>
                <a:cubicBezTo>
                  <a:pt x="54386" y="88324"/>
                  <a:pt x="55112" y="83377"/>
                  <a:pt x="58608" y="80738"/>
                </a:cubicBezTo>
                <a:cubicBezTo>
                  <a:pt x="62104" y="78100"/>
                  <a:pt x="67051" y="78825"/>
                  <a:pt x="69689" y="82321"/>
                </a:cubicBezTo>
                <a:lnTo>
                  <a:pt x="78594" y="94195"/>
                </a:lnTo>
                <a:lnTo>
                  <a:pt x="98845" y="61774"/>
                </a:lnTo>
                <a:cubicBezTo>
                  <a:pt x="101154" y="58080"/>
                  <a:pt x="106035" y="56926"/>
                  <a:pt x="109762" y="59267"/>
                </a:cubicBezTo>
                <a:cubicBezTo>
                  <a:pt x="113489" y="61609"/>
                  <a:pt x="114610" y="66457"/>
                  <a:pt x="112268" y="70184"/>
                </a:cubicBezTo>
                <a:close/>
              </a:path>
            </a:pathLst>
          </a:custGeom>
          <a:solidFill>
            <a:schemeClr val="accent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B8081464-98E2-90D3-60B4-EBF8C3B503B7}"/>
              </a:ext>
            </a:extLst>
          </p:cNvPr>
          <p:cNvSpPr/>
          <p:nvPr/>
        </p:nvSpPr>
        <p:spPr>
          <a:xfrm>
            <a:off x="8039659" y="2666063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84432" y="168864"/>
                </a:moveTo>
                <a:cubicBezTo>
                  <a:pt x="131031" y="168864"/>
                  <a:pt x="168864" y="131031"/>
                  <a:pt x="168864" y="84432"/>
                </a:cubicBezTo>
                <a:cubicBezTo>
                  <a:pt x="168864" y="37833"/>
                  <a:pt x="131031" y="0"/>
                  <a:pt x="84432" y="0"/>
                </a:cubicBezTo>
                <a:cubicBezTo>
                  <a:pt x="37833" y="0"/>
                  <a:pt x="0" y="37833"/>
                  <a:pt x="0" y="84432"/>
                </a:cubicBezTo>
                <a:cubicBezTo>
                  <a:pt x="0" y="131031"/>
                  <a:pt x="37833" y="168864"/>
                  <a:pt x="84432" y="168864"/>
                </a:cubicBezTo>
                <a:close/>
                <a:moveTo>
                  <a:pt x="112268" y="70151"/>
                </a:moveTo>
                <a:lnTo>
                  <a:pt x="85883" y="112367"/>
                </a:lnTo>
                <a:cubicBezTo>
                  <a:pt x="84498" y="114577"/>
                  <a:pt x="82123" y="115962"/>
                  <a:pt x="79518" y="116094"/>
                </a:cubicBezTo>
                <a:cubicBezTo>
                  <a:pt x="76912" y="116226"/>
                  <a:pt x="74406" y="115039"/>
                  <a:pt x="72856" y="112928"/>
                </a:cubicBezTo>
                <a:lnTo>
                  <a:pt x="57025" y="91820"/>
                </a:lnTo>
                <a:cubicBezTo>
                  <a:pt x="54386" y="88324"/>
                  <a:pt x="55112" y="83377"/>
                  <a:pt x="58608" y="80738"/>
                </a:cubicBezTo>
                <a:cubicBezTo>
                  <a:pt x="62104" y="78100"/>
                  <a:pt x="67051" y="78825"/>
                  <a:pt x="69689" y="82321"/>
                </a:cubicBezTo>
                <a:lnTo>
                  <a:pt x="78594" y="94195"/>
                </a:lnTo>
                <a:lnTo>
                  <a:pt x="98845" y="61774"/>
                </a:lnTo>
                <a:cubicBezTo>
                  <a:pt x="101154" y="58080"/>
                  <a:pt x="106035" y="56926"/>
                  <a:pt x="109762" y="59267"/>
                </a:cubicBezTo>
                <a:cubicBezTo>
                  <a:pt x="113489" y="61609"/>
                  <a:pt x="114610" y="66457"/>
                  <a:pt x="112268" y="70184"/>
                </a:cubicBezTo>
                <a:close/>
              </a:path>
            </a:pathLst>
          </a:custGeom>
          <a:solidFill>
            <a:schemeClr val="accent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2FB6D8-2388-ADEE-A4B6-702991C9B430}"/>
              </a:ext>
            </a:extLst>
          </p:cNvPr>
          <p:cNvSpPr txBox="1"/>
          <p:nvPr/>
        </p:nvSpPr>
        <p:spPr>
          <a:xfrm>
            <a:off x="880533" y="638952"/>
            <a:ext cx="11438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从单一的流程自动化，升级为</a:t>
            </a:r>
            <a:r>
              <a:rPr lang="zh-CN" altLang="en-US" sz="1400" b="1" dirty="0"/>
              <a:t>全链路的风控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效率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数据价值</a:t>
            </a:r>
            <a:r>
              <a:rPr lang="zh-CN" altLang="en-US" sz="1400" dirty="0"/>
              <a:t>，这也是我们指标体系设计的底层逻辑。</a:t>
            </a:r>
          </a:p>
        </p:txBody>
      </p:sp>
    </p:spTree>
    <p:extLst>
      <p:ext uri="{BB962C8B-B14F-4D97-AF65-F5344CB8AC3E}">
        <p14:creationId xmlns:p14="http://schemas.microsoft.com/office/powerpoint/2010/main" val="35601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2397E3-0AD7-91F2-5BAE-6AC49F028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金蝶提出的“深化业财数智体系，落地穿透式监管能力”方案，已覆盖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条主要流程的业财风险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09F0FF2-8AEB-5BA0-0FB6-55A88F6308F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214420" y="1595774"/>
            <a:ext cx="3083760" cy="1677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EAB588C-38A2-35B0-1DCD-7EA1418E202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356649" y="1595774"/>
            <a:ext cx="3083760" cy="16772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7F2B7F5-ACE1-CFF9-0D07-AD2307491457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214420" y="3407016"/>
            <a:ext cx="3083760" cy="16772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F3387CF-E69A-5341-A679-EC2D0B236AB7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356649" y="3407016"/>
            <a:ext cx="3083760" cy="16772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E5FE6FF-9F37-1307-E730-5D5B167141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69" y="2167032"/>
            <a:ext cx="4330525" cy="22118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幻灯片缩放定位 3">
                <a:extLst>
                  <a:ext uri="{FF2B5EF4-FFF2-40B4-BE49-F238E27FC236}">
                    <a16:creationId xmlns:a16="http://schemas.microsoft.com/office/drawing/2014/main" id="{DC63C011-A4A8-2505-7421-999F43BCC87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2619564"/>
                  </p:ext>
                </p:extLst>
              </p:nvPr>
            </p:nvGraphicFramePr>
            <p:xfrm>
              <a:off x="6820786" y="2604320"/>
              <a:ext cx="3154835" cy="1774595"/>
            </p:xfrm>
            <a:graphic>
              <a:graphicData uri="http://schemas.microsoft.com/office/powerpoint/2016/slidezoom">
                <pslz:sldZm>
                  <pslz:sldZmObj sldId="536" cId="2748741029">
                    <pslz:zmPr id="{E879C153-2177-4DCD-A86D-42F3CFACEC37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154835" cy="177459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幻灯片缩放定位 3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DC63C011-A4A8-2505-7421-999F43BCC8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20786" y="2604320"/>
                <a:ext cx="3154835" cy="177459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C5634BD1-F261-3B99-6CAA-4EA1BEE5415D}"/>
              </a:ext>
            </a:extLst>
          </p:cNvPr>
          <p:cNvSpPr txBox="1"/>
          <p:nvPr/>
        </p:nvSpPr>
        <p:spPr>
          <a:xfrm>
            <a:off x="571413" y="5444565"/>
            <a:ext cx="10468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每条流程的管控点都对应了客户的合规需求和风险痛点，而这些管控点，就是我们后续设计价值指标的</a:t>
            </a:r>
            <a:r>
              <a:rPr lang="zh-CN" altLang="en-US" sz="1400" b="1" dirty="0"/>
              <a:t>业务基础。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40929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金蝶监管实践：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湖南矿业</a:t>
            </a:r>
            <a:r>
              <a:rPr lang="zh-CN" altLang="en-US" dirty="0">
                <a:solidFill>
                  <a:srgbClr val="2971EB"/>
                </a:solidFill>
                <a:latin typeface="+mn-lt"/>
                <a:ea typeface="+mn-ea"/>
                <a:cs typeface="+mn-ea"/>
                <a:sym typeface="+mn-lt"/>
              </a:rPr>
              <a:t>内控风险合规“三位一体” 融入业务过程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438539" y="895748"/>
            <a:ext cx="11314922" cy="640702"/>
            <a:chOff x="819533" y="1268350"/>
            <a:chExt cx="8389791" cy="429515"/>
          </a:xfrm>
        </p:grpSpPr>
        <p:sp>
          <p:nvSpPr>
            <p:cNvPr id="2" name="圆角矩形 55"/>
            <p:cNvSpPr/>
            <p:nvPr/>
          </p:nvSpPr>
          <p:spPr>
            <a:xfrm>
              <a:off x="819533" y="1268350"/>
              <a:ext cx="2694997" cy="429515"/>
            </a:xfrm>
            <a:prstGeom prst="roundRect">
              <a:avLst>
                <a:gd name="adj" fmla="val 0"/>
              </a:avLst>
            </a:prstGeom>
            <a:solidFill>
              <a:srgbClr val="08C8C8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改善前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" name="圆角矩形 55"/>
            <p:cNvSpPr/>
            <p:nvPr/>
          </p:nvSpPr>
          <p:spPr>
            <a:xfrm>
              <a:off x="3666930" y="1268350"/>
              <a:ext cx="2694997" cy="429515"/>
            </a:xfrm>
            <a:prstGeom prst="roundRect">
              <a:avLst>
                <a:gd name="adj" fmla="val 0"/>
              </a:avLst>
            </a:prstGeom>
            <a:solidFill>
              <a:srgbClr val="2971EB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改善方案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" name="圆角矩形 55"/>
            <p:cNvSpPr/>
            <p:nvPr/>
          </p:nvSpPr>
          <p:spPr>
            <a:xfrm>
              <a:off x="6514327" y="1268350"/>
              <a:ext cx="2694997" cy="429515"/>
            </a:xfrm>
            <a:prstGeom prst="roundRect">
              <a:avLst>
                <a:gd name="adj" fmla="val 0"/>
              </a:avLst>
            </a:prstGeom>
            <a:solidFill>
              <a:srgbClr val="A06EFF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改善后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圆角矩形 55"/>
          <p:cNvSpPr/>
          <p:nvPr/>
        </p:nvSpPr>
        <p:spPr>
          <a:xfrm>
            <a:off x="438538" y="1536451"/>
            <a:ext cx="3634617" cy="2345087"/>
          </a:xfrm>
          <a:prstGeom prst="roundRect">
            <a:avLst>
              <a:gd name="adj" fmla="val 0"/>
            </a:avLst>
          </a:prstGeom>
          <a:solidFill>
            <a:srgbClr val="08C8C8">
              <a:alpha val="1500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1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、合规管理流程独立于业务之外，大部分控制通过线下人工组织协同，属于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事后线下统计分析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，缺乏事前预测和事中管控的能力。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2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、集团和各子公司都制定了“三位一体”管理手册、标准手册、四张清单、管理指引及相关制度约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2000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余页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50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余万字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，对内控风险合规组织、职责和流程都做了要求，但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缺乏信息化工具和平台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进行落地。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3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、 “三位一体”流程中合规要件检查基本上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依赖人工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，耗时、费力还时常会遗漏。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4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、合规管理部门缺乏风险监控、风险预警和风险提示的分析和控制图表，往往总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比业务慢半拍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圆角矩形 55"/>
          <p:cNvSpPr/>
          <p:nvPr/>
        </p:nvSpPr>
        <p:spPr>
          <a:xfrm>
            <a:off x="4278690" y="1536451"/>
            <a:ext cx="3634617" cy="2345087"/>
          </a:xfrm>
          <a:prstGeom prst="roundRect">
            <a:avLst>
              <a:gd name="adj" fmla="val 0"/>
            </a:avLst>
          </a:prstGeom>
          <a:solidFill>
            <a:srgbClr val="2971EB">
              <a:alpha val="1500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1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、业务全覆盖：将集团“三位一体” 体系的要求最大化（应上尽上）融入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六大业务系统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的操作流程中。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2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、管控到流程：设置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合规要件埋点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、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合规预警和风险提示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等方式，对各人力、财务、物控和合同等业务系统中的关键业务流程节点，通过配置相应的规则实现合规控制。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3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、合规可视化：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建立图表化的数据统计分析报表，直观、清晰的掌握集团风险情况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4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、构建集团法务案件管理和普法宣传应用，加强案件处理申请、案件档案管理和重大案件报告，建立健全普法培训、典型案例、普法知识库。</a:t>
            </a:r>
          </a:p>
        </p:txBody>
      </p:sp>
      <p:sp>
        <p:nvSpPr>
          <p:cNvPr id="10" name="圆角矩形 55"/>
          <p:cNvSpPr/>
          <p:nvPr/>
        </p:nvSpPr>
        <p:spPr>
          <a:xfrm>
            <a:off x="8118843" y="1536451"/>
            <a:ext cx="3634617" cy="2345087"/>
          </a:xfrm>
          <a:prstGeom prst="roundRect">
            <a:avLst>
              <a:gd name="adj" fmla="val 0"/>
            </a:avLst>
          </a:prstGeom>
          <a:solidFill>
            <a:srgbClr val="A06EFF">
              <a:alpha val="1500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1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、共有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135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个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“三位一体”流程融入六大业务系统的线上流程，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六大业务域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的合规流程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100%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线上化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2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、合规管控在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系统落地共计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102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处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：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合规要件埋点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4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处，合规检查点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74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处，合规预警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7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处，风险提示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17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处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3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、 搭建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合规监测大屏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3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个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，风险预警及提示监测台账、风险预警情况监测表、风险提示情况监测表。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4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、实现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案件管理和普法宣传线上化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，极大地提升了集团和子公司的法务工作效率。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等腰三角形 10"/>
          <p:cNvSpPr/>
          <p:nvPr/>
        </p:nvSpPr>
        <p:spPr>
          <a:xfrm rot="5400000">
            <a:off x="3858553" y="1110350"/>
            <a:ext cx="640702" cy="211499"/>
          </a:xfrm>
          <a:prstGeom prst="triangle">
            <a:avLst/>
          </a:prstGeom>
          <a:solidFill>
            <a:srgbClr val="08C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/>
        </p:nvSpPr>
        <p:spPr>
          <a:xfrm rot="5400000">
            <a:off x="7692741" y="1110349"/>
            <a:ext cx="640702" cy="211499"/>
          </a:xfrm>
          <a:prstGeom prst="triangle">
            <a:avLst/>
          </a:prstGeom>
          <a:solidFill>
            <a:srgbClr val="2971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圆角矩形 55"/>
          <p:cNvSpPr/>
          <p:nvPr/>
        </p:nvSpPr>
        <p:spPr>
          <a:xfrm>
            <a:off x="438539" y="4037049"/>
            <a:ext cx="3634617" cy="2270449"/>
          </a:xfrm>
          <a:prstGeom prst="roundRect">
            <a:avLst>
              <a:gd name="adj" fmla="val 0"/>
            </a:avLst>
          </a:prstGeom>
          <a:noFill/>
          <a:ln w="0">
            <a:solidFill>
              <a:srgbClr val="05C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圆角矩形 55"/>
          <p:cNvSpPr/>
          <p:nvPr/>
        </p:nvSpPr>
        <p:spPr>
          <a:xfrm>
            <a:off x="4278691" y="4037049"/>
            <a:ext cx="3634617" cy="2270449"/>
          </a:xfrm>
          <a:prstGeom prst="roundRect">
            <a:avLst>
              <a:gd name="adj" fmla="val 0"/>
            </a:avLst>
          </a:prstGeom>
          <a:noFill/>
          <a:ln w="0">
            <a:solidFill>
              <a:srgbClr val="2971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圆角矩形 55"/>
          <p:cNvSpPr/>
          <p:nvPr/>
        </p:nvSpPr>
        <p:spPr>
          <a:xfrm>
            <a:off x="8118844" y="4037049"/>
            <a:ext cx="3634617" cy="2270449"/>
          </a:xfrm>
          <a:prstGeom prst="roundRect">
            <a:avLst>
              <a:gd name="adj" fmla="val 0"/>
            </a:avLst>
          </a:prstGeom>
          <a:noFill/>
          <a:ln w="0">
            <a:solidFill>
              <a:srgbClr val="A06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43" y="4089795"/>
            <a:ext cx="1296691" cy="216495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6031" y="4089795"/>
            <a:ext cx="1102390" cy="216495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250" y="4089795"/>
            <a:ext cx="1268965" cy="216495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2450" y="4067080"/>
            <a:ext cx="3567405" cy="2210386"/>
          </a:xfrm>
          <a:prstGeom prst="rect">
            <a:avLst/>
          </a:prstGeom>
        </p:spPr>
      </p:pic>
      <p:sp>
        <p:nvSpPr>
          <p:cNvPr id="28" name="圆角矩形 55"/>
          <p:cNvSpPr/>
          <p:nvPr/>
        </p:nvSpPr>
        <p:spPr>
          <a:xfrm>
            <a:off x="500744" y="4988766"/>
            <a:ext cx="3537678" cy="503857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  <a:alpha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BEBC"/>
                </a:solidFill>
                <a:effectLst/>
                <a:uLnTx/>
                <a:uFillTx/>
                <a:cs typeface="+mn-ea"/>
                <a:sym typeface="+mn-lt"/>
              </a:rPr>
              <a:t>2000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余页，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BEBC"/>
                </a:solidFill>
                <a:effectLst/>
                <a:uLnTx/>
                <a:uFillTx/>
                <a:cs typeface="+mn-ea"/>
                <a:sym typeface="+mn-lt"/>
              </a:rPr>
              <a:t>50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BEBC"/>
                </a:solidFill>
                <a:effectLst/>
                <a:uLnTx/>
                <a:uFillTx/>
                <a:cs typeface="+mn-ea"/>
                <a:sym typeface="+mn-lt"/>
              </a:rPr>
              <a:t>万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余字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7546" y="4075944"/>
            <a:ext cx="3536906" cy="219265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91189" y="5112019"/>
            <a:ext cx="186693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XJY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17727-054D-56D1-9A9C-4AE9E6A21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6C101-B22E-3939-4D3D-714EEC69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093" y="210672"/>
            <a:ext cx="10399777" cy="469413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洞察二：企业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AI+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行业内卷双重驱动下，对财务共享建设给予更高的期望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1CBA290-BFC9-3014-CFA3-EA7F095ABD60}"/>
              </a:ext>
            </a:extLst>
          </p:cNvPr>
          <p:cNvSpPr/>
          <p:nvPr/>
        </p:nvSpPr>
        <p:spPr>
          <a:xfrm>
            <a:off x="508000" y="992038"/>
            <a:ext cx="5461000" cy="5397500"/>
          </a:xfrm>
          <a:prstGeom prst="roundRect">
            <a:avLst>
              <a:gd name="adj" fmla="val 2352"/>
            </a:avLst>
          </a:prstGeom>
          <a:solidFill>
            <a:srgbClr val="F7F9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B92CDD7-4AC9-15A5-6BE3-0C3A31806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1182538"/>
            <a:ext cx="304800" cy="304800"/>
          </a:xfrm>
          <a:prstGeom prst="rect">
            <a:avLst/>
          </a:prstGeom>
        </p:spPr>
      </p:pic>
      <p:sp>
        <p:nvSpPr>
          <p:cNvPr id="6" name="AutoShape 5">
            <a:extLst>
              <a:ext uri="{FF2B5EF4-FFF2-40B4-BE49-F238E27FC236}">
                <a16:creationId xmlns:a16="http://schemas.microsoft.com/office/drawing/2014/main" id="{71D83999-A583-FF1E-59B6-4E16E4C6472A}"/>
              </a:ext>
            </a:extLst>
          </p:cNvPr>
          <p:cNvSpPr/>
          <p:nvPr/>
        </p:nvSpPr>
        <p:spPr>
          <a:xfrm>
            <a:off x="1079500" y="1157138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政策引领：GBT46704-2025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新国标要求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770E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115AEC0E-8E83-50D9-5B1C-D0ED870AB9BE}"/>
              </a:ext>
            </a:extLst>
          </p:cNvPr>
          <p:cNvCxnSpPr/>
          <p:nvPr/>
        </p:nvCxnSpPr>
        <p:spPr>
          <a:xfrm rot="21591406">
            <a:off x="698508" y="1557188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7">
            <a:extLst>
              <a:ext uri="{FF2B5EF4-FFF2-40B4-BE49-F238E27FC236}">
                <a16:creationId xmlns:a16="http://schemas.microsoft.com/office/drawing/2014/main" id="{BC0E3336-DE71-093D-FD3B-F954243271E2}"/>
              </a:ext>
            </a:extLst>
          </p:cNvPr>
          <p:cNvSpPr/>
          <p:nvPr/>
        </p:nvSpPr>
        <p:spPr>
          <a:xfrm>
            <a:off x="1123348" y="4258639"/>
            <a:ext cx="4474633" cy="185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372EF"/>
                </a:solidFill>
                <a:effectLst/>
                <a:uLnTx/>
                <a:uFillTx/>
                <a:cs typeface="+mn-ea"/>
                <a:sym typeface="+mn-lt"/>
              </a:rPr>
              <a:t>改进财务共享服务平台和服务，满足要求和资源使用者未来的期望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2372EF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cs typeface="+mn-ea"/>
                <a:sym typeface="+mn-lt"/>
              </a:rPr>
              <a:t>跟踪新技术、新应用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cs typeface="+mn-ea"/>
                <a:sym typeface="+mn-lt"/>
              </a:rPr>
              <a:t>,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cs typeface="+mn-ea"/>
                <a:sym typeface="+mn-lt"/>
              </a:rPr>
              <a:t>可适时进行实践探索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cs typeface="+mn-ea"/>
                <a:sym typeface="+mn-lt"/>
              </a:rPr>
              <a:t>提升服务质量和效率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cs typeface="+mn-ea"/>
                <a:sym typeface="+mn-lt"/>
              </a:rPr>
              <a:t>提升服务使用者满意度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cs typeface="+mn-ea"/>
                <a:sym typeface="+mn-lt"/>
              </a:rPr>
              <a:t>纠正、预防或减少不利影响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cs typeface="+mn-ea"/>
                <a:sym typeface="+mn-lt"/>
              </a:rPr>
              <a:t>适宜时考虑环境、社会与公司治理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cs typeface="+mn-ea"/>
                <a:sym typeface="+mn-lt"/>
              </a:rPr>
              <a:t>(ESG)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cs typeface="+mn-ea"/>
                <a:sym typeface="+mn-lt"/>
              </a:rPr>
              <a:t>和碳排放管理等相关责任要求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AutoShape 8">
            <a:extLst>
              <a:ext uri="{FF2B5EF4-FFF2-40B4-BE49-F238E27FC236}">
                <a16:creationId xmlns:a16="http://schemas.microsoft.com/office/drawing/2014/main" id="{BC3B43EC-CB73-AE3A-FFC5-21EAC5204D07}"/>
              </a:ext>
            </a:extLst>
          </p:cNvPr>
          <p:cNvSpPr/>
          <p:nvPr/>
        </p:nvSpPr>
        <p:spPr>
          <a:xfrm>
            <a:off x="6223000" y="992038"/>
            <a:ext cx="5461000" cy="2667000"/>
          </a:xfrm>
          <a:prstGeom prst="roundRect">
            <a:avLst>
              <a:gd name="adj" fmla="val 4761"/>
            </a:avLst>
          </a:prstGeom>
          <a:solidFill>
            <a:srgbClr val="F7F9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9" name="Picture 9">
            <a:extLst>
              <a:ext uri="{FF2B5EF4-FFF2-40B4-BE49-F238E27FC236}">
                <a16:creationId xmlns:a16="http://schemas.microsoft.com/office/drawing/2014/main" id="{475E96D7-BABA-05DE-DEE9-C6CD9F3336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1182538"/>
            <a:ext cx="304800" cy="304800"/>
          </a:xfrm>
          <a:prstGeom prst="rect">
            <a:avLst/>
          </a:prstGeom>
        </p:spPr>
      </p:pic>
      <p:sp>
        <p:nvSpPr>
          <p:cNvPr id="24" name="AutoShape 10">
            <a:extLst>
              <a:ext uri="{FF2B5EF4-FFF2-40B4-BE49-F238E27FC236}">
                <a16:creationId xmlns:a16="http://schemas.microsoft.com/office/drawing/2014/main" id="{AD34F317-EDC1-5B93-4DBE-ACE4F38DA2EA}"/>
              </a:ext>
            </a:extLst>
          </p:cNvPr>
          <p:cNvSpPr/>
          <p:nvPr/>
        </p:nvSpPr>
        <p:spPr>
          <a:xfrm>
            <a:off x="6794500" y="1157138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现状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：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认同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智能财务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价值领域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 (2025调查)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770E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25" name="Connector 11">
            <a:extLst>
              <a:ext uri="{FF2B5EF4-FFF2-40B4-BE49-F238E27FC236}">
                <a16:creationId xmlns:a16="http://schemas.microsoft.com/office/drawing/2014/main" id="{D21A0DFA-2B9C-BEA2-1C72-D7D6A95C7ED2}"/>
              </a:ext>
            </a:extLst>
          </p:cNvPr>
          <p:cNvCxnSpPr/>
          <p:nvPr/>
        </p:nvCxnSpPr>
        <p:spPr>
          <a:xfrm rot="21591406">
            <a:off x="6413508" y="1557188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13">
            <a:extLst>
              <a:ext uri="{FF2B5EF4-FFF2-40B4-BE49-F238E27FC236}">
                <a16:creationId xmlns:a16="http://schemas.microsoft.com/office/drawing/2014/main" id="{DB55B64D-54AC-7A3B-FB04-AAE1D6FBA5C8}"/>
              </a:ext>
            </a:extLst>
          </p:cNvPr>
          <p:cNvSpPr/>
          <p:nvPr/>
        </p:nvSpPr>
        <p:spPr>
          <a:xfrm>
            <a:off x="6223000" y="3849538"/>
            <a:ext cx="5461000" cy="2540000"/>
          </a:xfrm>
          <a:prstGeom prst="roundRect">
            <a:avLst>
              <a:gd name="adj" fmla="val 5000"/>
            </a:avLst>
          </a:prstGeom>
          <a:solidFill>
            <a:srgbClr val="F7F9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8" name="Picture 14">
            <a:extLst>
              <a:ext uri="{FF2B5EF4-FFF2-40B4-BE49-F238E27FC236}">
                <a16:creationId xmlns:a16="http://schemas.microsoft.com/office/drawing/2014/main" id="{22D287E9-6278-737F-3887-648D5F9553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4040038"/>
            <a:ext cx="304800" cy="304800"/>
          </a:xfrm>
          <a:prstGeom prst="rect">
            <a:avLst/>
          </a:prstGeom>
        </p:spPr>
      </p:pic>
      <p:sp>
        <p:nvSpPr>
          <p:cNvPr id="29" name="AutoShape 15">
            <a:extLst>
              <a:ext uri="{FF2B5EF4-FFF2-40B4-BE49-F238E27FC236}">
                <a16:creationId xmlns:a16="http://schemas.microsoft.com/office/drawing/2014/main" id="{3B13B7A0-07EA-BEA2-3D30-48F80EEEDCA1}"/>
              </a:ext>
            </a:extLst>
          </p:cNvPr>
          <p:cNvSpPr/>
          <p:nvPr/>
        </p:nvSpPr>
        <p:spPr>
          <a:xfrm>
            <a:off x="6794500" y="4014638"/>
            <a:ext cx="4699016" cy="3178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期望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：</a:t>
            </a:r>
            <a:r>
              <a:rPr lang="zh-CN" altLang="en-US" sz="1600" b="1" dirty="0">
                <a:solidFill>
                  <a:srgbClr val="1770EA"/>
                </a:solidFill>
                <a:cs typeface="+mn-ea"/>
                <a:sym typeface="+mn-lt"/>
              </a:rPr>
              <a:t>客户招标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目标量化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需求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 (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XX旅游集团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-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财务共享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&amp;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预算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770E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0" name="Connector 16">
            <a:extLst>
              <a:ext uri="{FF2B5EF4-FFF2-40B4-BE49-F238E27FC236}">
                <a16:creationId xmlns:a16="http://schemas.microsoft.com/office/drawing/2014/main" id="{670D0C8F-C47B-ECBB-1C7C-8240DB914DEA}"/>
              </a:ext>
            </a:extLst>
          </p:cNvPr>
          <p:cNvCxnSpPr/>
          <p:nvPr/>
        </p:nvCxnSpPr>
        <p:spPr>
          <a:xfrm rot="21591406">
            <a:off x="6413508" y="4414688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3C24CD4-9A8B-0C8B-FA61-CC1AA50FC5A9}"/>
              </a:ext>
            </a:extLst>
          </p:cNvPr>
          <p:cNvSpPr txBox="1"/>
          <p:nvPr/>
        </p:nvSpPr>
        <p:spPr>
          <a:xfrm>
            <a:off x="566530" y="1799291"/>
            <a:ext cx="68102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《GBT46704-2025共享经济企业财务共享服务指南》</a:t>
            </a:r>
          </a:p>
        </p:txBody>
      </p:sp>
      <p:sp>
        <p:nvSpPr>
          <p:cNvPr id="35" name="AutoShape 7">
            <a:extLst>
              <a:ext uri="{FF2B5EF4-FFF2-40B4-BE49-F238E27FC236}">
                <a16:creationId xmlns:a16="http://schemas.microsoft.com/office/drawing/2014/main" id="{9C1D1D64-4109-700F-FEFC-82DF4D67C446}"/>
              </a:ext>
            </a:extLst>
          </p:cNvPr>
          <p:cNvSpPr/>
          <p:nvPr/>
        </p:nvSpPr>
        <p:spPr>
          <a:xfrm>
            <a:off x="755374" y="2127885"/>
            <a:ext cx="4691269" cy="5675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发布背景：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cs typeface="+mn-ea"/>
                <a:sym typeface="+mn-lt"/>
              </a:rPr>
              <a:t>2025年10月，国家市场监督管理总局、国家标准化管理委员会联合发布。</a:t>
            </a:r>
          </a:p>
        </p:txBody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BE3D2A2B-A6FE-5398-1DFF-E53127B65BA4}"/>
              </a:ext>
            </a:extLst>
          </p:cNvPr>
          <p:cNvSpPr/>
          <p:nvPr/>
        </p:nvSpPr>
        <p:spPr>
          <a:xfrm>
            <a:off x="755374" y="2873468"/>
            <a:ext cx="4691268" cy="1351399"/>
          </a:xfrm>
          <a:custGeom>
            <a:avLst/>
            <a:gdLst/>
            <a:ahLst/>
            <a:cxnLst/>
            <a:rect l="l" t="t" r="r" b="b"/>
            <a:pathLst>
              <a:path w="4255380" h="607911">
                <a:moveTo>
                  <a:pt x="67545" y="0"/>
                </a:moveTo>
                <a:lnTo>
                  <a:pt x="4187834" y="0"/>
                </a:lnTo>
                <a:cubicBezTo>
                  <a:pt x="4225139" y="0"/>
                  <a:pt x="4255380" y="30241"/>
                  <a:pt x="4255380" y="67545"/>
                </a:cubicBezTo>
                <a:lnTo>
                  <a:pt x="4255380" y="540366"/>
                </a:lnTo>
                <a:cubicBezTo>
                  <a:pt x="4255380" y="577670"/>
                  <a:pt x="4225139" y="607911"/>
                  <a:pt x="4187834" y="607911"/>
                </a:cubicBezTo>
                <a:lnTo>
                  <a:pt x="67545" y="607911"/>
                </a:lnTo>
                <a:cubicBezTo>
                  <a:pt x="30241" y="607911"/>
                  <a:pt x="0" y="577670"/>
                  <a:pt x="0" y="540366"/>
                </a:cubicBezTo>
                <a:lnTo>
                  <a:pt x="0" y="67545"/>
                </a:lnTo>
                <a:cubicBezTo>
                  <a:pt x="0" y="30266"/>
                  <a:pt x="30266" y="0"/>
                  <a:pt x="67545" y="0"/>
                </a:cubicBezTo>
                <a:close/>
              </a:path>
            </a:pathLst>
          </a:custGeom>
          <a:solidFill>
            <a:schemeClr val="accent1">
              <a:alpha val="5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AE0A72D7-4D68-79D2-19FA-90725BF8C64E}"/>
              </a:ext>
            </a:extLst>
          </p:cNvPr>
          <p:cNvSpPr/>
          <p:nvPr/>
        </p:nvSpPr>
        <p:spPr>
          <a:xfrm>
            <a:off x="878094" y="3062988"/>
            <a:ext cx="3444831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财务共享中心持续改进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A4A4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8EDC9BF2-D3F1-7A7B-7FA5-97E9A7D92050}"/>
              </a:ext>
            </a:extLst>
          </p:cNvPr>
          <p:cNvSpPr/>
          <p:nvPr/>
        </p:nvSpPr>
        <p:spPr>
          <a:xfrm>
            <a:off x="878094" y="3299397"/>
            <a:ext cx="4474742" cy="823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cs typeface="+mn-ea"/>
                <a:sym typeface="+mn-lt"/>
              </a:rPr>
              <a:t>服务提供者宜持续改进财务共享服务，紧跟市场需求和服务使用者诉求，积极拓展服务范围，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372EF"/>
                </a:solidFill>
                <a:effectLst/>
                <a:uLnTx/>
                <a:uFillTx/>
                <a:cs typeface="+mn-ea"/>
                <a:sym typeface="+mn-lt"/>
              </a:rPr>
              <a:t>不断满足服务使用者新需求</a:t>
            </a:r>
            <a:r>
              <a:rPr kumimoji="0" lang="en-US" altLang="zh-CN" sz="1300" b="1" i="0" u="none" strike="noStrike" kern="1200" cap="none" spc="0" normalizeH="0" baseline="0" noProof="0" dirty="0">
                <a:ln>
                  <a:noFill/>
                </a:ln>
                <a:solidFill>
                  <a:srgbClr val="2372EF"/>
                </a:solidFill>
                <a:effectLst/>
                <a:uLnTx/>
                <a:uFillTx/>
                <a:cs typeface="+mn-ea"/>
                <a:sym typeface="+mn-lt"/>
              </a:rPr>
              <a:t>,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372EF"/>
                </a:solidFill>
                <a:effectLst/>
                <a:uLnTx/>
                <a:uFillTx/>
                <a:cs typeface="+mn-ea"/>
                <a:sym typeface="+mn-lt"/>
              </a:rPr>
              <a:t>完善和提升服务质量，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cs typeface="+mn-ea"/>
                <a:sym typeface="+mn-lt"/>
              </a:rPr>
              <a:t>方式包括但不限于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cs typeface="+mn-ea"/>
                <a:sym typeface="+mn-lt"/>
              </a:rPr>
              <a:t>: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0C10FC3-8C5F-4D1D-47DD-AA7BA4C62F83}"/>
              </a:ext>
            </a:extLst>
          </p:cNvPr>
          <p:cNvGrpSpPr/>
          <p:nvPr/>
        </p:nvGrpSpPr>
        <p:grpSpPr>
          <a:xfrm>
            <a:off x="850900" y="4519884"/>
            <a:ext cx="158750" cy="1399119"/>
            <a:chOff x="6449219" y="1919814"/>
            <a:chExt cx="158750" cy="1399119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43" name="Shape 33">
              <a:extLst>
                <a:ext uri="{FF2B5EF4-FFF2-40B4-BE49-F238E27FC236}">
                  <a16:creationId xmlns:a16="http://schemas.microsoft.com/office/drawing/2014/main" id="{731157CB-0343-CDE0-3565-3939F8060B51}"/>
                </a:ext>
              </a:extLst>
            </p:cNvPr>
            <p:cNvSpPr/>
            <p:nvPr/>
          </p:nvSpPr>
          <p:spPr>
            <a:xfrm>
              <a:off x="6449219" y="1919814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79375" y="158750"/>
                  </a:moveTo>
                  <a:cubicBezTo>
                    <a:pt x="123183" y="158750"/>
                    <a:pt x="158750" y="123183"/>
                    <a:pt x="158750" y="79375"/>
                  </a:cubicBezTo>
                  <a:cubicBezTo>
                    <a:pt x="158750" y="35567"/>
                    <a:pt x="123183" y="0"/>
                    <a:pt x="79375" y="0"/>
                  </a:cubicBezTo>
                  <a:cubicBezTo>
                    <a:pt x="35567" y="0"/>
                    <a:pt x="0" y="35567"/>
                    <a:pt x="0" y="79375"/>
                  </a:cubicBezTo>
                  <a:cubicBezTo>
                    <a:pt x="0" y="123183"/>
                    <a:pt x="35567" y="158750"/>
                    <a:pt x="79375" y="158750"/>
                  </a:cubicBezTo>
                  <a:close/>
                  <a:moveTo>
                    <a:pt x="105544" y="65949"/>
                  </a:moveTo>
                  <a:lnTo>
                    <a:pt x="80739" y="105637"/>
                  </a:lnTo>
                  <a:cubicBezTo>
                    <a:pt x="79437" y="107714"/>
                    <a:pt x="77205" y="109017"/>
                    <a:pt x="74755" y="109141"/>
                  </a:cubicBezTo>
                  <a:cubicBezTo>
                    <a:pt x="72306" y="109265"/>
                    <a:pt x="69949" y="108148"/>
                    <a:pt x="68492" y="106164"/>
                  </a:cubicBezTo>
                  <a:lnTo>
                    <a:pt x="53609" y="86320"/>
                  </a:lnTo>
                  <a:cubicBezTo>
                    <a:pt x="51129" y="83034"/>
                    <a:pt x="51811" y="78383"/>
                    <a:pt x="55097" y="75902"/>
                  </a:cubicBezTo>
                  <a:cubicBezTo>
                    <a:pt x="58384" y="73422"/>
                    <a:pt x="63035" y="74104"/>
                    <a:pt x="65515" y="77391"/>
                  </a:cubicBezTo>
                  <a:lnTo>
                    <a:pt x="73887" y="88553"/>
                  </a:lnTo>
                  <a:lnTo>
                    <a:pt x="92925" y="58074"/>
                  </a:lnTo>
                  <a:cubicBezTo>
                    <a:pt x="95095" y="54601"/>
                    <a:pt x="99684" y="53516"/>
                    <a:pt x="103188" y="55718"/>
                  </a:cubicBezTo>
                  <a:cubicBezTo>
                    <a:pt x="106691" y="57919"/>
                    <a:pt x="107745" y="62477"/>
                    <a:pt x="105544" y="65980"/>
                  </a:cubicBezTo>
                  <a:close/>
                </a:path>
              </a:pathLst>
            </a:custGeom>
            <a:grpFill/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4" name="Shape 33">
              <a:extLst>
                <a:ext uri="{FF2B5EF4-FFF2-40B4-BE49-F238E27FC236}">
                  <a16:creationId xmlns:a16="http://schemas.microsoft.com/office/drawing/2014/main" id="{38A065D4-37AA-72AF-8305-BB6D90033CFE}"/>
                </a:ext>
              </a:extLst>
            </p:cNvPr>
            <p:cNvSpPr/>
            <p:nvPr/>
          </p:nvSpPr>
          <p:spPr>
            <a:xfrm>
              <a:off x="6449219" y="2167888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79375" y="158750"/>
                  </a:moveTo>
                  <a:cubicBezTo>
                    <a:pt x="123183" y="158750"/>
                    <a:pt x="158750" y="123183"/>
                    <a:pt x="158750" y="79375"/>
                  </a:cubicBezTo>
                  <a:cubicBezTo>
                    <a:pt x="158750" y="35567"/>
                    <a:pt x="123183" y="0"/>
                    <a:pt x="79375" y="0"/>
                  </a:cubicBezTo>
                  <a:cubicBezTo>
                    <a:pt x="35567" y="0"/>
                    <a:pt x="0" y="35567"/>
                    <a:pt x="0" y="79375"/>
                  </a:cubicBezTo>
                  <a:cubicBezTo>
                    <a:pt x="0" y="123183"/>
                    <a:pt x="35567" y="158750"/>
                    <a:pt x="79375" y="158750"/>
                  </a:cubicBezTo>
                  <a:close/>
                  <a:moveTo>
                    <a:pt x="105544" y="65949"/>
                  </a:moveTo>
                  <a:lnTo>
                    <a:pt x="80739" y="105637"/>
                  </a:lnTo>
                  <a:cubicBezTo>
                    <a:pt x="79437" y="107714"/>
                    <a:pt x="77205" y="109017"/>
                    <a:pt x="74755" y="109141"/>
                  </a:cubicBezTo>
                  <a:cubicBezTo>
                    <a:pt x="72306" y="109265"/>
                    <a:pt x="69949" y="108148"/>
                    <a:pt x="68492" y="106164"/>
                  </a:cubicBezTo>
                  <a:lnTo>
                    <a:pt x="53609" y="86320"/>
                  </a:lnTo>
                  <a:cubicBezTo>
                    <a:pt x="51129" y="83034"/>
                    <a:pt x="51811" y="78383"/>
                    <a:pt x="55097" y="75902"/>
                  </a:cubicBezTo>
                  <a:cubicBezTo>
                    <a:pt x="58384" y="73422"/>
                    <a:pt x="63035" y="74104"/>
                    <a:pt x="65515" y="77391"/>
                  </a:cubicBezTo>
                  <a:lnTo>
                    <a:pt x="73887" y="88553"/>
                  </a:lnTo>
                  <a:lnTo>
                    <a:pt x="92925" y="58074"/>
                  </a:lnTo>
                  <a:cubicBezTo>
                    <a:pt x="95095" y="54601"/>
                    <a:pt x="99684" y="53516"/>
                    <a:pt x="103188" y="55718"/>
                  </a:cubicBezTo>
                  <a:cubicBezTo>
                    <a:pt x="106691" y="57919"/>
                    <a:pt x="107745" y="62477"/>
                    <a:pt x="105544" y="65980"/>
                  </a:cubicBezTo>
                  <a:close/>
                </a:path>
              </a:pathLst>
            </a:custGeom>
            <a:grpFill/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5" name="Shape 33">
              <a:extLst>
                <a:ext uri="{FF2B5EF4-FFF2-40B4-BE49-F238E27FC236}">
                  <a16:creationId xmlns:a16="http://schemas.microsoft.com/office/drawing/2014/main" id="{31482BF6-0953-95D9-C209-0388C3AD489B}"/>
                </a:ext>
              </a:extLst>
            </p:cNvPr>
            <p:cNvSpPr/>
            <p:nvPr/>
          </p:nvSpPr>
          <p:spPr>
            <a:xfrm>
              <a:off x="6449219" y="2415962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79375" y="158750"/>
                  </a:moveTo>
                  <a:cubicBezTo>
                    <a:pt x="123183" y="158750"/>
                    <a:pt x="158750" y="123183"/>
                    <a:pt x="158750" y="79375"/>
                  </a:cubicBezTo>
                  <a:cubicBezTo>
                    <a:pt x="158750" y="35567"/>
                    <a:pt x="123183" y="0"/>
                    <a:pt x="79375" y="0"/>
                  </a:cubicBezTo>
                  <a:cubicBezTo>
                    <a:pt x="35567" y="0"/>
                    <a:pt x="0" y="35567"/>
                    <a:pt x="0" y="79375"/>
                  </a:cubicBezTo>
                  <a:cubicBezTo>
                    <a:pt x="0" y="123183"/>
                    <a:pt x="35567" y="158750"/>
                    <a:pt x="79375" y="158750"/>
                  </a:cubicBezTo>
                  <a:close/>
                  <a:moveTo>
                    <a:pt x="105544" y="65949"/>
                  </a:moveTo>
                  <a:lnTo>
                    <a:pt x="80739" y="105637"/>
                  </a:lnTo>
                  <a:cubicBezTo>
                    <a:pt x="79437" y="107714"/>
                    <a:pt x="77205" y="109017"/>
                    <a:pt x="74755" y="109141"/>
                  </a:cubicBezTo>
                  <a:cubicBezTo>
                    <a:pt x="72306" y="109265"/>
                    <a:pt x="69949" y="108148"/>
                    <a:pt x="68492" y="106164"/>
                  </a:cubicBezTo>
                  <a:lnTo>
                    <a:pt x="53609" y="86320"/>
                  </a:lnTo>
                  <a:cubicBezTo>
                    <a:pt x="51129" y="83034"/>
                    <a:pt x="51811" y="78383"/>
                    <a:pt x="55097" y="75902"/>
                  </a:cubicBezTo>
                  <a:cubicBezTo>
                    <a:pt x="58384" y="73422"/>
                    <a:pt x="63035" y="74104"/>
                    <a:pt x="65515" y="77391"/>
                  </a:cubicBezTo>
                  <a:lnTo>
                    <a:pt x="73887" y="88553"/>
                  </a:lnTo>
                  <a:lnTo>
                    <a:pt x="92925" y="58074"/>
                  </a:lnTo>
                  <a:cubicBezTo>
                    <a:pt x="95095" y="54601"/>
                    <a:pt x="99684" y="53516"/>
                    <a:pt x="103188" y="55718"/>
                  </a:cubicBezTo>
                  <a:cubicBezTo>
                    <a:pt x="106691" y="57919"/>
                    <a:pt x="107745" y="62477"/>
                    <a:pt x="105544" y="65980"/>
                  </a:cubicBezTo>
                  <a:close/>
                </a:path>
              </a:pathLst>
            </a:custGeom>
            <a:grpFill/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6" name="Shape 33">
              <a:extLst>
                <a:ext uri="{FF2B5EF4-FFF2-40B4-BE49-F238E27FC236}">
                  <a16:creationId xmlns:a16="http://schemas.microsoft.com/office/drawing/2014/main" id="{51D164F2-D74A-A75E-D24B-0532F1978B0C}"/>
                </a:ext>
              </a:extLst>
            </p:cNvPr>
            <p:cNvSpPr/>
            <p:nvPr/>
          </p:nvSpPr>
          <p:spPr>
            <a:xfrm>
              <a:off x="6449219" y="2664036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79375" y="158750"/>
                  </a:moveTo>
                  <a:cubicBezTo>
                    <a:pt x="123183" y="158750"/>
                    <a:pt x="158750" y="123183"/>
                    <a:pt x="158750" y="79375"/>
                  </a:cubicBezTo>
                  <a:cubicBezTo>
                    <a:pt x="158750" y="35567"/>
                    <a:pt x="123183" y="0"/>
                    <a:pt x="79375" y="0"/>
                  </a:cubicBezTo>
                  <a:cubicBezTo>
                    <a:pt x="35567" y="0"/>
                    <a:pt x="0" y="35567"/>
                    <a:pt x="0" y="79375"/>
                  </a:cubicBezTo>
                  <a:cubicBezTo>
                    <a:pt x="0" y="123183"/>
                    <a:pt x="35567" y="158750"/>
                    <a:pt x="79375" y="158750"/>
                  </a:cubicBezTo>
                  <a:close/>
                  <a:moveTo>
                    <a:pt x="105544" y="65949"/>
                  </a:moveTo>
                  <a:lnTo>
                    <a:pt x="80739" y="105637"/>
                  </a:lnTo>
                  <a:cubicBezTo>
                    <a:pt x="79437" y="107714"/>
                    <a:pt x="77205" y="109017"/>
                    <a:pt x="74755" y="109141"/>
                  </a:cubicBezTo>
                  <a:cubicBezTo>
                    <a:pt x="72306" y="109265"/>
                    <a:pt x="69949" y="108148"/>
                    <a:pt x="68492" y="106164"/>
                  </a:cubicBezTo>
                  <a:lnTo>
                    <a:pt x="53609" y="86320"/>
                  </a:lnTo>
                  <a:cubicBezTo>
                    <a:pt x="51129" y="83034"/>
                    <a:pt x="51811" y="78383"/>
                    <a:pt x="55097" y="75902"/>
                  </a:cubicBezTo>
                  <a:cubicBezTo>
                    <a:pt x="58384" y="73422"/>
                    <a:pt x="63035" y="74104"/>
                    <a:pt x="65515" y="77391"/>
                  </a:cubicBezTo>
                  <a:lnTo>
                    <a:pt x="73887" y="88553"/>
                  </a:lnTo>
                  <a:lnTo>
                    <a:pt x="92925" y="58074"/>
                  </a:lnTo>
                  <a:cubicBezTo>
                    <a:pt x="95095" y="54601"/>
                    <a:pt x="99684" y="53516"/>
                    <a:pt x="103188" y="55718"/>
                  </a:cubicBezTo>
                  <a:cubicBezTo>
                    <a:pt x="106691" y="57919"/>
                    <a:pt x="107745" y="62477"/>
                    <a:pt x="105544" y="65980"/>
                  </a:cubicBezTo>
                  <a:close/>
                </a:path>
              </a:pathLst>
            </a:custGeom>
            <a:grpFill/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7" name="Shape 33">
              <a:extLst>
                <a:ext uri="{FF2B5EF4-FFF2-40B4-BE49-F238E27FC236}">
                  <a16:creationId xmlns:a16="http://schemas.microsoft.com/office/drawing/2014/main" id="{1C6B0F62-758A-FDB0-6869-5D0ACD6D5074}"/>
                </a:ext>
              </a:extLst>
            </p:cNvPr>
            <p:cNvSpPr/>
            <p:nvPr/>
          </p:nvSpPr>
          <p:spPr>
            <a:xfrm>
              <a:off x="6449219" y="2912110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79375" y="158750"/>
                  </a:moveTo>
                  <a:cubicBezTo>
                    <a:pt x="123183" y="158750"/>
                    <a:pt x="158750" y="123183"/>
                    <a:pt x="158750" y="79375"/>
                  </a:cubicBezTo>
                  <a:cubicBezTo>
                    <a:pt x="158750" y="35567"/>
                    <a:pt x="123183" y="0"/>
                    <a:pt x="79375" y="0"/>
                  </a:cubicBezTo>
                  <a:cubicBezTo>
                    <a:pt x="35567" y="0"/>
                    <a:pt x="0" y="35567"/>
                    <a:pt x="0" y="79375"/>
                  </a:cubicBezTo>
                  <a:cubicBezTo>
                    <a:pt x="0" y="123183"/>
                    <a:pt x="35567" y="158750"/>
                    <a:pt x="79375" y="158750"/>
                  </a:cubicBezTo>
                  <a:close/>
                  <a:moveTo>
                    <a:pt x="105544" y="65949"/>
                  </a:moveTo>
                  <a:lnTo>
                    <a:pt x="80739" y="105637"/>
                  </a:lnTo>
                  <a:cubicBezTo>
                    <a:pt x="79437" y="107714"/>
                    <a:pt x="77205" y="109017"/>
                    <a:pt x="74755" y="109141"/>
                  </a:cubicBezTo>
                  <a:cubicBezTo>
                    <a:pt x="72306" y="109265"/>
                    <a:pt x="69949" y="108148"/>
                    <a:pt x="68492" y="106164"/>
                  </a:cubicBezTo>
                  <a:lnTo>
                    <a:pt x="53609" y="86320"/>
                  </a:lnTo>
                  <a:cubicBezTo>
                    <a:pt x="51129" y="83034"/>
                    <a:pt x="51811" y="78383"/>
                    <a:pt x="55097" y="75902"/>
                  </a:cubicBezTo>
                  <a:cubicBezTo>
                    <a:pt x="58384" y="73422"/>
                    <a:pt x="63035" y="74104"/>
                    <a:pt x="65515" y="77391"/>
                  </a:cubicBezTo>
                  <a:lnTo>
                    <a:pt x="73887" y="88553"/>
                  </a:lnTo>
                  <a:lnTo>
                    <a:pt x="92925" y="58074"/>
                  </a:lnTo>
                  <a:cubicBezTo>
                    <a:pt x="95095" y="54601"/>
                    <a:pt x="99684" y="53516"/>
                    <a:pt x="103188" y="55718"/>
                  </a:cubicBezTo>
                  <a:cubicBezTo>
                    <a:pt x="106691" y="57919"/>
                    <a:pt x="107745" y="62477"/>
                    <a:pt x="105544" y="65980"/>
                  </a:cubicBezTo>
                  <a:close/>
                </a:path>
              </a:pathLst>
            </a:custGeom>
            <a:grpFill/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Shape 33">
              <a:extLst>
                <a:ext uri="{FF2B5EF4-FFF2-40B4-BE49-F238E27FC236}">
                  <a16:creationId xmlns:a16="http://schemas.microsoft.com/office/drawing/2014/main" id="{004B10AA-51D0-A216-608B-604BCF7583CC}"/>
                </a:ext>
              </a:extLst>
            </p:cNvPr>
            <p:cNvSpPr/>
            <p:nvPr/>
          </p:nvSpPr>
          <p:spPr>
            <a:xfrm>
              <a:off x="6449219" y="3160183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79375" y="158750"/>
                  </a:moveTo>
                  <a:cubicBezTo>
                    <a:pt x="123183" y="158750"/>
                    <a:pt x="158750" y="123183"/>
                    <a:pt x="158750" y="79375"/>
                  </a:cubicBezTo>
                  <a:cubicBezTo>
                    <a:pt x="158750" y="35567"/>
                    <a:pt x="123183" y="0"/>
                    <a:pt x="79375" y="0"/>
                  </a:cubicBezTo>
                  <a:cubicBezTo>
                    <a:pt x="35567" y="0"/>
                    <a:pt x="0" y="35567"/>
                    <a:pt x="0" y="79375"/>
                  </a:cubicBezTo>
                  <a:cubicBezTo>
                    <a:pt x="0" y="123183"/>
                    <a:pt x="35567" y="158750"/>
                    <a:pt x="79375" y="158750"/>
                  </a:cubicBezTo>
                  <a:close/>
                  <a:moveTo>
                    <a:pt x="105544" y="65949"/>
                  </a:moveTo>
                  <a:lnTo>
                    <a:pt x="80739" y="105637"/>
                  </a:lnTo>
                  <a:cubicBezTo>
                    <a:pt x="79437" y="107714"/>
                    <a:pt x="77205" y="109017"/>
                    <a:pt x="74755" y="109141"/>
                  </a:cubicBezTo>
                  <a:cubicBezTo>
                    <a:pt x="72306" y="109265"/>
                    <a:pt x="69949" y="108148"/>
                    <a:pt x="68492" y="106164"/>
                  </a:cubicBezTo>
                  <a:lnTo>
                    <a:pt x="53609" y="86320"/>
                  </a:lnTo>
                  <a:cubicBezTo>
                    <a:pt x="51129" y="83034"/>
                    <a:pt x="51811" y="78383"/>
                    <a:pt x="55097" y="75902"/>
                  </a:cubicBezTo>
                  <a:cubicBezTo>
                    <a:pt x="58384" y="73422"/>
                    <a:pt x="63035" y="74104"/>
                    <a:pt x="65515" y="77391"/>
                  </a:cubicBezTo>
                  <a:lnTo>
                    <a:pt x="73887" y="88553"/>
                  </a:lnTo>
                  <a:lnTo>
                    <a:pt x="92925" y="58074"/>
                  </a:lnTo>
                  <a:cubicBezTo>
                    <a:pt x="95095" y="54601"/>
                    <a:pt x="99684" y="53516"/>
                    <a:pt x="103188" y="55718"/>
                  </a:cubicBezTo>
                  <a:cubicBezTo>
                    <a:pt x="106691" y="57919"/>
                    <a:pt x="107745" y="62477"/>
                    <a:pt x="105544" y="65980"/>
                  </a:cubicBezTo>
                  <a:close/>
                </a:path>
              </a:pathLst>
            </a:custGeom>
            <a:grpFill/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50" name="图片 49">
            <a:extLst>
              <a:ext uri="{FF2B5EF4-FFF2-40B4-BE49-F238E27FC236}">
                <a16:creationId xmlns:a16="http://schemas.microsoft.com/office/drawing/2014/main" id="{523187B5-6E4B-8C87-09B7-94D1B1F318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1362" y="1631419"/>
            <a:ext cx="4944276" cy="1951525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903CFCB5-13E8-6244-1968-6943BA8C965C}"/>
              </a:ext>
            </a:extLst>
          </p:cNvPr>
          <p:cNvSpPr txBox="1"/>
          <p:nvPr/>
        </p:nvSpPr>
        <p:spPr>
          <a:xfrm>
            <a:off x="6481362" y="3397428"/>
            <a:ext cx="4944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摘自《2025年中国企业财务智能化现状调查报告》</a:t>
            </a:r>
          </a:p>
        </p:txBody>
      </p:sp>
      <p:sp>
        <p:nvSpPr>
          <p:cNvPr id="53" name="AutoShape 17">
            <a:extLst>
              <a:ext uri="{FF2B5EF4-FFF2-40B4-BE49-F238E27FC236}">
                <a16:creationId xmlns:a16="http://schemas.microsoft.com/office/drawing/2014/main" id="{C01B1379-34C1-6920-9537-5AA4EDE4DE12}"/>
              </a:ext>
            </a:extLst>
          </p:cNvPr>
          <p:cNvSpPr/>
          <p:nvPr/>
        </p:nvSpPr>
        <p:spPr>
          <a:xfrm>
            <a:off x="6613610" y="4500721"/>
            <a:ext cx="2460156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员工差旅报销填单自动化率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95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%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4A4A4A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结算报销业务审核自动化率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90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%(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华为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95%)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合并报表编制自动化率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70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%(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华为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70%)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营收稽核对账自动化率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70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税种线上计算及自动报税率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90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发票线上化管理 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全覆盖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1770E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4" name="AutoShape 17">
            <a:extLst>
              <a:ext uri="{FF2B5EF4-FFF2-40B4-BE49-F238E27FC236}">
                <a16:creationId xmlns:a16="http://schemas.microsoft.com/office/drawing/2014/main" id="{BC650B6F-5D24-5220-A722-5CB135CF152A}"/>
              </a:ext>
            </a:extLst>
          </p:cNvPr>
          <p:cNvSpPr/>
          <p:nvPr/>
        </p:nvSpPr>
        <p:spPr>
          <a:xfrm>
            <a:off x="9375470" y="4500721"/>
            <a:ext cx="2262493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会计档案文档无纸化率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60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电子、纸质同步归档率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100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预算编制数据采集自动化率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80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预算控制 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全覆盖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1770EA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预算分析数据实时采集自动化率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90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数据自动穿透率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90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cs typeface="+mn-ea"/>
                <a:sym typeface="+mn-lt"/>
              </a:rPr>
              <a:t>%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4A4A4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B47EAB97-BD03-B652-C4AF-F5B99AE768B2}"/>
              </a:ext>
            </a:extLst>
          </p:cNvPr>
          <p:cNvGrpSpPr/>
          <p:nvPr/>
        </p:nvGrpSpPr>
        <p:grpSpPr>
          <a:xfrm>
            <a:off x="6471986" y="4746214"/>
            <a:ext cx="78188" cy="1339594"/>
            <a:chOff x="6523631" y="4746214"/>
            <a:chExt cx="78188" cy="1339594"/>
          </a:xfrm>
        </p:grpSpPr>
        <p:sp>
          <p:nvSpPr>
            <p:cNvPr id="57" name="Shape 50">
              <a:extLst>
                <a:ext uri="{FF2B5EF4-FFF2-40B4-BE49-F238E27FC236}">
                  <a16:creationId xmlns:a16="http://schemas.microsoft.com/office/drawing/2014/main" id="{C8A6DCAA-C426-4ED8-D864-DCE7A336C976}"/>
                </a:ext>
              </a:extLst>
            </p:cNvPr>
            <p:cNvSpPr/>
            <p:nvPr/>
          </p:nvSpPr>
          <p:spPr>
            <a:xfrm>
              <a:off x="6523631" y="4746214"/>
              <a:ext cx="78188" cy="104250"/>
            </a:xfrm>
            <a:custGeom>
              <a:avLst/>
              <a:gdLst/>
              <a:ahLst/>
              <a:cxnLst/>
              <a:rect l="l" t="t" r="r" b="b"/>
              <a:pathLst>
                <a:path w="119063" h="158750">
                  <a:moveTo>
                    <a:pt x="90816" y="119062"/>
                  </a:moveTo>
                  <a:cubicBezTo>
                    <a:pt x="93080" y="112148"/>
                    <a:pt x="97606" y="105885"/>
                    <a:pt x="102722" y="100490"/>
                  </a:cubicBezTo>
                  <a:cubicBezTo>
                    <a:pt x="112861" y="89824"/>
                    <a:pt x="119062" y="75406"/>
                    <a:pt x="119062" y="59531"/>
                  </a:cubicBezTo>
                  <a:cubicBezTo>
                    <a:pt x="119062" y="26665"/>
                    <a:pt x="92397" y="0"/>
                    <a:pt x="59531" y="0"/>
                  </a:cubicBezTo>
                  <a:cubicBezTo>
                    <a:pt x="26665" y="0"/>
                    <a:pt x="0" y="26665"/>
                    <a:pt x="0" y="59531"/>
                  </a:cubicBezTo>
                  <a:cubicBezTo>
                    <a:pt x="0" y="75406"/>
                    <a:pt x="6201" y="89824"/>
                    <a:pt x="16340" y="100490"/>
                  </a:cubicBezTo>
                  <a:cubicBezTo>
                    <a:pt x="21456" y="105885"/>
                    <a:pt x="26014" y="112148"/>
                    <a:pt x="28246" y="119062"/>
                  </a:cubicBezTo>
                  <a:lnTo>
                    <a:pt x="90785" y="119062"/>
                  </a:lnTo>
                  <a:close/>
                  <a:moveTo>
                    <a:pt x="89297" y="133945"/>
                  </a:moveTo>
                  <a:lnTo>
                    <a:pt x="29766" y="133945"/>
                  </a:lnTo>
                  <a:lnTo>
                    <a:pt x="29766" y="138906"/>
                  </a:lnTo>
                  <a:cubicBezTo>
                    <a:pt x="29766" y="152611"/>
                    <a:pt x="40866" y="163711"/>
                    <a:pt x="54570" y="163711"/>
                  </a:cubicBezTo>
                  <a:lnTo>
                    <a:pt x="64492" y="163711"/>
                  </a:lnTo>
                  <a:cubicBezTo>
                    <a:pt x="78197" y="163711"/>
                    <a:pt x="89297" y="152611"/>
                    <a:pt x="89297" y="138906"/>
                  </a:cubicBezTo>
                  <a:lnTo>
                    <a:pt x="89297" y="133945"/>
                  </a:lnTo>
                  <a:close/>
                  <a:moveTo>
                    <a:pt x="57051" y="34727"/>
                  </a:moveTo>
                  <a:cubicBezTo>
                    <a:pt x="44710" y="34727"/>
                    <a:pt x="34727" y="44710"/>
                    <a:pt x="34727" y="57051"/>
                  </a:cubicBezTo>
                  <a:cubicBezTo>
                    <a:pt x="34727" y="61175"/>
                    <a:pt x="31409" y="64492"/>
                    <a:pt x="27285" y="64492"/>
                  </a:cubicBezTo>
                  <a:cubicBezTo>
                    <a:pt x="23161" y="64492"/>
                    <a:pt x="19844" y="61175"/>
                    <a:pt x="19844" y="57051"/>
                  </a:cubicBezTo>
                  <a:cubicBezTo>
                    <a:pt x="19844" y="36494"/>
                    <a:pt x="36494" y="19844"/>
                    <a:pt x="57051" y="19844"/>
                  </a:cubicBezTo>
                  <a:cubicBezTo>
                    <a:pt x="61175" y="19844"/>
                    <a:pt x="64492" y="23161"/>
                    <a:pt x="64492" y="27285"/>
                  </a:cubicBezTo>
                  <a:cubicBezTo>
                    <a:pt x="64492" y="31409"/>
                    <a:pt x="61175" y="34727"/>
                    <a:pt x="57051" y="3472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9" name="Shape 50">
              <a:extLst>
                <a:ext uri="{FF2B5EF4-FFF2-40B4-BE49-F238E27FC236}">
                  <a16:creationId xmlns:a16="http://schemas.microsoft.com/office/drawing/2014/main" id="{048C5179-F4BA-1D75-C465-91BACCD6D611}"/>
                </a:ext>
              </a:extLst>
            </p:cNvPr>
            <p:cNvSpPr/>
            <p:nvPr/>
          </p:nvSpPr>
          <p:spPr>
            <a:xfrm>
              <a:off x="6523631" y="4993283"/>
              <a:ext cx="78188" cy="104250"/>
            </a:xfrm>
            <a:custGeom>
              <a:avLst/>
              <a:gdLst/>
              <a:ahLst/>
              <a:cxnLst/>
              <a:rect l="l" t="t" r="r" b="b"/>
              <a:pathLst>
                <a:path w="119063" h="158750">
                  <a:moveTo>
                    <a:pt x="90816" y="119062"/>
                  </a:moveTo>
                  <a:cubicBezTo>
                    <a:pt x="93080" y="112148"/>
                    <a:pt x="97606" y="105885"/>
                    <a:pt x="102722" y="100490"/>
                  </a:cubicBezTo>
                  <a:cubicBezTo>
                    <a:pt x="112861" y="89824"/>
                    <a:pt x="119062" y="75406"/>
                    <a:pt x="119062" y="59531"/>
                  </a:cubicBezTo>
                  <a:cubicBezTo>
                    <a:pt x="119062" y="26665"/>
                    <a:pt x="92397" y="0"/>
                    <a:pt x="59531" y="0"/>
                  </a:cubicBezTo>
                  <a:cubicBezTo>
                    <a:pt x="26665" y="0"/>
                    <a:pt x="0" y="26665"/>
                    <a:pt x="0" y="59531"/>
                  </a:cubicBezTo>
                  <a:cubicBezTo>
                    <a:pt x="0" y="75406"/>
                    <a:pt x="6201" y="89824"/>
                    <a:pt x="16340" y="100490"/>
                  </a:cubicBezTo>
                  <a:cubicBezTo>
                    <a:pt x="21456" y="105885"/>
                    <a:pt x="26014" y="112148"/>
                    <a:pt x="28246" y="119062"/>
                  </a:cubicBezTo>
                  <a:lnTo>
                    <a:pt x="90785" y="119062"/>
                  </a:lnTo>
                  <a:close/>
                  <a:moveTo>
                    <a:pt x="89297" y="133945"/>
                  </a:moveTo>
                  <a:lnTo>
                    <a:pt x="29766" y="133945"/>
                  </a:lnTo>
                  <a:lnTo>
                    <a:pt x="29766" y="138906"/>
                  </a:lnTo>
                  <a:cubicBezTo>
                    <a:pt x="29766" y="152611"/>
                    <a:pt x="40866" y="163711"/>
                    <a:pt x="54570" y="163711"/>
                  </a:cubicBezTo>
                  <a:lnTo>
                    <a:pt x="64492" y="163711"/>
                  </a:lnTo>
                  <a:cubicBezTo>
                    <a:pt x="78197" y="163711"/>
                    <a:pt x="89297" y="152611"/>
                    <a:pt x="89297" y="138906"/>
                  </a:cubicBezTo>
                  <a:lnTo>
                    <a:pt x="89297" y="133945"/>
                  </a:lnTo>
                  <a:close/>
                  <a:moveTo>
                    <a:pt x="57051" y="34727"/>
                  </a:moveTo>
                  <a:cubicBezTo>
                    <a:pt x="44710" y="34727"/>
                    <a:pt x="34727" y="44710"/>
                    <a:pt x="34727" y="57051"/>
                  </a:cubicBezTo>
                  <a:cubicBezTo>
                    <a:pt x="34727" y="61175"/>
                    <a:pt x="31409" y="64492"/>
                    <a:pt x="27285" y="64492"/>
                  </a:cubicBezTo>
                  <a:cubicBezTo>
                    <a:pt x="23161" y="64492"/>
                    <a:pt x="19844" y="61175"/>
                    <a:pt x="19844" y="57051"/>
                  </a:cubicBezTo>
                  <a:cubicBezTo>
                    <a:pt x="19844" y="36494"/>
                    <a:pt x="36494" y="19844"/>
                    <a:pt x="57051" y="19844"/>
                  </a:cubicBezTo>
                  <a:cubicBezTo>
                    <a:pt x="61175" y="19844"/>
                    <a:pt x="64492" y="23161"/>
                    <a:pt x="64492" y="27285"/>
                  </a:cubicBezTo>
                  <a:cubicBezTo>
                    <a:pt x="64492" y="31409"/>
                    <a:pt x="61175" y="34727"/>
                    <a:pt x="57051" y="3472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0" name="Shape 50">
              <a:extLst>
                <a:ext uri="{FF2B5EF4-FFF2-40B4-BE49-F238E27FC236}">
                  <a16:creationId xmlns:a16="http://schemas.microsoft.com/office/drawing/2014/main" id="{A86B8EB8-6548-A96A-9C9F-B2C60FA05E17}"/>
                </a:ext>
              </a:extLst>
            </p:cNvPr>
            <p:cNvSpPr/>
            <p:nvPr/>
          </p:nvSpPr>
          <p:spPr>
            <a:xfrm>
              <a:off x="6523631" y="5981558"/>
              <a:ext cx="78188" cy="104250"/>
            </a:xfrm>
            <a:custGeom>
              <a:avLst/>
              <a:gdLst/>
              <a:ahLst/>
              <a:cxnLst/>
              <a:rect l="l" t="t" r="r" b="b"/>
              <a:pathLst>
                <a:path w="119063" h="158750">
                  <a:moveTo>
                    <a:pt x="90816" y="119062"/>
                  </a:moveTo>
                  <a:cubicBezTo>
                    <a:pt x="93080" y="112148"/>
                    <a:pt x="97606" y="105885"/>
                    <a:pt x="102722" y="100490"/>
                  </a:cubicBezTo>
                  <a:cubicBezTo>
                    <a:pt x="112861" y="89824"/>
                    <a:pt x="119062" y="75406"/>
                    <a:pt x="119062" y="59531"/>
                  </a:cubicBezTo>
                  <a:cubicBezTo>
                    <a:pt x="119062" y="26665"/>
                    <a:pt x="92397" y="0"/>
                    <a:pt x="59531" y="0"/>
                  </a:cubicBezTo>
                  <a:cubicBezTo>
                    <a:pt x="26665" y="0"/>
                    <a:pt x="0" y="26665"/>
                    <a:pt x="0" y="59531"/>
                  </a:cubicBezTo>
                  <a:cubicBezTo>
                    <a:pt x="0" y="75406"/>
                    <a:pt x="6201" y="89824"/>
                    <a:pt x="16340" y="100490"/>
                  </a:cubicBezTo>
                  <a:cubicBezTo>
                    <a:pt x="21456" y="105885"/>
                    <a:pt x="26014" y="112148"/>
                    <a:pt x="28246" y="119062"/>
                  </a:cubicBezTo>
                  <a:lnTo>
                    <a:pt x="90785" y="119062"/>
                  </a:lnTo>
                  <a:close/>
                  <a:moveTo>
                    <a:pt x="89297" y="133945"/>
                  </a:moveTo>
                  <a:lnTo>
                    <a:pt x="29766" y="133945"/>
                  </a:lnTo>
                  <a:lnTo>
                    <a:pt x="29766" y="138906"/>
                  </a:lnTo>
                  <a:cubicBezTo>
                    <a:pt x="29766" y="152611"/>
                    <a:pt x="40866" y="163711"/>
                    <a:pt x="54570" y="163711"/>
                  </a:cubicBezTo>
                  <a:lnTo>
                    <a:pt x="64492" y="163711"/>
                  </a:lnTo>
                  <a:cubicBezTo>
                    <a:pt x="78197" y="163711"/>
                    <a:pt x="89297" y="152611"/>
                    <a:pt x="89297" y="138906"/>
                  </a:cubicBezTo>
                  <a:lnTo>
                    <a:pt x="89297" y="133945"/>
                  </a:lnTo>
                  <a:close/>
                  <a:moveTo>
                    <a:pt x="57051" y="34727"/>
                  </a:moveTo>
                  <a:cubicBezTo>
                    <a:pt x="44710" y="34727"/>
                    <a:pt x="34727" y="44710"/>
                    <a:pt x="34727" y="57051"/>
                  </a:cubicBezTo>
                  <a:cubicBezTo>
                    <a:pt x="34727" y="61175"/>
                    <a:pt x="31409" y="64492"/>
                    <a:pt x="27285" y="64492"/>
                  </a:cubicBezTo>
                  <a:cubicBezTo>
                    <a:pt x="23161" y="64492"/>
                    <a:pt x="19844" y="61175"/>
                    <a:pt x="19844" y="57051"/>
                  </a:cubicBezTo>
                  <a:cubicBezTo>
                    <a:pt x="19844" y="36494"/>
                    <a:pt x="36494" y="19844"/>
                    <a:pt x="57051" y="19844"/>
                  </a:cubicBezTo>
                  <a:cubicBezTo>
                    <a:pt x="61175" y="19844"/>
                    <a:pt x="64492" y="23161"/>
                    <a:pt x="64492" y="27285"/>
                  </a:cubicBezTo>
                  <a:cubicBezTo>
                    <a:pt x="64492" y="31409"/>
                    <a:pt x="61175" y="34727"/>
                    <a:pt x="57051" y="3472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1" name="Shape 50">
              <a:extLst>
                <a:ext uri="{FF2B5EF4-FFF2-40B4-BE49-F238E27FC236}">
                  <a16:creationId xmlns:a16="http://schemas.microsoft.com/office/drawing/2014/main" id="{E4472BEA-6732-A304-1BCA-5026EB5536D9}"/>
                </a:ext>
              </a:extLst>
            </p:cNvPr>
            <p:cNvSpPr/>
            <p:nvPr/>
          </p:nvSpPr>
          <p:spPr>
            <a:xfrm>
              <a:off x="6523631" y="5240352"/>
              <a:ext cx="78188" cy="104250"/>
            </a:xfrm>
            <a:custGeom>
              <a:avLst/>
              <a:gdLst/>
              <a:ahLst/>
              <a:cxnLst/>
              <a:rect l="l" t="t" r="r" b="b"/>
              <a:pathLst>
                <a:path w="119063" h="158750">
                  <a:moveTo>
                    <a:pt x="90816" y="119062"/>
                  </a:moveTo>
                  <a:cubicBezTo>
                    <a:pt x="93080" y="112148"/>
                    <a:pt x="97606" y="105885"/>
                    <a:pt x="102722" y="100490"/>
                  </a:cubicBezTo>
                  <a:cubicBezTo>
                    <a:pt x="112861" y="89824"/>
                    <a:pt x="119062" y="75406"/>
                    <a:pt x="119062" y="59531"/>
                  </a:cubicBezTo>
                  <a:cubicBezTo>
                    <a:pt x="119062" y="26665"/>
                    <a:pt x="92397" y="0"/>
                    <a:pt x="59531" y="0"/>
                  </a:cubicBezTo>
                  <a:cubicBezTo>
                    <a:pt x="26665" y="0"/>
                    <a:pt x="0" y="26665"/>
                    <a:pt x="0" y="59531"/>
                  </a:cubicBezTo>
                  <a:cubicBezTo>
                    <a:pt x="0" y="75406"/>
                    <a:pt x="6201" y="89824"/>
                    <a:pt x="16340" y="100490"/>
                  </a:cubicBezTo>
                  <a:cubicBezTo>
                    <a:pt x="21456" y="105885"/>
                    <a:pt x="26014" y="112148"/>
                    <a:pt x="28246" y="119062"/>
                  </a:cubicBezTo>
                  <a:lnTo>
                    <a:pt x="90785" y="119062"/>
                  </a:lnTo>
                  <a:close/>
                  <a:moveTo>
                    <a:pt x="89297" y="133945"/>
                  </a:moveTo>
                  <a:lnTo>
                    <a:pt x="29766" y="133945"/>
                  </a:lnTo>
                  <a:lnTo>
                    <a:pt x="29766" y="138906"/>
                  </a:lnTo>
                  <a:cubicBezTo>
                    <a:pt x="29766" y="152611"/>
                    <a:pt x="40866" y="163711"/>
                    <a:pt x="54570" y="163711"/>
                  </a:cubicBezTo>
                  <a:lnTo>
                    <a:pt x="64492" y="163711"/>
                  </a:lnTo>
                  <a:cubicBezTo>
                    <a:pt x="78197" y="163711"/>
                    <a:pt x="89297" y="152611"/>
                    <a:pt x="89297" y="138906"/>
                  </a:cubicBezTo>
                  <a:lnTo>
                    <a:pt x="89297" y="133945"/>
                  </a:lnTo>
                  <a:close/>
                  <a:moveTo>
                    <a:pt x="57051" y="34727"/>
                  </a:moveTo>
                  <a:cubicBezTo>
                    <a:pt x="44710" y="34727"/>
                    <a:pt x="34727" y="44710"/>
                    <a:pt x="34727" y="57051"/>
                  </a:cubicBezTo>
                  <a:cubicBezTo>
                    <a:pt x="34727" y="61175"/>
                    <a:pt x="31409" y="64492"/>
                    <a:pt x="27285" y="64492"/>
                  </a:cubicBezTo>
                  <a:cubicBezTo>
                    <a:pt x="23161" y="64492"/>
                    <a:pt x="19844" y="61175"/>
                    <a:pt x="19844" y="57051"/>
                  </a:cubicBezTo>
                  <a:cubicBezTo>
                    <a:pt x="19844" y="36494"/>
                    <a:pt x="36494" y="19844"/>
                    <a:pt x="57051" y="19844"/>
                  </a:cubicBezTo>
                  <a:cubicBezTo>
                    <a:pt x="61175" y="19844"/>
                    <a:pt x="64492" y="23161"/>
                    <a:pt x="64492" y="27285"/>
                  </a:cubicBezTo>
                  <a:cubicBezTo>
                    <a:pt x="64492" y="31409"/>
                    <a:pt x="61175" y="34727"/>
                    <a:pt x="57051" y="3472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2" name="Shape 50">
              <a:extLst>
                <a:ext uri="{FF2B5EF4-FFF2-40B4-BE49-F238E27FC236}">
                  <a16:creationId xmlns:a16="http://schemas.microsoft.com/office/drawing/2014/main" id="{1FAE27FE-93F7-1FF2-F5B3-DD4ECF9A1A27}"/>
                </a:ext>
              </a:extLst>
            </p:cNvPr>
            <p:cNvSpPr/>
            <p:nvPr/>
          </p:nvSpPr>
          <p:spPr>
            <a:xfrm>
              <a:off x="6523631" y="5734490"/>
              <a:ext cx="78188" cy="104250"/>
            </a:xfrm>
            <a:custGeom>
              <a:avLst/>
              <a:gdLst/>
              <a:ahLst/>
              <a:cxnLst/>
              <a:rect l="l" t="t" r="r" b="b"/>
              <a:pathLst>
                <a:path w="119063" h="158750">
                  <a:moveTo>
                    <a:pt x="90816" y="119062"/>
                  </a:moveTo>
                  <a:cubicBezTo>
                    <a:pt x="93080" y="112148"/>
                    <a:pt x="97606" y="105885"/>
                    <a:pt x="102722" y="100490"/>
                  </a:cubicBezTo>
                  <a:cubicBezTo>
                    <a:pt x="112861" y="89824"/>
                    <a:pt x="119062" y="75406"/>
                    <a:pt x="119062" y="59531"/>
                  </a:cubicBezTo>
                  <a:cubicBezTo>
                    <a:pt x="119062" y="26665"/>
                    <a:pt x="92397" y="0"/>
                    <a:pt x="59531" y="0"/>
                  </a:cubicBezTo>
                  <a:cubicBezTo>
                    <a:pt x="26665" y="0"/>
                    <a:pt x="0" y="26665"/>
                    <a:pt x="0" y="59531"/>
                  </a:cubicBezTo>
                  <a:cubicBezTo>
                    <a:pt x="0" y="75406"/>
                    <a:pt x="6201" y="89824"/>
                    <a:pt x="16340" y="100490"/>
                  </a:cubicBezTo>
                  <a:cubicBezTo>
                    <a:pt x="21456" y="105885"/>
                    <a:pt x="26014" y="112148"/>
                    <a:pt x="28246" y="119062"/>
                  </a:cubicBezTo>
                  <a:lnTo>
                    <a:pt x="90785" y="119062"/>
                  </a:lnTo>
                  <a:close/>
                  <a:moveTo>
                    <a:pt x="89297" y="133945"/>
                  </a:moveTo>
                  <a:lnTo>
                    <a:pt x="29766" y="133945"/>
                  </a:lnTo>
                  <a:lnTo>
                    <a:pt x="29766" y="138906"/>
                  </a:lnTo>
                  <a:cubicBezTo>
                    <a:pt x="29766" y="152611"/>
                    <a:pt x="40866" y="163711"/>
                    <a:pt x="54570" y="163711"/>
                  </a:cubicBezTo>
                  <a:lnTo>
                    <a:pt x="64492" y="163711"/>
                  </a:lnTo>
                  <a:cubicBezTo>
                    <a:pt x="78197" y="163711"/>
                    <a:pt x="89297" y="152611"/>
                    <a:pt x="89297" y="138906"/>
                  </a:cubicBezTo>
                  <a:lnTo>
                    <a:pt x="89297" y="133945"/>
                  </a:lnTo>
                  <a:close/>
                  <a:moveTo>
                    <a:pt x="57051" y="34727"/>
                  </a:moveTo>
                  <a:cubicBezTo>
                    <a:pt x="44710" y="34727"/>
                    <a:pt x="34727" y="44710"/>
                    <a:pt x="34727" y="57051"/>
                  </a:cubicBezTo>
                  <a:cubicBezTo>
                    <a:pt x="34727" y="61175"/>
                    <a:pt x="31409" y="64492"/>
                    <a:pt x="27285" y="64492"/>
                  </a:cubicBezTo>
                  <a:cubicBezTo>
                    <a:pt x="23161" y="64492"/>
                    <a:pt x="19844" y="61175"/>
                    <a:pt x="19844" y="57051"/>
                  </a:cubicBezTo>
                  <a:cubicBezTo>
                    <a:pt x="19844" y="36494"/>
                    <a:pt x="36494" y="19844"/>
                    <a:pt x="57051" y="19844"/>
                  </a:cubicBezTo>
                  <a:cubicBezTo>
                    <a:pt x="61175" y="19844"/>
                    <a:pt x="64492" y="23161"/>
                    <a:pt x="64492" y="27285"/>
                  </a:cubicBezTo>
                  <a:cubicBezTo>
                    <a:pt x="64492" y="31409"/>
                    <a:pt x="61175" y="34727"/>
                    <a:pt x="57051" y="3472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3" name="Shape 50">
              <a:extLst>
                <a:ext uri="{FF2B5EF4-FFF2-40B4-BE49-F238E27FC236}">
                  <a16:creationId xmlns:a16="http://schemas.microsoft.com/office/drawing/2014/main" id="{2E10D814-6677-5616-AC02-B8B03A7012EC}"/>
                </a:ext>
              </a:extLst>
            </p:cNvPr>
            <p:cNvSpPr/>
            <p:nvPr/>
          </p:nvSpPr>
          <p:spPr>
            <a:xfrm>
              <a:off x="6523631" y="5487421"/>
              <a:ext cx="78188" cy="104250"/>
            </a:xfrm>
            <a:custGeom>
              <a:avLst/>
              <a:gdLst/>
              <a:ahLst/>
              <a:cxnLst/>
              <a:rect l="l" t="t" r="r" b="b"/>
              <a:pathLst>
                <a:path w="119063" h="158750">
                  <a:moveTo>
                    <a:pt x="90816" y="119062"/>
                  </a:moveTo>
                  <a:cubicBezTo>
                    <a:pt x="93080" y="112148"/>
                    <a:pt x="97606" y="105885"/>
                    <a:pt x="102722" y="100490"/>
                  </a:cubicBezTo>
                  <a:cubicBezTo>
                    <a:pt x="112861" y="89824"/>
                    <a:pt x="119062" y="75406"/>
                    <a:pt x="119062" y="59531"/>
                  </a:cubicBezTo>
                  <a:cubicBezTo>
                    <a:pt x="119062" y="26665"/>
                    <a:pt x="92397" y="0"/>
                    <a:pt x="59531" y="0"/>
                  </a:cubicBezTo>
                  <a:cubicBezTo>
                    <a:pt x="26665" y="0"/>
                    <a:pt x="0" y="26665"/>
                    <a:pt x="0" y="59531"/>
                  </a:cubicBezTo>
                  <a:cubicBezTo>
                    <a:pt x="0" y="75406"/>
                    <a:pt x="6201" y="89824"/>
                    <a:pt x="16340" y="100490"/>
                  </a:cubicBezTo>
                  <a:cubicBezTo>
                    <a:pt x="21456" y="105885"/>
                    <a:pt x="26014" y="112148"/>
                    <a:pt x="28246" y="119062"/>
                  </a:cubicBezTo>
                  <a:lnTo>
                    <a:pt x="90785" y="119062"/>
                  </a:lnTo>
                  <a:close/>
                  <a:moveTo>
                    <a:pt x="89297" y="133945"/>
                  </a:moveTo>
                  <a:lnTo>
                    <a:pt x="29766" y="133945"/>
                  </a:lnTo>
                  <a:lnTo>
                    <a:pt x="29766" y="138906"/>
                  </a:lnTo>
                  <a:cubicBezTo>
                    <a:pt x="29766" y="152611"/>
                    <a:pt x="40866" y="163711"/>
                    <a:pt x="54570" y="163711"/>
                  </a:cubicBezTo>
                  <a:lnTo>
                    <a:pt x="64492" y="163711"/>
                  </a:lnTo>
                  <a:cubicBezTo>
                    <a:pt x="78197" y="163711"/>
                    <a:pt x="89297" y="152611"/>
                    <a:pt x="89297" y="138906"/>
                  </a:cubicBezTo>
                  <a:lnTo>
                    <a:pt x="89297" y="133945"/>
                  </a:lnTo>
                  <a:close/>
                  <a:moveTo>
                    <a:pt x="57051" y="34727"/>
                  </a:moveTo>
                  <a:cubicBezTo>
                    <a:pt x="44710" y="34727"/>
                    <a:pt x="34727" y="44710"/>
                    <a:pt x="34727" y="57051"/>
                  </a:cubicBezTo>
                  <a:cubicBezTo>
                    <a:pt x="34727" y="61175"/>
                    <a:pt x="31409" y="64492"/>
                    <a:pt x="27285" y="64492"/>
                  </a:cubicBezTo>
                  <a:cubicBezTo>
                    <a:pt x="23161" y="64492"/>
                    <a:pt x="19844" y="61175"/>
                    <a:pt x="19844" y="57051"/>
                  </a:cubicBezTo>
                  <a:cubicBezTo>
                    <a:pt x="19844" y="36494"/>
                    <a:pt x="36494" y="19844"/>
                    <a:pt x="57051" y="19844"/>
                  </a:cubicBezTo>
                  <a:cubicBezTo>
                    <a:pt x="61175" y="19844"/>
                    <a:pt x="64492" y="23161"/>
                    <a:pt x="64492" y="27285"/>
                  </a:cubicBezTo>
                  <a:cubicBezTo>
                    <a:pt x="64492" y="31409"/>
                    <a:pt x="61175" y="34727"/>
                    <a:pt x="57051" y="3472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4AD44638-0628-FB8D-F972-7C6EABB94FE0}"/>
              </a:ext>
            </a:extLst>
          </p:cNvPr>
          <p:cNvGrpSpPr/>
          <p:nvPr/>
        </p:nvGrpSpPr>
        <p:grpSpPr>
          <a:xfrm>
            <a:off x="9234338" y="4746214"/>
            <a:ext cx="78188" cy="1339594"/>
            <a:chOff x="6523631" y="4746214"/>
            <a:chExt cx="78188" cy="1339594"/>
          </a:xfrm>
        </p:grpSpPr>
        <p:sp>
          <p:nvSpPr>
            <p:cNvPr id="67" name="Shape 50">
              <a:extLst>
                <a:ext uri="{FF2B5EF4-FFF2-40B4-BE49-F238E27FC236}">
                  <a16:creationId xmlns:a16="http://schemas.microsoft.com/office/drawing/2014/main" id="{CEB6FD02-3942-6767-E36B-184DEE3C7EE9}"/>
                </a:ext>
              </a:extLst>
            </p:cNvPr>
            <p:cNvSpPr/>
            <p:nvPr/>
          </p:nvSpPr>
          <p:spPr>
            <a:xfrm>
              <a:off x="6523631" y="4746214"/>
              <a:ext cx="78188" cy="104250"/>
            </a:xfrm>
            <a:custGeom>
              <a:avLst/>
              <a:gdLst/>
              <a:ahLst/>
              <a:cxnLst/>
              <a:rect l="l" t="t" r="r" b="b"/>
              <a:pathLst>
                <a:path w="119063" h="158750">
                  <a:moveTo>
                    <a:pt x="90816" y="119062"/>
                  </a:moveTo>
                  <a:cubicBezTo>
                    <a:pt x="93080" y="112148"/>
                    <a:pt x="97606" y="105885"/>
                    <a:pt x="102722" y="100490"/>
                  </a:cubicBezTo>
                  <a:cubicBezTo>
                    <a:pt x="112861" y="89824"/>
                    <a:pt x="119062" y="75406"/>
                    <a:pt x="119062" y="59531"/>
                  </a:cubicBezTo>
                  <a:cubicBezTo>
                    <a:pt x="119062" y="26665"/>
                    <a:pt x="92397" y="0"/>
                    <a:pt x="59531" y="0"/>
                  </a:cubicBezTo>
                  <a:cubicBezTo>
                    <a:pt x="26665" y="0"/>
                    <a:pt x="0" y="26665"/>
                    <a:pt x="0" y="59531"/>
                  </a:cubicBezTo>
                  <a:cubicBezTo>
                    <a:pt x="0" y="75406"/>
                    <a:pt x="6201" y="89824"/>
                    <a:pt x="16340" y="100490"/>
                  </a:cubicBezTo>
                  <a:cubicBezTo>
                    <a:pt x="21456" y="105885"/>
                    <a:pt x="26014" y="112148"/>
                    <a:pt x="28246" y="119062"/>
                  </a:cubicBezTo>
                  <a:lnTo>
                    <a:pt x="90785" y="119062"/>
                  </a:lnTo>
                  <a:close/>
                  <a:moveTo>
                    <a:pt x="89297" y="133945"/>
                  </a:moveTo>
                  <a:lnTo>
                    <a:pt x="29766" y="133945"/>
                  </a:lnTo>
                  <a:lnTo>
                    <a:pt x="29766" y="138906"/>
                  </a:lnTo>
                  <a:cubicBezTo>
                    <a:pt x="29766" y="152611"/>
                    <a:pt x="40866" y="163711"/>
                    <a:pt x="54570" y="163711"/>
                  </a:cubicBezTo>
                  <a:lnTo>
                    <a:pt x="64492" y="163711"/>
                  </a:lnTo>
                  <a:cubicBezTo>
                    <a:pt x="78197" y="163711"/>
                    <a:pt x="89297" y="152611"/>
                    <a:pt x="89297" y="138906"/>
                  </a:cubicBezTo>
                  <a:lnTo>
                    <a:pt x="89297" y="133945"/>
                  </a:lnTo>
                  <a:close/>
                  <a:moveTo>
                    <a:pt x="57051" y="34727"/>
                  </a:moveTo>
                  <a:cubicBezTo>
                    <a:pt x="44710" y="34727"/>
                    <a:pt x="34727" y="44710"/>
                    <a:pt x="34727" y="57051"/>
                  </a:cubicBezTo>
                  <a:cubicBezTo>
                    <a:pt x="34727" y="61175"/>
                    <a:pt x="31409" y="64492"/>
                    <a:pt x="27285" y="64492"/>
                  </a:cubicBezTo>
                  <a:cubicBezTo>
                    <a:pt x="23161" y="64492"/>
                    <a:pt x="19844" y="61175"/>
                    <a:pt x="19844" y="57051"/>
                  </a:cubicBezTo>
                  <a:cubicBezTo>
                    <a:pt x="19844" y="36494"/>
                    <a:pt x="36494" y="19844"/>
                    <a:pt x="57051" y="19844"/>
                  </a:cubicBezTo>
                  <a:cubicBezTo>
                    <a:pt x="61175" y="19844"/>
                    <a:pt x="64492" y="23161"/>
                    <a:pt x="64492" y="27285"/>
                  </a:cubicBezTo>
                  <a:cubicBezTo>
                    <a:pt x="64492" y="31409"/>
                    <a:pt x="61175" y="34727"/>
                    <a:pt x="57051" y="3472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8" name="Shape 50">
              <a:extLst>
                <a:ext uri="{FF2B5EF4-FFF2-40B4-BE49-F238E27FC236}">
                  <a16:creationId xmlns:a16="http://schemas.microsoft.com/office/drawing/2014/main" id="{4CAAE3DE-9DAC-030B-294E-E345CDF4441A}"/>
                </a:ext>
              </a:extLst>
            </p:cNvPr>
            <p:cNvSpPr/>
            <p:nvPr/>
          </p:nvSpPr>
          <p:spPr>
            <a:xfrm>
              <a:off x="6523631" y="4993283"/>
              <a:ext cx="78188" cy="104250"/>
            </a:xfrm>
            <a:custGeom>
              <a:avLst/>
              <a:gdLst/>
              <a:ahLst/>
              <a:cxnLst/>
              <a:rect l="l" t="t" r="r" b="b"/>
              <a:pathLst>
                <a:path w="119063" h="158750">
                  <a:moveTo>
                    <a:pt x="90816" y="119062"/>
                  </a:moveTo>
                  <a:cubicBezTo>
                    <a:pt x="93080" y="112148"/>
                    <a:pt x="97606" y="105885"/>
                    <a:pt x="102722" y="100490"/>
                  </a:cubicBezTo>
                  <a:cubicBezTo>
                    <a:pt x="112861" y="89824"/>
                    <a:pt x="119062" y="75406"/>
                    <a:pt x="119062" y="59531"/>
                  </a:cubicBezTo>
                  <a:cubicBezTo>
                    <a:pt x="119062" y="26665"/>
                    <a:pt x="92397" y="0"/>
                    <a:pt x="59531" y="0"/>
                  </a:cubicBezTo>
                  <a:cubicBezTo>
                    <a:pt x="26665" y="0"/>
                    <a:pt x="0" y="26665"/>
                    <a:pt x="0" y="59531"/>
                  </a:cubicBezTo>
                  <a:cubicBezTo>
                    <a:pt x="0" y="75406"/>
                    <a:pt x="6201" y="89824"/>
                    <a:pt x="16340" y="100490"/>
                  </a:cubicBezTo>
                  <a:cubicBezTo>
                    <a:pt x="21456" y="105885"/>
                    <a:pt x="26014" y="112148"/>
                    <a:pt x="28246" y="119062"/>
                  </a:cubicBezTo>
                  <a:lnTo>
                    <a:pt x="90785" y="119062"/>
                  </a:lnTo>
                  <a:close/>
                  <a:moveTo>
                    <a:pt x="89297" y="133945"/>
                  </a:moveTo>
                  <a:lnTo>
                    <a:pt x="29766" y="133945"/>
                  </a:lnTo>
                  <a:lnTo>
                    <a:pt x="29766" y="138906"/>
                  </a:lnTo>
                  <a:cubicBezTo>
                    <a:pt x="29766" y="152611"/>
                    <a:pt x="40866" y="163711"/>
                    <a:pt x="54570" y="163711"/>
                  </a:cubicBezTo>
                  <a:lnTo>
                    <a:pt x="64492" y="163711"/>
                  </a:lnTo>
                  <a:cubicBezTo>
                    <a:pt x="78197" y="163711"/>
                    <a:pt x="89297" y="152611"/>
                    <a:pt x="89297" y="138906"/>
                  </a:cubicBezTo>
                  <a:lnTo>
                    <a:pt x="89297" y="133945"/>
                  </a:lnTo>
                  <a:close/>
                  <a:moveTo>
                    <a:pt x="57051" y="34727"/>
                  </a:moveTo>
                  <a:cubicBezTo>
                    <a:pt x="44710" y="34727"/>
                    <a:pt x="34727" y="44710"/>
                    <a:pt x="34727" y="57051"/>
                  </a:cubicBezTo>
                  <a:cubicBezTo>
                    <a:pt x="34727" y="61175"/>
                    <a:pt x="31409" y="64492"/>
                    <a:pt x="27285" y="64492"/>
                  </a:cubicBezTo>
                  <a:cubicBezTo>
                    <a:pt x="23161" y="64492"/>
                    <a:pt x="19844" y="61175"/>
                    <a:pt x="19844" y="57051"/>
                  </a:cubicBezTo>
                  <a:cubicBezTo>
                    <a:pt x="19844" y="36494"/>
                    <a:pt x="36494" y="19844"/>
                    <a:pt x="57051" y="19844"/>
                  </a:cubicBezTo>
                  <a:cubicBezTo>
                    <a:pt x="61175" y="19844"/>
                    <a:pt x="64492" y="23161"/>
                    <a:pt x="64492" y="27285"/>
                  </a:cubicBezTo>
                  <a:cubicBezTo>
                    <a:pt x="64492" y="31409"/>
                    <a:pt x="61175" y="34727"/>
                    <a:pt x="57051" y="3472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9" name="Shape 50">
              <a:extLst>
                <a:ext uri="{FF2B5EF4-FFF2-40B4-BE49-F238E27FC236}">
                  <a16:creationId xmlns:a16="http://schemas.microsoft.com/office/drawing/2014/main" id="{8AC0AA02-688A-0D22-84A1-596B4DC5F998}"/>
                </a:ext>
              </a:extLst>
            </p:cNvPr>
            <p:cNvSpPr/>
            <p:nvPr/>
          </p:nvSpPr>
          <p:spPr>
            <a:xfrm>
              <a:off x="6523631" y="5981558"/>
              <a:ext cx="78188" cy="104250"/>
            </a:xfrm>
            <a:custGeom>
              <a:avLst/>
              <a:gdLst/>
              <a:ahLst/>
              <a:cxnLst/>
              <a:rect l="l" t="t" r="r" b="b"/>
              <a:pathLst>
                <a:path w="119063" h="158750">
                  <a:moveTo>
                    <a:pt x="90816" y="119062"/>
                  </a:moveTo>
                  <a:cubicBezTo>
                    <a:pt x="93080" y="112148"/>
                    <a:pt x="97606" y="105885"/>
                    <a:pt x="102722" y="100490"/>
                  </a:cubicBezTo>
                  <a:cubicBezTo>
                    <a:pt x="112861" y="89824"/>
                    <a:pt x="119062" y="75406"/>
                    <a:pt x="119062" y="59531"/>
                  </a:cubicBezTo>
                  <a:cubicBezTo>
                    <a:pt x="119062" y="26665"/>
                    <a:pt x="92397" y="0"/>
                    <a:pt x="59531" y="0"/>
                  </a:cubicBezTo>
                  <a:cubicBezTo>
                    <a:pt x="26665" y="0"/>
                    <a:pt x="0" y="26665"/>
                    <a:pt x="0" y="59531"/>
                  </a:cubicBezTo>
                  <a:cubicBezTo>
                    <a:pt x="0" y="75406"/>
                    <a:pt x="6201" y="89824"/>
                    <a:pt x="16340" y="100490"/>
                  </a:cubicBezTo>
                  <a:cubicBezTo>
                    <a:pt x="21456" y="105885"/>
                    <a:pt x="26014" y="112148"/>
                    <a:pt x="28246" y="119062"/>
                  </a:cubicBezTo>
                  <a:lnTo>
                    <a:pt x="90785" y="119062"/>
                  </a:lnTo>
                  <a:close/>
                  <a:moveTo>
                    <a:pt x="89297" y="133945"/>
                  </a:moveTo>
                  <a:lnTo>
                    <a:pt x="29766" y="133945"/>
                  </a:lnTo>
                  <a:lnTo>
                    <a:pt x="29766" y="138906"/>
                  </a:lnTo>
                  <a:cubicBezTo>
                    <a:pt x="29766" y="152611"/>
                    <a:pt x="40866" y="163711"/>
                    <a:pt x="54570" y="163711"/>
                  </a:cubicBezTo>
                  <a:lnTo>
                    <a:pt x="64492" y="163711"/>
                  </a:lnTo>
                  <a:cubicBezTo>
                    <a:pt x="78197" y="163711"/>
                    <a:pt x="89297" y="152611"/>
                    <a:pt x="89297" y="138906"/>
                  </a:cubicBezTo>
                  <a:lnTo>
                    <a:pt x="89297" y="133945"/>
                  </a:lnTo>
                  <a:close/>
                  <a:moveTo>
                    <a:pt x="57051" y="34727"/>
                  </a:moveTo>
                  <a:cubicBezTo>
                    <a:pt x="44710" y="34727"/>
                    <a:pt x="34727" y="44710"/>
                    <a:pt x="34727" y="57051"/>
                  </a:cubicBezTo>
                  <a:cubicBezTo>
                    <a:pt x="34727" y="61175"/>
                    <a:pt x="31409" y="64492"/>
                    <a:pt x="27285" y="64492"/>
                  </a:cubicBezTo>
                  <a:cubicBezTo>
                    <a:pt x="23161" y="64492"/>
                    <a:pt x="19844" y="61175"/>
                    <a:pt x="19844" y="57051"/>
                  </a:cubicBezTo>
                  <a:cubicBezTo>
                    <a:pt x="19844" y="36494"/>
                    <a:pt x="36494" y="19844"/>
                    <a:pt x="57051" y="19844"/>
                  </a:cubicBezTo>
                  <a:cubicBezTo>
                    <a:pt x="61175" y="19844"/>
                    <a:pt x="64492" y="23161"/>
                    <a:pt x="64492" y="27285"/>
                  </a:cubicBezTo>
                  <a:cubicBezTo>
                    <a:pt x="64492" y="31409"/>
                    <a:pt x="61175" y="34727"/>
                    <a:pt x="57051" y="3472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0" name="Shape 50">
              <a:extLst>
                <a:ext uri="{FF2B5EF4-FFF2-40B4-BE49-F238E27FC236}">
                  <a16:creationId xmlns:a16="http://schemas.microsoft.com/office/drawing/2014/main" id="{DA7231A1-F345-6662-8D65-3EFB39C3CC78}"/>
                </a:ext>
              </a:extLst>
            </p:cNvPr>
            <p:cNvSpPr/>
            <p:nvPr/>
          </p:nvSpPr>
          <p:spPr>
            <a:xfrm>
              <a:off x="6523631" y="5240352"/>
              <a:ext cx="78188" cy="104250"/>
            </a:xfrm>
            <a:custGeom>
              <a:avLst/>
              <a:gdLst/>
              <a:ahLst/>
              <a:cxnLst/>
              <a:rect l="l" t="t" r="r" b="b"/>
              <a:pathLst>
                <a:path w="119063" h="158750">
                  <a:moveTo>
                    <a:pt x="90816" y="119062"/>
                  </a:moveTo>
                  <a:cubicBezTo>
                    <a:pt x="93080" y="112148"/>
                    <a:pt x="97606" y="105885"/>
                    <a:pt x="102722" y="100490"/>
                  </a:cubicBezTo>
                  <a:cubicBezTo>
                    <a:pt x="112861" y="89824"/>
                    <a:pt x="119062" y="75406"/>
                    <a:pt x="119062" y="59531"/>
                  </a:cubicBezTo>
                  <a:cubicBezTo>
                    <a:pt x="119062" y="26665"/>
                    <a:pt x="92397" y="0"/>
                    <a:pt x="59531" y="0"/>
                  </a:cubicBezTo>
                  <a:cubicBezTo>
                    <a:pt x="26665" y="0"/>
                    <a:pt x="0" y="26665"/>
                    <a:pt x="0" y="59531"/>
                  </a:cubicBezTo>
                  <a:cubicBezTo>
                    <a:pt x="0" y="75406"/>
                    <a:pt x="6201" y="89824"/>
                    <a:pt x="16340" y="100490"/>
                  </a:cubicBezTo>
                  <a:cubicBezTo>
                    <a:pt x="21456" y="105885"/>
                    <a:pt x="26014" y="112148"/>
                    <a:pt x="28246" y="119062"/>
                  </a:cubicBezTo>
                  <a:lnTo>
                    <a:pt x="90785" y="119062"/>
                  </a:lnTo>
                  <a:close/>
                  <a:moveTo>
                    <a:pt x="89297" y="133945"/>
                  </a:moveTo>
                  <a:lnTo>
                    <a:pt x="29766" y="133945"/>
                  </a:lnTo>
                  <a:lnTo>
                    <a:pt x="29766" y="138906"/>
                  </a:lnTo>
                  <a:cubicBezTo>
                    <a:pt x="29766" y="152611"/>
                    <a:pt x="40866" y="163711"/>
                    <a:pt x="54570" y="163711"/>
                  </a:cubicBezTo>
                  <a:lnTo>
                    <a:pt x="64492" y="163711"/>
                  </a:lnTo>
                  <a:cubicBezTo>
                    <a:pt x="78197" y="163711"/>
                    <a:pt x="89297" y="152611"/>
                    <a:pt x="89297" y="138906"/>
                  </a:cubicBezTo>
                  <a:lnTo>
                    <a:pt x="89297" y="133945"/>
                  </a:lnTo>
                  <a:close/>
                  <a:moveTo>
                    <a:pt x="57051" y="34727"/>
                  </a:moveTo>
                  <a:cubicBezTo>
                    <a:pt x="44710" y="34727"/>
                    <a:pt x="34727" y="44710"/>
                    <a:pt x="34727" y="57051"/>
                  </a:cubicBezTo>
                  <a:cubicBezTo>
                    <a:pt x="34727" y="61175"/>
                    <a:pt x="31409" y="64492"/>
                    <a:pt x="27285" y="64492"/>
                  </a:cubicBezTo>
                  <a:cubicBezTo>
                    <a:pt x="23161" y="64492"/>
                    <a:pt x="19844" y="61175"/>
                    <a:pt x="19844" y="57051"/>
                  </a:cubicBezTo>
                  <a:cubicBezTo>
                    <a:pt x="19844" y="36494"/>
                    <a:pt x="36494" y="19844"/>
                    <a:pt x="57051" y="19844"/>
                  </a:cubicBezTo>
                  <a:cubicBezTo>
                    <a:pt x="61175" y="19844"/>
                    <a:pt x="64492" y="23161"/>
                    <a:pt x="64492" y="27285"/>
                  </a:cubicBezTo>
                  <a:cubicBezTo>
                    <a:pt x="64492" y="31409"/>
                    <a:pt x="61175" y="34727"/>
                    <a:pt x="57051" y="3472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1" name="Shape 50">
              <a:extLst>
                <a:ext uri="{FF2B5EF4-FFF2-40B4-BE49-F238E27FC236}">
                  <a16:creationId xmlns:a16="http://schemas.microsoft.com/office/drawing/2014/main" id="{2CC0F7D3-6F36-251F-2469-06EB834BD459}"/>
                </a:ext>
              </a:extLst>
            </p:cNvPr>
            <p:cNvSpPr/>
            <p:nvPr/>
          </p:nvSpPr>
          <p:spPr>
            <a:xfrm>
              <a:off x="6523631" y="5734490"/>
              <a:ext cx="78188" cy="104250"/>
            </a:xfrm>
            <a:custGeom>
              <a:avLst/>
              <a:gdLst/>
              <a:ahLst/>
              <a:cxnLst/>
              <a:rect l="l" t="t" r="r" b="b"/>
              <a:pathLst>
                <a:path w="119063" h="158750">
                  <a:moveTo>
                    <a:pt x="90816" y="119062"/>
                  </a:moveTo>
                  <a:cubicBezTo>
                    <a:pt x="93080" y="112148"/>
                    <a:pt x="97606" y="105885"/>
                    <a:pt x="102722" y="100490"/>
                  </a:cubicBezTo>
                  <a:cubicBezTo>
                    <a:pt x="112861" y="89824"/>
                    <a:pt x="119062" y="75406"/>
                    <a:pt x="119062" y="59531"/>
                  </a:cubicBezTo>
                  <a:cubicBezTo>
                    <a:pt x="119062" y="26665"/>
                    <a:pt x="92397" y="0"/>
                    <a:pt x="59531" y="0"/>
                  </a:cubicBezTo>
                  <a:cubicBezTo>
                    <a:pt x="26665" y="0"/>
                    <a:pt x="0" y="26665"/>
                    <a:pt x="0" y="59531"/>
                  </a:cubicBezTo>
                  <a:cubicBezTo>
                    <a:pt x="0" y="75406"/>
                    <a:pt x="6201" y="89824"/>
                    <a:pt x="16340" y="100490"/>
                  </a:cubicBezTo>
                  <a:cubicBezTo>
                    <a:pt x="21456" y="105885"/>
                    <a:pt x="26014" y="112148"/>
                    <a:pt x="28246" y="119062"/>
                  </a:cubicBezTo>
                  <a:lnTo>
                    <a:pt x="90785" y="119062"/>
                  </a:lnTo>
                  <a:close/>
                  <a:moveTo>
                    <a:pt x="89297" y="133945"/>
                  </a:moveTo>
                  <a:lnTo>
                    <a:pt x="29766" y="133945"/>
                  </a:lnTo>
                  <a:lnTo>
                    <a:pt x="29766" y="138906"/>
                  </a:lnTo>
                  <a:cubicBezTo>
                    <a:pt x="29766" y="152611"/>
                    <a:pt x="40866" y="163711"/>
                    <a:pt x="54570" y="163711"/>
                  </a:cubicBezTo>
                  <a:lnTo>
                    <a:pt x="64492" y="163711"/>
                  </a:lnTo>
                  <a:cubicBezTo>
                    <a:pt x="78197" y="163711"/>
                    <a:pt x="89297" y="152611"/>
                    <a:pt x="89297" y="138906"/>
                  </a:cubicBezTo>
                  <a:lnTo>
                    <a:pt x="89297" y="133945"/>
                  </a:lnTo>
                  <a:close/>
                  <a:moveTo>
                    <a:pt x="57051" y="34727"/>
                  </a:moveTo>
                  <a:cubicBezTo>
                    <a:pt x="44710" y="34727"/>
                    <a:pt x="34727" y="44710"/>
                    <a:pt x="34727" y="57051"/>
                  </a:cubicBezTo>
                  <a:cubicBezTo>
                    <a:pt x="34727" y="61175"/>
                    <a:pt x="31409" y="64492"/>
                    <a:pt x="27285" y="64492"/>
                  </a:cubicBezTo>
                  <a:cubicBezTo>
                    <a:pt x="23161" y="64492"/>
                    <a:pt x="19844" y="61175"/>
                    <a:pt x="19844" y="57051"/>
                  </a:cubicBezTo>
                  <a:cubicBezTo>
                    <a:pt x="19844" y="36494"/>
                    <a:pt x="36494" y="19844"/>
                    <a:pt x="57051" y="19844"/>
                  </a:cubicBezTo>
                  <a:cubicBezTo>
                    <a:pt x="61175" y="19844"/>
                    <a:pt x="64492" y="23161"/>
                    <a:pt x="64492" y="27285"/>
                  </a:cubicBezTo>
                  <a:cubicBezTo>
                    <a:pt x="64492" y="31409"/>
                    <a:pt x="61175" y="34727"/>
                    <a:pt x="57051" y="3472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2" name="Shape 50">
              <a:extLst>
                <a:ext uri="{FF2B5EF4-FFF2-40B4-BE49-F238E27FC236}">
                  <a16:creationId xmlns:a16="http://schemas.microsoft.com/office/drawing/2014/main" id="{5F7D0233-A05F-40D2-0362-47B64D528510}"/>
                </a:ext>
              </a:extLst>
            </p:cNvPr>
            <p:cNvSpPr/>
            <p:nvPr/>
          </p:nvSpPr>
          <p:spPr>
            <a:xfrm>
              <a:off x="6523631" y="5487421"/>
              <a:ext cx="78188" cy="104250"/>
            </a:xfrm>
            <a:custGeom>
              <a:avLst/>
              <a:gdLst/>
              <a:ahLst/>
              <a:cxnLst/>
              <a:rect l="l" t="t" r="r" b="b"/>
              <a:pathLst>
                <a:path w="119063" h="158750">
                  <a:moveTo>
                    <a:pt x="90816" y="119062"/>
                  </a:moveTo>
                  <a:cubicBezTo>
                    <a:pt x="93080" y="112148"/>
                    <a:pt x="97606" y="105885"/>
                    <a:pt x="102722" y="100490"/>
                  </a:cubicBezTo>
                  <a:cubicBezTo>
                    <a:pt x="112861" y="89824"/>
                    <a:pt x="119062" y="75406"/>
                    <a:pt x="119062" y="59531"/>
                  </a:cubicBezTo>
                  <a:cubicBezTo>
                    <a:pt x="119062" y="26665"/>
                    <a:pt x="92397" y="0"/>
                    <a:pt x="59531" y="0"/>
                  </a:cubicBezTo>
                  <a:cubicBezTo>
                    <a:pt x="26665" y="0"/>
                    <a:pt x="0" y="26665"/>
                    <a:pt x="0" y="59531"/>
                  </a:cubicBezTo>
                  <a:cubicBezTo>
                    <a:pt x="0" y="75406"/>
                    <a:pt x="6201" y="89824"/>
                    <a:pt x="16340" y="100490"/>
                  </a:cubicBezTo>
                  <a:cubicBezTo>
                    <a:pt x="21456" y="105885"/>
                    <a:pt x="26014" y="112148"/>
                    <a:pt x="28246" y="119062"/>
                  </a:cubicBezTo>
                  <a:lnTo>
                    <a:pt x="90785" y="119062"/>
                  </a:lnTo>
                  <a:close/>
                  <a:moveTo>
                    <a:pt x="89297" y="133945"/>
                  </a:moveTo>
                  <a:lnTo>
                    <a:pt x="29766" y="133945"/>
                  </a:lnTo>
                  <a:lnTo>
                    <a:pt x="29766" y="138906"/>
                  </a:lnTo>
                  <a:cubicBezTo>
                    <a:pt x="29766" y="152611"/>
                    <a:pt x="40866" y="163711"/>
                    <a:pt x="54570" y="163711"/>
                  </a:cubicBezTo>
                  <a:lnTo>
                    <a:pt x="64492" y="163711"/>
                  </a:lnTo>
                  <a:cubicBezTo>
                    <a:pt x="78197" y="163711"/>
                    <a:pt x="89297" y="152611"/>
                    <a:pt x="89297" y="138906"/>
                  </a:cubicBezTo>
                  <a:lnTo>
                    <a:pt x="89297" y="133945"/>
                  </a:lnTo>
                  <a:close/>
                  <a:moveTo>
                    <a:pt x="57051" y="34727"/>
                  </a:moveTo>
                  <a:cubicBezTo>
                    <a:pt x="44710" y="34727"/>
                    <a:pt x="34727" y="44710"/>
                    <a:pt x="34727" y="57051"/>
                  </a:cubicBezTo>
                  <a:cubicBezTo>
                    <a:pt x="34727" y="61175"/>
                    <a:pt x="31409" y="64492"/>
                    <a:pt x="27285" y="64492"/>
                  </a:cubicBezTo>
                  <a:cubicBezTo>
                    <a:pt x="23161" y="64492"/>
                    <a:pt x="19844" y="61175"/>
                    <a:pt x="19844" y="57051"/>
                  </a:cubicBezTo>
                  <a:cubicBezTo>
                    <a:pt x="19844" y="36494"/>
                    <a:pt x="36494" y="19844"/>
                    <a:pt x="57051" y="19844"/>
                  </a:cubicBezTo>
                  <a:cubicBezTo>
                    <a:pt x="61175" y="19844"/>
                    <a:pt x="64492" y="23161"/>
                    <a:pt x="64492" y="27285"/>
                  </a:cubicBezTo>
                  <a:cubicBezTo>
                    <a:pt x="64492" y="31409"/>
                    <a:pt x="61175" y="34727"/>
                    <a:pt x="57051" y="3472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CFDD6CF6-2164-17C8-E6E9-D4116A2FF1A3}"/>
              </a:ext>
            </a:extLst>
          </p:cNvPr>
          <p:cNvSpPr txBox="1"/>
          <p:nvPr/>
        </p:nvSpPr>
        <p:spPr>
          <a:xfrm>
            <a:off x="7859060" y="1799291"/>
            <a:ext cx="39325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rgbClr val="2372EF"/>
                </a:solidFill>
              </a:rPr>
              <a:t>27%</a:t>
            </a:r>
            <a:r>
              <a:rPr lang="zh-CN" altLang="en-US" sz="1300" b="1" dirty="0">
                <a:solidFill>
                  <a:srgbClr val="2372EF"/>
                </a:solidFill>
              </a:rPr>
              <a:t>人认同：业务流程标准化和智能化提效</a:t>
            </a:r>
            <a:endParaRPr lang="en-US" altLang="zh-CN" sz="1300" b="1" dirty="0">
              <a:solidFill>
                <a:srgbClr val="2372EF"/>
              </a:solidFill>
            </a:endParaRPr>
          </a:p>
          <a:p>
            <a:r>
              <a:rPr lang="en-US" altLang="zh-CN" sz="1300" b="1" dirty="0">
                <a:solidFill>
                  <a:srgbClr val="2372EF"/>
                </a:solidFill>
              </a:rPr>
              <a:t>20%</a:t>
            </a:r>
            <a:r>
              <a:rPr lang="zh-CN" altLang="en-US" sz="1300" b="1" dirty="0">
                <a:solidFill>
                  <a:srgbClr val="2372EF"/>
                </a:solidFill>
              </a:rPr>
              <a:t>人认同：提高企业的管理和控制水平。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BC3396-DD57-924A-3D2F-5C7D26795235}"/>
              </a:ext>
            </a:extLst>
          </p:cNvPr>
          <p:cNvSpPr txBox="1"/>
          <p:nvPr/>
        </p:nvSpPr>
        <p:spPr>
          <a:xfrm>
            <a:off x="962108" y="637221"/>
            <a:ext cx="9903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售前阶段，我们必须用量化的指标代替模糊的描述，用具体的价值数据打动客户</a:t>
            </a:r>
          </a:p>
        </p:txBody>
      </p:sp>
    </p:spTree>
    <p:extLst>
      <p:ext uri="{BB962C8B-B14F-4D97-AF65-F5344CB8AC3E}">
        <p14:creationId xmlns:p14="http://schemas.microsoft.com/office/powerpoint/2010/main" val="420381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28512-AE2D-0E16-4347-F0B1EDEB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093" y="210672"/>
            <a:ext cx="10445233" cy="469413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搭建科学的价值指标体系：以财务共享指标体系（售前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80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个），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驱动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流程、场景变革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B5B3562-AED2-5357-F6A3-43088BDDB936}"/>
              </a:ext>
            </a:extLst>
          </p:cNvPr>
          <p:cNvSpPr txBox="1"/>
          <p:nvPr/>
        </p:nvSpPr>
        <p:spPr>
          <a:xfrm>
            <a:off x="1725770" y="1157376"/>
            <a:ext cx="45035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价值目标模型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Optimize Capital Effectiveness</a:t>
            </a:r>
          </a:p>
        </p:txBody>
      </p:sp>
      <p:sp>
        <p:nvSpPr>
          <p:cNvPr id="5" name="TextBox 48">
            <a:extLst>
              <a:ext uri="{FF2B5EF4-FFF2-40B4-BE49-F238E27FC236}">
                <a16:creationId xmlns:a16="http://schemas.microsoft.com/office/drawing/2014/main" id="{8EAB0116-A10F-0592-BF37-DDAF59872CC9}"/>
              </a:ext>
            </a:extLst>
          </p:cNvPr>
          <p:cNvSpPr txBox="1"/>
          <p:nvPr/>
        </p:nvSpPr>
        <p:spPr>
          <a:xfrm>
            <a:off x="791374" y="1792722"/>
            <a:ext cx="6243638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价值概念分类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DB5691-4D41-21E8-6D08-0A5111164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032" y="2201641"/>
            <a:ext cx="2731980" cy="232831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913512D-10D0-9832-A8EB-5FD067594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74" y="2683532"/>
            <a:ext cx="3321155" cy="1850879"/>
          </a:xfrm>
          <a:prstGeom prst="rect">
            <a:avLst/>
          </a:prstGeom>
        </p:spPr>
      </p:pic>
      <p:sp>
        <p:nvSpPr>
          <p:cNvPr id="11" name="箭头: V 形 10">
            <a:extLst>
              <a:ext uri="{FF2B5EF4-FFF2-40B4-BE49-F238E27FC236}">
                <a16:creationId xmlns:a16="http://schemas.microsoft.com/office/drawing/2014/main" id="{84BAF5A1-5ED7-ACA9-D9D3-6112961F9683}"/>
              </a:ext>
            </a:extLst>
          </p:cNvPr>
          <p:cNvSpPr/>
          <p:nvPr/>
        </p:nvSpPr>
        <p:spPr>
          <a:xfrm>
            <a:off x="793067" y="2286396"/>
            <a:ext cx="3414713" cy="251004"/>
          </a:xfrm>
          <a:prstGeom prst="chevron">
            <a:avLst/>
          </a:prstGeom>
          <a:solidFill>
            <a:srgbClr val="FD3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+mn-ea"/>
                <a:sym typeface="+mn-lt"/>
              </a:rPr>
              <a:t>集团企业价值最大化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994AC1-A783-45F8-139F-57295EF4A066}"/>
              </a:ext>
            </a:extLst>
          </p:cNvPr>
          <p:cNvSpPr txBox="1"/>
          <p:nvPr/>
        </p:nvSpPr>
        <p:spPr>
          <a:xfrm>
            <a:off x="848524" y="4826675"/>
            <a:ext cx="335756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cs typeface="+mn-ea"/>
                <a:sym typeface="+mn-lt"/>
              </a:rPr>
              <a:t>集团股东价值最大化，财务共享项目建设成果可以影响：</a:t>
            </a:r>
            <a:endParaRPr lang="en-US" altLang="zh-CN" sz="1200" dirty="0">
              <a:cs typeface="+mn-ea"/>
              <a:sym typeface="+mn-lt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sz="1400" b="1" i="1" dirty="0">
                <a:solidFill>
                  <a:srgbClr val="2372EF"/>
                </a:solidFill>
                <a:cs typeface="+mn-ea"/>
                <a:sym typeface="+mn-lt"/>
              </a:rPr>
              <a:t> 成本</a:t>
            </a:r>
            <a:r>
              <a:rPr lang="zh-CN" altLang="en-US" sz="1200" dirty="0">
                <a:cs typeface="+mn-ea"/>
                <a:sym typeface="+mn-lt"/>
              </a:rPr>
              <a:t>（采购成本、人工成本利润率、人工 成本占营业收入比例）</a:t>
            </a:r>
            <a:endParaRPr lang="en-US" altLang="zh-CN" sz="1200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i="1" dirty="0">
                <a:solidFill>
                  <a:srgbClr val="2372EF"/>
                </a:solidFill>
                <a:cs typeface="+mn-ea"/>
                <a:sym typeface="+mn-lt"/>
              </a:rPr>
              <a:t>资金</a:t>
            </a:r>
            <a:r>
              <a:rPr lang="zh-CN" altLang="en-US" sz="1200" dirty="0">
                <a:cs typeface="+mn-ea"/>
                <a:sym typeface="+mn-lt"/>
              </a:rPr>
              <a:t>（经营性现金流）</a:t>
            </a:r>
            <a:endParaRPr lang="en-US" altLang="zh-CN" sz="1200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i="1" dirty="0">
                <a:solidFill>
                  <a:srgbClr val="2372EF"/>
                </a:solidFill>
                <a:cs typeface="+mn-ea"/>
                <a:sym typeface="+mn-lt"/>
              </a:rPr>
              <a:t>应收账款</a:t>
            </a:r>
            <a:r>
              <a:rPr lang="zh-CN" altLang="en-US" sz="1200" dirty="0">
                <a:cs typeface="+mn-ea"/>
                <a:sym typeface="+mn-lt"/>
              </a:rPr>
              <a:t>（应收账款周转率、逾期应收账款、应收账款账龄）、</a:t>
            </a:r>
            <a:endParaRPr lang="en-US" altLang="zh-CN" sz="1200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i="1" dirty="0">
                <a:solidFill>
                  <a:srgbClr val="2372EF"/>
                </a:solidFill>
                <a:cs typeface="+mn-ea"/>
                <a:sym typeface="+mn-lt"/>
              </a:rPr>
              <a:t>股东回报</a:t>
            </a:r>
            <a:r>
              <a:rPr lang="zh-CN" altLang="en-US" sz="1200" dirty="0">
                <a:cs typeface="+mn-ea"/>
                <a:sym typeface="+mn-lt"/>
              </a:rPr>
              <a:t>（净资产收益率）等指标数值。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D41BF0-B3ED-F135-1983-BC6C4C28E1B5}"/>
              </a:ext>
            </a:extLst>
          </p:cNvPr>
          <p:cNvSpPr txBox="1"/>
          <p:nvPr/>
        </p:nvSpPr>
        <p:spPr>
          <a:xfrm>
            <a:off x="4539463" y="4899979"/>
            <a:ext cx="2438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cs typeface="+mn-ea"/>
                <a:sym typeface="+mn-lt"/>
              </a:rPr>
              <a:t>财务共享项目建设成果突显财务和业务双重管理价值：</a:t>
            </a:r>
            <a:endParaRPr lang="en-US" altLang="zh-CN" sz="1200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i="1" dirty="0">
                <a:solidFill>
                  <a:srgbClr val="2372EF"/>
                </a:solidFill>
                <a:cs typeface="+mn-ea"/>
                <a:sym typeface="+mn-lt"/>
              </a:rPr>
              <a:t>财务价值：</a:t>
            </a:r>
            <a:r>
              <a:rPr lang="zh-CN" altLang="en-US" sz="1200" dirty="0">
                <a:cs typeface="+mn-ea"/>
                <a:sym typeface="+mn-lt"/>
              </a:rPr>
              <a:t>降本、增效、管控、多维经营分析分析、决策支持；</a:t>
            </a:r>
            <a:endParaRPr lang="en-US" altLang="zh-CN" sz="1200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i="1" dirty="0">
                <a:solidFill>
                  <a:srgbClr val="2372EF"/>
                </a:solidFill>
                <a:cs typeface="+mn-ea"/>
                <a:sym typeface="+mn-lt"/>
              </a:rPr>
              <a:t>业务价值：</a:t>
            </a:r>
            <a:r>
              <a:rPr lang="zh-CN" altLang="en-US" sz="1200" dirty="0">
                <a:cs typeface="+mn-ea"/>
                <a:sym typeface="+mn-lt"/>
              </a:rPr>
              <a:t>业务扩张、资本运作、模式创新、国企改革、国有资本布局、科技创新、赋能生态</a:t>
            </a:r>
          </a:p>
        </p:txBody>
      </p:sp>
      <p:sp>
        <p:nvSpPr>
          <p:cNvPr id="14" name="TextBox 32">
            <a:extLst>
              <a:ext uri="{FF2B5EF4-FFF2-40B4-BE49-F238E27FC236}">
                <a16:creationId xmlns:a16="http://schemas.microsoft.com/office/drawing/2014/main" id="{22BB6ADB-71AA-3CF4-1078-5333B1D4EFFE}"/>
              </a:ext>
            </a:extLst>
          </p:cNvPr>
          <p:cNvSpPr txBox="1"/>
          <p:nvPr/>
        </p:nvSpPr>
        <p:spPr>
          <a:xfrm>
            <a:off x="8930405" y="1079441"/>
            <a:ext cx="19796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价值驱动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Value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Driver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 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TextBox 49">
            <a:extLst>
              <a:ext uri="{FF2B5EF4-FFF2-40B4-BE49-F238E27FC236}">
                <a16:creationId xmlns:a16="http://schemas.microsoft.com/office/drawing/2014/main" id="{311AE68B-C04A-6D23-781D-83613BA50FB8}"/>
              </a:ext>
            </a:extLst>
          </p:cNvPr>
          <p:cNvSpPr txBox="1"/>
          <p:nvPr/>
        </p:nvSpPr>
        <p:spPr>
          <a:xfrm>
            <a:off x="7913587" y="1792722"/>
            <a:ext cx="3621879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高阶价值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分析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指标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366F13B-0FFB-2FF9-04E5-1595D4DC3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645" y="2403657"/>
            <a:ext cx="3572821" cy="2079799"/>
          </a:xfrm>
          <a:prstGeom prst="rect">
            <a:avLst/>
          </a:prstGeom>
        </p:spPr>
      </p:pic>
      <p:sp>
        <p:nvSpPr>
          <p:cNvPr id="17" name="Right Arrow 43">
            <a:extLst>
              <a:ext uri="{FF2B5EF4-FFF2-40B4-BE49-F238E27FC236}">
                <a16:creationId xmlns:a16="http://schemas.microsoft.com/office/drawing/2014/main" id="{0B3568EF-F45F-F3AD-40C4-E5004D1338C4}"/>
              </a:ext>
            </a:extLst>
          </p:cNvPr>
          <p:cNvSpPr/>
          <p:nvPr/>
        </p:nvSpPr>
        <p:spPr>
          <a:xfrm>
            <a:off x="7212767" y="1256767"/>
            <a:ext cx="451692" cy="150982"/>
          </a:xfrm>
          <a:prstGeom prst="righ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8478963-41B0-F88B-7471-D4218366922C}"/>
              </a:ext>
            </a:extLst>
          </p:cNvPr>
          <p:cNvSpPr txBox="1"/>
          <p:nvPr/>
        </p:nvSpPr>
        <p:spPr>
          <a:xfrm>
            <a:off x="8031782" y="4765119"/>
            <a:ext cx="327208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cs typeface="+mn-ea"/>
                <a:sym typeface="+mn-lt"/>
              </a:rPr>
              <a:t>财务共享项目建设成果指标</a:t>
            </a:r>
            <a:r>
              <a:rPr lang="en-US" altLang="zh-CN" b="1" i="1" dirty="0">
                <a:solidFill>
                  <a:srgbClr val="2372EF"/>
                </a:solidFill>
                <a:cs typeface="+mn-ea"/>
                <a:sym typeface="+mn-lt"/>
              </a:rPr>
              <a:t>80</a:t>
            </a:r>
            <a:r>
              <a:rPr lang="zh-CN" altLang="en-US" sz="1200" dirty="0">
                <a:cs typeface="+mn-ea"/>
                <a:sym typeface="+mn-lt"/>
              </a:rPr>
              <a:t>个：</a:t>
            </a:r>
            <a:endParaRPr lang="en-US" altLang="zh-CN" sz="1200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i="1" dirty="0">
                <a:solidFill>
                  <a:srgbClr val="2372EF"/>
                </a:solidFill>
                <a:cs typeface="+mn-ea"/>
                <a:sym typeface="+mn-lt"/>
              </a:rPr>
              <a:t>要求使用：</a:t>
            </a:r>
            <a:r>
              <a:rPr lang="en-US" altLang="zh-CN" sz="1200" dirty="0">
                <a:cs typeface="+mn-ea"/>
                <a:sym typeface="+mn-lt"/>
              </a:rPr>
              <a:t>40</a:t>
            </a:r>
            <a:r>
              <a:rPr lang="zh-CN" altLang="en-US" sz="1200" dirty="0">
                <a:cs typeface="+mn-ea"/>
                <a:sym typeface="+mn-lt"/>
              </a:rPr>
              <a:t>个指标，例如：自动化率、人均单据量、每月月结时长、单体法报出具日期、可视化指标数；</a:t>
            </a:r>
            <a:endParaRPr lang="en-US" altLang="zh-CN" sz="1200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i="1" dirty="0">
                <a:solidFill>
                  <a:srgbClr val="2372EF"/>
                </a:solidFill>
                <a:cs typeface="+mn-ea"/>
                <a:sym typeface="+mn-lt"/>
              </a:rPr>
              <a:t>可选使用：</a:t>
            </a:r>
            <a:r>
              <a:rPr lang="en-US" altLang="zh-CN" sz="1200" dirty="0">
                <a:cs typeface="+mn-ea"/>
                <a:sym typeface="+mn-lt"/>
              </a:rPr>
              <a:t>40</a:t>
            </a:r>
            <a:r>
              <a:rPr lang="zh-CN" altLang="en-US" sz="1200" dirty="0">
                <a:cs typeface="+mn-ea"/>
                <a:sym typeface="+mn-lt"/>
              </a:rPr>
              <a:t>个，人工成本占营业收入比例、人均账套数、共享人数占财务总人数比例、业务数据自动抓取、周转率；</a:t>
            </a:r>
          </a:p>
        </p:txBody>
      </p:sp>
    </p:spTree>
    <p:extLst>
      <p:ext uri="{BB962C8B-B14F-4D97-AF65-F5344CB8AC3E}">
        <p14:creationId xmlns:p14="http://schemas.microsoft.com/office/powerpoint/2010/main" val="4165479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4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价值可视化：提供标杆企业财务共享中心的</a:t>
            </a:r>
            <a:r>
              <a:rPr lang="en-US" altLang="zh-CN" dirty="0">
                <a:solidFill>
                  <a:srgbClr val="FF0000"/>
                </a:solidFill>
              </a:rPr>
              <a:t>40</a:t>
            </a:r>
            <a:r>
              <a:rPr lang="zh-CN" altLang="en-US" dirty="0">
                <a:solidFill>
                  <a:srgbClr val="FF0000"/>
                </a:solidFill>
              </a:rPr>
              <a:t>个</a:t>
            </a:r>
            <a:r>
              <a:rPr lang="zh-CN" altLang="en-US" dirty="0"/>
              <a:t>指标参考数据</a:t>
            </a:r>
            <a:endParaRPr lang="zh-CN" altLang="en-US" cap="all" dirty="0">
              <a:solidFill>
                <a:schemeClr val="tx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0" name="文本占位符 49"/>
          <p:cNvSpPr>
            <a:spLocks noGrp="1"/>
          </p:cNvSpPr>
          <p:nvPr>
            <p:ph sz="quarter" idx="12"/>
          </p:nvPr>
        </p:nvSpPr>
        <p:spPr>
          <a:xfrm>
            <a:off x="397213" y="777874"/>
            <a:ext cx="11206475" cy="5486505"/>
          </a:xfrm>
        </p:spPr>
        <p:txBody>
          <a:bodyPr/>
          <a:lstStyle/>
          <a:p>
            <a:r>
              <a:rPr lang="zh-CN" altLang="en-US" cap="all" dirty="0">
                <a:solidFill>
                  <a:schemeClr val="tx1"/>
                </a:solidFill>
                <a:uFillTx/>
                <a:latin typeface="+mn-lt"/>
                <a:ea typeface="+mn-ea"/>
                <a:cs typeface="+mn-ea"/>
                <a:sym typeface="+mn-lt"/>
              </a:rPr>
              <a:t>价值指标体系</a:t>
            </a:r>
          </a:p>
        </p:txBody>
      </p:sp>
      <p:sp>
        <p:nvSpPr>
          <p:cNvPr id="8" name="同侧圆角矩形 7"/>
          <p:cNvSpPr/>
          <p:nvPr/>
        </p:nvSpPr>
        <p:spPr>
          <a:xfrm>
            <a:off x="655955" y="1372870"/>
            <a:ext cx="2787015" cy="429514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A0D1FA">
                  <a:alpha val="0"/>
                </a:srgbClr>
              </a:gs>
              <a:gs pos="100000">
                <a:srgbClr val="A0D1FA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026795" y="2227580"/>
            <a:ext cx="2045970" cy="600710"/>
            <a:chOff x="1762" y="4761"/>
            <a:chExt cx="3222" cy="946"/>
          </a:xfrm>
        </p:grpSpPr>
        <p:sp>
          <p:nvSpPr>
            <p:cNvPr id="22" name="圆角矩形 21"/>
            <p:cNvSpPr/>
            <p:nvPr/>
          </p:nvSpPr>
          <p:spPr>
            <a:xfrm>
              <a:off x="1762" y="4761"/>
              <a:ext cx="3222" cy="94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A0D1FA">
                  <a:alpha val="43000"/>
                </a:srgbClr>
              </a:solidFill>
            </a:ln>
            <a:effectLst>
              <a:outerShdw blurRad="317500" dist="127000" dir="2700000" algn="tl" rotWithShape="0">
                <a:srgbClr val="1E69D5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F449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127" y="4940"/>
              <a:ext cx="249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1F4491"/>
                  </a:solidFill>
                  <a:effectLst/>
                  <a:uLnTx/>
                  <a:uFillTx/>
                  <a:cs typeface="+mn-ea"/>
                  <a:sym typeface="+mn-lt"/>
                </a:rPr>
                <a:t>降本增效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026160" y="3220085"/>
            <a:ext cx="2046605" cy="600710"/>
            <a:chOff x="1761" y="4761"/>
            <a:chExt cx="3223" cy="946"/>
          </a:xfrm>
        </p:grpSpPr>
        <p:sp>
          <p:nvSpPr>
            <p:cNvPr id="14" name="圆角矩形 13"/>
            <p:cNvSpPr/>
            <p:nvPr/>
          </p:nvSpPr>
          <p:spPr>
            <a:xfrm>
              <a:off x="1762" y="4761"/>
              <a:ext cx="3222" cy="94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A0D1FA">
                  <a:alpha val="43000"/>
                </a:srgbClr>
              </a:solidFill>
            </a:ln>
            <a:effectLst>
              <a:outerShdw blurRad="317500" dist="127000" dir="2700000" algn="tl" rotWithShape="0">
                <a:srgbClr val="1E69D5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F449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761" y="4940"/>
              <a:ext cx="322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1F4491"/>
                  </a:solidFill>
                  <a:effectLst/>
                  <a:uLnTx/>
                  <a:uFillTx/>
                  <a:cs typeface="+mn-ea"/>
                  <a:sym typeface="+mn-lt"/>
                </a:rPr>
                <a:t>风险管控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026795" y="4212590"/>
            <a:ext cx="2046605" cy="600710"/>
            <a:chOff x="1761" y="4761"/>
            <a:chExt cx="3223" cy="946"/>
          </a:xfrm>
        </p:grpSpPr>
        <p:sp>
          <p:nvSpPr>
            <p:cNvPr id="19" name="圆角矩形 18"/>
            <p:cNvSpPr/>
            <p:nvPr/>
          </p:nvSpPr>
          <p:spPr>
            <a:xfrm>
              <a:off x="1762" y="4761"/>
              <a:ext cx="3222" cy="94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A0D1FA">
                  <a:alpha val="43000"/>
                </a:srgbClr>
              </a:solidFill>
            </a:ln>
            <a:effectLst>
              <a:outerShdw blurRad="317500" dist="127000" dir="2700000" algn="tl" rotWithShape="0">
                <a:srgbClr val="1E69D5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F449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761" y="4940"/>
              <a:ext cx="322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1F4491"/>
                  </a:solidFill>
                  <a:effectLst/>
                  <a:uLnTx/>
                  <a:uFillTx/>
                  <a:cs typeface="+mn-ea"/>
                  <a:sym typeface="+mn-lt"/>
                </a:rPr>
                <a:t>决策支持</a:t>
              </a:r>
            </a:p>
          </p:txBody>
        </p:sp>
      </p:grpSp>
      <p:sp>
        <p:nvSpPr>
          <p:cNvPr id="114" name="文本框 113"/>
          <p:cNvSpPr txBox="1"/>
          <p:nvPr/>
        </p:nvSpPr>
        <p:spPr>
          <a:xfrm>
            <a:off x="1189990" y="2284730"/>
            <a:ext cx="339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1F449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1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1189990" y="3259455"/>
            <a:ext cx="339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1F449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2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1172210" y="4272280"/>
            <a:ext cx="339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1F449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3</a:t>
            </a:r>
          </a:p>
        </p:txBody>
      </p:sp>
      <p:grpSp>
        <p:nvGrpSpPr>
          <p:cNvPr id="124" name="组合 123"/>
          <p:cNvGrpSpPr/>
          <p:nvPr/>
        </p:nvGrpSpPr>
        <p:grpSpPr>
          <a:xfrm>
            <a:off x="3825875" y="1077595"/>
            <a:ext cx="3131820" cy="5118735"/>
            <a:chOff x="5967" y="1982"/>
            <a:chExt cx="4932" cy="8061"/>
          </a:xfrm>
        </p:grpSpPr>
        <p:sp>
          <p:nvSpPr>
            <p:cNvPr id="69" name="圆角矩形 68"/>
            <p:cNvSpPr/>
            <p:nvPr/>
          </p:nvSpPr>
          <p:spPr>
            <a:xfrm rot="5400000" flipV="1">
              <a:off x="8373" y="5052"/>
              <a:ext cx="120" cy="4933"/>
            </a:xfrm>
            <a:prstGeom prst="roundRect">
              <a:avLst>
                <a:gd name="adj" fmla="val 50000"/>
              </a:avLst>
            </a:prstGeom>
            <a:gradFill>
              <a:gsLst>
                <a:gs pos="28000">
                  <a:srgbClr val="A0D1FA">
                    <a:alpha val="0"/>
                  </a:srgb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rgbClr val="6096E6">
                <a:shade val="50000"/>
              </a:srgbClr>
            </a:lnRef>
            <a:fillRef idx="1">
              <a:srgbClr val="6096E6"/>
            </a:fillRef>
            <a:effectRef idx="0">
              <a:srgbClr val="6096E6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7" name="圆角矩形 66"/>
            <p:cNvSpPr/>
            <p:nvPr/>
          </p:nvSpPr>
          <p:spPr>
            <a:xfrm rot="5400000" flipV="1">
              <a:off x="8373" y="2554"/>
              <a:ext cx="120" cy="4933"/>
            </a:xfrm>
            <a:prstGeom prst="roundRect">
              <a:avLst>
                <a:gd name="adj" fmla="val 50000"/>
              </a:avLst>
            </a:prstGeom>
            <a:gradFill>
              <a:gsLst>
                <a:gs pos="28000">
                  <a:srgbClr val="A0D1FA">
                    <a:alpha val="0"/>
                  </a:srgb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rgbClr val="6096E6">
                <a:shade val="50000"/>
              </a:srgbClr>
            </a:lnRef>
            <a:fillRef idx="1">
              <a:srgbClr val="6096E6"/>
            </a:fillRef>
            <a:effectRef idx="0">
              <a:srgbClr val="6096E6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圆角矩形 29"/>
            <p:cNvSpPr/>
            <p:nvPr/>
          </p:nvSpPr>
          <p:spPr>
            <a:xfrm rot="5400000" flipV="1">
              <a:off x="8373" y="-59"/>
              <a:ext cx="120" cy="4933"/>
            </a:xfrm>
            <a:prstGeom prst="roundRect">
              <a:avLst>
                <a:gd name="adj" fmla="val 50000"/>
              </a:avLst>
            </a:prstGeom>
            <a:gradFill>
              <a:gsLst>
                <a:gs pos="28000">
                  <a:srgbClr val="A0D1FA">
                    <a:alpha val="0"/>
                  </a:srgb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rgbClr val="6096E6">
                <a:shade val="50000"/>
              </a:srgbClr>
            </a:lnRef>
            <a:fillRef idx="1">
              <a:srgbClr val="6096E6"/>
            </a:fillRef>
            <a:effectRef idx="0">
              <a:srgbClr val="6096E6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967" y="1982"/>
              <a:ext cx="34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流程效率提升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967" y="4587"/>
              <a:ext cx="34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账务差错率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967" y="7072"/>
              <a:ext cx="34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每月月结时长</a:t>
              </a: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5967" y="2577"/>
              <a:ext cx="2991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1F4491"/>
                  </a:solidFill>
                  <a:effectLst/>
                  <a:uLnTx/>
                  <a:uFillTx/>
                  <a:cs typeface="+mn-ea"/>
                  <a:sym typeface="+mn-lt"/>
                </a:rPr>
                <a:t>40%～60%</a:t>
              </a: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5967" y="5167"/>
              <a:ext cx="2835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4491"/>
                  </a:solidFill>
                  <a:effectLst/>
                  <a:uLnTx/>
                  <a:uFillTx/>
                  <a:cs typeface="+mn-ea"/>
                  <a:sym typeface="+mn-lt"/>
                </a:rPr>
                <a:t>&lt;2%</a:t>
              </a:r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6057" y="7652"/>
              <a:ext cx="2835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F4491"/>
                  </a:solidFill>
                  <a:effectLst/>
                  <a:uLnTx/>
                  <a:uFillTx/>
                  <a:cs typeface="+mn-ea"/>
                  <a:sym typeface="+mn-lt"/>
                </a:rPr>
                <a:t>2天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9" name="圆角矩形 118"/>
            <p:cNvSpPr/>
            <p:nvPr/>
          </p:nvSpPr>
          <p:spPr>
            <a:xfrm rot="5400000" flipV="1">
              <a:off x="8373" y="7443"/>
              <a:ext cx="120" cy="4933"/>
            </a:xfrm>
            <a:prstGeom prst="roundRect">
              <a:avLst>
                <a:gd name="adj" fmla="val 50000"/>
              </a:avLst>
            </a:prstGeom>
            <a:gradFill>
              <a:gsLst>
                <a:gs pos="28000">
                  <a:srgbClr val="A0D1FA">
                    <a:alpha val="0"/>
                  </a:srgb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rgbClr val="6096E6">
                <a:shade val="50000"/>
              </a:srgbClr>
            </a:lnRef>
            <a:fillRef idx="1">
              <a:srgbClr val="6096E6"/>
            </a:fillRef>
            <a:effectRef idx="0">
              <a:srgbClr val="6096E6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5967" y="9463"/>
              <a:ext cx="34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财务运营指标</a:t>
              </a: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6371590" y="727075"/>
            <a:ext cx="3012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关键环节操作自动化率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371590" y="1597660"/>
            <a:ext cx="3012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员工加班率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6371590" y="1162685"/>
            <a:ext cx="3012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手工操作时间减少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6371590" y="2033270"/>
            <a:ext cx="3012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共享人均支撑营收上升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6371590" y="2632075"/>
            <a:ext cx="3012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单据驳回率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6371590" y="3465669"/>
            <a:ext cx="3012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凭证自动化率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6371590" y="3067685"/>
            <a:ext cx="3012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智能审核规则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6371590" y="3900644"/>
            <a:ext cx="3012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凭证准确率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6371590" y="4572000"/>
            <a:ext cx="3012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单体法报自动化率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6371590" y="5443220"/>
            <a:ext cx="3012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可视化运营指标数量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6371590" y="5976620"/>
            <a:ext cx="35140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战略财务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: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业务财务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: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共享财务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人数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371590" y="5008245"/>
            <a:ext cx="3012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单体法报出具日期</a:t>
            </a:r>
          </a:p>
        </p:txBody>
      </p:sp>
      <p:cxnSp>
        <p:nvCxnSpPr>
          <p:cNvPr id="70" name="直接连接符 69"/>
          <p:cNvCxnSpPr/>
          <p:nvPr/>
        </p:nvCxnSpPr>
        <p:spPr>
          <a:xfrm>
            <a:off x="6371590" y="2486660"/>
            <a:ext cx="5004000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6371590" y="4472310"/>
            <a:ext cx="5004000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26" name="组合 125"/>
          <p:cNvGrpSpPr/>
          <p:nvPr/>
        </p:nvGrpSpPr>
        <p:grpSpPr>
          <a:xfrm>
            <a:off x="9999980" y="727075"/>
            <a:ext cx="1189990" cy="5586730"/>
            <a:chOff x="14712" y="1145"/>
            <a:chExt cx="1874" cy="8798"/>
          </a:xfrm>
        </p:grpSpPr>
        <p:sp>
          <p:nvSpPr>
            <p:cNvPr id="78" name="文本框 77"/>
            <p:cNvSpPr txBox="1"/>
            <p:nvPr/>
          </p:nvSpPr>
          <p:spPr>
            <a:xfrm>
              <a:off x="14970" y="1145"/>
              <a:ext cx="161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&gt;90%</a:t>
              </a: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14712" y="2516"/>
              <a:ext cx="187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10</a:t>
              </a: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～</a:t>
              </a: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30%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14970" y="1831"/>
              <a:ext cx="161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&gt;30%</a:t>
              </a: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14970" y="3202"/>
              <a:ext cx="161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29%</a:t>
              </a: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4713" y="4145"/>
              <a:ext cx="187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5%~10%</a:t>
              </a:r>
              <a:endPara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4970" y="5502"/>
              <a:ext cx="161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&gt;90%</a:t>
              </a: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14970" y="4831"/>
              <a:ext cx="161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400+</a:t>
              </a: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14970" y="6187"/>
              <a:ext cx="161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98%</a:t>
              </a: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14970" y="7200"/>
              <a:ext cx="161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&gt;90%</a:t>
              </a: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14970" y="8572"/>
              <a:ext cx="161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30+</a:t>
              </a: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14970" y="9412"/>
              <a:ext cx="161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3:4:3</a:t>
              </a: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14970" y="7887"/>
              <a:ext cx="161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每月</a:t>
              </a: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2</a:t>
              </a: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号</a:t>
              </a:r>
            </a:p>
          </p:txBody>
        </p:sp>
      </p:grpSp>
      <p:cxnSp>
        <p:nvCxnSpPr>
          <p:cNvPr id="122" name="直接连接符 121"/>
          <p:cNvCxnSpPr/>
          <p:nvPr/>
        </p:nvCxnSpPr>
        <p:spPr>
          <a:xfrm>
            <a:off x="6371590" y="5878830"/>
            <a:ext cx="5004000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4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cap="all" dirty="0">
                <a:solidFill>
                  <a:schemeClr val="tx1"/>
                </a:solidFill>
                <a:uFillTx/>
                <a:latin typeface="+mn-lt"/>
                <a:ea typeface="+mn-ea"/>
                <a:cs typeface="+mn-ea"/>
                <a:sym typeface="+mn-lt"/>
              </a:rPr>
              <a:t>流程变革预期价值</a:t>
            </a:r>
            <a:r>
              <a:rPr lang="en-US" altLang="zh-CN" cap="all" dirty="0"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lang="zh-CN" altLang="en-US" cap="all" dirty="0">
                <a:uFillTx/>
                <a:latin typeface="+mn-lt"/>
                <a:ea typeface="+mn-ea"/>
                <a:cs typeface="+mn-ea"/>
                <a:sym typeface="+mn-lt"/>
              </a:rPr>
              <a:t>制造行业示例</a:t>
            </a:r>
            <a:r>
              <a:rPr lang="en-US" altLang="zh-CN" cap="all" dirty="0">
                <a:uFillTx/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cap="all" dirty="0">
              <a:solidFill>
                <a:schemeClr val="tx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0" name="文本占位符 49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zh-CN" altLang="en-US" cap="all">
                <a:solidFill>
                  <a:schemeClr val="tx1"/>
                </a:solidFill>
                <a:uFillTx/>
                <a:latin typeface="+mn-lt"/>
                <a:ea typeface="+mn-ea"/>
                <a:cs typeface="+mn-ea"/>
                <a:sym typeface="+mn-lt"/>
              </a:rPr>
              <a:t>降本增效</a:t>
            </a:r>
          </a:p>
        </p:txBody>
      </p:sp>
      <p:sp>
        <p:nvSpPr>
          <p:cNvPr id="55" name="圆角矩形 54"/>
          <p:cNvSpPr/>
          <p:nvPr/>
        </p:nvSpPr>
        <p:spPr>
          <a:xfrm rot="16200000">
            <a:off x="1280795" y="1517650"/>
            <a:ext cx="144145" cy="2195830"/>
          </a:xfrm>
          <a:prstGeom prst="roundRect">
            <a:avLst>
              <a:gd name="adj" fmla="val 50000"/>
            </a:avLst>
          </a:prstGeom>
          <a:gradFill>
            <a:gsLst>
              <a:gs pos="28000">
                <a:srgbClr val="A0D1FA">
                  <a:alpha val="0"/>
                </a:srgbClr>
              </a:gs>
              <a:gs pos="100000">
                <a:srgbClr val="A0D1FA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54635" y="3813175"/>
            <a:ext cx="1784985" cy="2332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通过各流程的关键难点优化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，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实现财务处理过程时间大幅缩短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398145" y="2320925"/>
            <a:ext cx="327342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月结时间</a:t>
            </a:r>
            <a:endParaRPr kumimoji="0" lang="zh-CN" altLang="en-US" sz="3200" b="1" i="0" u="none" strike="noStrike" kern="1200" cap="all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all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右箭头 73"/>
          <p:cNvSpPr/>
          <p:nvPr/>
        </p:nvSpPr>
        <p:spPr>
          <a:xfrm>
            <a:off x="1093470" y="2915920"/>
            <a:ext cx="255270" cy="210185"/>
          </a:xfrm>
          <a:prstGeom prst="rightArrow">
            <a:avLst/>
          </a:prstGeom>
          <a:gradFill>
            <a:gsLst>
              <a:gs pos="5000">
                <a:srgbClr val="1770EA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1770EA">
                      <a:lumMod val="5000"/>
                      <a:lumOff val="95000"/>
                    </a:srgbClr>
                  </a:gs>
                  <a:gs pos="74000">
                    <a:srgbClr val="1770EA">
                      <a:lumMod val="45000"/>
                      <a:lumOff val="55000"/>
                    </a:srgbClr>
                  </a:gs>
                  <a:gs pos="83000">
                    <a:srgbClr val="1770EA">
                      <a:lumMod val="45000"/>
                      <a:lumOff val="55000"/>
                    </a:srgbClr>
                  </a:gs>
                  <a:gs pos="100000">
                    <a:srgbClr val="1770EA">
                      <a:lumMod val="30000"/>
                      <a:lumOff val="70000"/>
                    </a:srgbClr>
                  </a:gs>
                </a:gsLst>
                <a:lin ang="10800000" scaled="0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90195" y="2807970"/>
            <a:ext cx="82994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all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10</a:t>
            </a:r>
            <a:r>
              <a:rPr kumimoji="0" lang="zh-CN" altLang="en-US" sz="2000" b="1" i="0" u="none" strike="noStrike" kern="1200" cap="all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天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1348740" y="2807970"/>
            <a:ext cx="8572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all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2</a:t>
            </a:r>
            <a:r>
              <a:rPr kumimoji="0" lang="zh-CN" altLang="en-US" sz="2000" b="1" i="0" u="none" strike="noStrike" kern="1200" cap="all" spc="0" normalizeH="0" baseline="0" noProof="0" dirty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天</a:t>
            </a:r>
          </a:p>
        </p:txBody>
      </p:sp>
      <p:graphicFrame>
        <p:nvGraphicFramePr>
          <p:cNvPr id="145" name="图示 144"/>
          <p:cNvGraphicFramePr/>
          <p:nvPr>
            <p:extLst>
              <p:ext uri="{D42A27DB-BD31-4B8C-83A1-F6EECF244321}">
                <p14:modId xmlns:p14="http://schemas.microsoft.com/office/powerpoint/2010/main" val="1531607046"/>
              </p:ext>
            </p:extLst>
          </p:nvPr>
        </p:nvGraphicFramePr>
        <p:xfrm>
          <a:off x="2219325" y="924560"/>
          <a:ext cx="9614535" cy="252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圆角矩形 15"/>
          <p:cNvSpPr/>
          <p:nvPr/>
        </p:nvSpPr>
        <p:spPr>
          <a:xfrm>
            <a:off x="2209165" y="1419225"/>
            <a:ext cx="9628505" cy="673100"/>
          </a:xfrm>
          <a:prstGeom prst="roundRect">
            <a:avLst>
              <a:gd name="adj" fmla="val 11000"/>
            </a:avLst>
          </a:prstGeom>
          <a:solidFill>
            <a:srgbClr val="2D62D2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254000" dist="190500" dir="2700000" algn="tl" rotWithShape="0">
              <a:srgbClr val="1E69D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0347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开票到收款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3260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收票到付款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26173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费用到报销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19086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投资到资产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11999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记录到报告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2204085" y="4451350"/>
            <a:ext cx="1908175" cy="192024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发票自动开具</a:t>
            </a:r>
            <a:r>
              <a:rPr kumimoji="0" lang="en-US" altLang="zh-CN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、</a:t>
            </a: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税费自动计算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应收自动清账</a:t>
            </a:r>
            <a:r>
              <a:rPr kumimoji="0" lang="en-US" altLang="zh-CN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、</a:t>
            </a: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超期自动催收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营收稽核优化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收款流水智能认领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4135120" y="4451350"/>
            <a:ext cx="1907540" cy="192024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发票自动采集</a:t>
            </a:r>
            <a:r>
              <a:rPr kumimoji="0" lang="en-US" altLang="zh-CN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、</a:t>
            </a: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识别、查重验真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智能AI审核单据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付款后自动清账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应付请款</a:t>
            </a:r>
            <a:r>
              <a:rPr kumimoji="0" lang="en-US" altLang="zh-CN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、</a:t>
            </a: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付款排程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6065520" y="4451350"/>
            <a:ext cx="1907540" cy="192024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费用报销自动填写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发票自动采集</a:t>
            </a:r>
            <a:r>
              <a:rPr kumimoji="0" lang="en-US" altLang="zh-CN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、</a:t>
            </a: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识别、查重验真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智能AI审核单据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应付请款</a:t>
            </a:r>
            <a:r>
              <a:rPr kumimoji="0" lang="en-US" altLang="zh-CN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、</a:t>
            </a: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付款排程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个人借款逾期提醒</a:t>
            </a:r>
          </a:p>
        </p:txBody>
      </p:sp>
      <p:sp>
        <p:nvSpPr>
          <p:cNvPr id="37" name="圆角矩形 36"/>
          <p:cNvSpPr/>
          <p:nvPr/>
        </p:nvSpPr>
        <p:spPr>
          <a:xfrm>
            <a:off x="7995920" y="4451350"/>
            <a:ext cx="1907540" cy="192024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固定资产线上管理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资产手机端盘点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9926320" y="4451350"/>
            <a:ext cx="1907540" cy="192024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主数据统一化管理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凭证自动生成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薪酬、税费月末计提分摊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智能对账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智能结账监控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单体报表自动出具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会计电子档案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6057900" y="2134235"/>
            <a:ext cx="1907540" cy="30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F1FC"/>
                </a:solidFill>
              </a14:hiddenFill>
            </a:ext>
          </a:extLst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all" spc="0" normalizeH="0" baseline="0" noProof="0">
                <a:ln>
                  <a:noFill/>
                </a:ln>
                <a:gradFill>
                  <a:gsLst>
                    <a:gs pos="50000">
                      <a:srgbClr val="1770EA"/>
                    </a:gs>
                    <a:gs pos="0">
                      <a:srgbClr val="1770EA">
                        <a:lumMod val="25000"/>
                        <a:lumOff val="75000"/>
                      </a:srgbClr>
                    </a:gs>
                    <a:gs pos="100000">
                      <a:srgbClr val="1770EA">
                        <a:lumMod val="85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cs typeface="+mn-ea"/>
                <a:sym typeface="+mn-lt"/>
              </a:rPr>
              <a:t>预期效果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6087110" y="4128770"/>
            <a:ext cx="1907540" cy="30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1F7FE"/>
                </a:solidFill>
              </a14:hiddenFill>
            </a:ext>
          </a:extLst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all" spc="0" normalizeH="0" baseline="0" noProof="0">
                <a:ln>
                  <a:noFill/>
                </a:ln>
                <a:gradFill>
                  <a:gsLst>
                    <a:gs pos="50000">
                      <a:srgbClr val="1770EA"/>
                    </a:gs>
                    <a:gs pos="0">
                      <a:srgbClr val="1770EA">
                        <a:lumMod val="25000"/>
                        <a:lumOff val="75000"/>
                      </a:srgbClr>
                    </a:gs>
                    <a:gs pos="100000">
                      <a:srgbClr val="1770EA">
                        <a:lumMod val="85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cs typeface="+mn-ea"/>
                <a:sym typeface="+mn-lt"/>
              </a:rPr>
              <a:t>关键解决方案</a:t>
            </a:r>
          </a:p>
        </p:txBody>
      </p:sp>
      <p:grpSp>
        <p:nvGrpSpPr>
          <p:cNvPr id="157" name="组合 156"/>
          <p:cNvGrpSpPr/>
          <p:nvPr/>
        </p:nvGrpSpPr>
        <p:grpSpPr>
          <a:xfrm>
            <a:off x="3050540" y="1242695"/>
            <a:ext cx="7943850" cy="106045"/>
            <a:chOff x="4804" y="1909"/>
            <a:chExt cx="12510" cy="260"/>
          </a:xfrm>
          <a:gradFill>
            <a:gsLst>
              <a:gs pos="0">
                <a:srgbClr val="BDD4F6"/>
              </a:gs>
              <a:gs pos="100000">
                <a:srgbClr val="4D8DE5"/>
              </a:gs>
            </a:gsLst>
            <a:lin ang="5400000" scaled="1"/>
          </a:gradFill>
        </p:grpSpPr>
        <p:sp>
          <p:nvSpPr>
            <p:cNvPr id="152" name="等腰三角形 151"/>
            <p:cNvSpPr/>
            <p:nvPr/>
          </p:nvSpPr>
          <p:spPr>
            <a:xfrm>
              <a:off x="4804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3" name="等腰三角形 152"/>
            <p:cNvSpPr/>
            <p:nvPr/>
          </p:nvSpPr>
          <p:spPr>
            <a:xfrm>
              <a:off x="7847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4" name="等腰三角形 153"/>
            <p:cNvSpPr/>
            <p:nvPr/>
          </p:nvSpPr>
          <p:spPr>
            <a:xfrm>
              <a:off x="10890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5" name="等腰三角形 154"/>
            <p:cNvSpPr/>
            <p:nvPr/>
          </p:nvSpPr>
          <p:spPr>
            <a:xfrm>
              <a:off x="13933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6" name="等腰三角形 155"/>
            <p:cNvSpPr/>
            <p:nvPr/>
          </p:nvSpPr>
          <p:spPr>
            <a:xfrm>
              <a:off x="16976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2219325" y="2510790"/>
            <a:ext cx="9629775" cy="1560830"/>
            <a:chOff x="3495" y="3954"/>
            <a:chExt cx="15165" cy="2458"/>
          </a:xfrm>
        </p:grpSpPr>
        <p:sp>
          <p:nvSpPr>
            <p:cNvPr id="21" name="圆角矩形 20"/>
            <p:cNvSpPr/>
            <p:nvPr/>
          </p:nvSpPr>
          <p:spPr>
            <a:xfrm>
              <a:off x="3495" y="3954"/>
              <a:ext cx="3005" cy="2458"/>
            </a:xfrm>
            <a:prstGeom prst="roundRect">
              <a:avLst>
                <a:gd name="adj" fmla="val 10513"/>
              </a:avLst>
            </a:prstGeom>
            <a:solidFill>
              <a:schemeClr val="bg1"/>
            </a:solidFill>
            <a:ln>
              <a:solidFill>
                <a:srgbClr val="A0D1FA">
                  <a:alpha val="43000"/>
                </a:srgbClr>
              </a:solidFill>
            </a:ln>
            <a:effectLst>
              <a:outerShdw blurRad="190500" dist="101600" dir="2700000" algn="tl" rotWithShape="0">
                <a:srgbClr val="2D62D2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应收清算自动化率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超期款自动催收率</a:t>
              </a:r>
              <a:r>
                <a:rPr kumimoji="0" lang="en-US" altLang="zh-CN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 </a:t>
              </a:r>
              <a:endParaRPr kumimoji="0" lang="en-US" altLang="zh-CN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收款认领时长缩短</a:t>
              </a:r>
              <a:r>
                <a:rPr kumimoji="0" lang="en-US" altLang="zh-CN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 </a:t>
              </a:r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6536" y="3954"/>
              <a:ext cx="3004" cy="2458"/>
            </a:xfrm>
            <a:prstGeom prst="roundRect">
              <a:avLst>
                <a:gd name="adj" fmla="val 10513"/>
              </a:avLst>
            </a:prstGeom>
            <a:solidFill>
              <a:schemeClr val="bg1"/>
            </a:solidFill>
            <a:ln>
              <a:solidFill>
                <a:srgbClr val="A0D1FA">
                  <a:alpha val="43000"/>
                </a:srgbClr>
              </a:solidFill>
            </a:ln>
            <a:effectLst>
              <a:outerShdw blurRad="190500" dist="101600" dir="2700000" algn="tl" rotWithShape="0">
                <a:srgbClr val="2D62D2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应付清算自动化率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付款排程自动化率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银企直连</a:t>
              </a:r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9576" y="3954"/>
              <a:ext cx="3004" cy="2458"/>
            </a:xfrm>
            <a:prstGeom prst="roundRect">
              <a:avLst>
                <a:gd name="adj" fmla="val 10513"/>
              </a:avLst>
            </a:prstGeom>
            <a:solidFill>
              <a:schemeClr val="bg1"/>
            </a:solidFill>
            <a:ln>
              <a:solidFill>
                <a:srgbClr val="A0D1FA">
                  <a:alpha val="43000"/>
                </a:srgbClr>
              </a:solidFill>
            </a:ln>
            <a:effectLst>
              <a:outerShdw blurRad="190500" dist="101600" dir="2700000" algn="tl" rotWithShape="0">
                <a:srgbClr val="2D62D2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endPara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个人借款逾期提醒率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endPara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对私报销时间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endPara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12616" y="3954"/>
              <a:ext cx="3004" cy="2458"/>
            </a:xfrm>
            <a:prstGeom prst="roundRect">
              <a:avLst>
                <a:gd name="adj" fmla="val 10513"/>
              </a:avLst>
            </a:prstGeom>
            <a:solidFill>
              <a:schemeClr val="bg1"/>
            </a:solidFill>
            <a:ln>
              <a:solidFill>
                <a:srgbClr val="A0D1FA">
                  <a:alpha val="43000"/>
                </a:srgbClr>
              </a:solidFill>
            </a:ln>
            <a:effectLst>
              <a:outerShdw blurRad="190500" dist="101600" dir="2700000" algn="tl" rotWithShape="0">
                <a:srgbClr val="2D62D2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流程效率提升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endPara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智能盘点提效</a:t>
              </a: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15656" y="3954"/>
              <a:ext cx="3004" cy="2458"/>
            </a:xfrm>
            <a:prstGeom prst="roundRect">
              <a:avLst>
                <a:gd name="adj" fmla="val 10513"/>
              </a:avLst>
            </a:prstGeom>
            <a:solidFill>
              <a:schemeClr val="bg1"/>
            </a:solidFill>
            <a:ln>
              <a:solidFill>
                <a:srgbClr val="A0D1FA">
                  <a:alpha val="43000"/>
                </a:srgbClr>
              </a:solidFill>
            </a:ln>
            <a:effectLst>
              <a:outerShdw blurRad="190500" dist="101600" dir="2700000" algn="tl" rotWithShape="0">
                <a:srgbClr val="2D62D2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凭证自动化率</a:t>
              </a:r>
              <a:r>
                <a:rPr kumimoji="0" lang="en-US" altLang="zh-CN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 </a:t>
              </a:r>
              <a:endPara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单体法报自动化率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档案装订工作量减少</a:t>
              </a:r>
              <a:r>
                <a:rPr kumimoji="0" lang="en-US" altLang="zh-CN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 </a:t>
              </a:r>
            </a:p>
          </p:txBody>
        </p:sp>
        <p:sp>
          <p:nvSpPr>
            <p:cNvPr id="158" name="文本框 157"/>
            <p:cNvSpPr txBox="1"/>
            <p:nvPr/>
          </p:nvSpPr>
          <p:spPr>
            <a:xfrm>
              <a:off x="7874" y="4577"/>
              <a:ext cx="1710" cy="119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90%</a:t>
              </a:r>
              <a:r>
                <a:rPr kumimoji="0" lang="en-US" altLang="zh-CN" sz="1000" b="0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 </a:t>
              </a:r>
              <a:endPara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100%</a:t>
              </a:r>
              <a:endPara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80%～99%</a:t>
              </a:r>
            </a:p>
          </p:txBody>
        </p:sp>
        <p:sp>
          <p:nvSpPr>
            <p:cNvPr id="159" name="文本框 158"/>
            <p:cNvSpPr txBox="1"/>
            <p:nvPr/>
          </p:nvSpPr>
          <p:spPr>
            <a:xfrm>
              <a:off x="5534" y="4549"/>
              <a:ext cx="969" cy="119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97%</a:t>
              </a: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100%</a:t>
              </a: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30%</a:t>
              </a:r>
            </a:p>
          </p:txBody>
        </p:sp>
        <p:sp>
          <p:nvSpPr>
            <p:cNvPr id="161" name="文本框 160"/>
            <p:cNvSpPr txBox="1"/>
            <p:nvPr/>
          </p:nvSpPr>
          <p:spPr>
            <a:xfrm>
              <a:off x="10849" y="4567"/>
              <a:ext cx="1710" cy="161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100%</a:t>
              </a: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1～2</a:t>
              </a:r>
              <a:r>
                <a:rPr kumimoji="0" lang="zh-CN" altLang="en-US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天</a:t>
              </a:r>
            </a:p>
          </p:txBody>
        </p:sp>
        <p:sp>
          <p:nvSpPr>
            <p:cNvPr id="162" name="文本框 161"/>
            <p:cNvSpPr txBox="1"/>
            <p:nvPr/>
          </p:nvSpPr>
          <p:spPr>
            <a:xfrm>
              <a:off x="13939" y="4568"/>
              <a:ext cx="1710" cy="161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20%</a:t>
              </a: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40%</a:t>
              </a:r>
              <a:endParaRPr kumimoji="0" lang="zh-CN" altLang="en-US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5" name="文本框 164"/>
            <p:cNvSpPr txBox="1"/>
            <p:nvPr/>
          </p:nvSpPr>
          <p:spPr>
            <a:xfrm>
              <a:off x="17300" y="4536"/>
              <a:ext cx="1350" cy="119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&gt;90%</a:t>
              </a:r>
              <a:r>
                <a:rPr kumimoji="0" lang="en-US" altLang="zh-CN" sz="1000" b="0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 </a:t>
              </a:r>
              <a:endPara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cs typeface="+mn-ea"/>
                  <a:sym typeface="+mn-lt"/>
                </a:rPr>
                <a:t>&gt;90%</a:t>
              </a:r>
              <a:r>
                <a:rPr kumimoji="0" lang="en-US" altLang="zh-CN" sz="1000" b="0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 </a:t>
              </a:r>
              <a:endPara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60%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4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cap="all">
                <a:solidFill>
                  <a:schemeClr val="tx1"/>
                </a:solidFill>
                <a:uFillTx/>
                <a:latin typeface="+mn-lt"/>
                <a:ea typeface="+mn-ea"/>
                <a:cs typeface="+mn-ea"/>
                <a:sym typeface="+mn-lt"/>
              </a:rPr>
              <a:t>流程变革预期价值</a:t>
            </a:r>
            <a:r>
              <a:rPr lang="en-US" altLang="zh-CN" cap="all"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lang="zh-CN" altLang="en-US" cap="all">
                <a:uFillTx/>
                <a:latin typeface="+mn-lt"/>
                <a:ea typeface="+mn-ea"/>
                <a:cs typeface="+mn-ea"/>
                <a:sym typeface="+mn-lt"/>
              </a:rPr>
              <a:t>制造行业示例</a:t>
            </a:r>
            <a:r>
              <a:rPr lang="en-US" altLang="zh-CN" cap="all">
                <a:uFillTx/>
                <a:latin typeface="+mn-lt"/>
                <a:ea typeface="+mn-ea"/>
                <a:cs typeface="+mn-ea"/>
                <a:sym typeface="+mn-lt"/>
              </a:rPr>
              <a:t>）</a:t>
            </a:r>
            <a:endParaRPr lang="en-US" altLang="zh-CN" cap="all">
              <a:solidFill>
                <a:schemeClr val="tx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0" name="文本占位符 49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zh-CN" altLang="en-US" cap="all">
                <a:solidFill>
                  <a:schemeClr val="tx1"/>
                </a:solidFill>
                <a:uFillTx/>
                <a:latin typeface="+mn-lt"/>
                <a:ea typeface="+mn-ea"/>
                <a:cs typeface="+mn-ea"/>
                <a:sym typeface="+mn-lt"/>
              </a:rPr>
              <a:t>风险管控</a:t>
            </a:r>
          </a:p>
        </p:txBody>
      </p:sp>
      <p:sp>
        <p:nvSpPr>
          <p:cNvPr id="55" name="圆角矩形 54"/>
          <p:cNvSpPr/>
          <p:nvPr/>
        </p:nvSpPr>
        <p:spPr>
          <a:xfrm rot="16200000">
            <a:off x="1280795" y="1517650"/>
            <a:ext cx="144145" cy="2195830"/>
          </a:xfrm>
          <a:prstGeom prst="roundRect">
            <a:avLst>
              <a:gd name="adj" fmla="val 50000"/>
            </a:avLst>
          </a:prstGeom>
          <a:gradFill>
            <a:gsLst>
              <a:gs pos="28000">
                <a:srgbClr val="A0D1FA">
                  <a:alpha val="0"/>
                </a:srgbClr>
              </a:gs>
              <a:gs pos="100000">
                <a:srgbClr val="A0D1FA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54635" y="3813175"/>
            <a:ext cx="1784985" cy="2332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通过业务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、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财务各流程的关键环节管控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，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落实风险控制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398145" y="2320925"/>
            <a:ext cx="32734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强管控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398145" y="2807970"/>
            <a:ext cx="15392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all" spc="0" normalizeH="0" baseline="0" noProof="0">
                <a:ln>
                  <a:noFill/>
                </a:ln>
                <a:solidFill>
                  <a:srgbClr val="1770EA"/>
                </a:solidFill>
                <a:effectLst/>
                <a:uLnTx/>
                <a:uFillTx/>
                <a:cs typeface="+mn-ea"/>
                <a:sym typeface="+mn-lt"/>
              </a:rPr>
              <a:t>差错率&lt;2%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2209165" y="1419225"/>
            <a:ext cx="9628505" cy="673100"/>
          </a:xfrm>
          <a:prstGeom prst="roundRect">
            <a:avLst>
              <a:gd name="adj" fmla="val 11000"/>
            </a:avLst>
          </a:prstGeom>
          <a:solidFill>
            <a:srgbClr val="2D62D2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254000" dist="190500" dir="2700000" algn="tl" rotWithShape="0">
              <a:srgbClr val="1E69D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0347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开票到收款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3260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收票到付款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26173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费用到报销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19086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投资到资产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11999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记录到报告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2204085" y="4451350"/>
            <a:ext cx="1908175" cy="192024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客户信用风险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智能对账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应收账款逾期风险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单据审核线上统一化管理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银企收款</a:t>
            </a:r>
            <a:r>
              <a:rPr kumimoji="0" lang="en-US" altLang="zh-CN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、</a:t>
            </a: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自动认领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4135120" y="4451350"/>
            <a:ext cx="1907540" cy="192024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供应商信用风险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智能对账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资金支付安全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单据审核线上统一化管理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不合规发票拦截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涉税风险检查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6065520" y="4451350"/>
            <a:ext cx="1907540" cy="192024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预算和费用报销强关联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违规报销检查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资金支付安全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单据审核线上统一化管理</a:t>
            </a:r>
          </a:p>
        </p:txBody>
      </p:sp>
      <p:sp>
        <p:nvSpPr>
          <p:cNvPr id="37" name="圆角矩形 36"/>
          <p:cNvSpPr/>
          <p:nvPr/>
        </p:nvSpPr>
        <p:spPr>
          <a:xfrm>
            <a:off x="7995920" y="4451350"/>
            <a:ext cx="1907540" cy="192024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固定资产线上管理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单据审核线上统一化管理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9926320" y="4451350"/>
            <a:ext cx="1907540" cy="192024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入账科目准确性核对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往来科目核对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智能对账检查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智能结账监控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智能结账检查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风险指标看板实时预警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6057900" y="2134235"/>
            <a:ext cx="1907540" cy="30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F1FC"/>
                </a:solidFill>
              </a14:hiddenFill>
            </a:ext>
          </a:extLst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all" spc="0" normalizeH="0" baseline="0" noProof="0">
                <a:ln>
                  <a:noFill/>
                </a:ln>
                <a:gradFill>
                  <a:gsLst>
                    <a:gs pos="50000">
                      <a:srgbClr val="1770EA"/>
                    </a:gs>
                    <a:gs pos="0">
                      <a:srgbClr val="1770EA">
                        <a:lumMod val="25000"/>
                        <a:lumOff val="75000"/>
                      </a:srgbClr>
                    </a:gs>
                    <a:gs pos="100000">
                      <a:srgbClr val="1770EA">
                        <a:lumMod val="85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cs typeface="+mn-ea"/>
                <a:sym typeface="+mn-lt"/>
              </a:rPr>
              <a:t>预期效果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6087110" y="4128770"/>
            <a:ext cx="1907540" cy="30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1F7FE"/>
                </a:solidFill>
              </a14:hiddenFill>
            </a:ext>
          </a:extLst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all" spc="0" normalizeH="0" baseline="0" noProof="0">
                <a:ln>
                  <a:noFill/>
                </a:ln>
                <a:gradFill>
                  <a:gsLst>
                    <a:gs pos="50000">
                      <a:srgbClr val="1770EA"/>
                    </a:gs>
                    <a:gs pos="0">
                      <a:srgbClr val="1770EA">
                        <a:lumMod val="25000"/>
                        <a:lumOff val="75000"/>
                      </a:srgbClr>
                    </a:gs>
                    <a:gs pos="100000">
                      <a:srgbClr val="1770EA">
                        <a:lumMod val="85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cs typeface="+mn-ea"/>
                <a:sym typeface="+mn-lt"/>
              </a:rPr>
              <a:t>重点风险管控项</a:t>
            </a:r>
          </a:p>
        </p:txBody>
      </p:sp>
      <p:graphicFrame>
        <p:nvGraphicFramePr>
          <p:cNvPr id="13" name="图示 12"/>
          <p:cNvGraphicFramePr/>
          <p:nvPr>
            <p:extLst>
              <p:ext uri="{D42A27DB-BD31-4B8C-83A1-F6EECF244321}">
                <p14:modId xmlns:p14="http://schemas.microsoft.com/office/powerpoint/2010/main" val="1332588362"/>
              </p:ext>
            </p:extLst>
          </p:nvPr>
        </p:nvGraphicFramePr>
        <p:xfrm>
          <a:off x="2219325" y="924560"/>
          <a:ext cx="9576000" cy="252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3050540" y="1242695"/>
            <a:ext cx="7943850" cy="106045"/>
            <a:chOff x="4804" y="1909"/>
            <a:chExt cx="12510" cy="260"/>
          </a:xfrm>
          <a:gradFill>
            <a:gsLst>
              <a:gs pos="0">
                <a:srgbClr val="BDD4F6"/>
              </a:gs>
              <a:gs pos="100000">
                <a:srgbClr val="4D8DE5"/>
              </a:gs>
            </a:gsLst>
            <a:lin ang="5400000" scaled="1"/>
          </a:gradFill>
        </p:grpSpPr>
        <p:sp>
          <p:nvSpPr>
            <p:cNvPr id="15" name="等腰三角形 14"/>
            <p:cNvSpPr/>
            <p:nvPr/>
          </p:nvSpPr>
          <p:spPr>
            <a:xfrm>
              <a:off x="4804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>
              <a:off x="7847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>
              <a:off x="10890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等腰三角形 18"/>
            <p:cNvSpPr/>
            <p:nvPr/>
          </p:nvSpPr>
          <p:spPr>
            <a:xfrm>
              <a:off x="13933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16976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8" name="圆角矩形 27"/>
          <p:cNvSpPr/>
          <p:nvPr/>
        </p:nvSpPr>
        <p:spPr>
          <a:xfrm>
            <a:off x="2219325" y="2510790"/>
            <a:ext cx="1908175" cy="156083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智能审核规则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单据驳回率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抽查不合规单据比例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超期款自动催收</a:t>
            </a:r>
            <a:endParaRPr kumimoji="0" lang="en-US" altLang="zh-CN" sz="1000" b="0" i="0" u="none" strike="noStrike" kern="1200" cap="all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4150360" y="2510790"/>
            <a:ext cx="1907540" cy="156083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智能审核规则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单据驳回率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抽查不合规单据比例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重复付款次数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6080760" y="2510790"/>
            <a:ext cx="1907540" cy="156083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智能审核规则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不合规报销次数比例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重复付款次数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8011160" y="2510790"/>
            <a:ext cx="1907540" cy="156083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智能审核规则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单据驳回率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抽查不合规单据数量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9941560" y="2510790"/>
            <a:ext cx="1907540" cy="156083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智能审核规则</a:t>
            </a:r>
            <a:r>
              <a:rPr kumimoji="0" lang="en-US" altLang="zh-CN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凭证准确率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抽查不合规单据数量</a:t>
            </a:r>
            <a:r>
              <a:rPr kumimoji="0" lang="en-US" altLang="zh-CN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endParaRPr kumimoji="0" lang="zh-CN" altLang="en-US" sz="1000" b="0" i="0" u="none" strike="noStrike" kern="1200" cap="all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r>
              <a: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可视化运营指标</a:t>
            </a:r>
            <a:r>
              <a:rPr kumimoji="0" lang="en-US" altLang="zh-CN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3265805" y="2792095"/>
            <a:ext cx="87058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28</a:t>
            </a:r>
            <a:r>
              <a:rPr kumimoji="0" lang="zh-CN" altLang="en-US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个</a:t>
            </a:r>
            <a:endParaRPr kumimoji="0" lang="en-US" sz="1000" b="1" i="0" u="none" strike="noStrike" kern="1200" cap="all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5～10%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&lt;2%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100%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387590" y="2924524"/>
            <a:ext cx="594360" cy="1022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all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217</a:t>
            </a:r>
            <a:r>
              <a:rPr kumimoji="0" lang="zh-CN" altLang="en-US" sz="1000" b="1" i="0" u="none" strike="noStrike" kern="1200" cap="all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rPr>
              <a:t>个</a:t>
            </a:r>
            <a:endParaRPr kumimoji="0" lang="en-US" altLang="zh-CN" sz="1000" b="1" i="0" u="none" strike="noStrike" kern="1200" cap="all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&lt;</a:t>
            </a:r>
            <a:r>
              <a:rPr kumimoji="0" lang="en-US" altLang="zh-CN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1%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0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8858250" y="2949747"/>
            <a:ext cx="1085850" cy="1022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15</a:t>
            </a:r>
            <a:r>
              <a:rPr kumimoji="0" lang="zh-CN" altLang="en-US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个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5～10%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&lt;2%</a:t>
            </a:r>
            <a:endParaRPr kumimoji="0" lang="zh-CN" altLang="en-US" sz="1000" b="1" i="0" u="none" strike="noStrike" kern="1200" cap="all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002010" y="2792095"/>
            <a:ext cx="85725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r>
              <a:rPr kumimoji="0" lang="en-US" altLang="zh-CN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31</a:t>
            </a:r>
            <a:r>
              <a:rPr kumimoji="0" lang="zh-CN" altLang="en-US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个</a:t>
            </a:r>
            <a:r>
              <a:rPr kumimoji="0" lang="en-US" altLang="zh-CN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r>
              <a:rPr kumimoji="0" lang="en-US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98%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r>
              <a:rPr kumimoji="0" lang="en-US" altLang="zh-CN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&lt;2%</a:t>
            </a:r>
            <a:r>
              <a:rPr kumimoji="0" lang="en-US" altLang="zh-CN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endParaRPr kumimoji="0" lang="en-US" altLang="zh-CN" sz="1000" b="1" i="0" u="none" strike="noStrike" kern="1200" cap="all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r>
              <a:rPr kumimoji="0" lang="en-US" altLang="zh-CN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30+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5223510" y="2792095"/>
            <a:ext cx="87058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145</a:t>
            </a:r>
            <a:r>
              <a:rPr kumimoji="0" lang="zh-CN" altLang="en-US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个</a:t>
            </a:r>
            <a:endParaRPr kumimoji="0" lang="en-US" sz="1000" b="1" i="0" u="none" strike="noStrike" kern="1200" cap="all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5～10%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&lt;2%</a:t>
            </a:r>
            <a:endParaRPr kumimoji="0" lang="en-US" sz="1000" b="1" i="0" u="none" strike="noStrike" kern="1200" cap="all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0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8847455" y="2491105"/>
            <a:ext cx="2986405" cy="156083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9" name="标题 4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cap="all" dirty="0">
                <a:solidFill>
                  <a:schemeClr val="tx1"/>
                </a:solidFill>
                <a:uFillTx/>
                <a:latin typeface="+mn-lt"/>
                <a:ea typeface="+mn-ea"/>
                <a:cs typeface="+mn-ea"/>
                <a:sym typeface="+mn-lt"/>
              </a:rPr>
              <a:t>流程变革预期价值</a:t>
            </a:r>
            <a:r>
              <a:rPr lang="en-US" altLang="zh-CN" cap="all" dirty="0"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lang="zh-CN" altLang="en-US" cap="all" dirty="0">
                <a:uFillTx/>
                <a:latin typeface="+mn-lt"/>
                <a:ea typeface="+mn-ea"/>
                <a:cs typeface="+mn-ea"/>
                <a:sym typeface="+mn-lt"/>
              </a:rPr>
              <a:t>制造行业示例</a:t>
            </a:r>
            <a:r>
              <a:rPr lang="en-US" altLang="zh-CN" cap="all" dirty="0">
                <a:uFillTx/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cap="all" dirty="0">
              <a:solidFill>
                <a:schemeClr val="tx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0" name="文本占位符 49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zh-CN" altLang="en-US" cap="all">
                <a:solidFill>
                  <a:schemeClr val="tx1"/>
                </a:solidFill>
                <a:uFillTx/>
                <a:latin typeface="+mn-lt"/>
                <a:ea typeface="+mn-ea"/>
                <a:cs typeface="+mn-ea"/>
                <a:sym typeface="+mn-lt"/>
              </a:rPr>
              <a:t>决策支持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254635" y="3813175"/>
            <a:ext cx="1784985" cy="2332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构建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372EF"/>
                </a:solidFill>
                <a:effectLst/>
                <a:uLnTx/>
                <a:uFillTx/>
                <a:cs typeface="+mn-ea"/>
                <a:sym typeface="+mn-lt"/>
              </a:rPr>
              <a:t>数据集市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结合智能数据服务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实现快速出具业财数据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实现对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372EF"/>
                </a:solidFill>
                <a:effectLst/>
                <a:uLnTx/>
                <a:uFillTx/>
                <a:cs typeface="+mn-ea"/>
                <a:sym typeface="+mn-lt"/>
              </a:rPr>
              <a:t>业务经营的决策支撑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55270" y="2219960"/>
            <a:ext cx="2195830" cy="467995"/>
            <a:chOff x="402" y="3496"/>
            <a:chExt cx="3458" cy="737"/>
          </a:xfrm>
        </p:grpSpPr>
        <p:sp>
          <p:nvSpPr>
            <p:cNvPr id="55" name="圆角矩形 54"/>
            <p:cNvSpPr/>
            <p:nvPr/>
          </p:nvSpPr>
          <p:spPr>
            <a:xfrm rot="16200000">
              <a:off x="2017" y="2390"/>
              <a:ext cx="227" cy="3458"/>
            </a:xfrm>
            <a:prstGeom prst="roundRect">
              <a:avLst>
                <a:gd name="adj" fmla="val 50000"/>
              </a:avLst>
            </a:prstGeom>
            <a:gradFill>
              <a:gsLst>
                <a:gs pos="28000">
                  <a:srgbClr val="A0D1FA">
                    <a:alpha val="0"/>
                  </a:srgbClr>
                </a:gs>
                <a:gs pos="100000">
                  <a:srgbClr val="A0D1FA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684" y="3496"/>
              <a:ext cx="3176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更快更全</a:t>
              </a:r>
            </a:p>
          </p:txBody>
        </p:sp>
      </p:grpSp>
      <p:graphicFrame>
        <p:nvGraphicFramePr>
          <p:cNvPr id="145" name="图示 144"/>
          <p:cNvGraphicFramePr/>
          <p:nvPr>
            <p:extLst>
              <p:ext uri="{D42A27DB-BD31-4B8C-83A1-F6EECF244321}">
                <p14:modId xmlns:p14="http://schemas.microsoft.com/office/powerpoint/2010/main" val="303720023"/>
              </p:ext>
            </p:extLst>
          </p:nvPr>
        </p:nvGraphicFramePr>
        <p:xfrm>
          <a:off x="2219325" y="924560"/>
          <a:ext cx="9614535" cy="252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6" name="圆角矩形 15"/>
          <p:cNvSpPr/>
          <p:nvPr/>
        </p:nvSpPr>
        <p:spPr>
          <a:xfrm>
            <a:off x="2209165" y="1419225"/>
            <a:ext cx="9628505" cy="673100"/>
          </a:xfrm>
          <a:prstGeom prst="roundRect">
            <a:avLst>
              <a:gd name="adj" fmla="val 11000"/>
            </a:avLst>
          </a:prstGeom>
          <a:solidFill>
            <a:srgbClr val="2D62D2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254000" dist="190500" dir="2700000" algn="tl" rotWithShape="0">
              <a:srgbClr val="1E69D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0347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开票到收款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3260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收票到付款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26173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费用到报销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19086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投资到资产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119995" y="156464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2700000" algn="tl" rotWithShape="0">
                    <a:srgbClr val="2D62D2">
                      <a:alpha val="40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记录到报告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2205990" y="4442460"/>
            <a:ext cx="4791710" cy="192024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建设数据集市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集成多个前端系统，实现数据集中与统一核算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业财数据启用多数据维度，并保持与原始业务数据一致，满足管理分析的诉求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7042785" y="4451350"/>
            <a:ext cx="4791075" cy="192024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endParaRPr kumimoji="0" lang="zh-CN" altLang="en-US" sz="1000" b="1" i="0" u="none" strike="noStrike" kern="1200" cap="all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智能应用</a:t>
            </a:r>
            <a:r>
              <a:rPr kumimoji="0" lang="en-US" altLang="zh-CN" sz="1000" b="1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、</a:t>
            </a:r>
            <a:r>
              <a:rPr kumimoji="0" lang="zh-CN" altLang="en-US" sz="1000" b="1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数据服务</a:t>
            </a:r>
            <a:r>
              <a:rPr kumimoji="0" lang="en-US" altLang="zh-CN" sz="1000" b="1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，</a:t>
            </a:r>
            <a:r>
              <a:rPr kumimoji="0" lang="zh-CN" altLang="en-US" sz="1000" b="1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提升财务分析能力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数据服务</a:t>
            </a:r>
            <a:r>
              <a:rPr kumimoji="0" lang="en-US" altLang="zh-CN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，</a:t>
            </a: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财务指标运营管理、看板展示、实时监控和预警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智能AI：智能经营分析和数据洞察，数据驱动管理决策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endParaRPr kumimoji="0" lang="zh-CN" altLang="en-US" sz="1000" b="0" i="0" u="none" strike="noStrike" kern="1200" cap="all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6057900" y="2134235"/>
            <a:ext cx="1907540" cy="30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F1FC"/>
                </a:solidFill>
              </a14:hiddenFill>
            </a:ext>
          </a:extLst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all" spc="0" normalizeH="0" baseline="0" noProof="0">
                <a:ln>
                  <a:noFill/>
                </a:ln>
                <a:gradFill>
                  <a:gsLst>
                    <a:gs pos="50000">
                      <a:srgbClr val="1770EA"/>
                    </a:gs>
                    <a:gs pos="0">
                      <a:srgbClr val="1770EA">
                        <a:lumMod val="25000"/>
                        <a:lumOff val="75000"/>
                      </a:srgbClr>
                    </a:gs>
                    <a:gs pos="100000">
                      <a:srgbClr val="1770EA">
                        <a:lumMod val="85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cs typeface="+mn-ea"/>
                <a:sym typeface="+mn-lt"/>
              </a:rPr>
              <a:t>预期效果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6087110" y="4128770"/>
            <a:ext cx="1907540" cy="30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1F7FE"/>
                </a:solidFill>
              </a14:hiddenFill>
            </a:ext>
          </a:extLst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all" spc="0" normalizeH="0" baseline="0" noProof="0">
                <a:ln>
                  <a:noFill/>
                </a:ln>
                <a:gradFill>
                  <a:gsLst>
                    <a:gs pos="50000">
                      <a:srgbClr val="1770EA"/>
                    </a:gs>
                    <a:gs pos="0">
                      <a:srgbClr val="1770EA">
                        <a:lumMod val="25000"/>
                        <a:lumOff val="75000"/>
                      </a:srgbClr>
                    </a:gs>
                    <a:gs pos="100000">
                      <a:srgbClr val="1770EA">
                        <a:lumMod val="85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cs typeface="+mn-ea"/>
                <a:sym typeface="+mn-lt"/>
              </a:rPr>
              <a:t>关键解决方案</a:t>
            </a:r>
          </a:p>
        </p:txBody>
      </p:sp>
      <p:grpSp>
        <p:nvGrpSpPr>
          <p:cNvPr id="157" name="组合 156"/>
          <p:cNvGrpSpPr/>
          <p:nvPr/>
        </p:nvGrpSpPr>
        <p:grpSpPr>
          <a:xfrm>
            <a:off x="3050540" y="1242695"/>
            <a:ext cx="7943850" cy="106045"/>
            <a:chOff x="4804" y="1909"/>
            <a:chExt cx="12510" cy="260"/>
          </a:xfrm>
          <a:gradFill>
            <a:gsLst>
              <a:gs pos="0">
                <a:srgbClr val="BDD4F6"/>
              </a:gs>
              <a:gs pos="100000">
                <a:srgbClr val="4D8DE5"/>
              </a:gs>
            </a:gsLst>
            <a:lin ang="5400000" scaled="1"/>
          </a:gradFill>
        </p:grpSpPr>
        <p:sp>
          <p:nvSpPr>
            <p:cNvPr id="152" name="等腰三角形 151"/>
            <p:cNvSpPr/>
            <p:nvPr/>
          </p:nvSpPr>
          <p:spPr>
            <a:xfrm>
              <a:off x="4804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3" name="等腰三角形 152"/>
            <p:cNvSpPr/>
            <p:nvPr/>
          </p:nvSpPr>
          <p:spPr>
            <a:xfrm>
              <a:off x="7847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4" name="等腰三角形 153"/>
            <p:cNvSpPr/>
            <p:nvPr/>
          </p:nvSpPr>
          <p:spPr>
            <a:xfrm>
              <a:off x="10890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5" name="等腰三角形 154"/>
            <p:cNvSpPr/>
            <p:nvPr/>
          </p:nvSpPr>
          <p:spPr>
            <a:xfrm>
              <a:off x="13933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6" name="等腰三角形 155"/>
            <p:cNvSpPr/>
            <p:nvPr/>
          </p:nvSpPr>
          <p:spPr>
            <a:xfrm>
              <a:off x="16976" y="1909"/>
              <a:ext cx="339" cy="260"/>
            </a:xfrm>
            <a:prstGeom prst="triangl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1" name="圆角矩形 20"/>
          <p:cNvSpPr/>
          <p:nvPr/>
        </p:nvSpPr>
        <p:spPr>
          <a:xfrm>
            <a:off x="2219325" y="2510790"/>
            <a:ext cx="6474460" cy="156083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>
            <a:solidFill>
              <a:srgbClr val="A0D1FA">
                <a:alpha val="43000"/>
              </a:srgbClr>
            </a:solidFill>
          </a:ln>
          <a:effectLst>
            <a:outerShdw blurRad="190500" dist="101600" dir="2700000" algn="tl" rotWithShape="0">
              <a:srgbClr val="2D62D2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敏捷：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标准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API、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可视化配置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，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快速接入前端业务系统，轻松应对业务敏捷、数据源变化快的问题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集中：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集中各业态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、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业务系统数据，形成业财数据池，为数据分析提供数据基础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标准：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数据集成标准对齐，解决口径不一致的问题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，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满足业务快速分析的需求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精细</a:t>
            </a: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：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业财数据的精益化管理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，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多维度数据一体拉通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，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支撑管理决策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9076690" y="2474595"/>
            <a:ext cx="2475865" cy="1505585"/>
            <a:chOff x="14632" y="3975"/>
            <a:chExt cx="3899" cy="2371"/>
          </a:xfrm>
        </p:grpSpPr>
        <p:sp>
          <p:nvSpPr>
            <p:cNvPr id="14" name="文本框 13"/>
            <p:cNvSpPr txBox="1"/>
            <p:nvPr/>
          </p:nvSpPr>
          <p:spPr>
            <a:xfrm>
              <a:off x="14632" y="3991"/>
              <a:ext cx="2599" cy="235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对接外部系统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1770EA"/>
                  </a:solidFill>
                  <a:effectLst/>
                  <a:uLnTx/>
                  <a:uFillTx/>
                  <a:cs typeface="+mn-ea"/>
                  <a:sym typeface="+mn-lt"/>
                </a:rPr>
                <a:t>多维经营分析</a:t>
              </a: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支持场景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1770EA"/>
                  </a:solidFill>
                  <a:effectLst/>
                  <a:uLnTx/>
                  <a:uFillTx/>
                  <a:cs typeface="+mn-ea"/>
                  <a:sym typeface="+mn-lt"/>
                </a:rPr>
                <a:t>异常支付监测</a:t>
              </a: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支持场景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1770EA"/>
                  </a:solidFill>
                  <a:effectLst/>
                  <a:uLnTx/>
                  <a:uFillTx/>
                  <a:cs typeface="+mn-ea"/>
                  <a:sym typeface="+mn-lt"/>
                </a:rPr>
                <a:t>税务数据分析</a:t>
              </a: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支持场景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1770EA"/>
                  </a:solidFill>
                  <a:effectLst/>
                  <a:uLnTx/>
                  <a:uFillTx/>
                  <a:cs typeface="+mn-ea"/>
                  <a:sym typeface="+mn-lt"/>
                </a:rPr>
                <a:t>现金流预测</a:t>
              </a: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支持场景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1770EA"/>
                  </a:solidFill>
                  <a:effectLst/>
                  <a:uLnTx/>
                  <a:uFillTx/>
                  <a:cs typeface="+mn-ea"/>
                  <a:sym typeface="+mn-lt"/>
                </a:rPr>
                <a:t>供应商信用评价</a:t>
              </a:r>
              <a:r>
                <a:rPr kumimoji="0" lang="zh-CN" altLang="en-US" sz="10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支持场景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7345" y="3975"/>
              <a:ext cx="1186" cy="235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20+</a:t>
              </a:r>
              <a:r>
                <a:rPr kumimoji="0" lang="zh-CN" altLang="en-US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系统</a:t>
              </a:r>
              <a:endParaRPr kumimoji="0" lang="en-US" altLang="zh-CN" sz="1000" b="1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48.82%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54.12%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31.18%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37.65%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all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29.41%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DE474-FEAD-3B67-8FF3-741989A8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CEACF8-942C-9BFD-6939-6DB71459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093" y="210672"/>
            <a:ext cx="10399777" cy="469413"/>
          </a:xfrm>
        </p:spPr>
        <p:txBody>
          <a:bodyPr/>
          <a:lstStyle/>
          <a:p>
            <a:pPr>
              <a:lnSpc>
                <a:spcPct val="125000"/>
              </a:lnSpc>
              <a:defRPr/>
            </a:pPr>
            <a:r>
              <a:rPr lang="en-US" altLang="zh-CN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财务共享服务中心五大端到端流程效能对标</a:t>
            </a:r>
            <a:r>
              <a:rPr lang="en-US" altLang="zh-CN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部分指标</a:t>
            </a:r>
            <a:r>
              <a:rPr lang="en-US" altLang="zh-CN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altLang="zh-CN" sz="1050" dirty="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152400" cy="152400"/>
          </a:xfrm>
          <a:prstGeom prst="roundRect">
            <a:avLst>
              <a:gd name="adj" fmla="val 133333"/>
            </a:avLst>
          </a:prstGeom>
          <a:solidFill>
            <a:schemeClr val="dk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12800" y="9906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行业对标值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1905000" y="1016000"/>
            <a:ext cx="152400" cy="152400"/>
          </a:xfrm>
          <a:prstGeom prst="roundRect">
            <a:avLst>
              <a:gd name="adj" fmla="val 133333"/>
            </a:avLst>
          </a:prstGeom>
          <a:solidFill>
            <a:schemeClr val="accent6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2108200" y="9906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海信集团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8" name="AutoShape 7"/>
          <p:cNvSpPr/>
          <p:nvPr/>
        </p:nvSpPr>
        <p:spPr>
          <a:xfrm>
            <a:off x="3200400" y="1016000"/>
            <a:ext cx="152400" cy="152400"/>
          </a:xfrm>
          <a:prstGeom prst="roundRect">
            <a:avLst>
              <a:gd name="adj" fmla="val 133333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7" name="AutoShape 8"/>
          <p:cNvSpPr/>
          <p:nvPr/>
        </p:nvSpPr>
        <p:spPr>
          <a:xfrm>
            <a:off x="3403600" y="9906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浙江交投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9" name="AutoShape 9"/>
          <p:cNvSpPr/>
          <p:nvPr/>
        </p:nvSpPr>
        <p:spPr>
          <a:xfrm>
            <a:off x="4495800" y="1016000"/>
            <a:ext cx="152400" cy="152400"/>
          </a:xfrm>
          <a:prstGeom prst="roundRect">
            <a:avLst>
              <a:gd name="adj" fmla="val 133333"/>
            </a:avLst>
          </a:prstGeom>
          <a:solidFill>
            <a:schemeClr val="accent2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4" name="AutoShape 10"/>
          <p:cNvSpPr/>
          <p:nvPr/>
        </p:nvSpPr>
        <p:spPr>
          <a:xfrm>
            <a:off x="4699000" y="9906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金地物业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5" name="AutoShape 11"/>
          <p:cNvSpPr/>
          <p:nvPr/>
        </p:nvSpPr>
        <p:spPr>
          <a:xfrm>
            <a:off x="609600" y="1397000"/>
            <a:ext cx="2032000" cy="4953000"/>
          </a:xfrm>
          <a:prstGeom prst="roundRect">
            <a:avLst>
              <a:gd name="adj" fmla="val 100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27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600" y="1524000"/>
            <a:ext cx="304800" cy="304800"/>
          </a:xfrm>
          <a:prstGeom prst="rect">
            <a:avLst/>
          </a:prstGeom>
        </p:spPr>
      </p:pic>
      <p:sp>
        <p:nvSpPr>
          <p:cNvPr id="28" name="AutoShape 13"/>
          <p:cNvSpPr/>
          <p:nvPr/>
        </p:nvSpPr>
        <p:spPr>
          <a:xfrm>
            <a:off x="1066800" y="1498600"/>
            <a:ext cx="1574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开票到收款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(O2C)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29" name="Connector 14"/>
          <p:cNvCxnSpPr/>
          <p:nvPr/>
        </p:nvCxnSpPr>
        <p:spPr>
          <a:xfrm rot="-24554">
            <a:off x="736623" y="1898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15"/>
          <p:cNvSpPr/>
          <p:nvPr/>
        </p:nvSpPr>
        <p:spPr>
          <a:xfrm>
            <a:off x="736600" y="20320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人均单据量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3" name="AutoShape 16"/>
          <p:cNvSpPr/>
          <p:nvPr/>
        </p:nvSpPr>
        <p:spPr>
          <a:xfrm>
            <a:off x="736600" y="2286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180单 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（招商蛇口）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浙交投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200单</a:t>
            </a:r>
          </a:p>
        </p:txBody>
      </p:sp>
      <p:sp>
        <p:nvSpPr>
          <p:cNvPr id="35" name="AutoShape 17"/>
          <p:cNvSpPr/>
          <p:nvPr/>
        </p:nvSpPr>
        <p:spPr>
          <a:xfrm>
            <a:off x="736600" y="28575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收款认领时长缩短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8" name="AutoShape 18"/>
          <p:cNvSpPr/>
          <p:nvPr/>
        </p:nvSpPr>
        <p:spPr>
          <a:xfrm>
            <a:off x="736600" y="3262849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30%（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海信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  <a:p>
            <a:pPr>
              <a:lnSpc>
                <a:spcPct val="125000"/>
              </a:lnSpc>
              <a:buClr>
                <a:srgbClr val="000000"/>
              </a:buClr>
              <a:defRPr/>
            </a:pPr>
            <a:r>
              <a:rPr lang="en-US" altLang="zh-CN" sz="1100" kern="0" dirty="0">
                <a:solidFill>
                  <a:srgbClr val="70AD47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altLang="zh-CN" sz="1100" kern="0" dirty="0" err="1">
                <a:solidFill>
                  <a:srgbClr val="70AD47"/>
                </a:solidFill>
                <a:latin typeface="Noto Sans SC"/>
                <a:ea typeface="Noto Sans SC"/>
                <a:cs typeface="Noto Sans SC"/>
                <a:sym typeface="Noto Sans SC"/>
              </a:rPr>
              <a:t>海信</a:t>
            </a:r>
            <a:r>
              <a:rPr lang="en-US" altLang="zh-CN" sz="1100" kern="0" dirty="0">
                <a:solidFill>
                  <a:srgbClr val="70AD47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zh-CN" altLang="en-US" sz="1100" kern="0" dirty="0">
                <a:solidFill>
                  <a:srgbClr val="70AD47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自动化率</a:t>
            </a:r>
            <a:r>
              <a:rPr lang="en-US" altLang="zh-CN" sz="1100" kern="0" dirty="0">
                <a:solidFill>
                  <a:srgbClr val="70AD47"/>
                </a:solidFill>
                <a:latin typeface="Noto Sans SC"/>
                <a:ea typeface="Noto Sans SC"/>
                <a:cs typeface="Noto Sans SC"/>
                <a:sym typeface="Noto Sans SC"/>
              </a:rPr>
              <a:t>85%</a:t>
            </a:r>
            <a:r>
              <a:rPr lang="zh-CN" altLang="en-US" sz="1100" kern="0" dirty="0">
                <a:solidFill>
                  <a:srgbClr val="70AD47"/>
                </a:solidFill>
                <a:latin typeface="Noto Sans SC"/>
                <a:ea typeface="Noto Sans SC"/>
                <a:cs typeface="Noto Sans SC"/>
                <a:sym typeface="Noto Sans SC"/>
              </a:rPr>
              <a:t>，每单</a:t>
            </a:r>
            <a:r>
              <a:rPr lang="en-US" altLang="zh-CN" sz="1100" kern="0" dirty="0">
                <a:solidFill>
                  <a:srgbClr val="70AD47"/>
                </a:solidFill>
                <a:latin typeface="Noto Sans SC"/>
                <a:ea typeface="Noto Sans SC"/>
                <a:cs typeface="Noto Sans SC"/>
                <a:sym typeface="Noto Sans SC"/>
              </a:rPr>
              <a:t>40</a:t>
            </a:r>
            <a:r>
              <a:rPr lang="zh-CN" altLang="en-US" sz="1100" kern="0" dirty="0">
                <a:solidFill>
                  <a:srgbClr val="70AD47"/>
                </a:solidFill>
                <a:latin typeface="Noto Sans SC"/>
                <a:ea typeface="Noto Sans SC"/>
                <a:cs typeface="Noto Sans SC"/>
                <a:sym typeface="Noto Sans SC"/>
              </a:rPr>
              <a:t>秒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金地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20%</a:t>
            </a:r>
          </a:p>
        </p:txBody>
      </p:sp>
      <p:sp>
        <p:nvSpPr>
          <p:cNvPr id="39" name="AutoShape 19"/>
          <p:cNvSpPr/>
          <p:nvPr/>
        </p:nvSpPr>
        <p:spPr>
          <a:xfrm>
            <a:off x="736600" y="4055065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单据驳回率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2" name="AutoShape 20"/>
          <p:cNvSpPr/>
          <p:nvPr/>
        </p:nvSpPr>
        <p:spPr>
          <a:xfrm>
            <a:off x="736600" y="4309065"/>
            <a:ext cx="1778000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5%-10%（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招商局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海信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4.79%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浙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交投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5%-8%</a:t>
            </a:r>
          </a:p>
        </p:txBody>
      </p:sp>
      <p:sp>
        <p:nvSpPr>
          <p:cNvPr id="43" name="AutoShape 21"/>
          <p:cNvSpPr/>
          <p:nvPr/>
        </p:nvSpPr>
        <p:spPr>
          <a:xfrm>
            <a:off x="2844800" y="1397000"/>
            <a:ext cx="2032000" cy="4953000"/>
          </a:xfrm>
          <a:prstGeom prst="roundRect">
            <a:avLst>
              <a:gd name="adj" fmla="val 100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44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1800" y="1524000"/>
            <a:ext cx="304800" cy="304800"/>
          </a:xfrm>
          <a:prstGeom prst="rect">
            <a:avLst/>
          </a:prstGeom>
        </p:spPr>
      </p:pic>
      <p:sp>
        <p:nvSpPr>
          <p:cNvPr id="45" name="AutoShape 23"/>
          <p:cNvSpPr/>
          <p:nvPr/>
        </p:nvSpPr>
        <p:spPr>
          <a:xfrm>
            <a:off x="3302000" y="1498600"/>
            <a:ext cx="1447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收票到付款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(P2P)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46" name="Connector 24"/>
          <p:cNvCxnSpPr/>
          <p:nvPr/>
        </p:nvCxnSpPr>
        <p:spPr>
          <a:xfrm rot="-24554">
            <a:off x="2971823" y="1898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25"/>
          <p:cNvSpPr/>
          <p:nvPr/>
        </p:nvSpPr>
        <p:spPr>
          <a:xfrm>
            <a:off x="2971800" y="20320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流程效率提升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8" name="AutoShape 26"/>
          <p:cNvSpPr/>
          <p:nvPr/>
        </p:nvSpPr>
        <p:spPr>
          <a:xfrm>
            <a:off x="2971800" y="2393204"/>
            <a:ext cx="210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40%-60%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金地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30%</a:t>
            </a:r>
          </a:p>
          <a:p>
            <a:pPr>
              <a:lnSpc>
                <a:spcPct val="125000"/>
              </a:lnSpc>
              <a:buClr>
                <a:srgbClr val="000000"/>
              </a:buClr>
              <a:defRPr/>
            </a:pPr>
            <a:r>
              <a:rPr lang="en-US" altLang="zh-CN" sz="1100" kern="0" dirty="0">
                <a:solidFill>
                  <a:srgbClr val="70AD47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altLang="zh-CN" sz="1100" kern="0" dirty="0" err="1">
                <a:solidFill>
                  <a:srgbClr val="70AD47"/>
                </a:solidFill>
                <a:latin typeface="Noto Sans SC"/>
                <a:ea typeface="Noto Sans SC"/>
                <a:cs typeface="Noto Sans SC"/>
                <a:sym typeface="Noto Sans SC"/>
              </a:rPr>
              <a:t>海信</a:t>
            </a:r>
            <a:r>
              <a:rPr lang="en-US" altLang="zh-CN" sz="1100" kern="0" dirty="0">
                <a:solidFill>
                  <a:srgbClr val="70AD47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zh-CN" altLang="en-US" sz="1100" kern="0" dirty="0">
                <a:solidFill>
                  <a:srgbClr val="70AD47"/>
                </a:solidFill>
                <a:latin typeface="Noto Sans SC"/>
                <a:ea typeface="Noto Sans SC"/>
                <a:cs typeface="Noto Sans SC"/>
                <a:sym typeface="Noto Sans SC"/>
              </a:rPr>
              <a:t>所有流程提效</a:t>
            </a:r>
            <a:r>
              <a:rPr lang="en-US" altLang="zh-CN" sz="1100" kern="0" dirty="0">
                <a:solidFill>
                  <a:srgbClr val="70AD47"/>
                </a:solidFill>
                <a:latin typeface="Noto Sans SC"/>
                <a:ea typeface="Noto Sans SC"/>
                <a:cs typeface="Noto Sans SC"/>
                <a:sym typeface="Noto Sans SC"/>
              </a:rPr>
              <a:t>30%+10%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9" name="AutoShape 27"/>
          <p:cNvSpPr/>
          <p:nvPr/>
        </p:nvSpPr>
        <p:spPr>
          <a:xfrm>
            <a:off x="2971800" y="3122358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银企直连覆盖度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0" name="AutoShape 28"/>
          <p:cNvSpPr/>
          <p:nvPr/>
        </p:nvSpPr>
        <p:spPr>
          <a:xfrm>
            <a:off x="2971800" y="3710586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80%-99%(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玉柴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海信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账户余额可视化率</a:t>
            </a: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覆盖63国</a:t>
            </a:r>
          </a:p>
          <a:p>
            <a:pPr>
              <a:lnSpc>
                <a:spcPct val="125000"/>
              </a:lnSpc>
              <a:buClr>
                <a:srgbClr val="000000"/>
              </a:buClr>
              <a:defRPr/>
            </a:pPr>
            <a:r>
              <a:rPr lang="en-US" altLang="zh-CN" sz="1100" kern="0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zh-CN" altLang="en-US" sz="1100" kern="0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浙</a:t>
            </a:r>
            <a:r>
              <a:rPr lang="en-US" altLang="zh-CN" sz="1100" kern="0" dirty="0" err="1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交投</a:t>
            </a:r>
            <a:r>
              <a:rPr lang="en-US" altLang="zh-CN" sz="1100" kern="0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: 40-60%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2" name="AutoShape 29"/>
          <p:cNvSpPr/>
          <p:nvPr/>
        </p:nvSpPr>
        <p:spPr>
          <a:xfrm>
            <a:off x="2971800" y="425686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付款排程自动化率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3" name="AutoShape 30"/>
          <p:cNvSpPr/>
          <p:nvPr/>
        </p:nvSpPr>
        <p:spPr>
          <a:xfrm>
            <a:off x="2971800" y="4441494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100%（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重药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海信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100%</a:t>
            </a:r>
          </a:p>
        </p:txBody>
      </p:sp>
      <p:sp>
        <p:nvSpPr>
          <p:cNvPr id="54" name="AutoShape 31"/>
          <p:cNvSpPr/>
          <p:nvPr/>
        </p:nvSpPr>
        <p:spPr>
          <a:xfrm>
            <a:off x="2971800" y="5012994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重复付款次数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7" name="AutoShape 32"/>
          <p:cNvSpPr/>
          <p:nvPr/>
        </p:nvSpPr>
        <p:spPr>
          <a:xfrm>
            <a:off x="2971800" y="5266994"/>
            <a:ext cx="177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0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浙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交投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0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金地</a:t>
            </a: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0</a:t>
            </a:r>
          </a:p>
        </p:txBody>
      </p:sp>
      <p:sp>
        <p:nvSpPr>
          <p:cNvPr id="59" name="AutoShape 33"/>
          <p:cNvSpPr/>
          <p:nvPr/>
        </p:nvSpPr>
        <p:spPr>
          <a:xfrm>
            <a:off x="5080000" y="1397000"/>
            <a:ext cx="2032000" cy="4953000"/>
          </a:xfrm>
          <a:prstGeom prst="roundRect">
            <a:avLst>
              <a:gd name="adj" fmla="val 100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60" name="Picture 3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7000" y="1524000"/>
            <a:ext cx="304800" cy="304800"/>
          </a:xfrm>
          <a:prstGeom prst="rect">
            <a:avLst/>
          </a:prstGeom>
        </p:spPr>
      </p:pic>
      <p:sp>
        <p:nvSpPr>
          <p:cNvPr id="61" name="AutoShape 35"/>
          <p:cNvSpPr/>
          <p:nvPr/>
        </p:nvSpPr>
        <p:spPr>
          <a:xfrm>
            <a:off x="5537200" y="14986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费用到报销 (E2R)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62" name="Connector 36"/>
          <p:cNvCxnSpPr/>
          <p:nvPr/>
        </p:nvCxnSpPr>
        <p:spPr>
          <a:xfrm rot="-24554">
            <a:off x="5207023" y="1898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" name="AutoShape 37"/>
          <p:cNvSpPr/>
          <p:nvPr/>
        </p:nvSpPr>
        <p:spPr>
          <a:xfrm>
            <a:off x="5207000" y="3003152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审单要点自动执行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4" name="AutoShape 38"/>
          <p:cNvSpPr/>
          <p:nvPr/>
        </p:nvSpPr>
        <p:spPr>
          <a:xfrm>
            <a:off x="5207000" y="3257152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217个(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招商局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金地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15%</a:t>
            </a:r>
          </a:p>
        </p:txBody>
      </p:sp>
      <p:sp>
        <p:nvSpPr>
          <p:cNvPr id="66" name="AutoShape 39"/>
          <p:cNvSpPr/>
          <p:nvPr/>
        </p:nvSpPr>
        <p:spPr>
          <a:xfrm>
            <a:off x="5207000" y="3828652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对私报销时长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7" name="AutoShape 40"/>
          <p:cNvSpPr/>
          <p:nvPr/>
        </p:nvSpPr>
        <p:spPr>
          <a:xfrm>
            <a:off x="5207000" y="4082652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1-2天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浙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交投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当天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8" name="AutoShape 41"/>
          <p:cNvSpPr/>
          <p:nvPr/>
        </p:nvSpPr>
        <p:spPr>
          <a:xfrm>
            <a:off x="5207000" y="4654152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单据驳回率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9" name="AutoShape 42"/>
          <p:cNvSpPr/>
          <p:nvPr/>
        </p:nvSpPr>
        <p:spPr>
          <a:xfrm>
            <a:off x="5207000" y="4908152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5%-10%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海信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4.79%</a:t>
            </a:r>
          </a:p>
        </p:txBody>
      </p:sp>
      <p:sp>
        <p:nvSpPr>
          <p:cNvPr id="70" name="AutoShape 43"/>
          <p:cNvSpPr/>
          <p:nvPr/>
        </p:nvSpPr>
        <p:spPr>
          <a:xfrm>
            <a:off x="5207000" y="5479652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不合规报销比例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1" name="AutoShape 44"/>
          <p:cNvSpPr/>
          <p:nvPr/>
        </p:nvSpPr>
        <p:spPr>
          <a:xfrm>
            <a:off x="5207000" y="5733652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&lt;1%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金地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5%</a:t>
            </a:r>
          </a:p>
        </p:txBody>
      </p:sp>
      <p:sp>
        <p:nvSpPr>
          <p:cNvPr id="72" name="AutoShape 45"/>
          <p:cNvSpPr/>
          <p:nvPr/>
        </p:nvSpPr>
        <p:spPr>
          <a:xfrm>
            <a:off x="7315200" y="1397000"/>
            <a:ext cx="2032000" cy="4953000"/>
          </a:xfrm>
          <a:prstGeom prst="roundRect">
            <a:avLst>
              <a:gd name="adj" fmla="val 100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106" name="Picture 4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42200" y="1524000"/>
            <a:ext cx="304800" cy="304800"/>
          </a:xfrm>
          <a:prstGeom prst="rect">
            <a:avLst/>
          </a:prstGeom>
        </p:spPr>
      </p:pic>
      <p:sp>
        <p:nvSpPr>
          <p:cNvPr id="107" name="AutoShape 47"/>
          <p:cNvSpPr/>
          <p:nvPr/>
        </p:nvSpPr>
        <p:spPr>
          <a:xfrm>
            <a:off x="7772400" y="14986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投资到资产 (I2A)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108" name="Connector 48"/>
          <p:cNvCxnSpPr/>
          <p:nvPr/>
        </p:nvCxnSpPr>
        <p:spPr>
          <a:xfrm rot="-24554">
            <a:off x="7442223" y="1898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" name="AutoShape 49"/>
          <p:cNvSpPr/>
          <p:nvPr/>
        </p:nvSpPr>
        <p:spPr>
          <a:xfrm>
            <a:off x="7442200" y="20320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审单要点自动执行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10" name="AutoShape 50"/>
          <p:cNvSpPr/>
          <p:nvPr/>
        </p:nvSpPr>
        <p:spPr>
          <a:xfrm>
            <a:off x="7442200" y="2286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15个（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招商局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浙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交投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36%</a:t>
            </a:r>
          </a:p>
        </p:txBody>
      </p:sp>
      <p:sp>
        <p:nvSpPr>
          <p:cNvPr id="111" name="AutoShape 51"/>
          <p:cNvSpPr/>
          <p:nvPr/>
        </p:nvSpPr>
        <p:spPr>
          <a:xfrm>
            <a:off x="7442200" y="28575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单据驳回率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12" name="AutoShape 52"/>
          <p:cNvSpPr/>
          <p:nvPr/>
        </p:nvSpPr>
        <p:spPr>
          <a:xfrm>
            <a:off x="7442200" y="31115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5%-10%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浙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交投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5%-8%</a:t>
            </a:r>
          </a:p>
        </p:txBody>
      </p:sp>
      <p:sp>
        <p:nvSpPr>
          <p:cNvPr id="113" name="AutoShape 53"/>
          <p:cNvSpPr/>
          <p:nvPr/>
        </p:nvSpPr>
        <p:spPr>
          <a:xfrm>
            <a:off x="9550400" y="1397000"/>
            <a:ext cx="2032000" cy="4953000"/>
          </a:xfrm>
          <a:prstGeom prst="roundRect">
            <a:avLst>
              <a:gd name="adj" fmla="val 100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114" name="Picture 5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7400" y="1524000"/>
            <a:ext cx="304800" cy="304800"/>
          </a:xfrm>
          <a:prstGeom prst="rect">
            <a:avLst/>
          </a:prstGeom>
        </p:spPr>
      </p:pic>
      <p:sp>
        <p:nvSpPr>
          <p:cNvPr id="115" name="AutoShape 55"/>
          <p:cNvSpPr/>
          <p:nvPr/>
        </p:nvSpPr>
        <p:spPr>
          <a:xfrm>
            <a:off x="10007600" y="14986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记录到报告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(R2R)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116" name="Connector 56"/>
          <p:cNvCxnSpPr/>
          <p:nvPr/>
        </p:nvCxnSpPr>
        <p:spPr>
          <a:xfrm rot="-24554">
            <a:off x="9677423" y="1898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" name="AutoShape 57"/>
          <p:cNvSpPr/>
          <p:nvPr/>
        </p:nvSpPr>
        <p:spPr>
          <a:xfrm>
            <a:off x="9677400" y="20320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凭证自动化率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18" name="AutoShape 58"/>
          <p:cNvSpPr/>
          <p:nvPr/>
        </p:nvSpPr>
        <p:spPr>
          <a:xfrm>
            <a:off x="9677400" y="2286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&gt;90%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海信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99%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浙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交投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100%</a:t>
            </a:r>
          </a:p>
        </p:txBody>
      </p:sp>
      <p:sp>
        <p:nvSpPr>
          <p:cNvPr id="119" name="AutoShape 59"/>
          <p:cNvSpPr/>
          <p:nvPr/>
        </p:nvSpPr>
        <p:spPr>
          <a:xfrm>
            <a:off x="9677400" y="31115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凭证准确率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20" name="AutoShape 60"/>
          <p:cNvSpPr/>
          <p:nvPr/>
        </p:nvSpPr>
        <p:spPr>
          <a:xfrm>
            <a:off x="9677400" y="33655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&gt;98%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金地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99%</a:t>
            </a:r>
          </a:p>
        </p:txBody>
      </p:sp>
      <p:sp>
        <p:nvSpPr>
          <p:cNvPr id="121" name="AutoShape 61"/>
          <p:cNvSpPr/>
          <p:nvPr/>
        </p:nvSpPr>
        <p:spPr>
          <a:xfrm>
            <a:off x="9677400" y="39370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单体法报出具日期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22" name="AutoShape 62"/>
          <p:cNvSpPr/>
          <p:nvPr/>
        </p:nvSpPr>
        <p:spPr>
          <a:xfrm>
            <a:off x="9677400" y="4359164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每月2号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海信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2或3号</a:t>
            </a:r>
          </a:p>
          <a:p>
            <a:pPr>
              <a:lnSpc>
                <a:spcPct val="125000"/>
              </a:lnSpc>
              <a:buClr>
                <a:srgbClr val="000000"/>
              </a:buClr>
              <a:defRPr/>
            </a:pPr>
            <a:r>
              <a:rPr lang="en-US" altLang="zh-CN" sz="1100" kern="0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zh-CN" altLang="en-US" sz="1100" kern="0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浙</a:t>
            </a:r>
            <a:r>
              <a:rPr lang="en-US" altLang="zh-CN" sz="1100" kern="0" dirty="0" err="1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交投</a:t>
            </a:r>
            <a:r>
              <a:rPr lang="en-US" altLang="zh-CN" sz="1100" kern="0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: 3</a:t>
            </a:r>
            <a:r>
              <a:rPr lang="zh-CN" altLang="en-US" sz="1100" kern="0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号</a:t>
            </a:r>
            <a:endParaRPr lang="en-US" altLang="zh-CN" sz="1100" kern="0" dirty="0">
              <a:solidFill>
                <a:srgbClr val="4472C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3" name="Picture 6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93400" y="6336224"/>
            <a:ext cx="1524000" cy="667888"/>
          </a:xfrm>
          <a:prstGeom prst="rect">
            <a:avLst/>
          </a:prstGeom>
        </p:spPr>
      </p:pic>
      <p:sp>
        <p:nvSpPr>
          <p:cNvPr id="126" name="AutoShape 43">
            <a:extLst>
              <a:ext uri="{FF2B5EF4-FFF2-40B4-BE49-F238E27FC236}">
                <a16:creationId xmlns:a16="http://schemas.microsoft.com/office/drawing/2014/main" id="{29E97CEC-2D5E-2C8D-71D4-7069F301FF95}"/>
              </a:ext>
            </a:extLst>
          </p:cNvPr>
          <p:cNvSpPr/>
          <p:nvPr/>
        </p:nvSpPr>
        <p:spPr>
          <a:xfrm>
            <a:off x="5207000" y="2027075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报销流程效率提升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27" name="AutoShape 44">
            <a:extLst>
              <a:ext uri="{FF2B5EF4-FFF2-40B4-BE49-F238E27FC236}">
                <a16:creationId xmlns:a16="http://schemas.microsoft.com/office/drawing/2014/main" id="{9C65F1D0-B80F-448F-7336-A8425161E2FB}"/>
              </a:ext>
            </a:extLst>
          </p:cNvPr>
          <p:cNvSpPr/>
          <p:nvPr/>
        </p:nvSpPr>
        <p:spPr>
          <a:xfrm>
            <a:off x="5207000" y="2281075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40%-60%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金地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30%</a:t>
            </a:r>
          </a:p>
        </p:txBody>
      </p:sp>
      <p:sp>
        <p:nvSpPr>
          <p:cNvPr id="128" name="AutoShape 61">
            <a:extLst>
              <a:ext uri="{FF2B5EF4-FFF2-40B4-BE49-F238E27FC236}">
                <a16:creationId xmlns:a16="http://schemas.microsoft.com/office/drawing/2014/main" id="{CB4AFCB7-6629-6147-826A-8EC1243135F5}"/>
              </a:ext>
            </a:extLst>
          </p:cNvPr>
          <p:cNvSpPr/>
          <p:nvPr/>
        </p:nvSpPr>
        <p:spPr>
          <a:xfrm>
            <a:off x="9677400" y="4914899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每月月结时长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29" name="AutoShape 62">
            <a:extLst>
              <a:ext uri="{FF2B5EF4-FFF2-40B4-BE49-F238E27FC236}">
                <a16:creationId xmlns:a16="http://schemas.microsoft.com/office/drawing/2014/main" id="{610426CB-F637-2D39-E68C-CF9C4BC5EA7C}"/>
              </a:ext>
            </a:extLst>
          </p:cNvPr>
          <p:cNvSpPr/>
          <p:nvPr/>
        </p:nvSpPr>
        <p:spPr>
          <a:xfrm>
            <a:off x="9677400" y="5168899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行业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2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天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● 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浙交投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: 7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天（</a:t>
            </a: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26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日开始）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Noto Sans SC"/>
              <a:ea typeface="Noto Sans SC"/>
              <a:cs typeface="Arial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618430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圆圈&#10;&#10;AI 生成的内容可能不正确。">
            <a:extLst>
              <a:ext uri="{FF2B5EF4-FFF2-40B4-BE49-F238E27FC236}">
                <a16:creationId xmlns:a16="http://schemas.microsoft.com/office/drawing/2014/main" id="{415B53A9-9CCF-BDC7-FA68-6FFCCA4C98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226" r="5134"/>
          <a:stretch>
            <a:fillRect/>
          </a:stretch>
        </p:blipFill>
        <p:spPr>
          <a:xfrm>
            <a:off x="1324377" y="447"/>
            <a:ext cx="10867624" cy="685710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26651"/>
          <a:stretch>
            <a:fillRect/>
          </a:stretch>
        </p:blipFill>
        <p:spPr>
          <a:xfrm>
            <a:off x="456788" y="2210891"/>
            <a:ext cx="6552699" cy="2001317"/>
          </a:xfrm>
          <a:prstGeom prst="rect">
            <a:avLst/>
          </a:prstGeom>
        </p:spPr>
      </p:pic>
      <p:pic>
        <p:nvPicPr>
          <p:cNvPr id="6" name="图片 5" descr="图片包含 徽标&#10;&#10;AI 生成的内容可能不正确。">
            <a:extLst>
              <a:ext uri="{FF2B5EF4-FFF2-40B4-BE49-F238E27FC236}">
                <a16:creationId xmlns:a16="http://schemas.microsoft.com/office/drawing/2014/main" id="{A18395A5-B2FB-E2ED-9B04-7F6C86D10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53" y="372898"/>
            <a:ext cx="1757783" cy="7910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04">
            <a:extLst>
              <a:ext uri="{FF2B5EF4-FFF2-40B4-BE49-F238E27FC236}">
                <a16:creationId xmlns:a16="http://schemas.microsoft.com/office/drawing/2014/main" id="{E0774CEA-0362-DA4D-BDA8-3B52807E635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40435" y="2970600"/>
            <a:ext cx="8035290" cy="184736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a</a:t>
            </a:r>
          </a:p>
        </p:txBody>
      </p:sp>
      <p:sp>
        <p:nvSpPr>
          <p:cNvPr id="187" name="Rectangle 104">
            <a:extLst>
              <a:ext uri="{FF2B5EF4-FFF2-40B4-BE49-F238E27FC236}">
                <a16:creationId xmlns:a16="http://schemas.microsoft.com/office/drawing/2014/main" id="{618FBF25-9929-A041-A961-A24AD7B4E0C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40435" y="2137664"/>
            <a:ext cx="8035290" cy="76009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a</a:t>
            </a:r>
          </a:p>
        </p:txBody>
      </p:sp>
      <p:sp>
        <p:nvSpPr>
          <p:cNvPr id="188" name="Rectangle 104">
            <a:extLst>
              <a:ext uri="{FF2B5EF4-FFF2-40B4-BE49-F238E27FC236}">
                <a16:creationId xmlns:a16="http://schemas.microsoft.com/office/drawing/2014/main" id="{9480B03D-A01F-2543-83AF-8FD767214B8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4880" y="1330580"/>
            <a:ext cx="8035290" cy="71755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a</a:t>
            </a:r>
          </a:p>
        </p:txBody>
      </p:sp>
      <p:sp>
        <p:nvSpPr>
          <p:cNvPr id="189" name="Rectangle 125">
            <a:extLst>
              <a:ext uri="{FF2B5EF4-FFF2-40B4-BE49-F238E27FC236}">
                <a16:creationId xmlns:a16="http://schemas.microsoft.com/office/drawing/2014/main" id="{8044E124-DD5A-884D-8735-411AA89785D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79120" y="2973960"/>
            <a:ext cx="309880" cy="1849120"/>
          </a:xfrm>
          <a:prstGeom prst="rect">
            <a:avLst/>
          </a:prstGeom>
          <a:solidFill>
            <a:srgbClr val="7F7F7F"/>
          </a:solidFill>
          <a:ln w="6350">
            <a:noFill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ct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财务部门</a:t>
            </a:r>
          </a:p>
        </p:txBody>
      </p:sp>
      <p:sp>
        <p:nvSpPr>
          <p:cNvPr id="190" name="Chevron 77">
            <a:extLst>
              <a:ext uri="{FF2B5EF4-FFF2-40B4-BE49-F238E27FC236}">
                <a16:creationId xmlns:a16="http://schemas.microsoft.com/office/drawing/2014/main" id="{26A32B20-1A3A-E340-96EF-96D336440C45}"/>
              </a:ext>
            </a:extLst>
          </p:cNvPr>
          <p:cNvSpPr/>
          <p:nvPr>
            <p:custDataLst>
              <p:tags r:id="rId5"/>
            </p:custDataLst>
          </p:nvPr>
        </p:nvSpPr>
        <p:spPr bwMode="ltGray">
          <a:xfrm>
            <a:off x="3167380" y="936245"/>
            <a:ext cx="1210945" cy="317500"/>
          </a:xfrm>
          <a:prstGeom prst="chevron">
            <a:avLst>
              <a:gd name="adj" fmla="val 31595"/>
            </a:avLst>
          </a:prstGeom>
          <a:solidFill>
            <a:srgbClr val="999DA0">
              <a:lumMod val="20000"/>
              <a:lumOff val="80000"/>
            </a:srgb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363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发货出</a:t>
            </a:r>
            <a:r>
              <a:rPr kumimoji="0" lang="zh-CN" alt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库</a:t>
            </a:r>
          </a:p>
        </p:txBody>
      </p:sp>
      <p:sp>
        <p:nvSpPr>
          <p:cNvPr id="191" name="Pentagon 76">
            <a:extLst>
              <a:ext uri="{FF2B5EF4-FFF2-40B4-BE49-F238E27FC236}">
                <a16:creationId xmlns:a16="http://schemas.microsoft.com/office/drawing/2014/main" id="{AADF6C8F-950D-9245-99B7-8AD63FA77CC4}"/>
              </a:ext>
            </a:extLst>
          </p:cNvPr>
          <p:cNvSpPr/>
          <p:nvPr>
            <p:custDataLst>
              <p:tags r:id="rId6"/>
            </p:custDataLst>
          </p:nvPr>
        </p:nvSpPr>
        <p:spPr bwMode="ltGray">
          <a:xfrm>
            <a:off x="944880" y="936245"/>
            <a:ext cx="1130300" cy="321310"/>
          </a:xfrm>
          <a:prstGeom prst="homePlate">
            <a:avLst>
              <a:gd name="adj" fmla="val 31469"/>
            </a:avLst>
          </a:prstGeom>
          <a:solidFill>
            <a:srgbClr val="999DA0">
              <a:lumMod val="20000"/>
              <a:lumOff val="80000"/>
            </a:srgb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363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投标报价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192" name="Chevron 78">
            <a:extLst>
              <a:ext uri="{FF2B5EF4-FFF2-40B4-BE49-F238E27FC236}">
                <a16:creationId xmlns:a16="http://schemas.microsoft.com/office/drawing/2014/main" id="{EE0EE223-7984-834A-BE06-8DD9D2BEBD1D}"/>
              </a:ext>
            </a:extLst>
          </p:cNvPr>
          <p:cNvSpPr/>
          <p:nvPr>
            <p:custDataLst>
              <p:tags r:id="rId7"/>
            </p:custDataLst>
          </p:nvPr>
        </p:nvSpPr>
        <p:spPr bwMode="ltGray">
          <a:xfrm>
            <a:off x="4319270" y="936245"/>
            <a:ext cx="1210945" cy="317500"/>
          </a:xfrm>
          <a:prstGeom prst="chevron">
            <a:avLst>
              <a:gd name="adj" fmla="val 31595"/>
            </a:avLst>
          </a:prstGeom>
          <a:solidFill>
            <a:srgbClr val="385EF8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363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客户</a:t>
            </a:r>
            <a:r>
              <a:rPr kumimoji="0" lang="zh-CN" alt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结算</a:t>
            </a:r>
          </a:p>
        </p:txBody>
      </p:sp>
      <p:sp>
        <p:nvSpPr>
          <p:cNvPr id="193" name="Chevron 79">
            <a:extLst>
              <a:ext uri="{FF2B5EF4-FFF2-40B4-BE49-F238E27FC236}">
                <a16:creationId xmlns:a16="http://schemas.microsoft.com/office/drawing/2014/main" id="{443B90F1-8549-924A-8E87-4EC4745D203B}"/>
              </a:ext>
            </a:extLst>
          </p:cNvPr>
          <p:cNvSpPr/>
          <p:nvPr>
            <p:custDataLst>
              <p:tags r:id="rId8"/>
            </p:custDataLst>
          </p:nvPr>
        </p:nvSpPr>
        <p:spPr bwMode="ltGray">
          <a:xfrm>
            <a:off x="6623050" y="936245"/>
            <a:ext cx="1210945" cy="317500"/>
          </a:xfrm>
          <a:prstGeom prst="chevron">
            <a:avLst>
              <a:gd name="adj" fmla="val 31595"/>
            </a:avLst>
          </a:prstGeom>
          <a:solidFill>
            <a:srgbClr val="385EF8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363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Hans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应收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催收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194" name="Chevron 80">
            <a:extLst>
              <a:ext uri="{FF2B5EF4-FFF2-40B4-BE49-F238E27FC236}">
                <a16:creationId xmlns:a16="http://schemas.microsoft.com/office/drawing/2014/main" id="{E3F3B6A2-710B-5C4C-8CE7-3B77D2B43A48}"/>
              </a:ext>
            </a:extLst>
          </p:cNvPr>
          <p:cNvSpPr/>
          <p:nvPr>
            <p:custDataLst>
              <p:tags r:id="rId9"/>
            </p:custDataLst>
          </p:nvPr>
        </p:nvSpPr>
        <p:spPr bwMode="ltGray">
          <a:xfrm>
            <a:off x="5471160" y="936245"/>
            <a:ext cx="1210945" cy="317500"/>
          </a:xfrm>
          <a:prstGeom prst="chevron">
            <a:avLst>
              <a:gd name="adj" fmla="val 31595"/>
            </a:avLst>
          </a:prstGeom>
          <a:solidFill>
            <a:srgbClr val="385EF8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363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GB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发票</a:t>
            </a:r>
            <a:r>
              <a:rPr kumimoji="0" lang="zh-Hans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开具</a:t>
            </a:r>
            <a:endParaRPr kumimoji="0" lang="zh-CN" altLang="en-GB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195" name="Chevron 80">
            <a:extLst>
              <a:ext uri="{FF2B5EF4-FFF2-40B4-BE49-F238E27FC236}">
                <a16:creationId xmlns:a16="http://schemas.microsoft.com/office/drawing/2014/main" id="{B0ACA058-C162-564D-BD0E-C57ABEE02C44}"/>
              </a:ext>
            </a:extLst>
          </p:cNvPr>
          <p:cNvSpPr/>
          <p:nvPr>
            <p:custDataLst>
              <p:tags r:id="rId10"/>
            </p:custDataLst>
          </p:nvPr>
        </p:nvSpPr>
        <p:spPr bwMode="ltGray">
          <a:xfrm>
            <a:off x="7769860" y="936245"/>
            <a:ext cx="1210945" cy="317500"/>
          </a:xfrm>
          <a:prstGeom prst="chevron">
            <a:avLst>
              <a:gd name="adj" fmla="val 31595"/>
            </a:avLst>
          </a:prstGeom>
          <a:solidFill>
            <a:srgbClr val="385EF8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363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收款</a:t>
            </a:r>
            <a:r>
              <a:rPr kumimoji="0" lang="zh-CN" alt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及记账</a:t>
            </a:r>
          </a:p>
        </p:txBody>
      </p:sp>
      <p:sp>
        <p:nvSpPr>
          <p:cNvPr id="196" name="Chevron 77">
            <a:extLst>
              <a:ext uri="{FF2B5EF4-FFF2-40B4-BE49-F238E27FC236}">
                <a16:creationId xmlns:a16="http://schemas.microsoft.com/office/drawing/2014/main" id="{FA86E4B3-80CD-9046-B451-AED0E1AEB8AE}"/>
              </a:ext>
            </a:extLst>
          </p:cNvPr>
          <p:cNvSpPr/>
          <p:nvPr>
            <p:custDataLst>
              <p:tags r:id="rId11"/>
            </p:custDataLst>
          </p:nvPr>
        </p:nvSpPr>
        <p:spPr bwMode="ltGray">
          <a:xfrm>
            <a:off x="2030730" y="936245"/>
            <a:ext cx="1197610" cy="317500"/>
          </a:xfrm>
          <a:prstGeom prst="chevron">
            <a:avLst>
              <a:gd name="adj" fmla="val 31595"/>
            </a:avLst>
          </a:prstGeom>
          <a:solidFill>
            <a:srgbClr val="999DA0">
              <a:lumMod val="20000"/>
              <a:lumOff val="80000"/>
            </a:srgb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363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合同订单</a:t>
            </a:r>
          </a:p>
        </p:txBody>
      </p:sp>
      <p:sp>
        <p:nvSpPr>
          <p:cNvPr id="197" name="Rectangle 136">
            <a:extLst>
              <a:ext uri="{FF2B5EF4-FFF2-40B4-BE49-F238E27FC236}">
                <a16:creationId xmlns:a16="http://schemas.microsoft.com/office/drawing/2014/main" id="{712B227A-6663-D14B-9024-222CBE6545F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79120" y="2139570"/>
            <a:ext cx="309880" cy="765810"/>
          </a:xfrm>
          <a:prstGeom prst="rect">
            <a:avLst/>
          </a:prstGeom>
          <a:solidFill>
            <a:srgbClr val="7F7F7F"/>
          </a:solidFill>
          <a:ln w="6350">
            <a:noFill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ct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业务部门</a:t>
            </a:r>
          </a:p>
        </p:txBody>
      </p:sp>
      <p:sp>
        <p:nvSpPr>
          <p:cNvPr id="198" name="Rectangle 137">
            <a:extLst>
              <a:ext uri="{FF2B5EF4-FFF2-40B4-BE49-F238E27FC236}">
                <a16:creationId xmlns:a16="http://schemas.microsoft.com/office/drawing/2014/main" id="{C483FCD1-0714-4D43-B4F0-78F5924E1633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79120" y="1305180"/>
            <a:ext cx="309880" cy="765810"/>
          </a:xfrm>
          <a:prstGeom prst="rect">
            <a:avLst/>
          </a:prstGeom>
          <a:solidFill>
            <a:srgbClr val="7F7F7F"/>
          </a:solidFill>
          <a:ln w="6350">
            <a:noFill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ct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客户</a:t>
            </a: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EF91ABB8-186C-7246-8D9E-F039E2460CF3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995680" y="2330705"/>
            <a:ext cx="488950" cy="4279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投标报价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cxnSp>
        <p:nvCxnSpPr>
          <p:cNvPr id="200" name="直接箭头连接符 92">
            <a:extLst>
              <a:ext uri="{FF2B5EF4-FFF2-40B4-BE49-F238E27FC236}">
                <a16:creationId xmlns:a16="http://schemas.microsoft.com/office/drawing/2014/main" id="{A7CD7CAA-6351-5A49-AFB7-3F60E6A7F119}"/>
              </a:ext>
            </a:extLst>
          </p:cNvPr>
          <p:cNvCxnSpPr>
            <a:stCxn id="199" idx="0"/>
            <a:endCxn id="213" idx="2"/>
          </p:cNvCxnSpPr>
          <p:nvPr>
            <p:custDataLst>
              <p:tags r:id="rId15"/>
            </p:custDataLst>
          </p:nvPr>
        </p:nvCxnSpPr>
        <p:spPr>
          <a:xfrm flipV="1">
            <a:off x="1239937" y="1922420"/>
            <a:ext cx="0" cy="408305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矩形 200">
            <a:extLst>
              <a:ext uri="{FF2B5EF4-FFF2-40B4-BE49-F238E27FC236}">
                <a16:creationId xmlns:a16="http://schemas.microsoft.com/office/drawing/2014/main" id="{356D7C09-1EAE-C646-8933-84681C78737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264565" y="2159927"/>
            <a:ext cx="888365" cy="291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发货通知</a:t>
            </a: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C4D6E034-6B82-9241-888D-3F884F3EBFD4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264565" y="2583656"/>
            <a:ext cx="888365" cy="278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出库结算</a:t>
            </a:r>
          </a:p>
        </p:txBody>
      </p:sp>
      <p:cxnSp>
        <p:nvCxnSpPr>
          <p:cNvPr id="203" name="直接箭头连接符 95">
            <a:extLst>
              <a:ext uri="{FF2B5EF4-FFF2-40B4-BE49-F238E27FC236}">
                <a16:creationId xmlns:a16="http://schemas.microsoft.com/office/drawing/2014/main" id="{30B20399-6C9D-7A4C-B091-AEED3A15C23D}"/>
              </a:ext>
            </a:extLst>
          </p:cNvPr>
          <p:cNvCxnSpPr>
            <a:stCxn id="227" idx="2"/>
            <a:endCxn id="229" idx="0"/>
          </p:cNvCxnSpPr>
          <p:nvPr>
            <p:custDataLst>
              <p:tags r:id="rId18"/>
            </p:custDataLst>
          </p:nvPr>
        </p:nvCxnSpPr>
        <p:spPr>
          <a:xfrm flipH="1">
            <a:off x="4928553" y="2455890"/>
            <a:ext cx="317" cy="551764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连接符: 肘形 58">
            <a:extLst>
              <a:ext uri="{FF2B5EF4-FFF2-40B4-BE49-F238E27FC236}">
                <a16:creationId xmlns:a16="http://schemas.microsoft.com/office/drawing/2014/main" id="{CDE299A1-A87F-8749-BFEA-A9A88C6AE6A7}"/>
              </a:ext>
            </a:extLst>
          </p:cNvPr>
          <p:cNvCxnSpPr>
            <a:stCxn id="215" idx="3"/>
            <a:endCxn id="201" idx="1"/>
          </p:cNvCxnSpPr>
          <p:nvPr>
            <p:custDataLst>
              <p:tags r:id="rId19"/>
            </p:custDataLst>
          </p:nvPr>
        </p:nvCxnSpPr>
        <p:spPr>
          <a:xfrm flipV="1">
            <a:off x="3046092" y="2305481"/>
            <a:ext cx="218473" cy="419352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连接符: 肘形 74">
            <a:extLst>
              <a:ext uri="{FF2B5EF4-FFF2-40B4-BE49-F238E27FC236}">
                <a16:creationId xmlns:a16="http://schemas.microsoft.com/office/drawing/2014/main" id="{8D506343-66E7-4440-862F-207EEE6279C2}"/>
              </a:ext>
            </a:extLst>
          </p:cNvPr>
          <p:cNvCxnSpPr>
            <a:stCxn id="214" idx="0"/>
            <a:endCxn id="223" idx="0"/>
          </p:cNvCxnSpPr>
          <p:nvPr>
            <p:custDataLst>
              <p:tags r:id="rId20"/>
            </p:custDataLst>
          </p:nvPr>
        </p:nvCxnSpPr>
        <p:spPr>
          <a:xfrm rot="16200000" flipH="1">
            <a:off x="5030724" y="-302857"/>
            <a:ext cx="841184" cy="5766753"/>
          </a:xfrm>
          <a:prstGeom prst="bentConnector3">
            <a:avLst>
              <a:gd name="adj1" fmla="val -27176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文本框 205">
            <a:extLst>
              <a:ext uri="{FF2B5EF4-FFF2-40B4-BE49-F238E27FC236}">
                <a16:creationId xmlns:a16="http://schemas.microsoft.com/office/drawing/2014/main" id="{7F5C158B-766F-0D43-82BF-4B6C86779558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483128" y="1679605"/>
            <a:ext cx="572814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有预收</a:t>
            </a:r>
          </a:p>
        </p:txBody>
      </p:sp>
      <p:cxnSp>
        <p:nvCxnSpPr>
          <p:cNvPr id="207" name="直接箭头连接符 116">
            <a:extLst>
              <a:ext uri="{FF2B5EF4-FFF2-40B4-BE49-F238E27FC236}">
                <a16:creationId xmlns:a16="http://schemas.microsoft.com/office/drawing/2014/main" id="{2B88C109-03A1-BC47-B56F-CA427FC08FB8}"/>
              </a:ext>
            </a:extLst>
          </p:cNvPr>
          <p:cNvCxnSpPr>
            <a:stCxn id="201" idx="2"/>
            <a:endCxn id="202" idx="0"/>
          </p:cNvCxnSpPr>
          <p:nvPr>
            <p:custDataLst>
              <p:tags r:id="rId22"/>
            </p:custDataLst>
          </p:nvPr>
        </p:nvCxnSpPr>
        <p:spPr>
          <a:xfrm>
            <a:off x="3708748" y="2451035"/>
            <a:ext cx="0" cy="132621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117">
            <a:extLst>
              <a:ext uri="{FF2B5EF4-FFF2-40B4-BE49-F238E27FC236}">
                <a16:creationId xmlns:a16="http://schemas.microsoft.com/office/drawing/2014/main" id="{4C51AB05-DBDF-F643-A120-059BC61B7636}"/>
              </a:ext>
            </a:extLst>
          </p:cNvPr>
          <p:cNvCxnSpPr>
            <a:stCxn id="223" idx="2"/>
            <a:endCxn id="224" idx="0"/>
          </p:cNvCxnSpPr>
          <p:nvPr>
            <p:custDataLst>
              <p:tags r:id="rId23"/>
            </p:custDataLst>
          </p:nvPr>
        </p:nvCxnSpPr>
        <p:spPr>
          <a:xfrm>
            <a:off x="8334693" y="3317977"/>
            <a:ext cx="0" cy="634647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119">
            <a:extLst>
              <a:ext uri="{FF2B5EF4-FFF2-40B4-BE49-F238E27FC236}">
                <a16:creationId xmlns:a16="http://schemas.microsoft.com/office/drawing/2014/main" id="{668D0EFC-6278-A04E-955E-980B9168244C}"/>
              </a:ext>
            </a:extLst>
          </p:cNvPr>
          <p:cNvCxnSpPr>
            <a:stCxn id="222" idx="2"/>
            <a:endCxn id="243" idx="0"/>
          </p:cNvCxnSpPr>
          <p:nvPr>
            <p:custDataLst>
              <p:tags r:id="rId24"/>
            </p:custDataLst>
          </p:nvPr>
        </p:nvCxnSpPr>
        <p:spPr>
          <a:xfrm>
            <a:off x="7193917" y="2730085"/>
            <a:ext cx="316" cy="739564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标注: 线形(无边框) 36">
            <a:extLst>
              <a:ext uri="{FF2B5EF4-FFF2-40B4-BE49-F238E27FC236}">
                <a16:creationId xmlns:a16="http://schemas.microsoft.com/office/drawing/2014/main" id="{817DE62C-7E0C-5F4E-95D9-CDE433AE7533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6920333" y="4309147"/>
            <a:ext cx="706551" cy="428297"/>
          </a:xfrm>
          <a:prstGeom prst="callout1">
            <a:avLst>
              <a:gd name="adj1" fmla="val 34002"/>
              <a:gd name="adj2" fmla="val 102890"/>
              <a:gd name="adj3" fmla="val 59503"/>
              <a:gd name="adj4" fmla="val 135693"/>
            </a:avLst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真实完整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防篡改</a:t>
            </a: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E97FE9CF-D98B-A14D-B549-33FE0C547CC6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995680" y="1494410"/>
            <a:ext cx="488950" cy="4279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询价</a:t>
            </a: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ABD91871-920F-8E4F-B396-393154B4B2AD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2089785" y="2159927"/>
            <a:ext cx="956310" cy="2823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销售合同</a:t>
            </a: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C3AA32E6-80A3-DA45-AF50-71313F20869B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2089782" y="2583656"/>
            <a:ext cx="956310" cy="2823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创建订单</a:t>
            </a: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9C721FEE-DD08-BD49-917C-CC657F1098E5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5589390" y="2404998"/>
            <a:ext cx="888124" cy="3441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开票申请</a:t>
            </a:r>
          </a:p>
        </p:txBody>
      </p:sp>
      <p:cxnSp>
        <p:nvCxnSpPr>
          <p:cNvPr id="217" name="直接箭头连接符 126">
            <a:extLst>
              <a:ext uri="{FF2B5EF4-FFF2-40B4-BE49-F238E27FC236}">
                <a16:creationId xmlns:a16="http://schemas.microsoft.com/office/drawing/2014/main" id="{6D4A036A-C703-6D41-AEAC-13817BF2B926}"/>
              </a:ext>
            </a:extLst>
          </p:cNvPr>
          <p:cNvCxnSpPr>
            <a:stCxn id="214" idx="2"/>
            <a:endCxn id="215" idx="0"/>
          </p:cNvCxnSpPr>
          <p:nvPr>
            <p:custDataLst>
              <p:tags r:id="rId30"/>
            </p:custDataLst>
          </p:nvPr>
        </p:nvCxnSpPr>
        <p:spPr>
          <a:xfrm flipH="1">
            <a:off x="2567937" y="2442280"/>
            <a:ext cx="3" cy="141376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矩形 217">
            <a:extLst>
              <a:ext uri="{FF2B5EF4-FFF2-40B4-BE49-F238E27FC236}">
                <a16:creationId xmlns:a16="http://schemas.microsoft.com/office/drawing/2014/main" id="{559033C8-18A9-1F4F-85A4-C8C00ED05571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5589270" y="3003463"/>
            <a:ext cx="888365" cy="3114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发票开具</a:t>
            </a:r>
          </a:p>
        </p:txBody>
      </p:sp>
      <p:cxnSp>
        <p:nvCxnSpPr>
          <p:cNvPr id="219" name="直接箭头连接符 129">
            <a:extLst>
              <a:ext uri="{FF2B5EF4-FFF2-40B4-BE49-F238E27FC236}">
                <a16:creationId xmlns:a16="http://schemas.microsoft.com/office/drawing/2014/main" id="{51B3BBAD-DD70-0C46-957B-932D279829C0}"/>
              </a:ext>
            </a:extLst>
          </p:cNvPr>
          <p:cNvCxnSpPr>
            <a:stCxn id="216" idx="2"/>
            <a:endCxn id="218" idx="0"/>
          </p:cNvCxnSpPr>
          <p:nvPr>
            <p:custDataLst>
              <p:tags r:id="rId32"/>
            </p:custDataLst>
          </p:nvPr>
        </p:nvCxnSpPr>
        <p:spPr>
          <a:xfrm>
            <a:off x="6033452" y="2749169"/>
            <a:ext cx="1" cy="254294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连接符: 肘形 58">
            <a:extLst>
              <a:ext uri="{FF2B5EF4-FFF2-40B4-BE49-F238E27FC236}">
                <a16:creationId xmlns:a16="http://schemas.microsoft.com/office/drawing/2014/main" id="{921837D0-8CA7-C64C-8D8E-E8F53782F4D5}"/>
              </a:ext>
            </a:extLst>
          </p:cNvPr>
          <p:cNvCxnSpPr>
            <a:stCxn id="213" idx="3"/>
            <a:endCxn id="214" idx="1"/>
          </p:cNvCxnSpPr>
          <p:nvPr>
            <p:custDataLst>
              <p:tags r:id="rId33"/>
            </p:custDataLst>
          </p:nvPr>
        </p:nvCxnSpPr>
        <p:spPr>
          <a:xfrm>
            <a:off x="1484630" y="1708405"/>
            <a:ext cx="605155" cy="592699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矩形 221">
            <a:extLst>
              <a:ext uri="{FF2B5EF4-FFF2-40B4-BE49-F238E27FC236}">
                <a16:creationId xmlns:a16="http://schemas.microsoft.com/office/drawing/2014/main" id="{A02AF336-F306-214B-811D-FC0B11D9ABEF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6749734" y="2447732"/>
            <a:ext cx="888365" cy="2823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催收信息</a:t>
            </a: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D687C6F8-D97A-7447-913E-EA5BF8471810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7890510" y="3001111"/>
            <a:ext cx="888365" cy="3168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收款处理</a:t>
            </a:r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04B0DD90-1F35-6441-ACAB-9898E460757D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7890510" y="3952624"/>
            <a:ext cx="888365" cy="3441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会计凭证</a:t>
            </a: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5457ECBD-9C52-6A40-B853-18B6EB3AD835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7890510" y="4393185"/>
            <a:ext cx="888365" cy="3441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会计档案</a:t>
            </a:r>
          </a:p>
        </p:txBody>
      </p:sp>
      <p:cxnSp>
        <p:nvCxnSpPr>
          <p:cNvPr id="226" name="直接箭头连接符 136">
            <a:extLst>
              <a:ext uri="{FF2B5EF4-FFF2-40B4-BE49-F238E27FC236}">
                <a16:creationId xmlns:a16="http://schemas.microsoft.com/office/drawing/2014/main" id="{8E337766-6455-704F-8E44-012B250321FF}"/>
              </a:ext>
            </a:extLst>
          </p:cNvPr>
          <p:cNvCxnSpPr>
            <a:stCxn id="224" idx="2"/>
            <a:endCxn id="225" idx="0"/>
          </p:cNvCxnSpPr>
          <p:nvPr>
            <p:custDataLst>
              <p:tags r:id="rId38"/>
            </p:custDataLst>
          </p:nvPr>
        </p:nvCxnSpPr>
        <p:spPr>
          <a:xfrm>
            <a:off x="8334693" y="4296794"/>
            <a:ext cx="0" cy="96391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矩形 226">
            <a:extLst>
              <a:ext uri="{FF2B5EF4-FFF2-40B4-BE49-F238E27FC236}">
                <a16:creationId xmlns:a16="http://schemas.microsoft.com/office/drawing/2014/main" id="{7FE3CAE7-30DA-F846-8D8D-05F9C798A7A4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4522470" y="2125917"/>
            <a:ext cx="812800" cy="3299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发起结算对账</a:t>
            </a:r>
          </a:p>
        </p:txBody>
      </p:sp>
      <p:cxnSp>
        <p:nvCxnSpPr>
          <p:cNvPr id="228" name="连接符: 肘形 58">
            <a:extLst>
              <a:ext uri="{FF2B5EF4-FFF2-40B4-BE49-F238E27FC236}">
                <a16:creationId xmlns:a16="http://schemas.microsoft.com/office/drawing/2014/main" id="{AEA97C18-CD8D-8A4C-9CF9-ECF538A7BAE6}"/>
              </a:ext>
            </a:extLst>
          </p:cNvPr>
          <p:cNvCxnSpPr>
            <a:stCxn id="202" idx="3"/>
            <a:endCxn id="227" idx="1"/>
          </p:cNvCxnSpPr>
          <p:nvPr>
            <p:custDataLst>
              <p:tags r:id="rId40"/>
            </p:custDataLst>
          </p:nvPr>
        </p:nvCxnSpPr>
        <p:spPr>
          <a:xfrm flipV="1">
            <a:off x="4152930" y="2290904"/>
            <a:ext cx="369540" cy="431864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矩形 228">
            <a:extLst>
              <a:ext uri="{FF2B5EF4-FFF2-40B4-BE49-F238E27FC236}">
                <a16:creationId xmlns:a16="http://schemas.microsoft.com/office/drawing/2014/main" id="{BC9A2AAD-595A-FA40-90D3-2C969838C67E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4522153" y="3007654"/>
            <a:ext cx="812800" cy="3441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审核结算对账单</a:t>
            </a:r>
          </a:p>
        </p:txBody>
      </p:sp>
      <p:cxnSp>
        <p:nvCxnSpPr>
          <p:cNvPr id="230" name="连接符: 肘形 58">
            <a:extLst>
              <a:ext uri="{FF2B5EF4-FFF2-40B4-BE49-F238E27FC236}">
                <a16:creationId xmlns:a16="http://schemas.microsoft.com/office/drawing/2014/main" id="{486C9630-D1AC-9247-929C-054CF65BD8E7}"/>
              </a:ext>
            </a:extLst>
          </p:cNvPr>
          <p:cNvCxnSpPr>
            <a:stCxn id="238" idx="3"/>
            <a:endCxn id="216" idx="1"/>
          </p:cNvCxnSpPr>
          <p:nvPr>
            <p:custDataLst>
              <p:tags r:id="rId42"/>
            </p:custDataLst>
          </p:nvPr>
        </p:nvCxnSpPr>
        <p:spPr>
          <a:xfrm flipV="1">
            <a:off x="5334636" y="2577084"/>
            <a:ext cx="254754" cy="1065570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Oval 156">
            <a:extLst>
              <a:ext uri="{FF2B5EF4-FFF2-40B4-BE49-F238E27FC236}">
                <a16:creationId xmlns:a16="http://schemas.microsoft.com/office/drawing/2014/main" id="{A714B29A-BB15-9D46-A813-340027CF223F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7494905" y="2283902"/>
            <a:ext cx="219075" cy="22987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3</a:t>
            </a:r>
          </a:p>
        </p:txBody>
      </p:sp>
      <p:sp>
        <p:nvSpPr>
          <p:cNvPr id="233" name="Oval 156">
            <a:extLst>
              <a:ext uri="{FF2B5EF4-FFF2-40B4-BE49-F238E27FC236}">
                <a16:creationId xmlns:a16="http://schemas.microsoft.com/office/drawing/2014/main" id="{B70C7ABD-5941-F942-A5D6-776875325F2E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8661400" y="4309365"/>
            <a:ext cx="219075" cy="22987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5</a:t>
            </a:r>
          </a:p>
        </p:txBody>
      </p:sp>
      <p:sp>
        <p:nvSpPr>
          <p:cNvPr id="234" name="标注: 线形(无边框) 120">
            <a:extLst>
              <a:ext uri="{FF2B5EF4-FFF2-40B4-BE49-F238E27FC236}">
                <a16:creationId xmlns:a16="http://schemas.microsoft.com/office/drawing/2014/main" id="{DCA03B81-5427-144C-B10A-EFDF41A17A7D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6674515" y="2877541"/>
            <a:ext cx="489585" cy="316865"/>
          </a:xfrm>
          <a:prstGeom prst="callout1">
            <a:avLst>
              <a:gd name="adj1" fmla="val -4551"/>
              <a:gd name="adj2" fmla="val 21668"/>
              <a:gd name="adj3" fmla="val -50620"/>
              <a:gd name="adj4" fmla="val 67360"/>
            </a:avLst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自动通知</a:t>
            </a:r>
          </a:p>
        </p:txBody>
      </p:sp>
      <p:sp>
        <p:nvSpPr>
          <p:cNvPr id="235" name="标注: 线形(无边框) 120">
            <a:extLst>
              <a:ext uri="{FF2B5EF4-FFF2-40B4-BE49-F238E27FC236}">
                <a16:creationId xmlns:a16="http://schemas.microsoft.com/office/drawing/2014/main" id="{1C95C655-5796-EB41-85DE-FC34587F6C34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8416607" y="1883030"/>
            <a:ext cx="489585" cy="316865"/>
          </a:xfrm>
          <a:prstGeom prst="callout1">
            <a:avLst>
              <a:gd name="adj1" fmla="val 108617"/>
              <a:gd name="adj2" fmla="val 36316"/>
              <a:gd name="adj3" fmla="val 172886"/>
              <a:gd name="adj4" fmla="val 14259"/>
            </a:avLst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智能认领</a:t>
            </a:r>
          </a:p>
        </p:txBody>
      </p:sp>
      <p:cxnSp>
        <p:nvCxnSpPr>
          <p:cNvPr id="236" name="肘形连接符 235">
            <a:extLst>
              <a:ext uri="{FF2B5EF4-FFF2-40B4-BE49-F238E27FC236}">
                <a16:creationId xmlns:a16="http://schemas.microsoft.com/office/drawing/2014/main" id="{142F3296-DC9E-F64E-865D-346C5B57A31D}"/>
              </a:ext>
            </a:extLst>
          </p:cNvPr>
          <p:cNvCxnSpPr>
            <a:stCxn id="238" idx="3"/>
            <a:endCxn id="224" idx="0"/>
          </p:cNvCxnSpPr>
          <p:nvPr/>
        </p:nvCxnSpPr>
        <p:spPr>
          <a:xfrm>
            <a:off x="5334636" y="3642654"/>
            <a:ext cx="3000057" cy="309970"/>
          </a:xfrm>
          <a:prstGeom prst="bentConnector2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184">
            <a:extLst>
              <a:ext uri="{FF2B5EF4-FFF2-40B4-BE49-F238E27FC236}">
                <a16:creationId xmlns:a16="http://schemas.microsoft.com/office/drawing/2014/main" id="{529048CE-70B0-744D-9B42-65A4ABAE32AC}"/>
              </a:ext>
            </a:extLst>
          </p:cNvPr>
          <p:cNvCxnSpPr>
            <a:stCxn id="229" idx="2"/>
            <a:endCxn id="238" idx="0"/>
          </p:cNvCxnSpPr>
          <p:nvPr>
            <p:custDataLst>
              <p:tags r:id="rId47"/>
            </p:custDataLst>
          </p:nvPr>
        </p:nvCxnSpPr>
        <p:spPr>
          <a:xfrm>
            <a:off x="4928553" y="3351824"/>
            <a:ext cx="2474" cy="118745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矩形 237">
            <a:extLst>
              <a:ext uri="{FF2B5EF4-FFF2-40B4-BE49-F238E27FC236}">
                <a16:creationId xmlns:a16="http://schemas.microsoft.com/office/drawing/2014/main" id="{DBBE45D0-DA05-F24D-8C0B-E03A11001C66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4527418" y="3470569"/>
            <a:ext cx="807218" cy="3441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应收挂账</a:t>
            </a:r>
          </a:p>
        </p:txBody>
      </p:sp>
      <p:cxnSp>
        <p:nvCxnSpPr>
          <p:cNvPr id="239" name="直接箭头连接符 186">
            <a:extLst>
              <a:ext uri="{FF2B5EF4-FFF2-40B4-BE49-F238E27FC236}">
                <a16:creationId xmlns:a16="http://schemas.microsoft.com/office/drawing/2014/main" id="{3540F55E-9167-804F-A33E-B1D0930D587F}"/>
              </a:ext>
            </a:extLst>
          </p:cNvPr>
          <p:cNvCxnSpPr>
            <a:stCxn id="238" idx="2"/>
            <a:endCxn id="241" idx="0"/>
          </p:cNvCxnSpPr>
          <p:nvPr>
            <p:custDataLst>
              <p:tags r:id="rId49"/>
            </p:custDataLst>
          </p:nvPr>
        </p:nvCxnSpPr>
        <p:spPr>
          <a:xfrm>
            <a:off x="4931027" y="3814739"/>
            <a:ext cx="2914" cy="137885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肘形连接符 115">
            <a:extLst>
              <a:ext uri="{FF2B5EF4-FFF2-40B4-BE49-F238E27FC236}">
                <a16:creationId xmlns:a16="http://schemas.microsoft.com/office/drawing/2014/main" id="{B8482158-7927-0843-9497-2A0D8EF6EE5F}"/>
              </a:ext>
            </a:extLst>
          </p:cNvPr>
          <p:cNvCxnSpPr>
            <a:cxnSpLocks/>
            <a:stCxn id="202" idx="2"/>
            <a:endCxn id="224" idx="1"/>
          </p:cNvCxnSpPr>
          <p:nvPr/>
        </p:nvCxnSpPr>
        <p:spPr>
          <a:xfrm rot="16200000" flipH="1">
            <a:off x="5168215" y="1402413"/>
            <a:ext cx="1262829" cy="41817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1" name="矩形 240">
            <a:extLst>
              <a:ext uri="{FF2B5EF4-FFF2-40B4-BE49-F238E27FC236}">
                <a16:creationId xmlns:a16="http://schemas.microsoft.com/office/drawing/2014/main" id="{E43DD971-84B7-C140-8159-210DDB8AA4CA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4527541" y="3952624"/>
            <a:ext cx="812800" cy="3441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收入确认</a:t>
            </a:r>
          </a:p>
        </p:txBody>
      </p:sp>
      <p:sp>
        <p:nvSpPr>
          <p:cNvPr id="242" name="Oval 156">
            <a:extLst>
              <a:ext uri="{FF2B5EF4-FFF2-40B4-BE49-F238E27FC236}">
                <a16:creationId xmlns:a16="http://schemas.microsoft.com/office/drawing/2014/main" id="{E3038735-5469-C84E-B8FA-27754BDD9057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5193096" y="3840485"/>
            <a:ext cx="219075" cy="22987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2</a:t>
            </a:r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C57E0038-A848-044D-93ED-A87E22BC71F2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6750050" y="3469649"/>
            <a:ext cx="888365" cy="3113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坏账</a:t>
            </a:r>
            <a:r>
              <a:rPr kumimoji="0" lang="zh-Han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计提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44285892-3DBB-224C-83BC-BF33AAB9F21D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7890510" y="2451034"/>
            <a:ext cx="888365" cy="312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收款认领</a:t>
            </a:r>
          </a:p>
        </p:txBody>
      </p:sp>
      <p:cxnSp>
        <p:nvCxnSpPr>
          <p:cNvPr id="245" name="直接箭头连接符 192">
            <a:extLst>
              <a:ext uri="{FF2B5EF4-FFF2-40B4-BE49-F238E27FC236}">
                <a16:creationId xmlns:a16="http://schemas.microsoft.com/office/drawing/2014/main" id="{82A45A27-3533-9E4D-A2A7-C76EB5F66B39}"/>
              </a:ext>
            </a:extLst>
          </p:cNvPr>
          <p:cNvCxnSpPr>
            <a:cxnSpLocks/>
            <a:stCxn id="241" idx="3"/>
            <a:endCxn id="224" idx="1"/>
          </p:cNvCxnSpPr>
          <p:nvPr>
            <p:custDataLst>
              <p:tags r:id="rId54"/>
            </p:custDataLst>
          </p:nvPr>
        </p:nvCxnSpPr>
        <p:spPr>
          <a:xfrm>
            <a:off x="5340341" y="4124709"/>
            <a:ext cx="2550169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193">
            <a:extLst>
              <a:ext uri="{FF2B5EF4-FFF2-40B4-BE49-F238E27FC236}">
                <a16:creationId xmlns:a16="http://schemas.microsoft.com/office/drawing/2014/main" id="{4B5E0C4E-C06D-A342-BEE2-7FD0BA01A247}"/>
              </a:ext>
            </a:extLst>
          </p:cNvPr>
          <p:cNvCxnSpPr>
            <a:stCxn id="244" idx="2"/>
            <a:endCxn id="223" idx="0"/>
          </p:cNvCxnSpPr>
          <p:nvPr>
            <p:custDataLst>
              <p:tags r:id="rId55"/>
            </p:custDataLst>
          </p:nvPr>
        </p:nvCxnSpPr>
        <p:spPr>
          <a:xfrm>
            <a:off x="8334693" y="2763457"/>
            <a:ext cx="0" cy="237654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Oval 156">
            <a:extLst>
              <a:ext uri="{FF2B5EF4-FFF2-40B4-BE49-F238E27FC236}">
                <a16:creationId xmlns:a16="http://schemas.microsoft.com/office/drawing/2014/main" id="{DD3DDF74-E503-294E-A395-6B344364D13A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8669179" y="2338529"/>
            <a:ext cx="219075" cy="22987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4</a:t>
            </a:r>
          </a:p>
        </p:txBody>
      </p:sp>
      <p:sp>
        <p:nvSpPr>
          <p:cNvPr id="248" name="标注: 线形(无边框) 152">
            <a:extLst>
              <a:ext uri="{FF2B5EF4-FFF2-40B4-BE49-F238E27FC236}">
                <a16:creationId xmlns:a16="http://schemas.microsoft.com/office/drawing/2014/main" id="{78E159D0-A475-CF4A-83DA-52A7C8EFF534}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5527085" y="4205909"/>
            <a:ext cx="661988" cy="427355"/>
          </a:xfrm>
          <a:prstGeom prst="callout1">
            <a:avLst>
              <a:gd name="adj1" fmla="val 53674"/>
              <a:gd name="adj2" fmla="val -11264"/>
              <a:gd name="adj3" fmla="val 22445"/>
              <a:gd name="adj4" fmla="val -33460"/>
            </a:avLst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灵活确认收入</a:t>
            </a:r>
          </a:p>
        </p:txBody>
      </p:sp>
      <p:cxnSp>
        <p:nvCxnSpPr>
          <p:cNvPr id="257" name="直接连接符 4">
            <a:extLst>
              <a:ext uri="{FF2B5EF4-FFF2-40B4-BE49-F238E27FC236}">
                <a16:creationId xmlns:a16="http://schemas.microsoft.com/office/drawing/2014/main" id="{49525D3C-2A37-D04E-B030-33B2D8056C13}"/>
              </a:ext>
            </a:extLst>
          </p:cNvPr>
          <p:cNvCxnSpPr/>
          <p:nvPr/>
        </p:nvCxnSpPr>
        <p:spPr>
          <a:xfrm>
            <a:off x="1955390" y="1330580"/>
            <a:ext cx="0" cy="3492499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5">
            <a:extLst>
              <a:ext uri="{FF2B5EF4-FFF2-40B4-BE49-F238E27FC236}">
                <a16:creationId xmlns:a16="http://schemas.microsoft.com/office/drawing/2014/main" id="{7ED0EFA7-FE55-244E-8092-0998AC1D652C}"/>
              </a:ext>
            </a:extLst>
          </p:cNvPr>
          <p:cNvCxnSpPr/>
          <p:nvPr/>
        </p:nvCxnSpPr>
        <p:spPr>
          <a:xfrm>
            <a:off x="3167380" y="1330580"/>
            <a:ext cx="0" cy="3492499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6">
            <a:extLst>
              <a:ext uri="{FF2B5EF4-FFF2-40B4-BE49-F238E27FC236}">
                <a16:creationId xmlns:a16="http://schemas.microsoft.com/office/drawing/2014/main" id="{0713D238-8903-524F-A311-BF337D5374A8}"/>
              </a:ext>
            </a:extLst>
          </p:cNvPr>
          <p:cNvCxnSpPr/>
          <p:nvPr/>
        </p:nvCxnSpPr>
        <p:spPr>
          <a:xfrm>
            <a:off x="4319204" y="1330580"/>
            <a:ext cx="0" cy="3492499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7">
            <a:extLst>
              <a:ext uri="{FF2B5EF4-FFF2-40B4-BE49-F238E27FC236}">
                <a16:creationId xmlns:a16="http://schemas.microsoft.com/office/drawing/2014/main" id="{11E4E556-E7B7-2746-A2A4-075BDAEAC064}"/>
              </a:ext>
            </a:extLst>
          </p:cNvPr>
          <p:cNvCxnSpPr/>
          <p:nvPr/>
        </p:nvCxnSpPr>
        <p:spPr>
          <a:xfrm>
            <a:off x="5443117" y="1330580"/>
            <a:ext cx="0" cy="3492499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8">
            <a:extLst>
              <a:ext uri="{FF2B5EF4-FFF2-40B4-BE49-F238E27FC236}">
                <a16:creationId xmlns:a16="http://schemas.microsoft.com/office/drawing/2014/main" id="{27C187F1-CBE8-DE45-8ABC-7449E5A1601C}"/>
              </a:ext>
            </a:extLst>
          </p:cNvPr>
          <p:cNvCxnSpPr/>
          <p:nvPr/>
        </p:nvCxnSpPr>
        <p:spPr>
          <a:xfrm>
            <a:off x="6623050" y="1330580"/>
            <a:ext cx="0" cy="3492499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9">
            <a:extLst>
              <a:ext uri="{FF2B5EF4-FFF2-40B4-BE49-F238E27FC236}">
                <a16:creationId xmlns:a16="http://schemas.microsoft.com/office/drawing/2014/main" id="{4A00E636-AA91-F149-B330-A38CCE9D357F}"/>
              </a:ext>
            </a:extLst>
          </p:cNvPr>
          <p:cNvCxnSpPr/>
          <p:nvPr/>
        </p:nvCxnSpPr>
        <p:spPr>
          <a:xfrm>
            <a:off x="7769860" y="1325464"/>
            <a:ext cx="0" cy="3492499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2971EB"/>
                </a:solidFill>
                <a:latin typeface="+mn-lt"/>
                <a:ea typeface="+mn-ea"/>
                <a:cs typeface="+mn-ea"/>
                <a:sym typeface="+mn-lt"/>
              </a:rPr>
              <a:t>流程基础管控示例</a:t>
            </a:r>
            <a:r>
              <a:rPr lang="en-US" altLang="zh-CN" dirty="0">
                <a:solidFill>
                  <a:srgbClr val="2971EB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：销售到收款</a:t>
            </a:r>
            <a:endParaRPr lang="zh-CN" altLang="en-US" sz="24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" name="Rectangle 111">
            <a:extLst>
              <a:ext uri="{FF2B5EF4-FFF2-40B4-BE49-F238E27FC236}">
                <a16:creationId xmlns:a16="http://schemas.microsoft.com/office/drawing/2014/main" id="{4A1AA156-D8F0-A842-A899-5B52F3DB52FF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941070" y="4920870"/>
            <a:ext cx="8039735" cy="1527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grpSp>
        <p:nvGrpSpPr>
          <p:cNvPr id="89" name="Group 115">
            <a:extLst>
              <a:ext uri="{FF2B5EF4-FFF2-40B4-BE49-F238E27FC236}">
                <a16:creationId xmlns:a16="http://schemas.microsoft.com/office/drawing/2014/main" id="{0B9D67F7-8208-D44F-B55D-BF0C7DE90AEC}"/>
              </a:ext>
            </a:extLst>
          </p:cNvPr>
          <p:cNvGrpSpPr/>
          <p:nvPr/>
        </p:nvGrpSpPr>
        <p:grpSpPr>
          <a:xfrm>
            <a:off x="9223375" y="1291210"/>
            <a:ext cx="2503805" cy="5158105"/>
            <a:chOff x="9848198" y="1485683"/>
            <a:chExt cx="3600924" cy="3717131"/>
          </a:xfrm>
        </p:grpSpPr>
        <p:sp>
          <p:nvSpPr>
            <p:cNvPr id="101" name="圆角矩形 12">
              <a:extLst>
                <a:ext uri="{FF2B5EF4-FFF2-40B4-BE49-F238E27FC236}">
                  <a16:creationId xmlns:a16="http://schemas.microsoft.com/office/drawing/2014/main" id="{734E4511-FF21-A34C-AAF8-1F9EF7057F42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9895640" y="1628894"/>
              <a:ext cx="3553482" cy="3573920"/>
            </a:xfrm>
            <a:prstGeom prst="roundRect">
              <a:avLst>
                <a:gd name="adj" fmla="val 4800"/>
              </a:avLst>
            </a:prstGeom>
            <a:solidFill>
              <a:sysClr val="window" lastClr="FFFFFF"/>
            </a:solidFill>
            <a:ln w="15875" cap="rnd" cmpd="sng" algn="ctr">
              <a:solidFill>
                <a:schemeClr val="tx1"/>
              </a:solidFill>
              <a:prstDash val="solid"/>
              <a:round/>
            </a:ln>
            <a:effectLst>
              <a:outerShdw blurRad="254000" dist="127000" algn="ctr" rotWithShape="0">
                <a:sysClr val="window" lastClr="FFFFFF">
                  <a:lumMod val="65000"/>
                  <a:alpha val="20000"/>
                </a:sys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228600" marR="0" lvl="0" indent="-22860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根据</a:t>
              </a:r>
              <a:r>
                <a:rPr kumimoji="0" lang="zh-Han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销售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数据确认应收的准确性和业务一致性；</a:t>
              </a:r>
              <a:endParaRPr kumimoji="0" lang="zh-CN" alt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  <a:p>
              <a:pPr marL="228600" marR="0" lvl="0" indent="-22860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根据经双方确认的对账单开具发票，并正式确认</a:t>
              </a:r>
              <a:r>
                <a:rPr kumimoji="0" lang="zh-Han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收入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，这是事中合规性控制，避免因提前开票、虚假开票等导致收入确认违规或税务风险</a:t>
              </a:r>
              <a:r>
                <a:rPr kumimoji="0" lang="zh-CN" alt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；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  <a:p>
              <a:pPr marL="228600" marR="0" lvl="0" indent="-22860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应收账款</a:t>
              </a:r>
              <a:r>
                <a:rPr kumimoji="0" lang="zh-Han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自动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催收，自定义</a:t>
              </a:r>
              <a:r>
                <a:rPr kumimoji="0" lang="zh-Han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催款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规则，</a:t>
              </a:r>
              <a:r>
                <a:rPr kumimoji="0" lang="zh-Han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自动向客户及业务员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发送催收信息</a:t>
              </a:r>
              <a:r>
                <a:rPr kumimoji="0" lang="zh-CN" alt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；</a:t>
              </a:r>
            </a:p>
            <a:p>
              <a:pPr marL="228600" marR="0" lvl="0" indent="-22860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收款</a:t>
              </a:r>
              <a:r>
                <a:rPr kumimoji="0" lang="zh-Han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认领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自动化，将银行流水通过漏斗式的规则设置方案，有规则的自动生成收款单，无规则的推送业务人员认领后自动形成收款</a:t>
              </a:r>
              <a:r>
                <a:rPr kumimoji="0" lang="zh-CN" alt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；</a:t>
              </a:r>
              <a:endParaRPr kumimoji="0" lang="en-GB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  <a:p>
              <a:pPr marL="228600" marR="0" lvl="0" indent="-22860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实施会计档案校验，防范档案缺失，篡改导致的风险。</a:t>
              </a:r>
              <a:endParaRPr kumimoji="0" lang="zh-CN" alt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2" name="文本框 13">
              <a:extLst>
                <a:ext uri="{FF2B5EF4-FFF2-40B4-BE49-F238E27FC236}">
                  <a16:creationId xmlns:a16="http://schemas.microsoft.com/office/drawing/2014/main" id="{27F80008-D0C9-EB4D-8E45-FC1CD4F01A0B}"/>
                </a:ext>
              </a:extLst>
            </p:cNvPr>
            <p:cNvSpPr txBox="1"/>
            <p:nvPr>
              <p:custDataLst>
                <p:tags r:id="rId88"/>
              </p:custDataLst>
            </p:nvPr>
          </p:nvSpPr>
          <p:spPr>
            <a:xfrm>
              <a:off x="9982343" y="1485683"/>
              <a:ext cx="1822025" cy="242636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101854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主要风险点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ea"/>
                  <a:sym typeface="+mn-lt"/>
                </a:rPr>
                <a:t>控制</a:t>
              </a:r>
              <a:endParaRPr kumimoji="0" lang="zh-CN" alt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3" name="Rectangle 117">
              <a:extLst>
                <a:ext uri="{FF2B5EF4-FFF2-40B4-BE49-F238E27FC236}">
                  <a16:creationId xmlns:a16="http://schemas.microsoft.com/office/drawing/2014/main" id="{972A8193-A71A-F844-A9A7-4CE379EE1534}"/>
                </a:ext>
              </a:extLst>
            </p:cNvPr>
            <p:cNvSpPr>
              <a:spLocks noChangeArrowheads="1"/>
            </p:cNvSpPr>
            <p:nvPr>
              <p:custDataLst>
                <p:tags r:id="rId89"/>
              </p:custDataLst>
            </p:nvPr>
          </p:nvSpPr>
          <p:spPr bwMode="blackWhite">
            <a:xfrm>
              <a:off x="9848198" y="2248067"/>
              <a:ext cx="3553482" cy="1281506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228600" marR="0" lvl="0" indent="-22860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104" name="Rectangle 138">
            <a:extLst>
              <a:ext uri="{FF2B5EF4-FFF2-40B4-BE49-F238E27FC236}">
                <a16:creationId xmlns:a16="http://schemas.microsoft.com/office/drawing/2014/main" id="{FDE94BAF-79E6-0541-9A51-563A99A30137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579120" y="4920235"/>
            <a:ext cx="308610" cy="1498600"/>
          </a:xfrm>
          <a:prstGeom prst="rect">
            <a:avLst/>
          </a:prstGeom>
          <a:solidFill>
            <a:srgbClr val="7F7F7F"/>
          </a:solidFill>
          <a:ln w="6350">
            <a:noFill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ct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内控</a:t>
            </a:r>
            <a:r>
              <a:rPr kumimoji="0" lang="zh-CN" alt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监督</a:t>
            </a:r>
          </a:p>
        </p:txBody>
      </p:sp>
      <p:cxnSp>
        <p:nvCxnSpPr>
          <p:cNvPr id="105" name="直接箭头连接符 108">
            <a:extLst>
              <a:ext uri="{FF2B5EF4-FFF2-40B4-BE49-F238E27FC236}">
                <a16:creationId xmlns:a16="http://schemas.microsoft.com/office/drawing/2014/main" id="{82F1C9A3-17C6-AB4D-9DFA-1C35F979C53E}"/>
              </a:ext>
            </a:extLst>
          </p:cNvPr>
          <p:cNvCxnSpPr>
            <a:cxnSpLocks/>
          </p:cNvCxnSpPr>
          <p:nvPr>
            <p:custDataLst>
              <p:tags r:id="rId60"/>
            </p:custDataLst>
          </p:nvPr>
        </p:nvCxnSpPr>
        <p:spPr>
          <a:xfrm flipV="1">
            <a:off x="1650299" y="4755097"/>
            <a:ext cx="0" cy="165100"/>
          </a:xfrm>
          <a:prstGeom prst="straightConnector1">
            <a:avLst/>
          </a:prstGeom>
          <a:ln w="38100">
            <a:solidFill>
              <a:srgbClr val="E600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9">
            <a:extLst>
              <a:ext uri="{FF2B5EF4-FFF2-40B4-BE49-F238E27FC236}">
                <a16:creationId xmlns:a16="http://schemas.microsoft.com/office/drawing/2014/main" id="{F706544A-0E31-1E41-BE30-5197C3ABBC73}"/>
              </a:ext>
            </a:extLst>
          </p:cNvPr>
          <p:cNvCxnSpPr>
            <a:cxnSpLocks/>
          </p:cNvCxnSpPr>
          <p:nvPr>
            <p:custDataLst>
              <p:tags r:id="rId61"/>
            </p:custDataLst>
          </p:nvPr>
        </p:nvCxnSpPr>
        <p:spPr>
          <a:xfrm flipV="1">
            <a:off x="2987355" y="4755097"/>
            <a:ext cx="0" cy="165100"/>
          </a:xfrm>
          <a:prstGeom prst="straightConnector1">
            <a:avLst/>
          </a:prstGeom>
          <a:ln w="38100">
            <a:solidFill>
              <a:srgbClr val="E600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10">
            <a:extLst>
              <a:ext uri="{FF2B5EF4-FFF2-40B4-BE49-F238E27FC236}">
                <a16:creationId xmlns:a16="http://schemas.microsoft.com/office/drawing/2014/main" id="{64CE3EEA-C48B-E049-BC21-60CD7F2CC8E1}"/>
              </a:ext>
            </a:extLst>
          </p:cNvPr>
          <p:cNvCxnSpPr>
            <a:cxnSpLocks/>
          </p:cNvCxnSpPr>
          <p:nvPr>
            <p:custDataLst>
              <p:tags r:id="rId62"/>
            </p:custDataLst>
          </p:nvPr>
        </p:nvCxnSpPr>
        <p:spPr>
          <a:xfrm flipV="1">
            <a:off x="4324411" y="4755097"/>
            <a:ext cx="0" cy="165100"/>
          </a:xfrm>
          <a:prstGeom prst="straightConnector1">
            <a:avLst/>
          </a:prstGeom>
          <a:ln w="38100">
            <a:solidFill>
              <a:srgbClr val="E600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11">
            <a:extLst>
              <a:ext uri="{FF2B5EF4-FFF2-40B4-BE49-F238E27FC236}">
                <a16:creationId xmlns:a16="http://schemas.microsoft.com/office/drawing/2014/main" id="{F1007ABA-9068-BC47-B15D-85A7DE27452F}"/>
              </a:ext>
            </a:extLst>
          </p:cNvPr>
          <p:cNvCxnSpPr>
            <a:cxnSpLocks/>
          </p:cNvCxnSpPr>
          <p:nvPr>
            <p:custDataLst>
              <p:tags r:id="rId63"/>
            </p:custDataLst>
          </p:nvPr>
        </p:nvCxnSpPr>
        <p:spPr>
          <a:xfrm flipV="1">
            <a:off x="5661467" y="4755097"/>
            <a:ext cx="0" cy="165100"/>
          </a:xfrm>
          <a:prstGeom prst="straightConnector1">
            <a:avLst/>
          </a:prstGeom>
          <a:ln w="38100">
            <a:solidFill>
              <a:srgbClr val="E600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12">
            <a:extLst>
              <a:ext uri="{FF2B5EF4-FFF2-40B4-BE49-F238E27FC236}">
                <a16:creationId xmlns:a16="http://schemas.microsoft.com/office/drawing/2014/main" id="{D498BFAE-C101-7F42-9CC0-D813E874EAA1}"/>
              </a:ext>
            </a:extLst>
          </p:cNvPr>
          <p:cNvCxnSpPr>
            <a:cxnSpLocks/>
          </p:cNvCxnSpPr>
          <p:nvPr>
            <p:custDataLst>
              <p:tags r:id="rId64"/>
            </p:custDataLst>
          </p:nvPr>
        </p:nvCxnSpPr>
        <p:spPr>
          <a:xfrm flipV="1">
            <a:off x="6998523" y="4755097"/>
            <a:ext cx="0" cy="165100"/>
          </a:xfrm>
          <a:prstGeom prst="straightConnector1">
            <a:avLst/>
          </a:prstGeom>
          <a:ln w="38100">
            <a:solidFill>
              <a:srgbClr val="E600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13">
            <a:extLst>
              <a:ext uri="{FF2B5EF4-FFF2-40B4-BE49-F238E27FC236}">
                <a16:creationId xmlns:a16="http://schemas.microsoft.com/office/drawing/2014/main" id="{9980A084-1683-7041-9A30-E9BB303DB560}"/>
              </a:ext>
            </a:extLst>
          </p:cNvPr>
          <p:cNvCxnSpPr>
            <a:cxnSpLocks/>
          </p:cNvCxnSpPr>
          <p:nvPr>
            <p:custDataLst>
              <p:tags r:id="rId65"/>
            </p:custDataLst>
          </p:nvPr>
        </p:nvCxnSpPr>
        <p:spPr>
          <a:xfrm flipV="1">
            <a:off x="8335579" y="4755097"/>
            <a:ext cx="0" cy="165100"/>
          </a:xfrm>
          <a:prstGeom prst="straightConnector1">
            <a:avLst/>
          </a:prstGeom>
          <a:ln w="38100">
            <a:solidFill>
              <a:srgbClr val="E600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2">
            <a:extLst>
              <a:ext uri="{FF2B5EF4-FFF2-40B4-BE49-F238E27FC236}">
                <a16:creationId xmlns:a16="http://schemas.microsoft.com/office/drawing/2014/main" id="{06E96B37-308A-254D-A963-5C76460A2EBC}"/>
              </a:ext>
            </a:extLst>
          </p:cNvPr>
          <p:cNvSpPr txBox="1"/>
          <p:nvPr>
            <p:custDataLst>
              <p:tags r:id="rId66"/>
            </p:custDataLst>
          </p:nvPr>
        </p:nvSpPr>
        <p:spPr bwMode="auto">
          <a:xfrm>
            <a:off x="1037590" y="5039615"/>
            <a:ext cx="1121410" cy="26543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客户准入机制</a:t>
            </a:r>
          </a:p>
        </p:txBody>
      </p:sp>
      <p:sp>
        <p:nvSpPr>
          <p:cNvPr id="114" name="Rectangle 2">
            <a:extLst>
              <a:ext uri="{FF2B5EF4-FFF2-40B4-BE49-F238E27FC236}">
                <a16:creationId xmlns:a16="http://schemas.microsoft.com/office/drawing/2014/main" id="{A793948A-A293-1C42-9096-815B84F11A92}"/>
              </a:ext>
            </a:extLst>
          </p:cNvPr>
          <p:cNvSpPr txBox="1"/>
          <p:nvPr>
            <p:custDataLst>
              <p:tags r:id="rId67"/>
            </p:custDataLst>
          </p:nvPr>
        </p:nvSpPr>
        <p:spPr bwMode="auto">
          <a:xfrm>
            <a:off x="2369185" y="5039615"/>
            <a:ext cx="1193165" cy="26289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客户风险评价</a:t>
            </a:r>
          </a:p>
        </p:txBody>
      </p:sp>
      <p:sp>
        <p:nvSpPr>
          <p:cNvPr id="116" name="Rectangle 2">
            <a:extLst>
              <a:ext uri="{FF2B5EF4-FFF2-40B4-BE49-F238E27FC236}">
                <a16:creationId xmlns:a16="http://schemas.microsoft.com/office/drawing/2014/main" id="{1A0D4C39-6A7E-9745-B372-0E35EB85A0D2}"/>
              </a:ext>
            </a:extLst>
          </p:cNvPr>
          <p:cNvSpPr txBox="1"/>
          <p:nvPr>
            <p:custDataLst>
              <p:tags r:id="rId68"/>
            </p:custDataLst>
          </p:nvPr>
        </p:nvSpPr>
        <p:spPr bwMode="auto">
          <a:xfrm>
            <a:off x="3772535" y="5369815"/>
            <a:ext cx="1249045" cy="26543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智能稽核确认收入合规性</a:t>
            </a:r>
          </a:p>
        </p:txBody>
      </p:sp>
      <p:sp>
        <p:nvSpPr>
          <p:cNvPr id="117" name="Rectangle 2">
            <a:extLst>
              <a:ext uri="{FF2B5EF4-FFF2-40B4-BE49-F238E27FC236}">
                <a16:creationId xmlns:a16="http://schemas.microsoft.com/office/drawing/2014/main" id="{6A2E591D-17C7-F841-8E9D-18A2C2CE8082}"/>
              </a:ext>
            </a:extLst>
          </p:cNvPr>
          <p:cNvSpPr txBox="1"/>
          <p:nvPr>
            <p:custDataLst>
              <p:tags r:id="rId69"/>
            </p:custDataLst>
          </p:nvPr>
        </p:nvSpPr>
        <p:spPr bwMode="auto">
          <a:xfrm>
            <a:off x="5231765" y="5369815"/>
            <a:ext cx="1050925" cy="26543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应收账款账龄检查</a:t>
            </a:r>
          </a:p>
        </p:txBody>
      </p:sp>
      <p:sp>
        <p:nvSpPr>
          <p:cNvPr id="118" name="Rectangle 2">
            <a:extLst>
              <a:ext uri="{FF2B5EF4-FFF2-40B4-BE49-F238E27FC236}">
                <a16:creationId xmlns:a16="http://schemas.microsoft.com/office/drawing/2014/main" id="{72B47354-D7ED-1E44-B01A-B3C099D8C15A}"/>
              </a:ext>
            </a:extLst>
          </p:cNvPr>
          <p:cNvSpPr txBox="1"/>
          <p:nvPr>
            <p:custDataLst>
              <p:tags r:id="rId70"/>
            </p:custDataLst>
          </p:nvPr>
        </p:nvSpPr>
        <p:spPr bwMode="auto">
          <a:xfrm>
            <a:off x="7753985" y="5039615"/>
            <a:ext cx="1052830" cy="26543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信用审核与发货隔离</a:t>
            </a:r>
          </a:p>
        </p:txBody>
      </p:sp>
      <p:sp>
        <p:nvSpPr>
          <p:cNvPr id="119" name="Rectangle 2">
            <a:extLst>
              <a:ext uri="{FF2B5EF4-FFF2-40B4-BE49-F238E27FC236}">
                <a16:creationId xmlns:a16="http://schemas.microsoft.com/office/drawing/2014/main" id="{A2184F97-06AB-8647-95F7-49AFA165C79E}"/>
              </a:ext>
            </a:extLst>
          </p:cNvPr>
          <p:cNvSpPr txBox="1"/>
          <p:nvPr>
            <p:custDataLst>
              <p:tags r:id="rId71"/>
            </p:custDataLst>
          </p:nvPr>
        </p:nvSpPr>
        <p:spPr bwMode="auto">
          <a:xfrm>
            <a:off x="1037590" y="5369815"/>
            <a:ext cx="1121410" cy="26543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出库与记账分离</a:t>
            </a:r>
          </a:p>
        </p:txBody>
      </p:sp>
      <p:sp>
        <p:nvSpPr>
          <p:cNvPr id="120" name="Rectangle 2">
            <a:extLst>
              <a:ext uri="{FF2B5EF4-FFF2-40B4-BE49-F238E27FC236}">
                <a16:creationId xmlns:a16="http://schemas.microsoft.com/office/drawing/2014/main" id="{5904994C-600C-5842-A76A-E768103D6840}"/>
              </a:ext>
            </a:extLst>
          </p:cNvPr>
          <p:cNvSpPr txBox="1"/>
          <p:nvPr>
            <p:custDataLst>
              <p:tags r:id="rId72"/>
            </p:custDataLst>
          </p:nvPr>
        </p:nvSpPr>
        <p:spPr bwMode="auto">
          <a:xfrm>
            <a:off x="2369185" y="5369815"/>
            <a:ext cx="1193165" cy="26543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发票开具与收入确认合规</a:t>
            </a:r>
          </a:p>
        </p:txBody>
      </p:sp>
      <p:sp>
        <p:nvSpPr>
          <p:cNvPr id="121" name="Rectangle 2">
            <a:extLst>
              <a:ext uri="{FF2B5EF4-FFF2-40B4-BE49-F238E27FC236}">
                <a16:creationId xmlns:a16="http://schemas.microsoft.com/office/drawing/2014/main" id="{FA13E0D4-ACB9-4247-B755-CC2A936E85DA}"/>
              </a:ext>
            </a:extLst>
          </p:cNvPr>
          <p:cNvSpPr txBox="1"/>
          <p:nvPr>
            <p:custDataLst>
              <p:tags r:id="rId73"/>
            </p:custDataLst>
          </p:nvPr>
        </p:nvSpPr>
        <p:spPr bwMode="auto">
          <a:xfrm>
            <a:off x="3772535" y="5039615"/>
            <a:ext cx="1249045" cy="26543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销售目标控制</a:t>
            </a:r>
          </a:p>
        </p:txBody>
      </p:sp>
      <p:sp>
        <p:nvSpPr>
          <p:cNvPr id="122" name="Rectangle 2">
            <a:extLst>
              <a:ext uri="{FF2B5EF4-FFF2-40B4-BE49-F238E27FC236}">
                <a16:creationId xmlns:a16="http://schemas.microsoft.com/office/drawing/2014/main" id="{60BEA667-D70B-8F45-B8CC-28C0FEB09BE6}"/>
              </a:ext>
            </a:extLst>
          </p:cNvPr>
          <p:cNvSpPr txBox="1"/>
          <p:nvPr>
            <p:custDataLst>
              <p:tags r:id="rId74"/>
            </p:custDataLst>
          </p:nvPr>
        </p:nvSpPr>
        <p:spPr bwMode="auto">
          <a:xfrm>
            <a:off x="5231765" y="5039615"/>
            <a:ext cx="1050925" cy="26543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信用体系控制</a:t>
            </a:r>
          </a:p>
        </p:txBody>
      </p:sp>
      <p:sp>
        <p:nvSpPr>
          <p:cNvPr id="123" name="Rectangle 2">
            <a:extLst>
              <a:ext uri="{FF2B5EF4-FFF2-40B4-BE49-F238E27FC236}">
                <a16:creationId xmlns:a16="http://schemas.microsoft.com/office/drawing/2014/main" id="{D852AAF8-1664-AB42-9E3F-E5C09DB08A9B}"/>
              </a:ext>
            </a:extLst>
          </p:cNvPr>
          <p:cNvSpPr txBox="1"/>
          <p:nvPr>
            <p:custDataLst>
              <p:tags r:id="rId75"/>
            </p:custDataLst>
          </p:nvPr>
        </p:nvSpPr>
        <p:spPr bwMode="auto">
          <a:xfrm>
            <a:off x="6492875" y="5369815"/>
            <a:ext cx="1050925" cy="26543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Han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应收账款逾期监控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124" name="Rectangle 2">
            <a:extLst>
              <a:ext uri="{FF2B5EF4-FFF2-40B4-BE49-F238E27FC236}">
                <a16:creationId xmlns:a16="http://schemas.microsoft.com/office/drawing/2014/main" id="{8A4FB4E2-3A11-0842-99E4-0421FCA290F3}"/>
              </a:ext>
            </a:extLst>
          </p:cNvPr>
          <p:cNvSpPr txBox="1"/>
          <p:nvPr>
            <p:custDataLst>
              <p:tags r:id="rId76"/>
            </p:custDataLst>
          </p:nvPr>
        </p:nvSpPr>
        <p:spPr bwMode="auto">
          <a:xfrm>
            <a:off x="6492875" y="5039615"/>
            <a:ext cx="1050925" cy="26543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合同关键风险校验</a:t>
            </a:r>
          </a:p>
        </p:txBody>
      </p:sp>
      <p:sp>
        <p:nvSpPr>
          <p:cNvPr id="125" name="Rectangle 2">
            <a:extLst>
              <a:ext uri="{FF2B5EF4-FFF2-40B4-BE49-F238E27FC236}">
                <a16:creationId xmlns:a16="http://schemas.microsoft.com/office/drawing/2014/main" id="{160F2033-81FD-9342-8750-808888E345ED}"/>
              </a:ext>
            </a:extLst>
          </p:cNvPr>
          <p:cNvSpPr txBox="1"/>
          <p:nvPr>
            <p:custDataLst>
              <p:tags r:id="rId77"/>
            </p:custDataLst>
          </p:nvPr>
        </p:nvSpPr>
        <p:spPr bwMode="auto">
          <a:xfrm>
            <a:off x="7753985" y="5369815"/>
            <a:ext cx="1052830" cy="26543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会计档案校验</a:t>
            </a:r>
          </a:p>
        </p:txBody>
      </p:sp>
      <p:sp>
        <p:nvSpPr>
          <p:cNvPr id="126" name="Rectangle 2">
            <a:extLst>
              <a:ext uri="{FF2B5EF4-FFF2-40B4-BE49-F238E27FC236}">
                <a16:creationId xmlns:a16="http://schemas.microsoft.com/office/drawing/2014/main" id="{8BA663D8-FB40-AE47-8335-E5F6ED9C5D63}"/>
              </a:ext>
            </a:extLst>
          </p:cNvPr>
          <p:cNvSpPr txBox="1"/>
          <p:nvPr>
            <p:custDataLst>
              <p:tags r:id="rId78"/>
            </p:custDataLst>
          </p:nvPr>
        </p:nvSpPr>
        <p:spPr bwMode="auto">
          <a:xfrm>
            <a:off x="1037590" y="5941315"/>
            <a:ext cx="7769225" cy="4775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t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127" name="Rectangle 2">
            <a:extLst>
              <a:ext uri="{FF2B5EF4-FFF2-40B4-BE49-F238E27FC236}">
                <a16:creationId xmlns:a16="http://schemas.microsoft.com/office/drawing/2014/main" id="{F0894523-A7EF-5B41-8236-D24B41D26739}"/>
              </a:ext>
            </a:extLst>
          </p:cNvPr>
          <p:cNvSpPr txBox="1"/>
          <p:nvPr>
            <p:custDataLst>
              <p:tags r:id="rId79"/>
            </p:custDataLst>
          </p:nvPr>
        </p:nvSpPr>
        <p:spPr bwMode="auto">
          <a:xfrm>
            <a:off x="1155065" y="6043550"/>
            <a:ext cx="1270756" cy="301625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客户准入与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信用管理制度</a:t>
            </a:r>
          </a:p>
        </p:txBody>
      </p:sp>
      <p:sp>
        <p:nvSpPr>
          <p:cNvPr id="128" name="Rectangle 2">
            <a:extLst>
              <a:ext uri="{FF2B5EF4-FFF2-40B4-BE49-F238E27FC236}">
                <a16:creationId xmlns:a16="http://schemas.microsoft.com/office/drawing/2014/main" id="{EC8E4047-EB95-4246-B7D2-C6E5244F9FD4}"/>
              </a:ext>
            </a:extLst>
          </p:cNvPr>
          <p:cNvSpPr txBox="1"/>
          <p:nvPr>
            <p:custDataLst>
              <p:tags r:id="rId80"/>
            </p:custDataLst>
          </p:nvPr>
        </p:nvSpPr>
        <p:spPr bwMode="auto">
          <a:xfrm>
            <a:off x="5063866" y="6043550"/>
            <a:ext cx="1400669" cy="301625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应收账款催收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与坏账管理办法</a:t>
            </a:r>
          </a:p>
        </p:txBody>
      </p:sp>
      <p:sp>
        <p:nvSpPr>
          <p:cNvPr id="129" name="Rectangle 2">
            <a:extLst>
              <a:ext uri="{FF2B5EF4-FFF2-40B4-BE49-F238E27FC236}">
                <a16:creationId xmlns:a16="http://schemas.microsoft.com/office/drawing/2014/main" id="{06D93DEA-D802-F24D-8114-AF8BAD90A25C}"/>
              </a:ext>
            </a:extLst>
          </p:cNvPr>
          <p:cNvSpPr txBox="1"/>
          <p:nvPr>
            <p:custDataLst>
              <p:tags r:id="rId81"/>
            </p:custDataLst>
          </p:nvPr>
        </p:nvSpPr>
        <p:spPr bwMode="auto">
          <a:xfrm>
            <a:off x="6525060" y="6043550"/>
            <a:ext cx="1052830" cy="301625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财务管理制度</a:t>
            </a:r>
          </a:p>
        </p:txBody>
      </p:sp>
      <p:sp>
        <p:nvSpPr>
          <p:cNvPr id="130" name="Rectangle 2">
            <a:extLst>
              <a:ext uri="{FF2B5EF4-FFF2-40B4-BE49-F238E27FC236}">
                <a16:creationId xmlns:a16="http://schemas.microsoft.com/office/drawing/2014/main" id="{0E286181-E852-A84C-ABEB-FB61B4AEB89C}"/>
              </a:ext>
            </a:extLst>
          </p:cNvPr>
          <p:cNvSpPr txBox="1"/>
          <p:nvPr>
            <p:custDataLst>
              <p:tags r:id="rId82"/>
            </p:custDataLst>
          </p:nvPr>
        </p:nvSpPr>
        <p:spPr bwMode="auto">
          <a:xfrm>
            <a:off x="7638415" y="6043550"/>
            <a:ext cx="1052830" cy="301625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资金管理制度</a:t>
            </a:r>
          </a:p>
        </p:txBody>
      </p:sp>
      <p:sp>
        <p:nvSpPr>
          <p:cNvPr id="131" name="Rectangle 2">
            <a:extLst>
              <a:ext uri="{FF2B5EF4-FFF2-40B4-BE49-F238E27FC236}">
                <a16:creationId xmlns:a16="http://schemas.microsoft.com/office/drawing/2014/main" id="{42550D86-C4B5-8843-B37F-7DAC7E837DAC}"/>
              </a:ext>
            </a:extLst>
          </p:cNvPr>
          <p:cNvSpPr txBox="1"/>
          <p:nvPr>
            <p:custDataLst>
              <p:tags r:id="rId83"/>
            </p:custDataLst>
          </p:nvPr>
        </p:nvSpPr>
        <p:spPr bwMode="auto">
          <a:xfrm>
            <a:off x="2486346" y="6043550"/>
            <a:ext cx="1228235" cy="301625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销售定价管理办法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98CE4DEF-9107-974C-ADEF-1C29EC52B1CB}"/>
              </a:ext>
            </a:extLst>
          </p:cNvPr>
          <p:cNvSpPr txBox="1"/>
          <p:nvPr/>
        </p:nvSpPr>
        <p:spPr>
          <a:xfrm>
            <a:off x="2069465" y="567080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监督模型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+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数据算法</a:t>
            </a:r>
          </a:p>
        </p:txBody>
      </p:sp>
      <p:sp>
        <p:nvSpPr>
          <p:cNvPr id="170" name="Rectangle 2">
            <a:extLst>
              <a:ext uri="{FF2B5EF4-FFF2-40B4-BE49-F238E27FC236}">
                <a16:creationId xmlns:a16="http://schemas.microsoft.com/office/drawing/2014/main" id="{A93A0478-BCB5-FF4D-9563-8CCB7A1720C8}"/>
              </a:ext>
            </a:extLst>
          </p:cNvPr>
          <p:cNvSpPr txBox="1"/>
          <p:nvPr>
            <p:custDataLst>
              <p:tags r:id="rId84"/>
            </p:custDataLst>
          </p:nvPr>
        </p:nvSpPr>
        <p:spPr bwMode="auto">
          <a:xfrm>
            <a:off x="3775106" y="6043550"/>
            <a:ext cx="1228235" cy="301625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</a:ln>
          <a:effectLst/>
        </p:spPr>
        <p:txBody>
          <a:bodyPr vert="horz" wrap="square" lIns="91421" tIns="45711" rIns="91421" bIns="45711" numCol="1" rtlCol="0" anchor="ctr" anchorCtr="0" compatLnSpc="1">
            <a:noAutofit/>
          </a:bodyPr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销售合同管理办法</a:t>
            </a:r>
          </a:p>
        </p:txBody>
      </p:sp>
      <p:sp>
        <p:nvSpPr>
          <p:cNvPr id="263" name="Oval 156">
            <a:extLst>
              <a:ext uri="{FF2B5EF4-FFF2-40B4-BE49-F238E27FC236}">
                <a16:creationId xmlns:a16="http://schemas.microsoft.com/office/drawing/2014/main" id="{1B1BFFC7-6821-6D40-BF8B-4D6E89034AA6}"/>
              </a:ext>
            </a:extLst>
          </p:cNvPr>
          <p:cNvSpPr/>
          <p:nvPr>
            <p:custDataLst>
              <p:tags r:id="rId85"/>
            </p:custDataLst>
          </p:nvPr>
        </p:nvSpPr>
        <p:spPr>
          <a:xfrm>
            <a:off x="5197142" y="3374367"/>
            <a:ext cx="219075" cy="22987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Han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1</a:t>
            </a:r>
            <a:endParaRPr kumimoji="0" lang="en-US" altLang="en-GB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cxnSp>
        <p:nvCxnSpPr>
          <p:cNvPr id="231" name="连接符: 肘形 58">
            <a:extLst>
              <a:ext uri="{FF2B5EF4-FFF2-40B4-BE49-F238E27FC236}">
                <a16:creationId xmlns:a16="http://schemas.microsoft.com/office/drawing/2014/main" id="{274B2357-63F1-2349-8E95-A7358C42797E}"/>
              </a:ext>
            </a:extLst>
          </p:cNvPr>
          <p:cNvCxnSpPr>
            <a:cxnSpLocks/>
            <a:stCxn id="218" idx="3"/>
            <a:endCxn id="222" idx="1"/>
          </p:cNvCxnSpPr>
          <p:nvPr>
            <p:custDataLst>
              <p:tags r:id="rId86"/>
            </p:custDataLst>
          </p:nvPr>
        </p:nvCxnSpPr>
        <p:spPr>
          <a:xfrm flipV="1">
            <a:off x="6477635" y="2588909"/>
            <a:ext cx="272099" cy="570281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2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7410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924],&quot;65&quot;:[20205081],&quot;70&quot;:[3318481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924],&quot;65&quot;:[20205081],&quot;70&quot;:[3318481]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924],&quot;65&quot;:[20205081],&quot;70&quot;:[3318481]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0_Office 主题​​">
  <a:themeElements>
    <a:clrScheme name="金蝶2022PPT">
      <a:dk1>
        <a:srgbClr val="000000"/>
      </a:dk1>
      <a:lt1>
        <a:srgbClr val="FFFFFF"/>
      </a:lt1>
      <a:dk2>
        <a:srgbClr val="005392"/>
      </a:dk2>
      <a:lt2>
        <a:srgbClr val="E7E6E6"/>
      </a:lt2>
      <a:accent1>
        <a:srgbClr val="1770EA"/>
      </a:accent1>
      <a:accent2>
        <a:srgbClr val="00CBFF"/>
      </a:accent2>
      <a:accent3>
        <a:srgbClr val="00C7C7"/>
      </a:accent3>
      <a:accent4>
        <a:srgbClr val="AF6EFF"/>
      </a:accent4>
      <a:accent5>
        <a:srgbClr val="FFC000"/>
      </a:accent5>
      <a:accent6>
        <a:srgbClr val="C6AE8F"/>
      </a:accent6>
      <a:hlink>
        <a:srgbClr val="0563C1"/>
      </a:hlink>
      <a:folHlink>
        <a:srgbClr val="954F72"/>
      </a:folHlink>
    </a:clrScheme>
    <a:fontScheme name="0582fdee-2c63-4408-addb-b14e80bb163d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金蝶2022PPT">
      <a:dk1>
        <a:srgbClr val="000000"/>
      </a:dk1>
      <a:lt1>
        <a:srgbClr val="FFFFFF"/>
      </a:lt1>
      <a:dk2>
        <a:srgbClr val="005392"/>
      </a:dk2>
      <a:lt2>
        <a:srgbClr val="E7E6E6"/>
      </a:lt2>
      <a:accent1>
        <a:srgbClr val="1770EA"/>
      </a:accent1>
      <a:accent2>
        <a:srgbClr val="00CBFF"/>
      </a:accent2>
      <a:accent3>
        <a:srgbClr val="00C7C7"/>
      </a:accent3>
      <a:accent4>
        <a:srgbClr val="AF6EFF"/>
      </a:accent4>
      <a:accent5>
        <a:srgbClr val="FFC000"/>
      </a:accent5>
      <a:accent6>
        <a:srgbClr val="C6AE8F"/>
      </a:accent6>
      <a:hlink>
        <a:srgbClr val="0563C1"/>
      </a:hlink>
      <a:folHlink>
        <a:srgbClr val="954F72"/>
      </a:folHlink>
    </a:clrScheme>
    <a:fontScheme name="45d6f7d4-fe36-40dc-b2f1-0390e229102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Office 主题​​">
  <a:themeElements>
    <a:clrScheme name="金蝶2022PPT">
      <a:dk1>
        <a:srgbClr val="000000"/>
      </a:dk1>
      <a:lt1>
        <a:srgbClr val="FFFFFF"/>
      </a:lt1>
      <a:dk2>
        <a:srgbClr val="005392"/>
      </a:dk2>
      <a:lt2>
        <a:srgbClr val="E7E6E6"/>
      </a:lt2>
      <a:accent1>
        <a:srgbClr val="1770EA"/>
      </a:accent1>
      <a:accent2>
        <a:srgbClr val="00CBFF"/>
      </a:accent2>
      <a:accent3>
        <a:srgbClr val="00C7C7"/>
      </a:accent3>
      <a:accent4>
        <a:srgbClr val="AF6EFF"/>
      </a:accent4>
      <a:accent5>
        <a:srgbClr val="FFC000"/>
      </a:accent5>
      <a:accent6>
        <a:srgbClr val="C6AE8F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2858</Words>
  <Application>Microsoft Office PowerPoint</Application>
  <PresentationFormat>宽屏</PresentationFormat>
  <Paragraphs>477</Paragraphs>
  <Slides>13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Heiti SC Medium</vt:lpstr>
      <vt:lpstr>Noto Sans SC</vt:lpstr>
      <vt:lpstr>等线</vt:lpstr>
      <vt:lpstr>微软雅黑</vt:lpstr>
      <vt:lpstr>微软雅黑</vt:lpstr>
      <vt:lpstr>Microsoft YaHei Light</vt:lpstr>
      <vt:lpstr>Microsoft YaHei Light</vt:lpstr>
      <vt:lpstr>Arial</vt:lpstr>
      <vt:lpstr>10_Office 主题​​</vt:lpstr>
      <vt:lpstr>1_Office 主题​​</vt:lpstr>
      <vt:lpstr>11_Office 主题​​</vt:lpstr>
      <vt:lpstr>PowerPoint 演示文稿</vt:lpstr>
      <vt:lpstr>洞察一：政策引领下的财务共享风控升级</vt:lpstr>
      <vt:lpstr>金蝶提出的“深化业财数智体系，落地穿透式监管能力”方案，已覆盖5条主要流程的业财风险</vt:lpstr>
      <vt:lpstr>金蝶监管实践：湖南矿业内控风险合规“三位一体” 融入业务过程</vt:lpstr>
      <vt:lpstr>洞察二：企业AI+行业内卷双重驱动下，对财务共享建设给予更高的期望</vt:lpstr>
      <vt:lpstr>搭建科学的价值指标体系：以财务共享指标体系（售前80个），驱动流程、场景变革</vt:lpstr>
      <vt:lpstr>价值可视化：提供标杆企业财务共享中心的40个指标参考数据</vt:lpstr>
      <vt:lpstr>流程变革预期价值（制造行业示例）</vt:lpstr>
      <vt:lpstr>流程变革预期价值（制造行业示例）</vt:lpstr>
      <vt:lpstr>流程变革预期价值（制造行业示例）</vt:lpstr>
      <vt:lpstr>财务共享服务中心五大端到端流程效能对标（部分指标）</vt:lpstr>
      <vt:lpstr>PowerPoint 演示文稿</vt:lpstr>
      <vt:lpstr>流程基础管控示例1：销售到收款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2026-03-05T10:31:54Z</dcterms:created>
  <dcterms:modified xsi:type="dcterms:W3CDTF">2026-03-05T10:34:39Z</dcterms:modified>
</cp:coreProperties>
</file>